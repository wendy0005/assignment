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72" r:id="rId5"/>
  </p:sldMasterIdLst>
  <p:notesMasterIdLst>
    <p:notesMasterId r:id="rId55"/>
  </p:notesMasterIdLst>
  <p:sldIdLst>
    <p:sldId id="256" r:id="rId6"/>
    <p:sldId id="257" r:id="rId7"/>
    <p:sldId id="258" r:id="rId8"/>
    <p:sldId id="366" r:id="rId9"/>
    <p:sldId id="636" r:id="rId10"/>
    <p:sldId id="635" r:id="rId11"/>
    <p:sldId id="379" r:id="rId12"/>
    <p:sldId id="398" r:id="rId13"/>
    <p:sldId id="399" r:id="rId14"/>
    <p:sldId id="637" r:id="rId15"/>
    <p:sldId id="400" r:id="rId16"/>
    <p:sldId id="401" r:id="rId17"/>
    <p:sldId id="427" r:id="rId18"/>
    <p:sldId id="428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1" r:id="rId27"/>
    <p:sldId id="412" r:id="rId28"/>
    <p:sldId id="413" r:id="rId29"/>
    <p:sldId id="414" r:id="rId30"/>
    <p:sldId id="415" r:id="rId31"/>
    <p:sldId id="420" r:id="rId32"/>
    <p:sldId id="655" r:id="rId33"/>
    <p:sldId id="421" r:id="rId34"/>
    <p:sldId id="654" r:id="rId35"/>
    <p:sldId id="422" r:id="rId36"/>
    <p:sldId id="656" r:id="rId37"/>
    <p:sldId id="416" r:id="rId38"/>
    <p:sldId id="419" r:id="rId39"/>
    <p:sldId id="429" r:id="rId40"/>
    <p:sldId id="425" r:id="rId41"/>
    <p:sldId id="657" r:id="rId42"/>
    <p:sldId id="658" r:id="rId43"/>
    <p:sldId id="424" r:id="rId44"/>
    <p:sldId id="380" r:id="rId45"/>
    <p:sldId id="386" r:id="rId46"/>
    <p:sldId id="387" r:id="rId47"/>
    <p:sldId id="388" r:id="rId48"/>
    <p:sldId id="389" r:id="rId49"/>
    <p:sldId id="390" r:id="rId50"/>
    <p:sldId id="391" r:id="rId51"/>
    <p:sldId id="392" r:id="rId52"/>
    <p:sldId id="393" r:id="rId53"/>
    <p:sldId id="259" r:id="rId54"/>
  </p:sldIdLst>
  <p:sldSz cx="18288000" cy="10287000"/>
  <p:notesSz cx="6858000" cy="9144000"/>
  <p:embeddedFontLs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Calibri Light" panose="020F0302020204030204" pitchFamily="34" charset="0"/>
      <p:regular r:id="rId60"/>
      <p:italic r:id="rId61"/>
    </p:embeddedFont>
    <p:embeddedFont>
      <p:font typeface="DM Sans" panose="020B0604020202020204" charset="0"/>
      <p:regular r:id="rId62"/>
    </p:embeddedFont>
    <p:embeddedFont>
      <p:font typeface="Montserrat Classic" panose="020B0604020202020204" charset="0"/>
      <p:regular r:id="rId63"/>
    </p:embeddedFont>
    <p:embeddedFont>
      <p:font typeface="Montserrat Ultra-Bold" panose="020B0604020202020204" charset="0"/>
      <p:regular r:id="rId64"/>
    </p:embeddedFont>
    <p:embeddedFont>
      <p:font typeface="Oswald Bold" panose="020B0604020202020204" charset="0"/>
      <p:regular r:id="rId65"/>
    </p:embeddedFont>
    <p:embeddedFont>
      <p:font typeface="Paytone One" panose="020B0604020202020204" charset="0"/>
      <p:regular r:id="rId66"/>
    </p:embeddedFont>
    <p:embeddedFont>
      <p:font typeface="Times" panose="02020603050405020304" pitchFamily="18" charset="0"/>
      <p:regular r:id="rId67"/>
      <p:bold r:id="rId68"/>
      <p:italic r:id="rId69"/>
      <p:boldItalic r:id="rId70"/>
    </p:embeddedFont>
    <p:embeddedFont>
      <p:font typeface="Verdana" panose="020B0604030504040204" pitchFamily="34" charset="0"/>
      <p:regular r:id="rId71"/>
      <p:bold r:id="rId72"/>
      <p:italic r:id="rId73"/>
      <p:boldItalic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199" autoAdjust="0"/>
  </p:normalViewPr>
  <p:slideViewPr>
    <p:cSldViewPr>
      <p:cViewPr varScale="1">
        <p:scale>
          <a:sx n="30" d="100"/>
          <a:sy n="30" d="100"/>
        </p:scale>
        <p:origin x="16" y="5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18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font" Target="fonts/font19.fntdata"/><Relationship Id="rId5" Type="http://schemas.openxmlformats.org/officeDocument/2006/relationships/slideMaster" Target="slideMasters/slideMaster2.xml"/><Relationship Id="rId61" Type="http://schemas.openxmlformats.org/officeDocument/2006/relationships/font" Target="fonts/font6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font" Target="fonts/font1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2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font" Target="fonts/font18.fntdata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font" Target="fonts/font16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F7545-6540-4CEE-920D-6A24C95AB7F9}" type="datetimeFigureOut">
              <a:rPr lang="en-MY" smtClean="0"/>
              <a:t>11/10/2025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42097-5FEE-422D-827F-6B2C42A554D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2574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42097-5FEE-422D-827F-6B2C42A554DB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1900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46CAFD1-4E5D-4BFE-86C7-2791A0920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C893754-7C8D-4800-9DF1-7C3105CB2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F5D5DC9-EB5A-4B8D-86CC-74502B386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6038" cy="3598863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8DA8D94-E700-4E42-BD67-A7950E9C12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noFill/>
        </p:spPr>
        <p:txBody>
          <a:bodyPr/>
          <a:lstStyle/>
          <a:p>
            <a:pPr marL="228600" indent="-228600" eaLnBrk="1" hangingPunct="1"/>
            <a:endParaRPr lang="en-US" altLang="en-US">
              <a:latin typeface="Arial" panose="020B0604020202020204" pitchFamily="34" charset="0"/>
            </a:endParaRPr>
          </a:p>
          <a:p>
            <a:pPr marL="228600" indent="-228600" eaLnBrk="1" hangingPunct="1"/>
            <a:endParaRPr lang="en-US" altLang="en-US">
              <a:latin typeface="Arial" panose="020B0604020202020204" pitchFamily="34" charset="0"/>
            </a:endParaRPr>
          </a:p>
          <a:p>
            <a:pPr marL="228600" indent="-228600"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9C6C-C668-4A5D-B7D7-31733BCBC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67E31-E132-484C-A3E9-98F7D801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B5FAE-B141-41B0-9FAC-CA027D84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E40F7-7A53-4579-85CC-88868504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9962-E9D0-414F-8545-D55F5591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9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E43F-4854-4ABE-88D4-51B6A850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C5FF-0584-4D4E-B809-813578D7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259F9-082F-4ED2-BF44-8A9B980F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3B400-7BC0-42F7-8F83-35BC1F0C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A5E22-B11B-4A39-8F67-5C5B3474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48F3-9588-4F66-8AF5-66152F4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D0ECF-F079-4B97-8AD7-98A94F2C5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58E53-736B-4E76-BC6B-C752494F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10DD-715D-4884-B034-310E581D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A743F-C309-47A1-BD31-14DD2576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3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2041-A000-429D-932F-EBC263B6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9FFA-B0FC-4253-8D3A-C4EA86BED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F3FEA-BFC6-4916-8FC4-44585634D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D1FF8-E0C5-468D-9EB9-79AFC303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D4F85-8F4B-41C3-A431-1C3673FA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C63E2-61C3-4251-AB23-3392349A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4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0493-729D-49C1-9CCE-934D38FA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8DAD7-C0E4-47BF-B915-FFFBA85E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8848F-A52D-45FD-B09C-59EF460CD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2757B-9E99-4E67-9147-C2CAB20B2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5A869-E9F7-44E7-B81B-73FC7C200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C69CF-6EA6-4FA9-9894-80A1ED91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1D47D6-B75A-48C1-8923-6CA026ED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77BED-757E-45A1-A8FA-70BE7E1C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FA80-1CF3-4F43-B83D-5DC4C749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3D506-E361-49C7-81B4-4058A740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61FCD-1C02-45BC-803E-FD6880F7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7286F-E466-4F12-9D59-4700A71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B1D94-6737-40F1-822B-39FAE311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26EC6-FD37-4598-BABB-03968831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4C6DB-288E-49A6-8164-EA92F884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6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6E7F-3ADE-4882-A107-7CBF76F3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5193-45C0-4003-9F89-A23C7054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B1AE-8037-44F1-9261-29EB74A80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109C6-83CC-4797-B456-661D28DF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2F7CA-2565-45E8-AD87-F9C1C3605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B487C-BF2F-46DD-95BE-F4334052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6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6FE2-0694-4A18-9CED-37B4BE57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D6A4C-455A-4095-A2CA-FE2C81ED1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746AC-83C6-4E1C-8CDC-A8CA7CB76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54AA5-ED71-4EEA-B927-5D87D78D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685BF-F5A7-4428-81B1-C38113B1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11F25-9891-4936-A8B5-C8D25927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5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EE27-D130-41DC-9DE3-F14AA619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D70B8-628B-4BEB-BA98-C7CB0F5E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52E2-BD2D-4156-9625-B77550A32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66068-27C0-441D-A68F-EC5F7271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13644-5AF2-427F-862C-AD06139E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197DD-D201-4E06-B301-066971007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2EF3A-A1EF-4989-B592-1122C89CD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35947-44D9-4D4F-B9D9-10031396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4EBE9-E564-4BD1-BBE6-75250217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75FB-4C46-4197-93AB-F390FEA9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95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05A7636-FCAD-4489-8535-84CFAB59E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610101"/>
            <a:ext cx="17678400" cy="545306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3600">
              <a:solidFill>
                <a:schemeClr val="tx1"/>
              </a:solidFill>
              <a:latin typeface="Times" pitchFamily="48" charset="0"/>
              <a:cs typeface="Arial" charset="0"/>
            </a:endParaRPr>
          </a:p>
        </p:txBody>
      </p:sp>
      <p:pic>
        <p:nvPicPr>
          <p:cNvPr id="5" name="Picture 9" descr="nav_logo_medium">
            <a:extLst>
              <a:ext uri="{FF2B5EF4-FFF2-40B4-BE49-F238E27FC236}">
                <a16:creationId xmlns:a16="http://schemas.microsoft.com/office/drawing/2014/main" id="{E4219BEF-B52A-4A71-ADF9-5CD0F5C60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7200" y="57151"/>
            <a:ext cx="4740276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Systems Analysis 64">
            <a:extLst>
              <a:ext uri="{FF2B5EF4-FFF2-40B4-BE49-F238E27FC236}">
                <a16:creationId xmlns:a16="http://schemas.microsoft.com/office/drawing/2014/main" id="{B7D8EAE1-D3BA-4FF4-A5FC-50C84047D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7" y="1695450"/>
            <a:ext cx="17592674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Systems Analysis 64">
            <a:extLst>
              <a:ext uri="{FF2B5EF4-FFF2-40B4-BE49-F238E27FC236}">
                <a16:creationId xmlns:a16="http://schemas.microsoft.com/office/drawing/2014/main" id="{E04A1FCF-60C6-485E-83E7-84586D4F70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7" y="1695450"/>
            <a:ext cx="17592674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 descr="nav_logo_medium">
            <a:extLst>
              <a:ext uri="{FF2B5EF4-FFF2-40B4-BE49-F238E27FC236}">
                <a16:creationId xmlns:a16="http://schemas.microsoft.com/office/drawing/2014/main" id="{29698363-9F25-4C96-AAAD-C2591730E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7200" y="114300"/>
            <a:ext cx="4740276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D4FE6D7-5240-4CE9-8EB6-0403F5064A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" y="4610101"/>
            <a:ext cx="17678400" cy="545306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3600">
              <a:solidFill>
                <a:schemeClr val="tx1"/>
              </a:solidFill>
              <a:latin typeface="Times" pitchFamily="48" charset="0"/>
              <a:cs typeface="Arial" charset="0"/>
            </a:endParaRP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6000750"/>
            <a:ext cx="15544800" cy="14859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49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7486650"/>
            <a:ext cx="15544800" cy="36869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67679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7DABAC9-4E8F-4E6E-9193-4BD7142BA8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28285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1"/>
            <a:ext cx="15544800" cy="2043113"/>
          </a:xfrm>
        </p:spPr>
        <p:txBody>
          <a:bodyPr/>
          <a:lstStyle>
            <a:lvl1pPr algn="l">
              <a:defRPr sz="6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6057379"/>
            <a:ext cx="15544800" cy="552972"/>
          </a:xfrm>
        </p:spPr>
        <p:txBody>
          <a:bodyPr anchor="b"/>
          <a:lstStyle>
            <a:lvl1pPr marL="0" indent="0">
              <a:buNone/>
              <a:defRPr sz="3000"/>
            </a:lvl1pPr>
            <a:lvl2pPr marL="685800" indent="0">
              <a:buNone/>
              <a:defRPr sz="2700"/>
            </a:lvl2pPr>
            <a:lvl3pPr marL="1371600" indent="0">
              <a:buNone/>
              <a:defRPr sz="2400"/>
            </a:lvl3pPr>
            <a:lvl4pPr marL="2057400" indent="0">
              <a:buNone/>
              <a:defRPr sz="2100"/>
            </a:lvl4pPr>
            <a:lvl5pPr marL="2743200" indent="0">
              <a:buNone/>
              <a:defRPr sz="2100"/>
            </a:lvl5pPr>
            <a:lvl6pPr marL="3429000" indent="0">
              <a:buNone/>
              <a:defRPr sz="2100"/>
            </a:lvl6pPr>
            <a:lvl7pPr marL="4114800" indent="0">
              <a:buNone/>
              <a:defRPr sz="2100"/>
            </a:lvl7pPr>
            <a:lvl8pPr marL="4800600" indent="0">
              <a:buNone/>
              <a:defRPr sz="2100"/>
            </a:lvl8pPr>
            <a:lvl9pPr marL="5486400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B575E5D-D1FE-4108-AC4F-91F79AD32E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3954694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171701"/>
            <a:ext cx="8153400" cy="390568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171701"/>
            <a:ext cx="8153400" cy="390568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D7A87B8-AA73-47CF-A0BC-C3B1AAF9EA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18181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617200"/>
            <a:ext cx="8080376" cy="64511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8080376" cy="279307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2617200"/>
            <a:ext cx="8083550" cy="64511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3262313"/>
            <a:ext cx="8083550" cy="279307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CF9756D-7765-4251-B49D-D3F36BA744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393323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D2602B8C-79B0-4F50-B8DB-34B90D1E48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2306349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AF226FAF-DD8D-4538-9659-403B8089B1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1568817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409575"/>
            <a:ext cx="6016626" cy="1743075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6"/>
            <a:ext cx="10223500" cy="365638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152651"/>
            <a:ext cx="6016626" cy="414794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9C9C313-193B-4A40-8613-0E05FEF53A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3985245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3"/>
            <a:ext cx="10972800" cy="829330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414794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8204A40-5FA3-4058-8E3C-D311450FEBA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3209645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226533" y="2171701"/>
            <a:ext cx="6147067" cy="1892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371BE46-BB69-4164-9ED8-0AC55D58D0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27889927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20700" y="571501"/>
            <a:ext cx="4152900" cy="37028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26042" y="571501"/>
            <a:ext cx="2289858" cy="37028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859E4262-D4B9-4D58-92A1-C17DFEBBEE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25836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6611600" cy="1600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2171701"/>
            <a:ext cx="8153400" cy="1892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171701"/>
            <a:ext cx="8153400" cy="1892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E5AB249-302D-47EF-BF13-5A17DE49FD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2428830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71500"/>
            <a:ext cx="16611600" cy="1600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62000" y="2171701"/>
            <a:ext cx="16611600" cy="368691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1A360AA-D388-4B92-A76F-E0DABBB1323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</p:spTree>
    <p:extLst>
      <p:ext uri="{BB962C8B-B14F-4D97-AF65-F5344CB8AC3E}">
        <p14:creationId xmlns:p14="http://schemas.microsoft.com/office/powerpoint/2010/main" val="9148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E0DA0-4DBF-4E7F-B325-D9110AA5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925FA-68DF-4387-9E8D-0532B2274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F825-97D8-4D0D-A732-008EB8B50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B55CC-9F6A-412F-9F6E-7750ED3FD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A42A8-24DE-4C92-979C-2BF3176DB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7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ADD1845-C193-41DB-BDE1-DA44ED14F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71500"/>
            <a:ext cx="16611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3F7488-2B25-4F7F-9CDC-9AA9B0B81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171701"/>
            <a:ext cx="16611600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1028" name="Line 5">
            <a:extLst>
              <a:ext uri="{FF2B5EF4-FFF2-40B4-BE49-F238E27FC236}">
                <a16:creationId xmlns:a16="http://schemas.microsoft.com/office/drawing/2014/main" id="{6DA0C6E1-D58D-454A-9DEC-9075B2E21F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9029700"/>
            <a:ext cx="16459200" cy="0"/>
          </a:xfrm>
          <a:prstGeom prst="line">
            <a:avLst/>
          </a:prstGeom>
          <a:noFill/>
          <a:ln w="15875">
            <a:solidFill>
              <a:srgbClr val="B2C9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Y" sz="2700"/>
          </a:p>
        </p:txBody>
      </p:sp>
      <p:sp>
        <p:nvSpPr>
          <p:cNvPr id="1029" name="Text Box 6">
            <a:extLst>
              <a:ext uri="{FF2B5EF4-FFF2-40B4-BE49-F238E27FC236}">
                <a16:creationId xmlns:a16="http://schemas.microsoft.com/office/drawing/2014/main" id="{35793AD8-6356-4AF7-B7C4-4A42506F4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6" y="9248776"/>
            <a:ext cx="20161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en-US" altLang="en-US" sz="3600">
              <a:solidFill>
                <a:schemeClr val="tx1"/>
              </a:solidFill>
              <a:latin typeface="Times" pitchFamily="48" charset="0"/>
            </a:endParaRPr>
          </a:p>
        </p:txBody>
      </p:sp>
      <p:sp>
        <p:nvSpPr>
          <p:cNvPr id="348170" name="Rectangle 10">
            <a:extLst>
              <a:ext uri="{FF2B5EF4-FFF2-40B4-BE49-F238E27FC236}">
                <a16:creationId xmlns:a16="http://schemas.microsoft.com/office/drawing/2014/main" id="{92B216AA-CFB9-4141-A354-D9AE087F8A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65201" y="9189245"/>
            <a:ext cx="10512426" cy="714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100"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Introduction to Outcome-based Module Design</a:t>
            </a:r>
          </a:p>
        </p:txBody>
      </p:sp>
      <p:pic>
        <p:nvPicPr>
          <p:cNvPr id="1031" name="Picture 7" descr="nav_logo_medium">
            <a:extLst>
              <a:ext uri="{FF2B5EF4-FFF2-40B4-BE49-F238E27FC236}">
                <a16:creationId xmlns:a16="http://schemas.microsoft.com/office/drawing/2014/main" id="{F4D1F574-B5EF-4786-8C47-4FD5826CD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51" y="9248775"/>
            <a:ext cx="2038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749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5pPr>
      <a:lvl6pPr marL="6858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6pPr>
      <a:lvl7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7pPr>
      <a:lvl8pPr marL="20574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8pPr>
      <a:lvl9pPr marL="2743200" algn="l" rtl="0" eaLnBrk="1" fontAlgn="base" hangingPunct="1">
        <a:spcBef>
          <a:spcPct val="0"/>
        </a:spcBef>
        <a:spcAft>
          <a:spcPct val="0"/>
        </a:spcAft>
        <a:defRPr sz="4200">
          <a:solidFill>
            <a:srgbClr val="004D75"/>
          </a:solidFill>
          <a:latin typeface="Verdana" pitchFamily="34" charset="0"/>
        </a:defRPr>
      </a:lvl9pPr>
    </p:titleStyle>
    <p:bodyStyle>
      <a:lvl1pPr marL="283370" indent="-283370" algn="l" rtl="0" eaLnBrk="0" fontAlgn="base" hangingPunct="0">
        <a:lnSpc>
          <a:spcPct val="110000"/>
        </a:lnSpc>
        <a:spcBef>
          <a:spcPct val="30000"/>
        </a:spcBef>
        <a:spcAft>
          <a:spcPct val="20000"/>
        </a:spcAft>
        <a:buChar char="•"/>
        <a:defRPr>
          <a:solidFill>
            <a:srgbClr val="004D75"/>
          </a:solidFill>
          <a:latin typeface="+mn-lt"/>
          <a:ea typeface="+mn-ea"/>
          <a:cs typeface="+mn-cs"/>
        </a:defRPr>
      </a:lvl1pPr>
      <a:lvl2pPr marL="569120" indent="-283370" algn="l" rtl="0" eaLnBrk="0" fontAlgn="base" hangingPunct="0">
        <a:lnSpc>
          <a:spcPct val="90000"/>
        </a:lnSpc>
        <a:spcBef>
          <a:spcPct val="20000"/>
        </a:spcBef>
        <a:spcAft>
          <a:spcPct val="10000"/>
        </a:spcAft>
        <a:buChar char="–"/>
        <a:defRPr sz="2250">
          <a:solidFill>
            <a:srgbClr val="004D75"/>
          </a:solidFill>
          <a:latin typeface="+mn-lt"/>
        </a:defRPr>
      </a:lvl2pPr>
      <a:lvl3pPr marL="795338" indent="-223838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har char="•"/>
        <a:defRPr sz="1800">
          <a:solidFill>
            <a:srgbClr val="004D75"/>
          </a:solidFill>
          <a:latin typeface="+mn-lt"/>
        </a:defRPr>
      </a:lvl3pPr>
      <a:lvl4pPr marL="1293020" indent="-211932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har char="–"/>
        <a:defRPr sz="1800">
          <a:solidFill>
            <a:srgbClr val="004D75"/>
          </a:solidFill>
          <a:latin typeface="+mn-lt"/>
        </a:defRPr>
      </a:lvl4pPr>
      <a:lvl5pPr marL="1852613" indent="-273845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har char="»"/>
        <a:defRPr sz="1800">
          <a:solidFill>
            <a:srgbClr val="004D75"/>
          </a:solidFill>
          <a:latin typeface="+mn-lt"/>
        </a:defRPr>
      </a:lvl5pPr>
      <a:lvl6pPr marL="2538413" indent="-273845" algn="l" rtl="0" eaLnBrk="1" fontAlgn="base" hangingPunct="1">
        <a:lnSpc>
          <a:spcPct val="90000"/>
        </a:lnSpc>
        <a:spcBef>
          <a:spcPct val="20000"/>
        </a:spcBef>
        <a:spcAft>
          <a:spcPct val="20000"/>
        </a:spcAft>
        <a:buChar char="»"/>
        <a:defRPr sz="1800">
          <a:solidFill>
            <a:srgbClr val="004D75"/>
          </a:solidFill>
          <a:latin typeface="+mn-lt"/>
        </a:defRPr>
      </a:lvl6pPr>
      <a:lvl7pPr marL="3224213" indent="-273845" algn="l" rtl="0" eaLnBrk="1" fontAlgn="base" hangingPunct="1">
        <a:lnSpc>
          <a:spcPct val="90000"/>
        </a:lnSpc>
        <a:spcBef>
          <a:spcPct val="20000"/>
        </a:spcBef>
        <a:spcAft>
          <a:spcPct val="20000"/>
        </a:spcAft>
        <a:buChar char="»"/>
        <a:defRPr sz="1800">
          <a:solidFill>
            <a:srgbClr val="004D75"/>
          </a:solidFill>
          <a:latin typeface="+mn-lt"/>
        </a:defRPr>
      </a:lvl7pPr>
      <a:lvl8pPr marL="3910013" indent="-273845" algn="l" rtl="0" eaLnBrk="1" fontAlgn="base" hangingPunct="1">
        <a:lnSpc>
          <a:spcPct val="90000"/>
        </a:lnSpc>
        <a:spcBef>
          <a:spcPct val="20000"/>
        </a:spcBef>
        <a:spcAft>
          <a:spcPct val="20000"/>
        </a:spcAft>
        <a:buChar char="»"/>
        <a:defRPr sz="1800">
          <a:solidFill>
            <a:srgbClr val="004D75"/>
          </a:solidFill>
          <a:latin typeface="+mn-lt"/>
        </a:defRPr>
      </a:lvl8pPr>
      <a:lvl9pPr marL="4595813" indent="-273845" algn="l" rtl="0" eaLnBrk="1" fontAlgn="base" hangingPunct="1">
        <a:lnSpc>
          <a:spcPct val="90000"/>
        </a:lnSpc>
        <a:spcBef>
          <a:spcPct val="20000"/>
        </a:spcBef>
        <a:spcAft>
          <a:spcPct val="20000"/>
        </a:spcAft>
        <a:buChar char="»"/>
        <a:defRPr sz="1800">
          <a:solidFill>
            <a:srgbClr val="004D75"/>
          </a:solidFill>
          <a:latin typeface="+mn-lt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5.pn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29.sv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6.sv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7659121">
            <a:off x="15033923" y="6155788"/>
            <a:ext cx="7629295" cy="7828567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3586278" y="40902"/>
            <a:ext cx="4701724" cy="2222633"/>
          </a:xfrm>
          <a:custGeom>
            <a:avLst/>
            <a:gdLst/>
            <a:ahLst/>
            <a:cxnLst/>
            <a:rect l="l" t="t" r="r" b="b"/>
            <a:pathLst>
              <a:path w="4701724" h="2222633">
                <a:moveTo>
                  <a:pt x="0" y="0"/>
                </a:moveTo>
                <a:lnTo>
                  <a:pt x="4701724" y="0"/>
                </a:lnTo>
                <a:lnTo>
                  <a:pt x="4701724" y="2222633"/>
                </a:lnTo>
                <a:lnTo>
                  <a:pt x="0" y="2222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TextBox 6"/>
          <p:cNvSpPr txBox="1"/>
          <p:nvPr/>
        </p:nvSpPr>
        <p:spPr>
          <a:xfrm>
            <a:off x="4419602" y="4008389"/>
            <a:ext cx="10003303" cy="152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Paytone One"/>
              </a:rPr>
              <a:t>Topic 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4925" y="584435"/>
            <a:ext cx="546190" cy="2014383"/>
            <a:chOff x="0" y="0"/>
            <a:chExt cx="55859" cy="13546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lnTo>
                    <a:pt x="0" y="0"/>
                  </a:lnTo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0714" y="1141805"/>
            <a:ext cx="5659975" cy="2014383"/>
          </a:xfrm>
          <a:custGeom>
            <a:avLst/>
            <a:gdLst/>
            <a:ahLst/>
            <a:cxnLst/>
            <a:rect l="l" t="t" r="r" b="b"/>
            <a:pathLst>
              <a:path w="5659975" h="2014382">
                <a:moveTo>
                  <a:pt x="0" y="0"/>
                </a:moveTo>
                <a:lnTo>
                  <a:pt x="5659975" y="0"/>
                </a:lnTo>
                <a:lnTo>
                  <a:pt x="5659975" y="2014382"/>
                </a:lnTo>
                <a:lnTo>
                  <a:pt x="0" y="2014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2880054" y="5693835"/>
            <a:ext cx="14286806" cy="2632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000" dirty="0">
                <a:solidFill>
                  <a:srgbClr val="1211CA"/>
                </a:solidFill>
                <a:latin typeface="Montserrat Ultra-Bold"/>
              </a:rPr>
              <a:t>REQUIREMENTS DETERMINATION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-2298236" y="6023283"/>
            <a:ext cx="6921266" cy="437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500" dirty="0">
                <a:solidFill>
                  <a:srgbClr val="101010"/>
                </a:solidFill>
                <a:latin typeface="Montserrat Classic"/>
              </a:rPr>
              <a:t> SYSTEMS ANALYSIS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3826" y="48703"/>
            <a:ext cx="24508995" cy="12718021"/>
            <a:chOff x="0" y="4351989"/>
            <a:chExt cx="32678659" cy="16957362"/>
          </a:xfrm>
        </p:grpSpPr>
        <p:sp>
          <p:nvSpPr>
            <p:cNvPr id="3" name="Freeform 3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Freeform 5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511768" y="17001671"/>
              <a:ext cx="24383999" cy="4307680"/>
              <a:chOff x="0" y="-38100"/>
              <a:chExt cx="4816592" cy="8509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4999719" y="3049573"/>
            <a:ext cx="1400485" cy="3750592"/>
            <a:chOff x="0" y="0"/>
            <a:chExt cx="368852" cy="1710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8852" cy="1710137"/>
            </a:xfrm>
            <a:custGeom>
              <a:avLst/>
              <a:gdLst/>
              <a:ahLst/>
              <a:cxnLst/>
              <a:rect l="l" t="t" r="r" b="b"/>
              <a:pathLst>
                <a:path w="368852" h="1710137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MY" sz="20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 sz="20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590800" y="1036996"/>
            <a:ext cx="12649200" cy="1567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8000" spc="979" dirty="0">
                <a:solidFill>
                  <a:srgbClr val="231F20"/>
                </a:solidFill>
                <a:latin typeface="Oswald Bold"/>
              </a:rPr>
              <a:t>LEARNING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7433" y="3333137"/>
            <a:ext cx="748956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457200">
              <a:spcBef>
                <a:spcPct val="20000"/>
              </a:spcBef>
            </a:pPr>
            <a:r>
              <a:rPr lang="en-US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phase.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7432" y="4127355"/>
            <a:ext cx="779436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en-US" sz="3200" dirty="0"/>
              <a:t>Requirement determination.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7433" y="5047445"/>
            <a:ext cx="5790503" cy="4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  <a:spcBef>
                <a:spcPct val="0"/>
              </a:spcBef>
            </a:pPr>
            <a:r>
              <a:rPr lang="en-US" altLang="en-US" sz="3200" dirty="0"/>
              <a:t>Requirement elicitation techniques</a:t>
            </a:r>
            <a:endParaRPr lang="en-US" sz="2800" spc="247" dirty="0">
              <a:solidFill>
                <a:srgbClr val="231F20"/>
              </a:solidFill>
              <a:latin typeface="DM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07432" y="5841663"/>
            <a:ext cx="1038516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en-US" sz="3200" dirty="0"/>
              <a:t>Requirement analysis strategies.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31353" y="3225188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400">
                <a:solidFill>
                  <a:srgbClr val="363636"/>
                </a:solidFill>
                <a:latin typeface="Oswald Bold Italics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31353" y="4022306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400">
                <a:solidFill>
                  <a:srgbClr val="363636"/>
                </a:solidFill>
                <a:latin typeface="Oswald Bold Italics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31353" y="4903464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400">
                <a:solidFill>
                  <a:srgbClr val="363636"/>
                </a:solidFill>
                <a:latin typeface="Oswald Bold Italics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31353" y="5700582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400" dirty="0">
                <a:solidFill>
                  <a:srgbClr val="363636"/>
                </a:solidFill>
                <a:latin typeface="Oswald Bold Italics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648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altLang="en-US" dirty="0"/>
              <a:t>.</a:t>
            </a:r>
            <a:endParaRPr lang="en-US" altLang="en-US" sz="1400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E33F5A-F131-47C1-B16B-140017CF2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36" y="2114677"/>
            <a:ext cx="16827518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39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r>
              <a:rPr lang="en-US" altLang="en-US" sz="39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refers to </a:t>
            </a:r>
            <a:r>
              <a:rPr lang="en-US" altLang="en-US" sz="39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breaking a whole into its parts</a:t>
            </a:r>
            <a:r>
              <a:rPr lang="en-US" altLang="en-US" sz="39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the determined of understanding the parts’ nature, functions, and interrelationships.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39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en-US" altLang="en-US" sz="39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planning phase deliverables </a:t>
            </a:r>
            <a:r>
              <a:rPr lang="en-US" altLang="en-US" sz="39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 </a:t>
            </a:r>
            <a:r>
              <a:rPr lang="en-US" altLang="en-US" sz="39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key inputs into the analysis phase</a:t>
            </a:r>
            <a:r>
              <a:rPr lang="en-US" altLang="en-US" sz="39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alt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defRPr/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The basic process of </a:t>
            </a:r>
            <a:r>
              <a:rPr lang="en-US" sz="4000" b="1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involves three </a:t>
            </a:r>
            <a:r>
              <a:rPr 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steps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854075" indent="-396875">
              <a:buFontTx/>
              <a:buChar char="-"/>
              <a:defRPr/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Understand the </a:t>
            </a:r>
            <a:r>
              <a:rPr 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existing situation 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(the as-is system)</a:t>
            </a:r>
          </a:p>
          <a:p>
            <a:pPr marL="908050" indent="-450850">
              <a:buFontTx/>
              <a:buChar char="-"/>
              <a:defRPr/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Identify </a:t>
            </a:r>
            <a:r>
              <a:rPr 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improvements</a:t>
            </a:r>
          </a:p>
          <a:p>
            <a:pPr marL="854075" indent="-396875">
              <a:buFontTx/>
              <a:buChar char="-"/>
              <a:defRPr/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Define the </a:t>
            </a:r>
            <a:r>
              <a:rPr 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for the new system (the to-be system).</a:t>
            </a:r>
          </a:p>
          <a:p>
            <a:endParaRPr lang="en-US" alt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DF35394-CE1C-4FE3-94A0-3331EB0DD467}"/>
              </a:ext>
            </a:extLst>
          </p:cNvPr>
          <p:cNvSpPr txBox="1">
            <a:spLocks/>
          </p:cNvSpPr>
          <p:nvPr/>
        </p:nvSpPr>
        <p:spPr>
          <a:xfrm>
            <a:off x="990600" y="650124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ANALYSIS PHASE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914540" y="6152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ANALYSIS PHASE (</a:t>
            </a:r>
            <a:r>
              <a:rPr lang="en-US" sz="54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93209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 The final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deliverables of the analysis phase 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is the </a:t>
            </a:r>
            <a:r>
              <a:rPr lang="en-US" altLang="en-US" sz="4400" b="1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system proposal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altLang="en-US" sz="4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system proposal 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is presented to the approval committee in the form of a system </a:t>
            </a:r>
            <a:r>
              <a:rPr lang="en-US" altLang="en-US" sz="4400" b="1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walk-through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 to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explain the system in moderate detail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altLang="en-US" sz="4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deliverables from the analysis phase 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are the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first step in the design of the new system</a:t>
            </a:r>
            <a:r>
              <a:rPr lang="en-US" alt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64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02" name="Group 2">
            <a:extLst>
              <a:ext uri="{FF2B5EF4-FFF2-40B4-BE49-F238E27FC236}">
                <a16:creationId xmlns:a16="http://schemas.microsoft.com/office/drawing/2014/main" id="{8401400B-E716-490F-84E7-821A7BF1EB6C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538663"/>
            <a:ext cx="2686050" cy="1828800"/>
            <a:chOff x="2064" y="1706"/>
            <a:chExt cx="1128" cy="768"/>
          </a:xfrm>
        </p:grpSpPr>
        <p:sp>
          <p:nvSpPr>
            <p:cNvPr id="12322" name="AutoShape 3">
              <a:extLst>
                <a:ext uri="{FF2B5EF4-FFF2-40B4-BE49-F238E27FC236}">
                  <a16:creationId xmlns:a16="http://schemas.microsoft.com/office/drawing/2014/main" id="{17B30724-B386-493C-B4AF-85529E889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762"/>
              <a:ext cx="1080" cy="712"/>
            </a:xfrm>
            <a:prstGeom prst="flowChartPredefinedProcess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 lang="en-US" altLang="en-US" sz="1500">
                <a:cs typeface="Arial" panose="020B0604020202020204" pitchFamily="34" charset="0"/>
              </a:endParaRPr>
            </a:p>
          </p:txBody>
        </p:sp>
        <p:sp>
          <p:nvSpPr>
            <p:cNvPr id="12323" name="AutoShape 4">
              <a:extLst>
                <a:ext uri="{FF2B5EF4-FFF2-40B4-BE49-F238E27FC236}">
                  <a16:creationId xmlns:a16="http://schemas.microsoft.com/office/drawing/2014/main" id="{67CBF039-1C4C-4ABF-A1B0-F5F3F2F1A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706"/>
              <a:ext cx="1080" cy="712"/>
            </a:xfrm>
            <a:prstGeom prst="flowChartPredefinedProcess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 lang="en-US" altLang="en-US" sz="1500">
                <a:cs typeface="Arial" panose="020B0604020202020204" pitchFamily="34" charset="0"/>
              </a:endParaRPr>
            </a:p>
          </p:txBody>
        </p:sp>
        <p:sp>
          <p:nvSpPr>
            <p:cNvPr id="12324" name="Text Box 5">
              <a:extLst>
                <a:ext uri="{FF2B5EF4-FFF2-40B4-BE49-F238E27FC236}">
                  <a16:creationId xmlns:a16="http://schemas.microsoft.com/office/drawing/2014/main" id="{5120D387-9302-4F88-9F0B-02D1B0A2A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" y="1889"/>
              <a:ext cx="71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b="1">
                  <a:solidFill>
                    <a:srgbClr val="80808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Analysis</a:t>
              </a:r>
              <a:endParaRPr lang="en-GB" altLang="en-US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19206" name="Group 6">
            <a:extLst>
              <a:ext uri="{FF2B5EF4-FFF2-40B4-BE49-F238E27FC236}">
                <a16:creationId xmlns:a16="http://schemas.microsoft.com/office/drawing/2014/main" id="{50F61B8F-469B-4571-8797-46E835B68A9C}"/>
              </a:ext>
            </a:extLst>
          </p:cNvPr>
          <p:cNvGrpSpPr>
            <a:grpSpLocks/>
          </p:cNvGrpSpPr>
          <p:nvPr/>
        </p:nvGrpSpPr>
        <p:grpSpPr bwMode="auto">
          <a:xfrm>
            <a:off x="7734300" y="2081213"/>
            <a:ext cx="2209800" cy="2447925"/>
            <a:chOff x="2272" y="674"/>
            <a:chExt cx="928" cy="1028"/>
          </a:xfrm>
        </p:grpSpPr>
        <p:sp>
          <p:nvSpPr>
            <p:cNvPr id="12318" name="AutoShape 7">
              <a:extLst>
                <a:ext uri="{FF2B5EF4-FFF2-40B4-BE49-F238E27FC236}">
                  <a16:creationId xmlns:a16="http://schemas.microsoft.com/office/drawing/2014/main" id="{FE3787B0-473D-4483-9F32-1F5CEE1E5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722"/>
              <a:ext cx="904" cy="504"/>
            </a:xfrm>
            <a:prstGeom prst="flowChartInputOutpu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 lang="en-US" altLang="en-US" sz="1500">
                <a:cs typeface="Arial" panose="020B0604020202020204" pitchFamily="34" charset="0"/>
              </a:endParaRPr>
            </a:p>
          </p:txBody>
        </p:sp>
        <p:sp>
          <p:nvSpPr>
            <p:cNvPr id="12319" name="AutoShape 8">
              <a:extLst>
                <a:ext uri="{FF2B5EF4-FFF2-40B4-BE49-F238E27FC236}">
                  <a16:creationId xmlns:a16="http://schemas.microsoft.com/office/drawing/2014/main" id="{DB8AB9AD-0E07-47DC-9927-670FD168B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" y="674"/>
              <a:ext cx="904" cy="504"/>
            </a:xfrm>
            <a:prstGeom prst="flowChartInputOutpu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 lang="en-US" altLang="en-US" sz="1500">
                <a:cs typeface="Arial" panose="020B0604020202020204" pitchFamily="34" charset="0"/>
              </a:endParaRPr>
            </a:p>
          </p:txBody>
        </p:sp>
        <p:sp>
          <p:nvSpPr>
            <p:cNvPr id="12320" name="Text Box 9">
              <a:extLst>
                <a:ext uri="{FF2B5EF4-FFF2-40B4-BE49-F238E27FC236}">
                  <a16:creationId xmlns:a16="http://schemas.microsoft.com/office/drawing/2014/main" id="{543C92A3-A083-49ED-AF9D-B28A110F3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" y="705"/>
              <a:ext cx="715" cy="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 lang="en-GB" altLang="en-US" sz="1950" b="1">
                <a:solidFill>
                  <a:srgbClr val="80808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sz="1950" b="1">
                  <a:solidFill>
                    <a:srgbClr val="80808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Project Plan</a:t>
              </a:r>
              <a:endParaRPr lang="en-GB" altLang="en-US" sz="195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321" name="Line 10">
              <a:extLst>
                <a:ext uri="{FF2B5EF4-FFF2-40B4-BE49-F238E27FC236}">
                  <a16:creationId xmlns:a16="http://schemas.microsoft.com/office/drawing/2014/main" id="{3F7E1A16-1ABB-4E12-9065-57AFEC512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6" y="1186"/>
              <a:ext cx="0" cy="51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triangle" w="lg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MY" sz="15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19211" name="Group 11">
            <a:extLst>
              <a:ext uri="{FF2B5EF4-FFF2-40B4-BE49-F238E27FC236}">
                <a16:creationId xmlns:a16="http://schemas.microsoft.com/office/drawing/2014/main" id="{DB5959A4-C4F1-4F74-9489-85E58BE3BEAB}"/>
              </a:ext>
            </a:extLst>
          </p:cNvPr>
          <p:cNvGrpSpPr>
            <a:grpSpLocks/>
          </p:cNvGrpSpPr>
          <p:nvPr/>
        </p:nvGrpSpPr>
        <p:grpSpPr bwMode="auto">
          <a:xfrm>
            <a:off x="3493295" y="6234113"/>
            <a:ext cx="10353675" cy="2319338"/>
            <a:chOff x="491" y="2418"/>
            <a:chExt cx="4348" cy="974"/>
          </a:xfrm>
        </p:grpSpPr>
        <p:sp>
          <p:nvSpPr>
            <p:cNvPr id="12303" name="Line 12">
              <a:extLst>
                <a:ext uri="{FF2B5EF4-FFF2-40B4-BE49-F238E27FC236}">
                  <a16:creationId xmlns:a16="http://schemas.microsoft.com/office/drawing/2014/main" id="{8FF5DE20-39DA-4CCB-A550-E2E11C728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418"/>
              <a:ext cx="0" cy="228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MY" sz="15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304" name="Group 13">
              <a:extLst>
                <a:ext uri="{FF2B5EF4-FFF2-40B4-BE49-F238E27FC236}">
                  <a16:creationId xmlns:a16="http://schemas.microsoft.com/office/drawing/2014/main" id="{7ED30782-3091-4382-B9F8-B5C3BD7AE0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" y="2658"/>
              <a:ext cx="4348" cy="734"/>
              <a:chOff x="491" y="2658"/>
              <a:chExt cx="4348" cy="734"/>
            </a:xfrm>
          </p:grpSpPr>
          <p:sp>
            <p:nvSpPr>
              <p:cNvPr id="12305" name="AutoShape 14">
                <a:extLst>
                  <a:ext uri="{FF2B5EF4-FFF2-40B4-BE49-F238E27FC236}">
                    <a16:creationId xmlns:a16="http://schemas.microsoft.com/office/drawing/2014/main" id="{477D98A8-FDB9-4208-A7A6-C2EF2064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0" y="2826"/>
                <a:ext cx="792" cy="560"/>
              </a:xfrm>
              <a:prstGeom prst="flowChartDocumen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500">
                  <a:cs typeface="Arial" panose="020B0604020202020204" pitchFamily="34" charset="0"/>
                </a:endParaRPr>
              </a:p>
            </p:txBody>
          </p:sp>
          <p:sp>
            <p:nvSpPr>
              <p:cNvPr id="12306" name="AutoShape 15">
                <a:extLst>
                  <a:ext uri="{FF2B5EF4-FFF2-40B4-BE49-F238E27FC236}">
                    <a16:creationId xmlns:a16="http://schemas.microsoft.com/office/drawing/2014/main" id="{4C05F160-FA7A-4568-AC32-B29DBAE4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2" y="2794"/>
                <a:ext cx="792" cy="560"/>
              </a:xfrm>
              <a:prstGeom prst="flowChartDocumen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500">
                  <a:cs typeface="Arial" panose="020B0604020202020204" pitchFamily="34" charset="0"/>
                </a:endParaRPr>
              </a:p>
            </p:txBody>
          </p:sp>
          <p:sp>
            <p:nvSpPr>
              <p:cNvPr id="12307" name="Text Box 16">
                <a:extLst>
                  <a:ext uri="{FF2B5EF4-FFF2-40B4-BE49-F238E27FC236}">
                    <a16:creationId xmlns:a16="http://schemas.microsoft.com/office/drawing/2014/main" id="{762D2D47-9BA5-4534-A450-0593CE253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2809"/>
                <a:ext cx="715" cy="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altLang="en-US" b="1">
                    <a:solidFill>
                      <a:srgbClr val="80808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Updated Project Plan &amp; Schedule</a:t>
                </a:r>
                <a:endParaRPr lang="en-GB" altLang="en-US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08" name="AutoShape 17">
                <a:extLst>
                  <a:ext uri="{FF2B5EF4-FFF2-40B4-BE49-F238E27FC236}">
                    <a16:creationId xmlns:a16="http://schemas.microsoft.com/office/drawing/2014/main" id="{0D9F45CB-24B5-42E0-9D74-3487EA18B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7" y="2826"/>
                <a:ext cx="792" cy="560"/>
              </a:xfrm>
              <a:prstGeom prst="flowChartDocumen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500">
                  <a:cs typeface="Arial" panose="020B0604020202020204" pitchFamily="34" charset="0"/>
                </a:endParaRPr>
              </a:p>
            </p:txBody>
          </p:sp>
          <p:sp>
            <p:nvSpPr>
              <p:cNvPr id="12309" name="AutoShape 18">
                <a:extLst>
                  <a:ext uri="{FF2B5EF4-FFF2-40B4-BE49-F238E27FC236}">
                    <a16:creationId xmlns:a16="http://schemas.microsoft.com/office/drawing/2014/main" id="{20508C9C-2FC5-4732-9089-9899AFBCC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9" y="2794"/>
                <a:ext cx="792" cy="560"/>
              </a:xfrm>
              <a:prstGeom prst="flowChartDocumen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500">
                  <a:cs typeface="Arial" panose="020B0604020202020204" pitchFamily="34" charset="0"/>
                </a:endParaRPr>
              </a:p>
            </p:txBody>
          </p:sp>
          <p:sp>
            <p:nvSpPr>
              <p:cNvPr id="12310" name="Text Box 19">
                <a:extLst>
                  <a:ext uri="{FF2B5EF4-FFF2-40B4-BE49-F238E27FC236}">
                    <a16:creationId xmlns:a16="http://schemas.microsoft.com/office/drawing/2014/main" id="{38994A9D-3C0F-4868-904D-DBDD77938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7" y="2809"/>
                <a:ext cx="715" cy="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altLang="en-US" b="1">
                    <a:solidFill>
                      <a:srgbClr val="80808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Requirements Traceability Matrix</a:t>
                </a:r>
                <a:r>
                  <a:rPr lang="en-GB" altLang="en-US" b="1" baseline="30000">
                    <a:solidFill>
                      <a:srgbClr val="80808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*</a:t>
                </a:r>
                <a:endParaRPr lang="en-GB" altLang="en-US" b="1" baseline="300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11" name="Line 20">
                <a:extLst>
                  <a:ext uri="{FF2B5EF4-FFF2-40B4-BE49-F238E27FC236}">
                    <a16:creationId xmlns:a16="http://schemas.microsoft.com/office/drawing/2014/main" id="{DA374FD5-2B0E-4ED3-9A16-3CE97AF917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2658"/>
                <a:ext cx="3530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MY" sz="15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12" name="Line 21">
                <a:extLst>
                  <a:ext uri="{FF2B5EF4-FFF2-40B4-BE49-F238E27FC236}">
                    <a16:creationId xmlns:a16="http://schemas.microsoft.com/office/drawing/2014/main" id="{F5C90B1D-3A17-4157-9CF8-6FA9AE7FB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8" y="2662"/>
                <a:ext cx="6" cy="142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MY" sz="15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13" name="Line 22">
                <a:extLst>
                  <a:ext uri="{FF2B5EF4-FFF2-40B4-BE49-F238E27FC236}">
                    <a16:creationId xmlns:a16="http://schemas.microsoft.com/office/drawing/2014/main" id="{8F701540-1FC6-4875-BE68-3593A297E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6" y="2668"/>
                <a:ext cx="0" cy="131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MY" sz="15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14" name="AutoShape 23">
                <a:extLst>
                  <a:ext uri="{FF2B5EF4-FFF2-40B4-BE49-F238E27FC236}">
                    <a16:creationId xmlns:a16="http://schemas.microsoft.com/office/drawing/2014/main" id="{9638FA56-938A-40CC-8502-8DF12DF52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" y="2832"/>
                <a:ext cx="792" cy="560"/>
              </a:xfrm>
              <a:prstGeom prst="flowChartDocumen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500">
                  <a:cs typeface="Arial" panose="020B0604020202020204" pitchFamily="34" charset="0"/>
                </a:endParaRPr>
              </a:p>
            </p:txBody>
          </p:sp>
          <p:sp>
            <p:nvSpPr>
              <p:cNvPr id="12315" name="AutoShape 24">
                <a:extLst>
                  <a:ext uri="{FF2B5EF4-FFF2-40B4-BE49-F238E27FC236}">
                    <a16:creationId xmlns:a16="http://schemas.microsoft.com/office/drawing/2014/main" id="{1958861E-ADB3-4909-B62F-7BE60C4A9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" y="2800"/>
                <a:ext cx="792" cy="560"/>
              </a:xfrm>
              <a:prstGeom prst="flowChartDocumen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500">
                  <a:cs typeface="Arial" panose="020B0604020202020204" pitchFamily="34" charset="0"/>
                </a:endParaRPr>
              </a:p>
            </p:txBody>
          </p:sp>
          <p:sp>
            <p:nvSpPr>
              <p:cNvPr id="12316" name="Text Box 25">
                <a:extLst>
                  <a:ext uri="{FF2B5EF4-FFF2-40B4-BE49-F238E27FC236}">
                    <a16:creationId xmlns:a16="http://schemas.microsoft.com/office/drawing/2014/main" id="{8DC86DA3-2108-4DB6-8182-4CEE3FE360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" y="2937"/>
                <a:ext cx="859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110000"/>
                  </a:lnSpc>
                  <a:spcBef>
                    <a:spcPct val="30000"/>
                  </a:spcBef>
                  <a:spcAft>
                    <a:spcPct val="20000"/>
                  </a:spcAft>
                  <a:buChar char="•"/>
                  <a:defRPr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ct val="10000"/>
                  </a:spcAft>
                  <a:buChar char="–"/>
                  <a:defRPr sz="15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•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–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har char="»"/>
                  <a:defRPr sz="1200">
                    <a:solidFill>
                      <a:srgbClr val="004D75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defTabSz="13716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altLang="en-US" b="1">
                    <a:solidFill>
                      <a:srgbClr val="80808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System Proposal</a:t>
                </a:r>
                <a:endParaRPr lang="en-GB" altLang="en-US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17" name="Line 26">
                <a:extLst>
                  <a:ext uri="{FF2B5EF4-FFF2-40B4-BE49-F238E27FC236}">
                    <a16:creationId xmlns:a16="http://schemas.microsoft.com/office/drawing/2014/main" id="{6184D4F8-A31A-4717-AEEF-1D60CA4FC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2" y="2658"/>
                <a:ext cx="0" cy="132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MY" sz="15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19227" name="Group 27">
            <a:extLst>
              <a:ext uri="{FF2B5EF4-FFF2-40B4-BE49-F238E27FC236}">
                <a16:creationId xmlns:a16="http://schemas.microsoft.com/office/drawing/2014/main" id="{21AEB332-D79D-4F0B-BF3B-12E738D15D2A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228600"/>
            <a:ext cx="12620625" cy="1266825"/>
            <a:chOff x="144" y="96"/>
            <a:chExt cx="5300" cy="532"/>
          </a:xfrm>
        </p:grpSpPr>
        <p:sp>
          <p:nvSpPr>
            <p:cNvPr id="12301" name="Text Box 28">
              <a:extLst>
                <a:ext uri="{FF2B5EF4-FFF2-40B4-BE49-F238E27FC236}">
                  <a16:creationId xmlns:a16="http://schemas.microsoft.com/office/drawing/2014/main" id="{B5B9662D-67EF-4E1E-AE3A-C3901919C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96"/>
              <a:ext cx="51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sz="3600" b="1">
                  <a:solidFill>
                    <a:srgbClr val="000000"/>
                  </a:solidFill>
                  <a:cs typeface="Arial" panose="020B0604020202020204" pitchFamily="34" charset="0"/>
                </a:rPr>
                <a:t>Analysis</a:t>
              </a:r>
              <a:r>
                <a:rPr lang="en-GB" altLang="en-US" sz="21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en-GB" altLang="en-US" sz="15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302" name="Text Box 29">
              <a:extLst>
                <a:ext uri="{FF2B5EF4-FFF2-40B4-BE49-F238E27FC236}">
                  <a16:creationId xmlns:a16="http://schemas.microsoft.com/office/drawing/2014/main" id="{67E0A8F4-625B-4CFD-9E91-31CFDC208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" y="336"/>
              <a:ext cx="51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13716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sz="3000">
                  <a:solidFill>
                    <a:srgbClr val="000000"/>
                  </a:solidFill>
                  <a:cs typeface="Arial" panose="020B0604020202020204" pitchFamily="34" charset="0"/>
                </a:rPr>
                <a:t>Typical Inputs and Outputs</a:t>
              </a:r>
              <a:r>
                <a:rPr lang="en-GB" altLang="en-US" sz="21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en-GB" altLang="en-US" sz="15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19230" name="Text Box 30">
            <a:extLst>
              <a:ext uri="{FF2B5EF4-FFF2-40B4-BE49-F238E27FC236}">
                <a16:creationId xmlns:a16="http://schemas.microsoft.com/office/drawing/2014/main" id="{B7F10754-9CDB-462B-AB2D-737C5DE55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2376" y="2478882"/>
            <a:ext cx="4036220" cy="50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1371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100" b="1" u="sng">
                <a:solidFill>
                  <a:srgbClr val="3366FF"/>
                </a:solidFill>
                <a:cs typeface="Arial" panose="020B0604020202020204" pitchFamily="34" charset="0"/>
              </a:rPr>
              <a:t>Three Core Processes:</a:t>
            </a:r>
          </a:p>
        </p:txBody>
      </p:sp>
      <p:sp>
        <p:nvSpPr>
          <p:cNvPr id="819231" name="Text Box 31">
            <a:extLst>
              <a:ext uri="{FF2B5EF4-FFF2-40B4-BE49-F238E27FC236}">
                <a16:creationId xmlns:a16="http://schemas.microsoft.com/office/drawing/2014/main" id="{E39EE456-9301-4FC1-89E4-7CD453870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1426" y="3031332"/>
            <a:ext cx="3750470" cy="63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marL="266700" indent="-266700" defTabSz="1371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b="1">
                <a:solidFill>
                  <a:srgbClr val="3366FF"/>
                </a:solidFill>
                <a:cs typeface="Arial" panose="020B0604020202020204" pitchFamily="34" charset="0"/>
              </a:rPr>
              <a:t>1. Understanding the current system</a:t>
            </a:r>
          </a:p>
        </p:txBody>
      </p:sp>
      <p:sp>
        <p:nvSpPr>
          <p:cNvPr id="819232" name="Text Box 32">
            <a:extLst>
              <a:ext uri="{FF2B5EF4-FFF2-40B4-BE49-F238E27FC236}">
                <a16:creationId xmlns:a16="http://schemas.microsoft.com/office/drawing/2014/main" id="{EFE49E07-119E-4403-BB39-E6878C1F2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1426" y="3869532"/>
            <a:ext cx="3750470" cy="63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marL="266700" indent="-266700" defTabSz="1371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b="1">
                <a:solidFill>
                  <a:srgbClr val="3366FF"/>
                </a:solidFill>
                <a:cs typeface="Arial" panose="020B0604020202020204" pitchFamily="34" charset="0"/>
              </a:rPr>
              <a:t>2. Identifying Improvements</a:t>
            </a:r>
          </a:p>
        </p:txBody>
      </p:sp>
      <p:sp>
        <p:nvSpPr>
          <p:cNvPr id="819233" name="Text Box 33">
            <a:extLst>
              <a:ext uri="{FF2B5EF4-FFF2-40B4-BE49-F238E27FC236}">
                <a16:creationId xmlns:a16="http://schemas.microsoft.com/office/drawing/2014/main" id="{3F01D13E-104D-4144-B6F3-8704DA7B6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1426" y="4783932"/>
            <a:ext cx="3750470" cy="63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marL="266700" indent="-266700" defTabSz="1371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b="1">
                <a:solidFill>
                  <a:srgbClr val="3366FF"/>
                </a:solidFill>
                <a:cs typeface="Arial" panose="020B0604020202020204" pitchFamily="34" charset="0"/>
              </a:rPr>
              <a:t>3. Developing concept of new system</a:t>
            </a:r>
          </a:p>
        </p:txBody>
      </p:sp>
      <p:grpSp>
        <p:nvGrpSpPr>
          <p:cNvPr id="819234" name="Group 34">
            <a:extLst>
              <a:ext uri="{FF2B5EF4-FFF2-40B4-BE49-F238E27FC236}">
                <a16:creationId xmlns:a16="http://schemas.microsoft.com/office/drawing/2014/main" id="{28962AD9-EB61-41AC-92CD-B5C19E9F14FE}"/>
              </a:ext>
            </a:extLst>
          </p:cNvPr>
          <p:cNvGrpSpPr>
            <a:grpSpLocks/>
          </p:cNvGrpSpPr>
          <p:nvPr/>
        </p:nvGrpSpPr>
        <p:grpSpPr bwMode="auto">
          <a:xfrm>
            <a:off x="9810750" y="2609850"/>
            <a:ext cx="1276350" cy="2971800"/>
            <a:chOff x="3160" y="1096"/>
            <a:chExt cx="536" cy="1248"/>
          </a:xfrm>
        </p:grpSpPr>
        <p:sp>
          <p:nvSpPr>
            <p:cNvPr id="12299" name="Line 35">
              <a:extLst>
                <a:ext uri="{FF2B5EF4-FFF2-40B4-BE49-F238E27FC236}">
                  <a16:creationId xmlns:a16="http://schemas.microsoft.com/office/drawing/2014/main" id="{8CBE2A24-34DE-4814-9FF5-8D276D962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0" y="1696"/>
              <a:ext cx="536" cy="536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MY" sz="15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0" name="Line 36">
              <a:extLst>
                <a:ext uri="{FF2B5EF4-FFF2-40B4-BE49-F238E27FC236}">
                  <a16:creationId xmlns:a16="http://schemas.microsoft.com/office/drawing/2014/main" id="{3A3A7E4B-D52C-4CCB-AF65-3381FB7A9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8" y="1096"/>
              <a:ext cx="8" cy="1248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MY" sz="15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Freeform 29">
            <a:extLst>
              <a:ext uri="{FF2B5EF4-FFF2-40B4-BE49-F238E27FC236}">
                <a16:creationId xmlns:a16="http://schemas.microsoft.com/office/drawing/2014/main" id="{98D67366-52D8-4569-A625-5DB619C5460D}"/>
              </a:ext>
            </a:extLst>
          </p:cNvPr>
          <p:cNvSpPr/>
          <p:nvPr/>
        </p:nvSpPr>
        <p:spPr>
          <a:xfrm>
            <a:off x="0" y="9082089"/>
            <a:ext cx="18464646" cy="2800350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81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19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819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1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1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1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8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0" grpId="0"/>
      <p:bldP spid="819231" grpId="0"/>
      <p:bldP spid="819232" grpId="0"/>
      <p:bldP spid="8192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914540" y="6152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ANALYSIS PHASE (</a:t>
            </a:r>
            <a:r>
              <a:rPr lang="en-US" sz="54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93209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4400" b="1" dirty="0"/>
              <a:t>Objective 1:</a:t>
            </a:r>
            <a:r>
              <a:rPr lang="en-GB" altLang="en-US" sz="4400" dirty="0"/>
              <a:t> to understand the business requirements of the new (or ‘to-be’) system</a:t>
            </a:r>
          </a:p>
          <a:p>
            <a:pPr marL="552450" lvl="1" indent="-266700"/>
            <a:r>
              <a:rPr lang="en-GB" altLang="en-US" sz="4400" dirty="0"/>
              <a:t>May need to analyse the current (or ‘as-is’) system</a:t>
            </a:r>
          </a:p>
          <a:p>
            <a:pPr marL="552450" lvl="1" indent="-266700"/>
            <a:endParaRPr lang="en-GB" altLang="en-US" sz="4400" dirty="0"/>
          </a:p>
          <a:p>
            <a:r>
              <a:rPr lang="en-GB" altLang="en-US" sz="4400" b="1" dirty="0"/>
              <a:t>Objective 2:</a:t>
            </a:r>
            <a:r>
              <a:rPr lang="en-GB" altLang="en-US" sz="4400" dirty="0"/>
              <a:t> to develop a system that addresses the requirements</a:t>
            </a:r>
          </a:p>
          <a:p>
            <a:pPr marL="552450" lvl="1" indent="-266700"/>
            <a:r>
              <a:rPr lang="en-GB" altLang="en-US" sz="4400" dirty="0"/>
              <a:t>Incorporates initial system design</a:t>
            </a:r>
          </a:p>
          <a:p>
            <a:pPr marL="552450" lvl="1" indent="-266700"/>
            <a:r>
              <a:rPr lang="en-GB" altLang="en-US" sz="4400" dirty="0"/>
              <a:t>An entirely new system may not be needed</a:t>
            </a:r>
          </a:p>
          <a:p>
            <a:pPr marL="552450" lvl="1" indent="-266700"/>
            <a:endParaRPr lang="en-GB" altLang="en-US" sz="4400" dirty="0"/>
          </a:p>
          <a:p>
            <a:r>
              <a:rPr lang="en-GB" altLang="en-US" sz="4400" dirty="0">
                <a:solidFill>
                  <a:srgbClr val="FF0000"/>
                </a:solidFill>
              </a:rPr>
              <a:t>‘Requirements determination’ is the </a:t>
            </a:r>
            <a:r>
              <a:rPr lang="en-GB" altLang="en-US" sz="4400" b="1" dirty="0">
                <a:solidFill>
                  <a:srgbClr val="FF0000"/>
                </a:solidFill>
              </a:rPr>
              <a:t>most critical </a:t>
            </a:r>
            <a:r>
              <a:rPr lang="en-GB" altLang="en-US" sz="4400" dirty="0">
                <a:solidFill>
                  <a:srgbClr val="FF0000"/>
                </a:solidFill>
              </a:rPr>
              <a:t>step of the entire SDLC</a:t>
            </a:r>
          </a:p>
        </p:txBody>
      </p:sp>
    </p:spTree>
    <p:extLst>
      <p:ext uri="{BB962C8B-B14F-4D97-AF65-F5344CB8AC3E}">
        <p14:creationId xmlns:p14="http://schemas.microsoft.com/office/powerpoint/2010/main" val="187018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1407352" y="1012044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REQUIREMENTS DETERMINATION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563" y="2426401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en-US" sz="6000" dirty="0">
                <a:latin typeface="Verdana" panose="020B0604030504040204" pitchFamily="34" charset="0"/>
                <a:ea typeface="Verdana" panose="020B0604030504040204" pitchFamily="34" charset="0"/>
              </a:rPr>
              <a:t>Requirements determination is performed to </a:t>
            </a:r>
            <a:r>
              <a:rPr lang="en-US" altLang="en-US" sz="6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</a:t>
            </a:r>
            <a:r>
              <a:rPr lang="en-US" altLang="en-US" sz="6000" dirty="0"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en-US" altLang="en-US" sz="6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system request’s</a:t>
            </a:r>
            <a:r>
              <a:rPr lang="en-US" altLang="en-US" sz="6000" dirty="0">
                <a:latin typeface="Verdana" panose="020B0604030504040204" pitchFamily="34" charset="0"/>
                <a:ea typeface="Verdana" panose="020B0604030504040204" pitchFamily="34" charset="0"/>
              </a:rPr>
              <a:t> high-level statement of business requirements </a:t>
            </a:r>
            <a:r>
              <a:rPr lang="en-US" altLang="en-US" sz="6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</a:t>
            </a:r>
            <a:r>
              <a:rPr lang="en-US" altLang="en-US" sz="6000" dirty="0">
                <a:latin typeface="Verdana" panose="020B0604030504040204" pitchFamily="34" charset="0"/>
                <a:ea typeface="Verdana" panose="020B0604030504040204" pitchFamily="34" charset="0"/>
              </a:rPr>
              <a:t>a more detailed, precise list of </a:t>
            </a:r>
            <a:r>
              <a:rPr lang="en-US" altLang="en-US" sz="6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the new system must do to provide </a:t>
            </a:r>
            <a:r>
              <a:rPr lang="en-US" altLang="en-US" sz="6000" dirty="0">
                <a:latin typeface="Verdana" panose="020B0604030504040204" pitchFamily="34" charset="0"/>
                <a:ea typeface="Verdana" panose="020B0604030504040204" pitchFamily="34" charset="0"/>
              </a:rPr>
              <a:t>the needed value to the business</a:t>
            </a:r>
          </a:p>
        </p:txBody>
      </p:sp>
    </p:spTree>
    <p:extLst>
      <p:ext uri="{BB962C8B-B14F-4D97-AF65-F5344CB8AC3E}">
        <p14:creationId xmlns:p14="http://schemas.microsoft.com/office/powerpoint/2010/main" val="91228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1244040" y="2224595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What is a Requirement?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77" y="3772161"/>
            <a:ext cx="16001860" cy="3003008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Statement of what the system must do or a condition it must meet</a:t>
            </a:r>
            <a:r>
              <a:rPr lang="en-US" sz="4800" dirty="0"/>
              <a:t> to satisfy the needs of users, stakeholders, or business objectives.</a:t>
            </a:r>
          </a:p>
          <a:p>
            <a:r>
              <a:rPr lang="en-GB" altLang="en-US" sz="4800" dirty="0"/>
              <a:t>Focus is on </a:t>
            </a:r>
            <a:r>
              <a:rPr lang="en-GB" altLang="en-US" sz="4800" u="sng" dirty="0"/>
              <a:t>business user</a:t>
            </a:r>
            <a:r>
              <a:rPr lang="en-GB" altLang="en-US" sz="4800" dirty="0"/>
              <a:t> needs during analysis phase</a:t>
            </a:r>
          </a:p>
          <a:p>
            <a:r>
              <a:rPr lang="en-GB" altLang="en-US" sz="4800" dirty="0"/>
              <a:t>Requirements will change over time as project moves from analysis to design to implementation</a:t>
            </a:r>
          </a:p>
          <a:p>
            <a:r>
              <a:rPr lang="en-GB" altLang="en-US" sz="4800" dirty="0"/>
              <a:t>Commonly prioritised e.g. ‘high’, ’medium’, ’low’ importance</a:t>
            </a:r>
          </a:p>
        </p:txBody>
      </p:sp>
    </p:spTree>
    <p:extLst>
      <p:ext uri="{BB962C8B-B14F-4D97-AF65-F5344CB8AC3E}">
        <p14:creationId xmlns:p14="http://schemas.microsoft.com/office/powerpoint/2010/main" val="55414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What is a Requirement? (</a:t>
            </a:r>
            <a:r>
              <a:rPr lang="en-US" sz="54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45915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fontAlgn="base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CC0000"/>
              </a:buClr>
              <a:buNone/>
            </a:pPr>
            <a:r>
              <a:rPr lang="en-US" altLang="en-US" sz="4800" b="1" kern="0" dirty="0">
                <a:solidFill>
                  <a:srgbClr val="000000"/>
                </a:solidFill>
                <a:latin typeface="Verdana"/>
              </a:rPr>
              <a:t>Requirements describe:</a:t>
            </a:r>
          </a:p>
          <a:p>
            <a:pPr marL="469900" lvl="0" indent="-469900" defTabSz="914400" fontAlgn="base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what the business needs (</a:t>
            </a:r>
            <a:r>
              <a:rPr lang="en-US" altLang="en-US" sz="4800" b="1" kern="0" dirty="0">
                <a:solidFill>
                  <a:srgbClr val="00B0F0"/>
                </a:solidFill>
                <a:latin typeface="Verdana"/>
              </a:rPr>
              <a:t>business requirements</a:t>
            </a: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)</a:t>
            </a:r>
          </a:p>
          <a:p>
            <a:pPr marL="469900" lvl="0" indent="-469900" defTabSz="914400" fontAlgn="base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what the users need to do (</a:t>
            </a:r>
            <a:r>
              <a:rPr lang="en-US" altLang="en-US" sz="4800" b="1" kern="0" dirty="0">
                <a:solidFill>
                  <a:srgbClr val="00B0F0"/>
                </a:solidFill>
                <a:latin typeface="Verdana"/>
              </a:rPr>
              <a:t>user requirements</a:t>
            </a: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)</a:t>
            </a:r>
          </a:p>
          <a:p>
            <a:pPr marL="469900" lvl="0" indent="-469900" defTabSz="914400" fontAlgn="base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what the software should do (</a:t>
            </a:r>
            <a:r>
              <a:rPr lang="en-US" altLang="en-US" sz="4800" b="1" kern="0" dirty="0">
                <a:solidFill>
                  <a:srgbClr val="00B0F0"/>
                </a:solidFill>
                <a:latin typeface="Verdana"/>
              </a:rPr>
              <a:t>functional requirements</a:t>
            </a: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)</a:t>
            </a:r>
          </a:p>
          <a:p>
            <a:pPr marL="469900" lvl="0" indent="-469900" defTabSz="914400" fontAlgn="base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altLang="en-US" sz="4800" kern="0" dirty="0">
                <a:solidFill>
                  <a:srgbClr val="000000"/>
                </a:solidFill>
                <a:latin typeface="Verdana"/>
              </a:rPr>
              <a:t>characteristics the system should have (</a:t>
            </a:r>
            <a:r>
              <a:rPr lang="en-US" altLang="en-US" sz="4800" b="1" kern="0" dirty="0">
                <a:solidFill>
                  <a:srgbClr val="00B0F0"/>
                </a:solidFill>
                <a:latin typeface="Verdana"/>
              </a:rPr>
              <a:t>non-functional requirements)</a:t>
            </a:r>
          </a:p>
        </p:txBody>
      </p:sp>
    </p:spTree>
    <p:extLst>
      <p:ext uri="{BB962C8B-B14F-4D97-AF65-F5344CB8AC3E}">
        <p14:creationId xmlns:p14="http://schemas.microsoft.com/office/powerpoint/2010/main" val="170723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Types of Requirement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45915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000" b="1" kern="0" dirty="0">
                <a:solidFill>
                  <a:srgbClr val="FF0000"/>
                </a:solidFill>
                <a:latin typeface="Verdana"/>
              </a:rPr>
              <a:t>Functional Requirements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000" kern="0" dirty="0">
                <a:solidFill>
                  <a:srgbClr val="004D75"/>
                </a:solidFill>
                <a:latin typeface="Verdana"/>
              </a:rPr>
              <a:t>A process the system has to perform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000" kern="0" dirty="0">
                <a:solidFill>
                  <a:srgbClr val="004D75"/>
                </a:solidFill>
                <a:latin typeface="Verdana"/>
              </a:rPr>
              <a:t>Information the system must contain</a:t>
            </a:r>
          </a:p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000" b="1" kern="0" dirty="0">
                <a:solidFill>
                  <a:srgbClr val="FF0000"/>
                </a:solidFill>
                <a:latin typeface="Verdana"/>
              </a:rPr>
              <a:t>Non-functional Requirements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000" kern="0" dirty="0" err="1">
                <a:solidFill>
                  <a:srgbClr val="004D75"/>
                </a:solidFill>
                <a:latin typeface="Verdana"/>
              </a:rPr>
              <a:t>Behavioral</a:t>
            </a:r>
            <a:r>
              <a:rPr lang="en-GB" altLang="en-US" sz="4000" kern="0" dirty="0">
                <a:solidFill>
                  <a:srgbClr val="004D75"/>
                </a:solidFill>
                <a:latin typeface="Verdana"/>
              </a:rPr>
              <a:t> properties the system must have</a:t>
            </a:r>
          </a:p>
          <a:p>
            <a:pPr marL="530225" lvl="2" indent="-149225" defTabSz="914400" fontAlgn="base">
              <a:spcBef>
                <a:spcPct val="2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000" b="1" kern="0" dirty="0">
                <a:solidFill>
                  <a:srgbClr val="004D75"/>
                </a:solidFill>
                <a:latin typeface="Verdana"/>
              </a:rPr>
              <a:t>Operational</a:t>
            </a:r>
          </a:p>
          <a:p>
            <a:pPr marL="530225" lvl="2" indent="-149225" defTabSz="914400" fontAlgn="base">
              <a:spcBef>
                <a:spcPct val="2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000" b="1" kern="0" dirty="0">
                <a:solidFill>
                  <a:srgbClr val="004D75"/>
                </a:solidFill>
                <a:latin typeface="Verdana"/>
              </a:rPr>
              <a:t>Performance</a:t>
            </a:r>
          </a:p>
          <a:p>
            <a:pPr marL="530225" lvl="2" indent="-149225" defTabSz="914400" fontAlgn="base">
              <a:spcBef>
                <a:spcPct val="2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000" b="1" kern="0" dirty="0">
                <a:solidFill>
                  <a:srgbClr val="004D75"/>
                </a:solidFill>
                <a:latin typeface="Verdana"/>
              </a:rPr>
              <a:t>Security</a:t>
            </a:r>
          </a:p>
          <a:p>
            <a:pPr marL="530225" lvl="2" indent="-149225" defTabSz="914400" fontAlgn="base">
              <a:spcBef>
                <a:spcPct val="2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000" b="1" kern="0" dirty="0">
                <a:solidFill>
                  <a:srgbClr val="004D75"/>
                </a:solidFill>
                <a:latin typeface="Verdana"/>
              </a:rPr>
              <a:t>Cultural and political</a:t>
            </a:r>
          </a:p>
        </p:txBody>
      </p:sp>
    </p:spTree>
    <p:extLst>
      <p:ext uri="{BB962C8B-B14F-4D97-AF65-F5344CB8AC3E}">
        <p14:creationId xmlns:p14="http://schemas.microsoft.com/office/powerpoint/2010/main" val="157356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-383826" y="48704"/>
            <a:ext cx="24508995" cy="12718021"/>
            <a:chOff x="0" y="4351989"/>
            <a:chExt cx="32678659" cy="16957362"/>
          </a:xfrm>
        </p:grpSpPr>
        <p:sp>
          <p:nvSpPr>
            <p:cNvPr id="24" name="Freeform 24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9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500468" y="1142485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 Functional requirements</a:t>
            </a:r>
          </a:p>
        </p:txBody>
      </p:sp>
      <p:pic>
        <p:nvPicPr>
          <p:cNvPr id="15" name="Picture 2" descr="fig_03_01">
            <a:extLst>
              <a:ext uri="{FF2B5EF4-FFF2-40B4-BE49-F238E27FC236}">
                <a16:creationId xmlns:a16="http://schemas.microsoft.com/office/drawing/2014/main" id="{E9BC6A20-98DC-4DAD-BBA1-3B47180E4F71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2666999"/>
            <a:ext cx="18040351" cy="7283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8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-383826" y="48704"/>
            <a:ext cx="24508995" cy="12718021"/>
            <a:chOff x="0" y="4351989"/>
            <a:chExt cx="32678659" cy="16957362"/>
          </a:xfrm>
        </p:grpSpPr>
        <p:sp>
          <p:nvSpPr>
            <p:cNvPr id="24" name="Freeform 24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9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13126" y="173404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 Non functional requirements</a:t>
            </a:r>
          </a:p>
        </p:txBody>
      </p:sp>
      <p:pic>
        <p:nvPicPr>
          <p:cNvPr id="15" name="Picture 2" descr="fig_03_02">
            <a:extLst>
              <a:ext uri="{FF2B5EF4-FFF2-40B4-BE49-F238E27FC236}">
                <a16:creationId xmlns:a16="http://schemas.microsoft.com/office/drawing/2014/main" id="{AE673EB5-5989-4B72-B2E3-334741B29095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02" y="1224354"/>
            <a:ext cx="17226162" cy="8719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150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167930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Stakeholders – The Source of </a:t>
            </a:r>
            <a:b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System Requirements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084" y="3207321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6699"/>
              </a:buClr>
              <a:buSzPct val="75000"/>
              <a:buFont typeface="Monotype Sorts" pitchFamily="2" charset="2"/>
              <a:buChar char="u"/>
            </a:pPr>
            <a:r>
              <a:rPr lang="en-US" altLang="en-US" sz="4800" kern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People with interest in successful system implementation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6699"/>
              </a:buClr>
              <a:buSzPct val="75000"/>
              <a:buFont typeface="Monotype Sorts" pitchFamily="2" charset="2"/>
              <a:buChar char="u"/>
            </a:pPr>
            <a:r>
              <a:rPr lang="en-US" altLang="en-US" sz="4800" kern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 primary groups of stakeholders: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6699"/>
              </a:buClr>
              <a:buSzPct val="75000"/>
              <a:buFont typeface="Monotype Sorts" pitchFamily="2" charset="2"/>
              <a:buChar char="u"/>
            </a:pPr>
            <a:r>
              <a:rPr lang="en-US" altLang="en-US" sz="4800" kern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Users (use system)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6699"/>
              </a:buClr>
              <a:buSzPct val="75000"/>
              <a:buFont typeface="Monotype Sorts" pitchFamily="2" charset="2"/>
              <a:buChar char="u"/>
            </a:pPr>
            <a:r>
              <a:rPr lang="en-US" altLang="en-US" sz="4800" kern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Clients (pay for and own system)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6699"/>
              </a:buClr>
              <a:buSzPct val="75000"/>
              <a:buFont typeface="Monotype Sorts" pitchFamily="2" charset="2"/>
              <a:buChar char="u"/>
            </a:pPr>
            <a:r>
              <a:rPr lang="en-US" altLang="en-US" sz="4800" kern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Technical staff (ensure system operation)</a:t>
            </a:r>
          </a:p>
        </p:txBody>
      </p:sp>
    </p:spTree>
    <p:extLst>
      <p:ext uri="{BB962C8B-B14F-4D97-AF65-F5344CB8AC3E}">
        <p14:creationId xmlns:p14="http://schemas.microsoft.com/office/powerpoint/2010/main" val="1634070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-383826" y="48704"/>
            <a:ext cx="24508995" cy="12718021"/>
            <a:chOff x="0" y="4351989"/>
            <a:chExt cx="32678659" cy="16957362"/>
          </a:xfrm>
        </p:grpSpPr>
        <p:sp>
          <p:nvSpPr>
            <p:cNvPr id="24" name="Freeform 24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Stakeholders in SDLC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9" descr="fig4-3">
            <a:extLst>
              <a:ext uri="{FF2B5EF4-FFF2-40B4-BE49-F238E27FC236}">
                <a16:creationId xmlns:a16="http://schemas.microsoft.com/office/drawing/2014/main" id="{FD28C718-2A0A-4045-8300-DB62295B1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533" y="1679020"/>
            <a:ext cx="15032467" cy="78921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7588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343303" y="476255"/>
            <a:ext cx="1638300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The Process of Determining Requirements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28B7547-C243-4AF3-87CE-70DCDDD12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649" y="2101977"/>
            <a:ext cx="16001860" cy="4857118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 Both </a:t>
            </a:r>
            <a:r>
              <a:rPr 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and IT perspectives </a:t>
            </a: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are needed to determine requirements during the analysis phase.</a:t>
            </a:r>
          </a:p>
          <a:p>
            <a:pPr>
              <a:defRPr/>
            </a:pP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 The most effective approach is to have both </a:t>
            </a:r>
            <a:r>
              <a:rPr 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people and analysts working together </a:t>
            </a: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to determine requirements.</a:t>
            </a:r>
          </a:p>
          <a:p>
            <a:pPr>
              <a:defRPr/>
            </a:pP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analyst</a:t>
            </a: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 must also consider </a:t>
            </a:r>
            <a:r>
              <a:rPr 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best to elicit the requirements from the stakeholders</a:t>
            </a: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defRPr/>
            </a:pP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 of determining requirements</a:t>
            </a: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 continues throughout the analysis phase, and the requirements definition </a:t>
            </a:r>
            <a:r>
              <a:rPr 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evolves over time</a:t>
            </a:r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259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547915" y="448341"/>
            <a:ext cx="1531620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The Requirements Definition Statement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2" descr="fig_03_03">
            <a:extLst>
              <a:ext uri="{FF2B5EF4-FFF2-40B4-BE49-F238E27FC236}">
                <a16:creationId xmlns:a16="http://schemas.microsoft.com/office/drawing/2014/main" id="{C8AA2DCF-28F1-4246-9833-8F2D971A6D2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1008" y="1615013"/>
            <a:ext cx="10027392" cy="912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02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630680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REQUIREMENTS ELICITATION TECHNIQUES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E4F434D-D392-45A8-BC54-D95EDC06F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649" y="2101977"/>
            <a:ext cx="16001860" cy="4857118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400" b="1" kern="0" dirty="0">
                <a:solidFill>
                  <a:srgbClr val="004D75"/>
                </a:solidFill>
                <a:latin typeface="Verdana"/>
              </a:rPr>
              <a:t>Traditional Methods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Interviewing and listening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Questionnaires 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Observing Users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Document Analysis</a:t>
            </a:r>
          </a:p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400" b="1" kern="0" dirty="0">
                <a:solidFill>
                  <a:srgbClr val="004D75"/>
                </a:solidFill>
                <a:latin typeface="Verdana"/>
              </a:rPr>
              <a:t>Modern Methods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Joint Application Design (JAD)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Prototyping</a:t>
            </a:r>
          </a:p>
          <a:p>
            <a:pPr>
              <a:defRPr/>
            </a:pPr>
            <a:endParaRPr lang="en-US" sz="4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37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Interviews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61925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 commonly used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requirements elicitation technique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endParaRPr lang="en-US" altLang="en-US" sz="4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685800" lvl="1" indent="-228600" defTabSz="685800">
              <a:lnSpc>
                <a:spcPct val="120000"/>
              </a:lnSpc>
              <a:spcBef>
                <a:spcPts val="50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Selecting Interviewees</a:t>
            </a:r>
          </a:p>
          <a:p>
            <a:pPr marL="685800" lvl="1" indent="-228600" defTabSz="685800">
              <a:lnSpc>
                <a:spcPct val="120000"/>
              </a:lnSpc>
              <a:spcBef>
                <a:spcPts val="50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Designing Interview Questions</a:t>
            </a:r>
          </a:p>
          <a:p>
            <a:pPr marL="685800" lvl="1" indent="-228600" defTabSz="685800">
              <a:lnSpc>
                <a:spcPct val="120000"/>
              </a:lnSpc>
              <a:spcBef>
                <a:spcPts val="50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Preparing for the Interview</a:t>
            </a:r>
          </a:p>
          <a:p>
            <a:pPr marL="685800" lvl="1" indent="-228600" defTabSz="685800">
              <a:lnSpc>
                <a:spcPct val="120000"/>
              </a:lnSpc>
              <a:spcBef>
                <a:spcPts val="50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Conducting the Interview</a:t>
            </a:r>
          </a:p>
          <a:p>
            <a:pPr marL="685800" lvl="1" indent="-228600" defTabSz="685800">
              <a:lnSpc>
                <a:spcPct val="120000"/>
              </a:lnSpc>
              <a:spcBef>
                <a:spcPts val="50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Post-Interview Follow-up</a:t>
            </a:r>
          </a:p>
        </p:txBody>
      </p:sp>
    </p:spTree>
    <p:extLst>
      <p:ext uri="{BB962C8B-B14F-4D97-AF65-F5344CB8AC3E}">
        <p14:creationId xmlns:p14="http://schemas.microsoft.com/office/powerpoint/2010/main" val="4046735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Selecting interviewees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74716"/>
            <a:ext cx="16001860" cy="663441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sz="4800" dirty="0"/>
              <a:t> </a:t>
            </a:r>
            <a:r>
              <a:rPr lang="en-US" sz="4800" b="1" i="1" dirty="0">
                <a:solidFill>
                  <a:srgbClr val="000099"/>
                </a:solidFill>
              </a:rPr>
              <a:t>Interview schedule</a:t>
            </a:r>
          </a:p>
          <a:p>
            <a:pPr marL="469900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endParaRPr lang="en-US" sz="4800" b="1" i="1" dirty="0">
              <a:solidFill>
                <a:srgbClr val="000099"/>
              </a:solidFill>
            </a:endParaRPr>
          </a:p>
          <a:p>
            <a:pPr marL="0" indent="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None/>
            </a:pPr>
            <a:endParaRPr lang="en-US" sz="4800" b="1" i="1" dirty="0">
              <a:solidFill>
                <a:srgbClr val="000099"/>
              </a:solidFill>
            </a:endParaRPr>
          </a:p>
          <a:p>
            <a:pPr marL="0" indent="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None/>
            </a:pPr>
            <a:endParaRPr lang="en-US" sz="4800" b="1" i="1" dirty="0">
              <a:solidFill>
                <a:srgbClr val="000099"/>
              </a:solidFill>
            </a:endParaRPr>
          </a:p>
          <a:p>
            <a:pPr marL="0" indent="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None/>
            </a:pPr>
            <a:endParaRPr lang="en-US" sz="4800" b="1" i="1" dirty="0">
              <a:solidFill>
                <a:srgbClr val="000099"/>
              </a:solidFill>
            </a:endParaRPr>
          </a:p>
          <a:p>
            <a:pPr marL="469900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sz="4800" b="1" i="1" dirty="0">
                <a:solidFill>
                  <a:srgbClr val="000099"/>
                </a:solidFill>
              </a:rPr>
              <a:t>Including people at different levels of the organization</a:t>
            </a:r>
          </a:p>
          <a:p>
            <a:pPr marL="1155700" lvl="1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sz="4800" b="1" i="1" dirty="0">
                <a:solidFill>
                  <a:srgbClr val="000099"/>
                </a:solidFill>
              </a:rPr>
              <a:t>Managers</a:t>
            </a:r>
          </a:p>
          <a:p>
            <a:pPr marL="1155700" lvl="1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sz="4800" b="1" i="1" dirty="0">
                <a:solidFill>
                  <a:srgbClr val="000099"/>
                </a:solidFill>
              </a:rPr>
              <a:t>Users</a:t>
            </a:r>
          </a:p>
          <a:p>
            <a:pPr marL="1155700" lvl="1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US" sz="4800" b="1" i="1" dirty="0">
                <a:solidFill>
                  <a:srgbClr val="000099"/>
                </a:solidFill>
              </a:rPr>
              <a:t>Other key stakeholders</a:t>
            </a:r>
          </a:p>
          <a:p>
            <a:pPr marL="469900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endParaRPr lang="en-US" sz="4000" b="1" i="1" dirty="0">
              <a:solidFill>
                <a:srgbClr val="000099"/>
              </a:solidFill>
            </a:endParaRPr>
          </a:p>
          <a:p>
            <a:pPr marL="469900" lvl="0" indent="-46990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endParaRPr lang="en-US" altLang="en-US" sz="4000" kern="0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15" name="Picture 2" descr="fig_03_06">
            <a:extLst>
              <a:ext uri="{FF2B5EF4-FFF2-40B4-BE49-F238E27FC236}">
                <a16:creationId xmlns:a16="http://schemas.microsoft.com/office/drawing/2014/main" id="{8E7962D2-B53B-4C86-BC9F-B989E4C0CB4D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2405464"/>
            <a:ext cx="12392504" cy="3576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78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Designing interview questions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34" descr="Chapter_04_illus4">
            <a:extLst>
              <a:ext uri="{FF2B5EF4-FFF2-40B4-BE49-F238E27FC236}">
                <a16:creationId xmlns:a16="http://schemas.microsoft.com/office/drawing/2014/main" id="{13555E4F-37B2-4EB5-A384-26859A68A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8" t="35606" r="22086" b="42424"/>
          <a:stretch>
            <a:fillRect/>
          </a:stretch>
        </p:blipFill>
        <p:spPr>
          <a:xfrm>
            <a:off x="914399" y="1676399"/>
            <a:ext cx="14991657" cy="785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98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334836" y="581746"/>
            <a:ext cx="15487278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Designing interview questions (</a:t>
            </a:r>
            <a:r>
              <a:rPr lang="en-US" sz="54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A38AA9B-CD89-4812-994C-FB5FCB81B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22209"/>
            <a:ext cx="16001860" cy="458692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None/>
            </a:pPr>
            <a:endParaRPr lang="en-US" altLang="en-US" sz="4000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997A8-C091-4C58-8652-E3F95D1D57EC}"/>
              </a:ext>
            </a:extLst>
          </p:cNvPr>
          <p:cNvSpPr/>
          <p:nvPr/>
        </p:nvSpPr>
        <p:spPr>
          <a:xfrm>
            <a:off x="680604" y="2398623"/>
            <a:ext cx="13563600" cy="3538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Unstructured</a:t>
            </a:r>
            <a:r>
              <a:rPr lang="en-US" alt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interview</a:t>
            </a:r>
          </a:p>
          <a:p>
            <a:pPr marL="685800" lvl="1" indent="-228600" defTabSz="6858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a </a:t>
            </a:r>
            <a:r>
              <a:rPr lang="en-US" altLang="en-US" sz="36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broad</a:t>
            </a:r>
            <a:r>
              <a:rPr lang="en-US" alt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roughly defined set of information</a:t>
            </a:r>
          </a:p>
          <a:p>
            <a:pPr marL="685800" lvl="1" indent="-228600" defTabSz="6858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Structured</a:t>
            </a:r>
            <a:r>
              <a:rPr lang="en-US" alt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interview</a:t>
            </a:r>
          </a:p>
          <a:p>
            <a:pPr marL="685800" lvl="1" indent="-228600" defTabSz="6858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very </a:t>
            </a:r>
            <a:r>
              <a:rPr lang="en-US" altLang="en-US" sz="36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specific</a:t>
            </a:r>
            <a:r>
              <a:rPr lang="en-US" alt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information</a:t>
            </a:r>
          </a:p>
        </p:txBody>
      </p:sp>
    </p:spTree>
    <p:extLst>
      <p:ext uri="{BB962C8B-B14F-4D97-AF65-F5344CB8AC3E}">
        <p14:creationId xmlns:p14="http://schemas.microsoft.com/office/powerpoint/2010/main" val="287700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-383826" y="48704"/>
            <a:ext cx="24508995" cy="12718021"/>
            <a:chOff x="0" y="4351989"/>
            <a:chExt cx="32678659" cy="16957362"/>
          </a:xfrm>
        </p:grpSpPr>
        <p:sp>
          <p:nvSpPr>
            <p:cNvPr id="24" name="Freeform 24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417320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Designing interview questions (</a:t>
            </a:r>
            <a:r>
              <a:rPr lang="en-US" sz="54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2629"/>
            <a:ext cx="16001860" cy="62865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lvl="0" indent="-469900" defTabSz="914400" fontAlgn="base">
              <a:lnSpc>
                <a:spcPct val="100000"/>
              </a:lnSpc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r>
              <a:rPr lang="en-GB" altLang="en-US" sz="3600" kern="0" dirty="0">
                <a:solidFill>
                  <a:srgbClr val="000000"/>
                </a:solidFill>
                <a:latin typeface="Verdana"/>
              </a:rPr>
              <a:t>Top-down vs. bottom-up interview</a:t>
            </a:r>
          </a:p>
          <a:p>
            <a:pPr marL="469900" lvl="0" indent="-469900" defTabSz="914400" fontAlgn="base">
              <a:lnSpc>
                <a:spcPct val="100000"/>
              </a:lnSpc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o"/>
            </a:pPr>
            <a:endParaRPr lang="en-GB" altLang="en-US" sz="3600" kern="0" dirty="0">
              <a:solidFill>
                <a:srgbClr val="000000"/>
              </a:solidFill>
              <a:latin typeface="Verdana"/>
            </a:endParaRPr>
          </a:p>
          <a:p>
            <a:pPr marL="0" lvl="0" indent="0" defTabSz="914400" fontAlgn="base">
              <a:lnSpc>
                <a:spcPct val="100000"/>
              </a:lnSpc>
              <a:spcAft>
                <a:spcPct val="0"/>
              </a:spcAft>
              <a:buClr>
                <a:srgbClr val="CC0000"/>
              </a:buClr>
              <a:buNone/>
            </a:pPr>
            <a:endParaRPr lang="en-GB" altLang="en-US" sz="3600" kern="0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15" name="Picture 17" descr="Chapter_04_illus4">
            <a:extLst>
              <a:ext uri="{FF2B5EF4-FFF2-40B4-BE49-F238E27FC236}">
                <a16:creationId xmlns:a16="http://schemas.microsoft.com/office/drawing/2014/main" id="{54CA821A-C295-4EFF-B80A-3F9C84E4B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8" t="37552" r="21239" b="37878"/>
          <a:stretch>
            <a:fillRect/>
          </a:stretch>
        </p:blipFill>
        <p:spPr bwMode="auto">
          <a:xfrm>
            <a:off x="944814" y="2996279"/>
            <a:ext cx="13914186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38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Preparing for the interview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634" y="2112076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Prepare a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general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interview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Confirm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areas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knowledge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priorities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case of time shortage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Prepare the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interviewee</a:t>
            </a:r>
          </a:p>
          <a:p>
            <a:pPr marL="685800" lvl="1" indent="-228600" defTabSz="685800" fontAlgn="base"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Schedule</a:t>
            </a:r>
          </a:p>
          <a:p>
            <a:pPr marL="685800" lvl="1" indent="-228600" defTabSz="685800" fontAlgn="base"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Inform of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reason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interview</a:t>
            </a:r>
          </a:p>
          <a:p>
            <a:pPr marL="685800" lvl="1" indent="-228600" defTabSz="685800" fontAlgn="base"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Inform of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areas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discussion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248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Conducting the interview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28830"/>
            <a:ext cx="16001860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Appear to be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professional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unbiased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Record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 information.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 sure you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understand the issues 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are discussed.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Separate facts from opinions.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Give interviewee time to ask questions, and brief explain what will happen next.</a:t>
            </a:r>
          </a:p>
        </p:txBody>
      </p:sp>
    </p:spTree>
    <p:extLst>
      <p:ext uri="{BB962C8B-B14F-4D97-AF65-F5344CB8AC3E}">
        <p14:creationId xmlns:p14="http://schemas.microsoft.com/office/powerpoint/2010/main" val="234015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Post-interview follow-up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33856"/>
            <a:ext cx="15212514" cy="59383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After the interview, the analysts needs to prepare an </a:t>
            </a:r>
            <a:r>
              <a:rPr lang="en-US" altLang="en-US" sz="4800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interview report.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report includes </a:t>
            </a:r>
            <a:r>
              <a:rPr lang="en-US" altLang="en-US" sz="4800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interview notes.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report is sent to interviewee with a request to read it and inform the analyst of clarification and updates.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21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Example of an Interview Report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C0FC978A-B553-4172-B264-9EA8BF7218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31746"/>
            <a:ext cx="14401800" cy="824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103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Group Interviews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25" y="1682461"/>
            <a:ext cx="15370110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400" b="1" kern="0" dirty="0">
                <a:solidFill>
                  <a:srgbClr val="004D75"/>
                </a:solidFill>
                <a:latin typeface="Verdana"/>
              </a:rPr>
              <a:t>Advantages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More effective use of time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Enables people to hear opinions of others and to agree or disagree</a:t>
            </a:r>
          </a:p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400" b="1" kern="0" dirty="0">
                <a:solidFill>
                  <a:srgbClr val="004D75"/>
                </a:solidFill>
                <a:latin typeface="Verdana"/>
              </a:rPr>
              <a:t>Disadvantages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400" kern="0" dirty="0">
                <a:solidFill>
                  <a:srgbClr val="004D75"/>
                </a:solidFill>
                <a:latin typeface="Verdana"/>
              </a:rPr>
              <a:t>Difficulty in scheduling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endParaRPr lang="en-US" altLang="en-US" sz="4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139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Questionnaires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25" y="1682461"/>
            <a:ext cx="15370110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altLang="en-US" sz="44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questionnaire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of written questions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obtaining information from individuals.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Selecting participants -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using a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sample of people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who are representative of the entire group.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Designing the questionnaire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following good practice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guidelines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Administering the questionnaire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improving the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response rates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4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Questionnaire follow-up –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developing a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endParaRPr lang="en-US" altLang="en-US" sz="6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191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Questionnaires (</a:t>
            </a:r>
            <a:r>
              <a:rPr lang="en-US" sz="48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2FF728-E61D-488D-9F76-923F16882389}"/>
              </a:ext>
            </a:extLst>
          </p:cNvPr>
          <p:cNvSpPr/>
          <p:nvPr/>
        </p:nvSpPr>
        <p:spPr>
          <a:xfrm>
            <a:off x="4208544" y="1819389"/>
            <a:ext cx="63546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Good questionnaire design</a:t>
            </a:r>
          </a:p>
        </p:txBody>
      </p:sp>
      <p:pic>
        <p:nvPicPr>
          <p:cNvPr id="16" name="Picture 4" descr="Chapter_04_illus4">
            <a:extLst>
              <a:ext uri="{FF2B5EF4-FFF2-40B4-BE49-F238E27FC236}">
                <a16:creationId xmlns:a16="http://schemas.microsoft.com/office/drawing/2014/main" id="{5C51DAC2-A698-475F-B031-C9B460690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2" t="37120" r="28432" b="47728"/>
          <a:stretch>
            <a:fillRect/>
          </a:stretch>
        </p:blipFill>
        <p:spPr bwMode="auto">
          <a:xfrm>
            <a:off x="838200" y="2627910"/>
            <a:ext cx="15141509" cy="6980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620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139CB5D-4B53-41C2-A17A-A4843242D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altLang="en-US" sz="5400" b="1">
                <a:solidFill>
                  <a:schemeClr val="tx1"/>
                </a:solidFill>
              </a:rPr>
              <a:t>Interviews Vs Questionnaires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C8A5CF6-D5E0-4661-BBA9-D0D3879C6D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847975" y="9544051"/>
            <a:ext cx="6115050" cy="368691"/>
          </a:xfrm>
        </p:spPr>
        <p:txBody>
          <a:bodyPr/>
          <a:lstStyle/>
          <a:p>
            <a:pPr eaLnBrk="1" hangingPunct="1"/>
            <a:r>
              <a:rPr lang="en-GB" altLang="en-US"/>
              <a:t>Adapted from Hoffer et al (2001), p. 212</a:t>
            </a:r>
          </a:p>
        </p:txBody>
      </p:sp>
      <p:graphicFrame>
        <p:nvGraphicFramePr>
          <p:cNvPr id="857092" name="Group 4">
            <a:extLst>
              <a:ext uri="{FF2B5EF4-FFF2-40B4-BE49-F238E27FC236}">
                <a16:creationId xmlns:a16="http://schemas.microsoft.com/office/drawing/2014/main" id="{8DC77DFE-C662-44E7-AF0B-FD5B1225F26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79953876"/>
              </p:ext>
            </p:extLst>
          </p:nvPr>
        </p:nvGraphicFramePr>
        <p:xfrm>
          <a:off x="2078070" y="1738078"/>
          <a:ext cx="13769909" cy="7398544"/>
        </p:xfrm>
        <a:graphic>
          <a:graphicData uri="http://schemas.openxmlformats.org/drawingml/2006/table">
            <a:tbl>
              <a:tblPr/>
              <a:tblGrid>
                <a:gridCol w="554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6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142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Interviews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Questionnaires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999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Information Richness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 to low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46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Time Required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Can be extensive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 to moderate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46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Expense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Can be high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Moderate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259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Chance for follow-up &amp; probing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Good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Limited – only done after original data collection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5070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Confidentiality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Interviewee is known to interviewer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Respondent can be unknown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5070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Involvement of subject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Interviewee is involved and committed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Respondent is passive, no clear commitment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45070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Potential Audience</a:t>
                      </a:r>
                    </a:p>
                  </a:txBody>
                  <a:tcPr marL="138113" marR="138113" marT="69060" marB="690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Limited numbers but complete responses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Potentially large – but lack of response can bias results</a:t>
                      </a:r>
                    </a:p>
                  </a:txBody>
                  <a:tcPr marL="138113" marR="138113" marT="69060" marB="6906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Group 23">
            <a:extLst>
              <a:ext uri="{FF2B5EF4-FFF2-40B4-BE49-F238E27FC236}">
                <a16:creationId xmlns:a16="http://schemas.microsoft.com/office/drawing/2014/main" id="{A16B43E0-EA82-4EC1-BEA3-A31D7C613597}"/>
              </a:ext>
            </a:extLst>
          </p:cNvPr>
          <p:cNvGrpSpPr/>
          <p:nvPr/>
        </p:nvGrpSpPr>
        <p:grpSpPr>
          <a:xfrm>
            <a:off x="0" y="-443729"/>
            <a:ext cx="21588154" cy="12666450"/>
            <a:chOff x="511768" y="4420750"/>
            <a:chExt cx="28784205" cy="16888601"/>
          </a:xfrm>
        </p:grpSpPr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570281FC-2531-433C-8E3D-5A676A4BCC8E}"/>
                </a:ext>
              </a:extLst>
            </p:cNvPr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27">
              <a:extLst>
                <a:ext uri="{FF2B5EF4-FFF2-40B4-BE49-F238E27FC236}">
                  <a16:creationId xmlns:a16="http://schemas.microsoft.com/office/drawing/2014/main" id="{0B8839D1-982F-494B-94F8-981426A059F1}"/>
                </a:ext>
              </a:extLst>
            </p:cNvPr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70602F5E-40B5-41AF-B588-ED4C2B01277E}"/>
                </a:ext>
              </a:extLst>
            </p:cNvPr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10" name="Freeform 29">
                <a:extLst>
                  <a:ext uri="{FF2B5EF4-FFF2-40B4-BE49-F238E27FC236}">
                    <a16:creationId xmlns:a16="http://schemas.microsoft.com/office/drawing/2014/main" id="{C96C0A62-9AFA-4AC7-8099-80B9ED453C90}"/>
                  </a:ext>
                </a:extLst>
              </p:cNvPr>
              <p:cNvSpPr/>
              <p:nvPr/>
            </p:nvSpPr>
            <p:spPr>
              <a:xfrm>
                <a:off x="0" y="0"/>
                <a:ext cx="4863116" cy="339983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" name="TextBox 30">
                <a:extLst>
                  <a:ext uri="{FF2B5EF4-FFF2-40B4-BE49-F238E27FC236}">
                    <a16:creationId xmlns:a16="http://schemas.microsoft.com/office/drawing/2014/main" id="{6F8DE648-AEB4-4AED-BA8D-7C5071FAD8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Observing User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AD787-8CA1-41EE-A56B-677D7DD340B2}"/>
              </a:ext>
            </a:extLst>
          </p:cNvPr>
          <p:cNvSpPr/>
          <p:nvPr/>
        </p:nvSpPr>
        <p:spPr>
          <a:xfrm>
            <a:off x="676907" y="2316616"/>
            <a:ext cx="16459200" cy="8908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</a:t>
            </a: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the act of </a:t>
            </a:r>
            <a:r>
              <a:rPr lang="en-US" alt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watching</a:t>
            </a: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processes being performed.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is a powerful tool to </a:t>
            </a:r>
            <a:r>
              <a:rPr lang="en-US" alt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gain insight </a:t>
            </a: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the as-is system, and to </a:t>
            </a:r>
            <a:r>
              <a:rPr lang="en-US" altLang="en-US" sz="4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the validity </a:t>
            </a: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information gathered from other sources.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Nonetheless,  people tend to be extremely careful in their behaviors when they are being watched.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 unobtrusive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Identify peak and lull periods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4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158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Document Analysis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AD787-8CA1-41EE-A56B-677D7DD340B2}"/>
              </a:ext>
            </a:extLst>
          </p:cNvPr>
          <p:cNvSpPr/>
          <p:nvPr/>
        </p:nvSpPr>
        <p:spPr>
          <a:xfrm>
            <a:off x="676907" y="2316616"/>
            <a:ext cx="16459200" cy="7303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Study of existing material describing the current system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Forms, reports, policy manuals, organization charts describe the </a:t>
            </a:r>
            <a:r>
              <a:rPr lang="en-US" altLang="en-US" sz="40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formal</a:t>
            </a:r>
            <a:r>
              <a:rPr lang="en-US" altLang="en-US" sz="40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Look for the </a:t>
            </a:r>
            <a:r>
              <a:rPr lang="en-US" altLang="en-US" sz="40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informal</a:t>
            </a:r>
            <a:r>
              <a:rPr lang="en-US" altLang="en-US" sz="40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 in user additions to forms/report and unused form/report elements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changes to existing forms/reports or non-use of existing forms/reports suggest the system needs modification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4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496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Joint Application Development (JAD)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33856"/>
            <a:ext cx="16001860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JAD is an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information gathering  technique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allows the project team, users, and management to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together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identify requirements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the system.</a:t>
            </a:r>
          </a:p>
          <a:p>
            <a:pPr marL="22860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GB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Purpose: collect system requirements simultaneously from key people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can </a:t>
            </a:r>
            <a:r>
              <a:rPr lang="en-US" altLang="en-US" sz="4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reduce scope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creep by 50%,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JAD is a structure process in which 10 to 20 users meet under the direction of a </a:t>
            </a:r>
            <a:r>
              <a:rPr lang="en-US" altLang="en-US" sz="4400" b="1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facilitator </a:t>
            </a:r>
            <a:r>
              <a:rPr lang="en-US" altLang="en-US" sz="4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skilled in JAD techniques.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73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Selecting participants 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25" y="1682461"/>
            <a:ext cx="15370110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Selecting JAD participants 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same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basic way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 selecting interview participants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Facilitator</a:t>
            </a:r>
          </a:p>
          <a:p>
            <a:pPr marL="685800" lvl="1" indent="-228600" defTabSz="6858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Expert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JAD and e-JAD techniques</a:t>
            </a:r>
          </a:p>
          <a:p>
            <a:pPr marL="685800" lvl="1" indent="-228600" defTabSz="6858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many cases, the JAD facilitator is a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consultant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external to the organization.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36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04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-383826" y="48704"/>
            <a:ext cx="24508995" cy="12718021"/>
            <a:chOff x="0" y="4351989"/>
            <a:chExt cx="32678659" cy="16957362"/>
          </a:xfrm>
        </p:grpSpPr>
        <p:sp>
          <p:nvSpPr>
            <p:cNvPr id="24" name="Freeform 24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A JAD Facility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12" descr="fig4-15">
            <a:extLst>
              <a:ext uri="{FF2B5EF4-FFF2-40B4-BE49-F238E27FC236}">
                <a16:creationId xmlns:a16="http://schemas.microsoft.com/office/drawing/2014/main" id="{C2FE77C6-2652-43BC-B646-7FD982F1F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836" y="1616179"/>
            <a:ext cx="15205127" cy="79197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7334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Benefits of JAD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33856"/>
            <a:ext cx="16001860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Time is saved, compared with traditional interviewing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Rapid development of systems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Improved user ownership of the system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Creative idea production is improved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End Result:</a:t>
            </a:r>
          </a:p>
          <a:p>
            <a:pPr marL="914400" lvl="1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Documentation detailing existing system</a:t>
            </a:r>
          </a:p>
          <a:p>
            <a:pPr marL="914400" lvl="1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 of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3640106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Prototyping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33856"/>
            <a:ext cx="15016224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Goal</a:t>
            </a: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to quickly develop concrete specifications for the ultimate system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Iterative process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Gains initial requirements from user and documentation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Quickly converts requirements to working version of system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Once the user sees requirements converted to system, will ask for modifications or will generate additional requests</a:t>
            </a:r>
          </a:p>
        </p:txBody>
      </p:sp>
    </p:spTree>
    <p:extLst>
      <p:ext uri="{BB962C8B-B14F-4D97-AF65-F5344CB8AC3E}">
        <p14:creationId xmlns:p14="http://schemas.microsoft.com/office/powerpoint/2010/main" val="2577930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Prototyping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33856"/>
            <a:ext cx="15016224" cy="71196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8913" lvl="0" indent="-188913" defTabSz="914400" fontAlgn="base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4800" b="1" kern="0" dirty="0">
                <a:solidFill>
                  <a:srgbClr val="004D75"/>
                </a:solidFill>
                <a:latin typeface="Verdana"/>
              </a:rPr>
              <a:t>Drawbacks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800" kern="0" dirty="0">
                <a:solidFill>
                  <a:srgbClr val="004D75"/>
                </a:solidFill>
                <a:latin typeface="Verdana"/>
              </a:rPr>
              <a:t>Tendency to avoid formal documentation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800" kern="0" dirty="0">
                <a:solidFill>
                  <a:srgbClr val="004D75"/>
                </a:solidFill>
                <a:latin typeface="Verdana"/>
              </a:rPr>
              <a:t>Difficult to adapt to more general user audience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800" kern="0" dirty="0">
                <a:solidFill>
                  <a:srgbClr val="004D75"/>
                </a:solidFill>
                <a:latin typeface="Verdana"/>
              </a:rPr>
              <a:t>Sharing data with other systems is often not considered</a:t>
            </a:r>
          </a:p>
          <a:p>
            <a:pPr marL="379413" lvl="1" indent="-188913" defTabSz="914400" fontAlgn="base"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4800" kern="0" dirty="0">
                <a:solidFill>
                  <a:srgbClr val="004D75"/>
                </a:solidFill>
                <a:latin typeface="Verdana"/>
              </a:rPr>
              <a:t>SDLC checks are often bypassed</a:t>
            </a:r>
          </a:p>
        </p:txBody>
      </p:sp>
    </p:spTree>
    <p:extLst>
      <p:ext uri="{BB962C8B-B14F-4D97-AF65-F5344CB8AC3E}">
        <p14:creationId xmlns:p14="http://schemas.microsoft.com/office/powerpoint/2010/main" val="2561351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38200" y="581746"/>
            <a:ext cx="13563460" cy="75597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48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Selecting the Appropriate Techniques</a:t>
            </a:r>
            <a:endParaRPr lang="en-MY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886A7-6CDC-43A4-A2BB-C0074B54F599}"/>
              </a:ext>
            </a:extLst>
          </p:cNvPr>
          <p:cNvSpPr/>
          <p:nvPr/>
        </p:nvSpPr>
        <p:spPr>
          <a:xfrm>
            <a:off x="806115" y="1926825"/>
            <a:ext cx="15552997" cy="7089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Type of information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Depth of information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Breadth of information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Integration of information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involvement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Cost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Combining techniques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4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842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446087" y="382097"/>
            <a:ext cx="15239860" cy="167930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Selecting the Appropriate Techniques (</a:t>
            </a:r>
            <a:r>
              <a:rPr lang="en-US" sz="5400" b="1" spc="-143" dirty="0" err="1">
                <a:latin typeface="Verdana" panose="020B0604030504040204" pitchFamily="34" charset="0"/>
                <a:ea typeface="Verdana" panose="020B0604030504040204" pitchFamily="34" charset="0"/>
              </a:rPr>
              <a:t>cont</a:t>
            </a:r>
            <a:r>
              <a:rPr lang="en-US" sz="54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4E973-D712-41EB-BEFD-E8D28EC772C1}"/>
              </a:ext>
            </a:extLst>
          </p:cNvPr>
          <p:cNvSpPr/>
          <p:nvPr/>
        </p:nvSpPr>
        <p:spPr>
          <a:xfrm>
            <a:off x="1981200" y="2570718"/>
            <a:ext cx="130841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Comparison of Requirements Elicitation Techniques</a:t>
            </a:r>
          </a:p>
          <a:p>
            <a:pPr algn="ctr">
              <a:spcBef>
                <a:spcPct val="0"/>
              </a:spcBef>
            </a:pPr>
            <a:endParaRPr lang="en-US" alt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980031B9-8BAE-4A9F-BD7C-AC80D160F6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776107"/>
              </p:ext>
            </p:extLst>
          </p:nvPr>
        </p:nvGraphicFramePr>
        <p:xfrm>
          <a:off x="803463" y="3579451"/>
          <a:ext cx="16417738" cy="5708808"/>
        </p:xfrm>
        <a:graphic>
          <a:graphicData uri="http://schemas.openxmlformats.org/drawingml/2006/table">
            <a:tbl>
              <a:tblPr/>
              <a:tblGrid>
                <a:gridCol w="258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9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8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2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99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850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Interviews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Question-naires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Observation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Document Analysis</a:t>
                      </a:r>
                      <a:endParaRPr kumimoji="0" lang="en-GB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JAD</a:t>
                      </a:r>
                      <a:endParaRPr kumimoji="0" lang="en-GB" altLang="en-US" sz="2200" b="0" i="0" u="none" strike="noStrike" cap="none" normalizeH="0" baseline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4D75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Prototyping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708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Type of Info. (on which system?)</a:t>
                      </a: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Current/ Improvements/ New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Current/ Improvements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Current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Current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Current/ Improvements/ New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Improvements/New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54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Depth of Info.</a:t>
                      </a: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54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Breadth of Info.</a:t>
                      </a: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54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Integration of Info.</a:t>
                      </a: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54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User Involvement</a:t>
                      </a: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020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Cost</a:t>
                      </a:r>
                    </a:p>
                  </a:txBody>
                  <a:tcPr marL="92075" marR="92075" marT="46021" marB="4602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</a:t>
                      </a:r>
                    </a:p>
                  </a:txBody>
                  <a:tcPr marL="92075" marR="92075" marT="46021" marB="4602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Low-Medium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Low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20000"/>
                        </a:spcAft>
                        <a:defRPr sz="16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defRPr sz="13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defRPr sz="1000">
                          <a:solidFill>
                            <a:srgbClr val="004D75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D75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Medium-High</a:t>
                      </a:r>
                    </a:p>
                  </a:txBody>
                  <a:tcPr marL="92075" marR="92075" marT="46021" marB="46021" horzOverflow="overflow">
                    <a:lnL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6360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753859" y="319122"/>
            <a:ext cx="13563460" cy="1679306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dirty="0">
                <a:latin typeface="Verdana" panose="020B0604030504040204" pitchFamily="34" charset="0"/>
                <a:ea typeface="Verdana" panose="020B0604030504040204" pitchFamily="34" charset="0"/>
              </a:rPr>
              <a:t>REQUIREMENTS ANALYSIS STRATEGIES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914540" y="2447991"/>
            <a:ext cx="15065170" cy="66976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algn="ctr" defTabSz="68580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endParaRPr lang="en-US" altLang="en-US" sz="36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algn="ctr" defTabSz="68580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r>
              <a:rPr lang="en-US" altLang="en-US" sz="3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 Analysis</a:t>
            </a:r>
          </a:p>
          <a:p>
            <a:pPr marL="228600" lvl="0" indent="-228600" defTabSz="68580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endParaRPr lang="en-US" altLang="en-US" sz="36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1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Asking users </a:t>
            </a:r>
            <a:r>
              <a:rPr lang="en-US" altLang="en-US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identify problems and solutions</a:t>
            </a:r>
          </a:p>
          <a:p>
            <a:pPr marL="342900" lvl="1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Improvements from problem analysis tend to be small and incremental</a:t>
            </a:r>
          </a:p>
          <a:p>
            <a:pPr marL="342900" lvl="1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type of improvement is often </a:t>
            </a:r>
            <a:r>
              <a:rPr lang="en-US" altLang="en-US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very effective at improving a system’s efficiency or ease of use; however, it provides minor improvements in business value</a:t>
            </a:r>
            <a:r>
              <a:rPr lang="en-US" altLang="en-US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697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914540" y="1239798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dirty="0">
                <a:latin typeface="Verdana" panose="020B0604030504040204" pitchFamily="34" charset="0"/>
                <a:ea typeface="Verdana" panose="020B0604030504040204" pitchFamily="34" charset="0"/>
              </a:rPr>
              <a:t>Root Cause Analysis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1065302" y="3461670"/>
            <a:ext cx="15065170" cy="27551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r>
              <a:rPr lang="en-US" altLang="en-US" sz="60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Root cause analysis </a:t>
            </a:r>
            <a:r>
              <a:rPr lang="en-US" altLang="en-US" sz="6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focuses on problems first rather than solutions.</a:t>
            </a:r>
          </a:p>
          <a:p>
            <a:pPr marL="228600" lvl="0" indent="-228600" algn="ctr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algn="ctr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461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640789" y="229782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cap="all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ROOT CAUSE ANALYSIS</a:t>
            </a:r>
            <a:endParaRPr lang="en-MY" sz="8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3" descr="!04-04W-">
            <a:extLst>
              <a:ext uri="{FF2B5EF4-FFF2-40B4-BE49-F238E27FC236}">
                <a16:creationId xmlns:a16="http://schemas.microsoft.com/office/drawing/2014/main" id="{1C4F94F2-697F-4CEF-B3D0-56E1ED13D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9" y="1478276"/>
            <a:ext cx="15181325" cy="808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22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64489" y="971080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cap="all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Duration Analysis</a:t>
            </a:r>
            <a:endParaRPr lang="en-MY" sz="13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840426" y="2138440"/>
            <a:ext cx="16075974" cy="71774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Duration analysis 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requires a detailed examination of </a:t>
            </a:r>
            <a:r>
              <a:rPr lang="en-US" altLang="en-US" sz="4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amount of time </a:t>
            </a: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takes to perform each process in the as-is system.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4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4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Compare the total time to complete basic steps and the total time for the overall process – a significant difference indicates that the process is badly fragmented.</a:t>
            </a:r>
          </a:p>
        </p:txBody>
      </p:sp>
    </p:spTree>
    <p:extLst>
      <p:ext uri="{BB962C8B-B14F-4D97-AF65-F5344CB8AC3E}">
        <p14:creationId xmlns:p14="http://schemas.microsoft.com/office/powerpoint/2010/main" val="2476310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64489" y="971080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cap="all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Activity-Based Costing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832405" y="2655775"/>
            <a:ext cx="16236395" cy="648984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54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Activity-based costing </a:t>
            </a:r>
            <a:r>
              <a:rPr 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examines the cost of each major process or step in a business process.</a:t>
            </a: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Both </a:t>
            </a:r>
            <a:r>
              <a:rPr lang="en-US" sz="5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direct and indirect costs</a:t>
            </a:r>
            <a:r>
              <a:rPr 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are considered.</a:t>
            </a: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analysts identify most costly steps and focus improvement efforts on them.</a:t>
            </a:r>
            <a:br>
              <a:rPr 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5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endParaRPr lang="en-US" sz="32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596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64489" y="971080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dirty="0">
                <a:latin typeface="Verdana" panose="020B0604030504040204" pitchFamily="34" charset="0"/>
                <a:ea typeface="Verdana" panose="020B0604030504040204" pitchFamily="34" charset="0"/>
              </a:rPr>
              <a:t>Outcome Analysis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832404" y="2655775"/>
            <a:ext cx="16083995" cy="648984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60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Outcome analysis </a:t>
            </a:r>
            <a:r>
              <a:rPr lang="en-US" altLang="en-US" sz="6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focuses on </a:t>
            </a:r>
            <a:r>
              <a:rPr lang="en-US" altLang="en-US" sz="6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understanding </a:t>
            </a:r>
            <a:r>
              <a:rPr lang="en-US" altLang="en-US" sz="6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fundamental </a:t>
            </a:r>
            <a:r>
              <a:rPr lang="en-US" altLang="en-US" sz="6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outcomes</a:t>
            </a:r>
            <a:r>
              <a:rPr lang="en-US" altLang="en-US" sz="6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provide value to customers.</a:t>
            </a:r>
          </a:p>
          <a:p>
            <a:pPr marL="0" lvl="0" indent="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endParaRPr lang="en-US" altLang="en-US" sz="6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6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Think what the organization </a:t>
            </a:r>
            <a:r>
              <a:rPr lang="en-US" altLang="en-US" sz="60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could</a:t>
            </a:r>
            <a:r>
              <a:rPr lang="en-US" altLang="en-US" sz="6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enable the customer to do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6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175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864489" y="971080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dirty="0">
                <a:latin typeface="Verdana" panose="020B0604030504040204" pitchFamily="34" charset="0"/>
                <a:ea typeface="Verdana" panose="020B0604030504040204" pitchFamily="34" charset="0"/>
              </a:rPr>
              <a:t>Technology Analysis</a:t>
            </a:r>
            <a:endParaRPr lang="en-MY" sz="5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816436" y="2316616"/>
            <a:ext cx="16480964" cy="72121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en-US" sz="54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Technology analysis</a:t>
            </a: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involves </a:t>
            </a:r>
            <a:r>
              <a:rPr lang="en-US" altLang="en-US" sz="5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steps</a:t>
            </a: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altLang="en-US" sz="5400" b="1" dirty="0">
              <a:solidFill>
                <a:srgbClr val="00009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The analysts and managers</a:t>
            </a:r>
            <a:r>
              <a:rPr lang="en-US" altLang="en-US" sz="5400" b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en-US" sz="5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list important and interesting technologies</a:t>
            </a: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  <a:buNone/>
            </a:pP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Then, the group identifies </a:t>
            </a:r>
            <a:r>
              <a:rPr lang="en-US" altLang="en-US" sz="5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each and every technology </a:t>
            </a:r>
            <a:r>
              <a:rPr lang="en-US" altLang="en-US" sz="5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might be applied </a:t>
            </a: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the business and how the business would </a:t>
            </a:r>
            <a:r>
              <a:rPr lang="en-US" altLang="en-US" sz="5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benefit</a:t>
            </a:r>
            <a:r>
              <a:rPr lang="en-US" altLang="en-US" sz="5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28600" lvl="0" indent="-228600" defTabSz="6858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B71E42"/>
              </a:buClr>
              <a:buSzPct val="100000"/>
            </a:pPr>
            <a:endParaRPr lang="en-US" altLang="en-US" sz="5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558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9050" y="-100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768426" y="485106"/>
            <a:ext cx="13563460" cy="84830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5400" b="1" cap="all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SUMMARY</a:t>
            </a:r>
            <a:endParaRPr lang="en-MY" sz="8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E9F3F-D682-448C-BD9B-E31A83F32A58}"/>
              </a:ext>
            </a:extLst>
          </p:cNvPr>
          <p:cNvSpPr txBox="1">
            <a:spLocks/>
          </p:cNvSpPr>
          <p:nvPr/>
        </p:nvSpPr>
        <p:spPr>
          <a:xfrm>
            <a:off x="609600" y="1915866"/>
            <a:ext cx="15016224" cy="72121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3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 </a:t>
            </a:r>
            <a:r>
              <a:rPr 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focuses on capturing the business requirements for the system</a:t>
            </a: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3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 Determination </a:t>
            </a:r>
            <a:r>
              <a:rPr 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the part of analysis in which the project team turns the  business requirements stated in the system request into a precise list of requirements.</a:t>
            </a: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Five</a:t>
            </a:r>
            <a:r>
              <a:rPr lang="en-US" sz="3600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Requirements Elicitation Techniques </a:t>
            </a:r>
            <a:r>
              <a:rPr 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used to elicit business requirements.</a:t>
            </a: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r>
              <a:rPr lang="en-US" sz="3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Requirements Analysis Strategies </a:t>
            </a:r>
            <a:r>
              <a:rPr lang="en-US" sz="3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 useful for analysts to help the business users think critically about the new system requirements.</a:t>
            </a:r>
          </a:p>
          <a:p>
            <a:pPr marL="228600" lvl="0" indent="-228600" defTabSz="6858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SzPct val="100000"/>
              <a:defRPr/>
            </a:pPr>
            <a:endParaRPr lang="en-US" sz="11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45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10580377">
            <a:off x="9407140" y="-9309963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flipH="1">
            <a:off x="-4254153" y="7476061"/>
            <a:ext cx="11881594" cy="3564478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2" y="4389963"/>
            <a:ext cx="5250788" cy="5897039"/>
          </a:xfrm>
          <a:custGeom>
            <a:avLst/>
            <a:gdLst/>
            <a:ahLst/>
            <a:cxnLst/>
            <a:rect l="l" t="t" r="r" b="b"/>
            <a:pathLst>
              <a:path w="5250788" h="5897039">
                <a:moveTo>
                  <a:pt x="0" y="0"/>
                </a:moveTo>
                <a:lnTo>
                  <a:pt x="5250788" y="0"/>
                </a:lnTo>
                <a:lnTo>
                  <a:pt x="5250788" y="5897039"/>
                </a:lnTo>
                <a:lnTo>
                  <a:pt x="0" y="5897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3000"/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5496875" y="3079375"/>
            <a:ext cx="6718623" cy="4114800"/>
          </a:xfrm>
          <a:custGeom>
            <a:avLst/>
            <a:gdLst/>
            <a:ahLst/>
            <a:cxnLst/>
            <a:rect l="l" t="t" r="r" b="b"/>
            <a:pathLst>
              <a:path w="6718623" h="4114800">
                <a:moveTo>
                  <a:pt x="0" y="0"/>
                </a:moveTo>
                <a:lnTo>
                  <a:pt x="6718622" y="0"/>
                </a:lnTo>
                <a:lnTo>
                  <a:pt x="67186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4059829" y="2739431"/>
            <a:ext cx="2263211" cy="2741775"/>
          </a:xfrm>
          <a:custGeom>
            <a:avLst/>
            <a:gdLst/>
            <a:ahLst/>
            <a:cxnLst/>
            <a:rect l="l" t="t" r="r" b="b"/>
            <a:pathLst>
              <a:path w="2263211" h="2741775">
                <a:moveTo>
                  <a:pt x="0" y="0"/>
                </a:moveTo>
                <a:lnTo>
                  <a:pt x="2263211" y="0"/>
                </a:lnTo>
                <a:lnTo>
                  <a:pt x="2263211" y="2741776"/>
                </a:lnTo>
                <a:lnTo>
                  <a:pt x="0" y="2741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10986725" y="5481207"/>
            <a:ext cx="1864579" cy="2589695"/>
          </a:xfrm>
          <a:custGeom>
            <a:avLst/>
            <a:gdLst/>
            <a:ahLst/>
            <a:cxnLst/>
            <a:rect l="l" t="t" r="r" b="b"/>
            <a:pathLst>
              <a:path w="1864579" h="2589694">
                <a:moveTo>
                  <a:pt x="0" y="0"/>
                </a:moveTo>
                <a:lnTo>
                  <a:pt x="1864580" y="0"/>
                </a:lnTo>
                <a:lnTo>
                  <a:pt x="1864580" y="2589693"/>
                </a:lnTo>
                <a:lnTo>
                  <a:pt x="0" y="2589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6729777" y="4234145"/>
            <a:ext cx="4256947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9"/>
              </a:lnSpc>
            </a:pPr>
            <a:r>
              <a:rPr lang="en-US" sz="7302">
                <a:solidFill>
                  <a:srgbClr val="000000"/>
                </a:solidFill>
                <a:latin typeface="Paytone One Bold"/>
              </a:rPr>
              <a:t>Question Time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000" b="0" i="0" u="none" strike="noStrike" cap="none" normalizeH="0" baseline="0" smtClean="0">
            <a:ln>
              <a:noFill/>
            </a:ln>
            <a:solidFill>
              <a:srgbClr val="004D75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000" b="0" i="0" u="none" strike="noStrike" cap="none" normalizeH="0" baseline="0" smtClean="0">
            <a:ln>
              <a:noFill/>
            </a:ln>
            <a:solidFill>
              <a:srgbClr val="004D75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EE190EC47C3646B3B75441771ECE24" ma:contentTypeVersion="10" ma:contentTypeDescription="Create a new document." ma:contentTypeScope="" ma:versionID="d213bd25f16a5f70b8516fe891d4082d">
  <xsd:schema xmlns:xsd="http://www.w3.org/2001/XMLSchema" xmlns:xs="http://www.w3.org/2001/XMLSchema" xmlns:p="http://schemas.microsoft.com/office/2006/metadata/properties" xmlns:ns3="004b1a65-5906-45b5-aebc-40e07deae0da" targetNamespace="http://schemas.microsoft.com/office/2006/metadata/properties" ma:root="true" ma:fieldsID="e01d3705280bd06716e815dc64edccb6" ns3:_="">
    <xsd:import namespace="004b1a65-5906-45b5-aebc-40e07deae0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4b1a65-5906-45b5-aebc-40e07deae0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4b1a65-5906-45b5-aebc-40e07deae0da" xsi:nil="true"/>
  </documentManagement>
</p:properties>
</file>

<file path=customXml/itemProps1.xml><?xml version="1.0" encoding="utf-8"?>
<ds:datastoreItem xmlns:ds="http://schemas.openxmlformats.org/officeDocument/2006/customXml" ds:itemID="{C4261513-6BA0-4404-97A5-45A7E08B3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4b1a65-5906-45b5-aebc-40e07deae0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175204-B38B-4C98-8244-0004843BEB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B1B619-4B7C-4B6B-BDCF-DDCE7C11F179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004b1a65-5906-45b5-aebc-40e07deae0d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2544</TotalTime>
  <Words>1845</Words>
  <Application>Microsoft Office PowerPoint</Application>
  <PresentationFormat>Custom</PresentationFormat>
  <Paragraphs>365</Paragraphs>
  <Slides>49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6" baseType="lpstr">
      <vt:lpstr>Oswald Bold</vt:lpstr>
      <vt:lpstr>Paytone One Bold</vt:lpstr>
      <vt:lpstr>Calibri</vt:lpstr>
      <vt:lpstr>Oswald Bold Italics</vt:lpstr>
      <vt:lpstr>Calibri Light</vt:lpstr>
      <vt:lpstr>Times</vt:lpstr>
      <vt:lpstr>Paytone One</vt:lpstr>
      <vt:lpstr>Times New Roman</vt:lpstr>
      <vt:lpstr>Montserrat Classic</vt:lpstr>
      <vt:lpstr>Verdana</vt:lpstr>
      <vt:lpstr>Monotype Sorts</vt:lpstr>
      <vt:lpstr>Arial</vt:lpstr>
      <vt:lpstr>Wingdings</vt:lpstr>
      <vt:lpstr>Montserrat Ultra-Bold</vt:lpstr>
      <vt:lpstr>DM Sans</vt:lpstr>
      <vt:lpstr>Office Theme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Interviews Vs Questionnaires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Dr Nurshazwani Binti Muhamad Mahfuz . - nurshazwanimahfuz@segi.edu.my</dc:creator>
  <cp:lastModifiedBy>Lim Wen-I</cp:lastModifiedBy>
  <cp:revision>78</cp:revision>
  <dcterms:created xsi:type="dcterms:W3CDTF">2006-08-16T00:00:00Z</dcterms:created>
  <dcterms:modified xsi:type="dcterms:W3CDTF">2025-10-12T08:51:11Z</dcterms:modified>
  <dc:identifier>DAFsrMPx_0k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0x0101004EEE190EC47C3646B3B75441771ECE24</vt:lpwstr>
  </property>
</Properties>
</file>