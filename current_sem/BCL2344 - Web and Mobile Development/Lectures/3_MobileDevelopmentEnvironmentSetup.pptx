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56" r:id="rId2"/>
    <p:sldId id="388" r:id="rId3"/>
    <p:sldId id="320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46" r:id="rId13"/>
    <p:sldId id="385" r:id="rId14"/>
    <p:sldId id="386" r:id="rId15"/>
    <p:sldId id="387" r:id="rId16"/>
  </p:sldIdLst>
  <p:sldSz cx="9144000" cy="6858000" type="screen4x3"/>
  <p:notesSz cx="7002463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45" autoAdjust="0"/>
    <p:restoredTop sz="85229" autoAdjust="0"/>
  </p:normalViewPr>
  <p:slideViewPr>
    <p:cSldViewPr>
      <p:cViewPr varScale="1">
        <p:scale>
          <a:sx n="46" d="100"/>
          <a:sy n="46" d="100"/>
        </p:scale>
        <p:origin x="1083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6442" y="0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/>
          <a:lstStyle>
            <a:lvl1pPr algn="r">
              <a:defRPr sz="1200"/>
            </a:lvl1pPr>
          </a:lstStyle>
          <a:p>
            <a:fld id="{AC0FC7C6-D9B0-40A7-8DF7-5F2AB1252FC2}" type="datetimeFigureOut">
              <a:rPr lang="en-US" smtClean="0"/>
              <a:pPr/>
              <a:t>2/6/2025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692150"/>
            <a:ext cx="4618037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84" tIns="46392" rIns="92784" bIns="4639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247" y="4387136"/>
            <a:ext cx="5601970" cy="4156234"/>
          </a:xfrm>
          <a:prstGeom prst="rect">
            <a:avLst/>
          </a:prstGeom>
        </p:spPr>
        <p:txBody>
          <a:bodyPr vert="horz" lIns="92784" tIns="46392" rIns="92784" bIns="463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6442" y="8772668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 anchor="b"/>
          <a:lstStyle>
            <a:lvl1pPr algn="r">
              <a:defRPr sz="1200"/>
            </a:lvl1pPr>
          </a:lstStyle>
          <a:p>
            <a:fld id="{9CC03C7C-7F42-46E4-8618-77F0BF1058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8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407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09D1F9B5-B790-4CE2-A831-A5CF1ABBDBBC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11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4F53-5DB5-463F-A038-FE6B72202C93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70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45A8-CA3F-4F8C-9112-3451178299FE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82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BA1E1-5FC4-45DC-911F-A123C3A8B0AC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60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4F94-EA1C-4210-9DF5-83C38875BC15}" type="datetime3">
              <a:rPr lang="en-US" smtClean="0"/>
              <a:t>6 February 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76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04B5-11BA-40F6-9FDD-CBE8CA3587D0}" type="datetime3">
              <a:rPr lang="en-US" smtClean="0"/>
              <a:t>6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62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A975-82A5-43E2-9762-C897F1AFA85D}" type="datetime3">
              <a:rPr lang="en-US" smtClean="0"/>
              <a:t>6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46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AA2D-A1E1-44E4-9439-7E1CFD3E62FD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50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CED5-FE0F-4624-B54C-84AEFB7FC388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18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DCA4-2EC8-4050-A37C-0F8AECD7E65B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41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96160-EBC7-41E4-AD6B-9794A2505D7B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717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7EF0-7B27-45C6-B8B1-B540979BC3B1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253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96DD-99A7-44EF-9C04-286A83B7E609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644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01A9-FA38-47CB-9E14-FB6DA2B66C4E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392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6B1F-8FE8-4F04-AC43-DCC5BBA7C8E3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522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9901-37B4-48D8-9AAA-6ED571399419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384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F321A-4B80-4507-9E20-2809E9C0BB72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9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8AEC43-8657-44C3-8791-EF26D7C60F41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7137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studio" TargetMode="External"/><Relationship Id="rId2" Type="http://schemas.openxmlformats.org/officeDocument/2006/relationships/hyperlink" Target="https://flutter.dev/docs/get-started/inst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/>
              <a:t>TCS3254</a:t>
            </a:r>
            <a:br>
              <a:rPr lang="en-GB" dirty="0"/>
            </a:br>
            <a:r>
              <a:rPr lang="en-GB" dirty="0"/>
              <a:t>PROGRAMMING FOR </a:t>
            </a:r>
            <a:br>
              <a:rPr lang="en-GB" dirty="0"/>
            </a:br>
            <a:r>
              <a:rPr lang="en-GB" dirty="0"/>
              <a:t>MOBILE DEVICES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b="1" dirty="0"/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MY" b="1" dirty="0"/>
              <a:t>Building Layout using Widgets</a:t>
            </a:r>
            <a:endParaRPr lang="en-MY" sz="2400" b="1" dirty="0">
              <a:latin typeface="Calibri" panose="020F0502020204030204" pitchFamily="34" charset="0"/>
              <a:ea typeface="DengXian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442B62-80F2-4946-9FAB-70A7182705BB}"/>
              </a:ext>
            </a:extLst>
          </p:cNvPr>
          <p:cNvSpPr txBox="1">
            <a:spLocks/>
          </p:cNvSpPr>
          <p:nvPr/>
        </p:nvSpPr>
        <p:spPr>
          <a:xfrm>
            <a:off x="2743973" y="1964267"/>
            <a:ext cx="5714228" cy="242146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/>
              <a:t>TCS3254</a:t>
            </a:r>
            <a:br>
              <a:rPr lang="en-GB"/>
            </a:br>
            <a:r>
              <a:rPr lang="en-GB"/>
              <a:t>PROGRAMMING FOR </a:t>
            </a:r>
            <a:br>
              <a:rPr lang="en-GB"/>
            </a:br>
            <a:r>
              <a:rPr lang="en-GB"/>
              <a:t>MOBILE DEVICES 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50D6EF7-3734-4606-BAF6-09B81DAD2828}"/>
              </a:ext>
            </a:extLst>
          </p:cNvPr>
          <p:cNvSpPr txBox="1">
            <a:spLocks/>
          </p:cNvSpPr>
          <p:nvPr/>
        </p:nvSpPr>
        <p:spPr>
          <a:xfrm>
            <a:off x="2743973" y="4385733"/>
            <a:ext cx="5714228" cy="1405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MY" b="1"/>
          </a:p>
          <a:p>
            <a:r>
              <a:rPr lang="en-MY" b="1"/>
              <a:t>Application Environment and Framework</a:t>
            </a:r>
            <a:endParaRPr lang="en-GB" b="1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F2A546D-65F7-4977-84E0-F8407237F39E}"/>
              </a:ext>
            </a:extLst>
          </p:cNvPr>
          <p:cNvSpPr txBox="1">
            <a:spLocks/>
          </p:cNvSpPr>
          <p:nvPr/>
        </p:nvSpPr>
        <p:spPr>
          <a:xfrm>
            <a:off x="80406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92F4A-FC3C-4C13-A76F-34129D2ABBA1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9" name="Picture 8" descr="Computer script on a screen">
            <a:extLst>
              <a:ext uri="{FF2B5EF4-FFF2-40B4-BE49-F238E27FC236}">
                <a16:creationId xmlns:a16="http://schemas.microsoft.com/office/drawing/2014/main" id="{EC876FA8-11E2-43CE-96B2-08A5A638A6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3EE04C4D-8C62-412B-AA19-0C9C3881D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11" name="Rectangle 14">
            <a:extLst>
              <a:ext uri="{FF2B5EF4-FFF2-40B4-BE49-F238E27FC236}">
                <a16:creationId xmlns:a16="http://schemas.microsoft.com/office/drawing/2014/main" id="{4E5BA0DF-F0AE-45C7-9B93-41B885FD2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284684" y="2125133"/>
            <a:ext cx="6552009" cy="2607734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29FFC2B-14A0-47F5-8DF1-39D601A8CA45}"/>
              </a:ext>
            </a:extLst>
          </p:cNvPr>
          <p:cNvSpPr txBox="1">
            <a:spLocks/>
          </p:cNvSpPr>
          <p:nvPr/>
        </p:nvSpPr>
        <p:spPr>
          <a:xfrm>
            <a:off x="1442243" y="2298700"/>
            <a:ext cx="6260307" cy="1595952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3400" b="1" dirty="0"/>
              <a:t>WEB AND MOBILE </a:t>
            </a:r>
          </a:p>
          <a:p>
            <a:pPr algn="ctr">
              <a:lnSpc>
                <a:spcPct val="90000"/>
              </a:lnSpc>
            </a:pPr>
            <a:r>
              <a:rPr lang="en-GB" sz="3400" b="1" dirty="0"/>
              <a:t>DEVELOPMENT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3585E77-E1B2-422F-8B21-724526F02C4F}"/>
              </a:ext>
            </a:extLst>
          </p:cNvPr>
          <p:cNvSpPr txBox="1">
            <a:spLocks/>
          </p:cNvSpPr>
          <p:nvPr/>
        </p:nvSpPr>
        <p:spPr>
          <a:xfrm>
            <a:off x="1439068" y="4068219"/>
            <a:ext cx="6260307" cy="13049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dirty="0">
                <a:solidFill>
                  <a:srgbClr val="FFC000"/>
                </a:solidFill>
              </a:rPr>
              <a:t>MOBILE DEVELOPMENT ENVIRONMENT SETUP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57280033-CB77-4C9E-8A90-3C5B745CA563}"/>
              </a:ext>
            </a:extLst>
          </p:cNvPr>
          <p:cNvSpPr txBox="1">
            <a:spLocks/>
          </p:cNvSpPr>
          <p:nvPr/>
        </p:nvSpPr>
        <p:spPr>
          <a:xfrm>
            <a:off x="7423318" y="5870575"/>
            <a:ext cx="413375" cy="37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C13ADC4-536D-428E-8667-0275BB2B031C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C000"/>
                </a:solidFill>
              </a:rPr>
              <a:t>Introduction</a:t>
            </a:r>
            <a:endParaRPr lang="en-MY" sz="32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075240" cy="402575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Setting up the right development environment is crucial for building mobile applications efficiently and effectively.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In this course, we will focus on </a:t>
            </a:r>
            <a:r>
              <a:rPr lang="en-US" sz="2400" b="1" dirty="0">
                <a:solidFill>
                  <a:srgbClr val="00B0F0"/>
                </a:solidFill>
              </a:rPr>
              <a:t>Flutter</a:t>
            </a:r>
            <a:r>
              <a:rPr lang="en-US" sz="2400" dirty="0"/>
              <a:t>, a popular framework for building cross-platform mobile apps with a single codebase.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Flutter is known for its fast development cycle, rich set of pre-designed widgets, and performance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92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Setting up the Development Environment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068"/>
            <a:ext cx="8075240" cy="4106331"/>
          </a:xfrm>
        </p:spPr>
        <p:txBody>
          <a:bodyPr>
            <a:normAutofit fontScale="92500" lnSpcReduction="20000"/>
          </a:bodyPr>
          <a:lstStyle/>
          <a:p>
            <a:r>
              <a:rPr lang="en-MY" sz="2400" b="1" dirty="0">
                <a:solidFill>
                  <a:srgbClr val="FFC000"/>
                </a:solidFill>
              </a:rPr>
              <a:t>Setup Flutter SDK:</a:t>
            </a:r>
          </a:p>
          <a:p>
            <a:pPr marL="0" indent="0">
              <a:buNone/>
            </a:pPr>
            <a:r>
              <a:rPr lang="en-MY" sz="2400" dirty="0"/>
              <a:t>    </a:t>
            </a:r>
            <a:r>
              <a:rPr lang="en-MY" sz="2400" dirty="0">
                <a:hlinkClick r:id="rId2"/>
              </a:rPr>
              <a:t>https://flutter.dev/docs/get-started/install</a:t>
            </a:r>
            <a:endParaRPr lang="en-MY" sz="2400" dirty="0"/>
          </a:p>
          <a:p>
            <a:endParaRPr lang="en-MY" sz="2400" dirty="0"/>
          </a:p>
          <a:p>
            <a:r>
              <a:rPr lang="en-MY" sz="2400" b="1" dirty="0">
                <a:solidFill>
                  <a:srgbClr val="FFC000"/>
                </a:solidFill>
              </a:rPr>
              <a:t>Get editors:</a:t>
            </a:r>
          </a:p>
          <a:p>
            <a:pPr lvl="1"/>
            <a:r>
              <a:rPr lang="en-MY" sz="2400" dirty="0"/>
              <a:t>Android Studio:</a:t>
            </a:r>
            <a:br>
              <a:rPr lang="en-MY" sz="2400" dirty="0"/>
            </a:br>
            <a:r>
              <a:rPr lang="en-MY" sz="2400" dirty="0">
                <a:hlinkClick r:id="rId3"/>
              </a:rPr>
              <a:t>https://developer.android.com/studio</a:t>
            </a:r>
            <a:endParaRPr lang="en-MY" sz="2400" dirty="0"/>
          </a:p>
          <a:p>
            <a:pPr lvl="1"/>
            <a:r>
              <a:rPr lang="en-MY" sz="2400" dirty="0"/>
              <a:t>VS Code: </a:t>
            </a:r>
          </a:p>
          <a:p>
            <a:pPr marL="457200" lvl="1" indent="0">
              <a:buNone/>
            </a:pPr>
            <a:r>
              <a:rPr lang="en-MY" sz="2400" dirty="0"/>
              <a:t>   </a:t>
            </a:r>
            <a:r>
              <a:rPr lang="en-MY" sz="2400" dirty="0">
                <a:hlinkClick r:id="rId4"/>
              </a:rPr>
              <a:t>https://code.visualstudio.com/</a:t>
            </a:r>
            <a:endParaRPr lang="en-MY" sz="2400" dirty="0"/>
          </a:p>
          <a:p>
            <a:endParaRPr lang="en-MY" sz="2400" dirty="0"/>
          </a:p>
          <a:p>
            <a:r>
              <a:rPr lang="en-MY" sz="2400" b="1" dirty="0">
                <a:solidFill>
                  <a:srgbClr val="FFC000"/>
                </a:solidFill>
              </a:rPr>
              <a:t>Install Dart and Flutter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59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C000"/>
                </a:solidFill>
              </a:rPr>
              <a:t>Android Studio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150"/>
          <a:stretch/>
        </p:blipFill>
        <p:spPr>
          <a:xfrm>
            <a:off x="179512" y="1772816"/>
            <a:ext cx="8784976" cy="46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8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C000"/>
                </a:solidFill>
              </a:rPr>
              <a:t>Visual Studio Code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502"/>
          <a:stretch/>
        </p:blipFill>
        <p:spPr>
          <a:xfrm>
            <a:off x="327343" y="1772816"/>
            <a:ext cx="8489314" cy="470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5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Creating Android Virtual Devices (AVDs)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1"/>
            <a:ext cx="7772400" cy="475252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An AVD is an </a:t>
            </a:r>
            <a:r>
              <a:rPr lang="en-US" sz="2400" b="1" dirty="0">
                <a:solidFill>
                  <a:srgbClr val="FFC000"/>
                </a:solidFill>
              </a:rPr>
              <a:t>emulator instance </a:t>
            </a:r>
            <a:r>
              <a:rPr lang="en-US" sz="2400" dirty="0"/>
              <a:t>that enables you to model an actual device.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It mimics real Android devices such as smartphones, tablets, and wearables, offering features like different screen sizes, resolutions, and Android versions.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emulator is good for doing some generalized testing of the applications.</a:t>
            </a:r>
          </a:p>
          <a:p>
            <a:pPr algn="just"/>
            <a:endParaRPr lang="en-MY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16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Creating Android Virtual Devices (AVDs)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1"/>
            <a:ext cx="7772400" cy="475252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Key Features of AVD:</a:t>
            </a:r>
          </a:p>
          <a:p>
            <a:pPr lvl="1" algn="just"/>
            <a:r>
              <a:rPr lang="en-US" sz="2200" b="1" dirty="0">
                <a:solidFill>
                  <a:srgbClr val="FFC000"/>
                </a:solidFill>
              </a:rPr>
              <a:t>Device Simulation: </a:t>
            </a:r>
            <a:r>
              <a:rPr lang="en-US" sz="2200" dirty="0"/>
              <a:t>simulate a wide range of Android hardware, including different screen sizes, processors, memory, and other device characteristics.</a:t>
            </a:r>
          </a:p>
          <a:p>
            <a:pPr lvl="1" algn="just"/>
            <a:r>
              <a:rPr lang="en-US" sz="2200" b="1" dirty="0">
                <a:solidFill>
                  <a:srgbClr val="FFC000"/>
                </a:solidFill>
              </a:rPr>
              <a:t>Android Version Testing: </a:t>
            </a:r>
            <a:r>
              <a:rPr lang="en-US" sz="2200" dirty="0"/>
              <a:t>allows testing on different Android versions (APIs) to ensure compatibility and performance across various releases of the Android OS.</a:t>
            </a:r>
          </a:p>
          <a:p>
            <a:pPr lvl="1" algn="just"/>
            <a:r>
              <a:rPr lang="en-US" sz="2200" b="1" dirty="0">
                <a:solidFill>
                  <a:srgbClr val="FFC000"/>
                </a:solidFill>
              </a:rPr>
              <a:t>Screen Orientation: </a:t>
            </a:r>
            <a:r>
              <a:rPr lang="en-US" sz="2200" dirty="0"/>
              <a:t>to switch between portrait and landscape orientations</a:t>
            </a:r>
          </a:p>
          <a:p>
            <a:pPr lvl="1" algn="just"/>
            <a:r>
              <a:rPr lang="en-US" sz="2200" b="1" dirty="0">
                <a:solidFill>
                  <a:srgbClr val="FFC000"/>
                </a:solidFill>
              </a:rPr>
              <a:t>Real-time Testing: </a:t>
            </a:r>
            <a:r>
              <a:rPr lang="en-US" sz="2200" dirty="0"/>
              <a:t>run app in real-time and interact with it, testing UI, gestures, touch input, etc.</a:t>
            </a:r>
          </a:p>
          <a:p>
            <a:pPr lvl="1" algn="just"/>
            <a:r>
              <a:rPr lang="en-US" sz="2200" b="1" dirty="0">
                <a:solidFill>
                  <a:srgbClr val="FFC000"/>
                </a:solidFill>
              </a:rPr>
              <a:t>Sensors &amp; Features: </a:t>
            </a:r>
            <a:r>
              <a:rPr lang="en-US" sz="2200" dirty="0"/>
              <a:t>simulate device features like GPS, cellular network, Wi-Fi, cameras, and sensors.</a:t>
            </a:r>
            <a:endParaRPr lang="en-MY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378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Creating Android Virtual Devices (AVDs)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4588"/>
          </a:xfrm>
        </p:spPr>
        <p:txBody>
          <a:bodyPr/>
          <a:lstStyle/>
          <a:p>
            <a:r>
              <a:rPr lang="en-MY" sz="2400" dirty="0"/>
              <a:t>Creating AVD:</a:t>
            </a:r>
          </a:p>
          <a:p>
            <a:pPr marL="0" indent="0">
              <a:buNone/>
            </a:pPr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2050" name="Picture 2" descr="Step #3: Set Up the AVD">
            <a:extLst>
              <a:ext uri="{FF2B5EF4-FFF2-40B4-BE49-F238E27FC236}">
                <a16:creationId xmlns:a16="http://schemas.microsoft.com/office/drawing/2014/main" id="{37449FF0-6D35-4E04-80EC-440E5DF45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44" y="2383734"/>
            <a:ext cx="7250111" cy="386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344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C000"/>
                </a:solidFill>
              </a:rPr>
              <a:t>Creating Flutter Project in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4588"/>
          </a:xfrm>
        </p:spPr>
        <p:txBody>
          <a:bodyPr/>
          <a:lstStyle/>
          <a:p>
            <a:r>
              <a:rPr lang="en-MY" sz="2400" dirty="0"/>
              <a:t>Creating a new Flutter project:</a:t>
            </a:r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  <a:p>
            <a:endParaRPr lang="en-MY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1221" t="4720" r="17348" b="14563"/>
          <a:stretch/>
        </p:blipFill>
        <p:spPr>
          <a:xfrm>
            <a:off x="971600" y="2225883"/>
            <a:ext cx="7056784" cy="432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49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C000"/>
                </a:solidFill>
              </a:rPr>
              <a:t>Creating Flutter Project in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sz="2400" dirty="0"/>
              <a:t>The default view is </a:t>
            </a:r>
            <a:r>
              <a:rPr lang="en-MY" sz="2400" dirty="0" err="1"/>
              <a:t>main.dart</a:t>
            </a:r>
            <a:r>
              <a:rPr lang="en-MY" sz="2400" dirty="0"/>
              <a:t> source file in lib folder: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91" b="6688"/>
          <a:stretch/>
        </p:blipFill>
        <p:spPr>
          <a:xfrm>
            <a:off x="293132" y="2056608"/>
            <a:ext cx="8557735" cy="449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8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Build and Run App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617" y="1659096"/>
            <a:ext cx="7772400" cy="4145971"/>
          </a:xfrm>
        </p:spPr>
        <p:txBody>
          <a:bodyPr/>
          <a:lstStyle/>
          <a:p>
            <a:r>
              <a:rPr lang="en-US" sz="2400" dirty="0"/>
              <a:t>To build and run the application using Android Emulator: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420888"/>
            <a:ext cx="5328592" cy="414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8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Creating Flutter Project in VS Code 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4588"/>
          </a:xfrm>
        </p:spPr>
        <p:txBody>
          <a:bodyPr/>
          <a:lstStyle/>
          <a:p>
            <a:r>
              <a:rPr lang="en-MY" sz="2400" dirty="0"/>
              <a:t>Invoke View &gt; Command </a:t>
            </a:r>
            <a:r>
              <a:rPr lang="en-MY" sz="2400" dirty="0" err="1"/>
              <a:t>Pallete</a:t>
            </a:r>
            <a:r>
              <a:rPr lang="en-MY" sz="2400" dirty="0"/>
              <a:t> to create new Flutter project. Then, give a project name.</a:t>
            </a:r>
          </a:p>
          <a:p>
            <a:endParaRPr lang="en-MY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10" y="1930095"/>
            <a:ext cx="7344816" cy="1154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47" y="4276237"/>
            <a:ext cx="7359564" cy="1070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47" y="5499585"/>
            <a:ext cx="7344816" cy="11198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598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Creating Flutter Project in VS Code 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4784"/>
          <a:stretch/>
        </p:blipFill>
        <p:spPr>
          <a:xfrm>
            <a:off x="89756" y="1588338"/>
            <a:ext cx="8964488" cy="479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9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Build and Run App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068"/>
            <a:ext cx="8363272" cy="3649133"/>
          </a:xfrm>
        </p:spPr>
        <p:txBody>
          <a:bodyPr/>
          <a:lstStyle/>
          <a:p>
            <a:r>
              <a:rPr lang="en-US" sz="2400" dirty="0"/>
              <a:t>To build and run the application on your smartphone device: </a:t>
            </a:r>
          </a:p>
          <a:p>
            <a:endParaRPr lang="en-US" sz="2400" dirty="0"/>
          </a:p>
          <a:p>
            <a:pPr lvl="1"/>
            <a:endParaRPr lang="en-MY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2049" name="Picture 4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03" y="3906744"/>
            <a:ext cx="6775918" cy="255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378" y="1820577"/>
            <a:ext cx="6780043" cy="93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8123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9659"/>
            <a:ext cx="7772400" cy="1456267"/>
          </a:xfrm>
        </p:spPr>
        <p:txBody>
          <a:bodyPr/>
          <a:lstStyle/>
          <a:p>
            <a:pPr algn="ctr"/>
            <a:r>
              <a:rPr lang="en-MY" b="1" dirty="0">
                <a:solidFill>
                  <a:srgbClr val="FFC000"/>
                </a:solidFill>
              </a:rPr>
              <a:t>				  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267" y="1373569"/>
            <a:ext cx="5259235" cy="49545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b="1" dirty="0"/>
              <a:t>android/</a:t>
            </a:r>
            <a:r>
              <a:rPr lang="en-US" sz="2000" b="1" dirty="0" err="1"/>
              <a:t>ios</a:t>
            </a:r>
            <a:r>
              <a:rPr lang="en-US" sz="2000" dirty="0"/>
              <a:t>: This contains the platform-specific codes</a:t>
            </a:r>
          </a:p>
          <a:p>
            <a:pPr algn="just"/>
            <a:r>
              <a:rPr lang="en-US" sz="2000" b="1" dirty="0"/>
              <a:t>flutter_application_1.iml</a:t>
            </a:r>
            <a:r>
              <a:rPr lang="en-US" sz="2000" dirty="0"/>
              <a:t>: This is a typical IntelliJ project file, which contains the </a:t>
            </a:r>
            <a:r>
              <a:rPr lang="en-US" sz="2000" b="1" dirty="0"/>
              <a:t>JAVA_MODULE</a:t>
            </a:r>
            <a:r>
              <a:rPr lang="en-US" sz="2000" dirty="0"/>
              <a:t> information used by the IDE.</a:t>
            </a:r>
          </a:p>
          <a:p>
            <a:pPr algn="just"/>
            <a:r>
              <a:rPr lang="en-US" sz="2000" b="1" dirty="0"/>
              <a:t>lib</a:t>
            </a:r>
            <a:r>
              <a:rPr lang="en-US" sz="2000" dirty="0"/>
              <a:t> directory: This is the main folder; that will contain </a:t>
            </a:r>
            <a:r>
              <a:rPr lang="en-US" sz="2000" b="1" dirty="0" err="1"/>
              <a:t>main.dart</a:t>
            </a:r>
            <a:r>
              <a:rPr lang="en-US" sz="2000" dirty="0"/>
              <a:t> file to start work on.</a:t>
            </a:r>
          </a:p>
          <a:p>
            <a:pPr algn="just"/>
            <a:r>
              <a:rPr lang="en-US" sz="2000" b="1" dirty="0" err="1"/>
              <a:t>pubspec.yaml</a:t>
            </a:r>
            <a:r>
              <a:rPr lang="en-US" sz="2000" dirty="0"/>
              <a:t> and </a:t>
            </a:r>
            <a:r>
              <a:rPr lang="en-US" sz="2000" b="1" dirty="0" err="1"/>
              <a:t>pubspec.lock</a:t>
            </a:r>
            <a:r>
              <a:rPr lang="en-US" sz="2000" dirty="0"/>
              <a:t>: This </a:t>
            </a:r>
            <a:r>
              <a:rPr lang="en-US" sz="2000" b="1" dirty="0" err="1"/>
              <a:t>pubspec.yaml</a:t>
            </a:r>
            <a:r>
              <a:rPr lang="en-US" sz="2000" dirty="0"/>
              <a:t> file is what defines a Dart package. </a:t>
            </a:r>
          </a:p>
          <a:p>
            <a:pPr algn="just"/>
            <a:r>
              <a:rPr lang="en-US" sz="2000" b="1" dirty="0"/>
              <a:t>README.md</a:t>
            </a:r>
            <a:r>
              <a:rPr lang="en-US" sz="2000" dirty="0"/>
              <a:t>: This is a standard README document </a:t>
            </a:r>
          </a:p>
          <a:p>
            <a:pPr algn="just"/>
            <a:r>
              <a:rPr lang="en-US" sz="2000" b="1" dirty="0"/>
              <a:t>test</a:t>
            </a:r>
            <a:r>
              <a:rPr lang="en-US" sz="2000" dirty="0"/>
              <a:t> directory: This contains all the test-related files of the project</a:t>
            </a:r>
            <a:endParaRPr lang="en-MY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01" t="-16342" r="77113" b="39191"/>
          <a:stretch/>
        </p:blipFill>
        <p:spPr>
          <a:xfrm>
            <a:off x="423358" y="-902318"/>
            <a:ext cx="3157909" cy="743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8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10433</TotalTime>
  <Words>550</Words>
  <Application>Microsoft Office PowerPoint</Application>
  <PresentationFormat>On-screen Show (4:3)</PresentationFormat>
  <Paragraphs>96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Celestial</vt:lpstr>
      <vt:lpstr>TCS3254 PROGRAMMING FOR  MOBILE DEVICES </vt:lpstr>
      <vt:lpstr>Introduction</vt:lpstr>
      <vt:lpstr>Setting up the Development Environment</vt:lpstr>
      <vt:lpstr>Android Studio IDE</vt:lpstr>
      <vt:lpstr>Visual Studio Code </vt:lpstr>
      <vt:lpstr>Creating Android Virtual Devices (AVDs)</vt:lpstr>
      <vt:lpstr>Creating Android Virtual Devices (AVDs)</vt:lpstr>
      <vt:lpstr>Creating Android Virtual Devices (AVDs)</vt:lpstr>
      <vt:lpstr>Creating Flutter Project in Android Studio</vt:lpstr>
      <vt:lpstr>Creating Flutter Project in Android Studio</vt:lpstr>
      <vt:lpstr>Build and Run App</vt:lpstr>
      <vt:lpstr>Creating Flutter Project in VS Code </vt:lpstr>
      <vt:lpstr>Creating Flutter Project in VS Code </vt:lpstr>
      <vt:lpstr>Build and Run App</vt:lpstr>
      <vt:lpstr>       Project Structure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apex</dc:creator>
  <cp:lastModifiedBy>Nurul Azlia Binti Mat Saat</cp:lastModifiedBy>
  <cp:revision>195</cp:revision>
  <dcterms:created xsi:type="dcterms:W3CDTF">2011-09-07T16:45:53Z</dcterms:created>
  <dcterms:modified xsi:type="dcterms:W3CDTF">2025-02-06T03:38:42Z</dcterms:modified>
</cp:coreProperties>
</file>