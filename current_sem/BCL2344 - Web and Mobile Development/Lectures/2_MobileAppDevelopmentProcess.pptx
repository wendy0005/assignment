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35"/>
  </p:notesMasterIdLst>
  <p:sldIdLst>
    <p:sldId id="256" r:id="rId2"/>
    <p:sldId id="389" r:id="rId3"/>
    <p:sldId id="413" r:id="rId4"/>
    <p:sldId id="353" r:id="rId5"/>
    <p:sldId id="390" r:id="rId6"/>
    <p:sldId id="322" r:id="rId7"/>
    <p:sldId id="391" r:id="rId8"/>
    <p:sldId id="392" r:id="rId9"/>
    <p:sldId id="393" r:id="rId10"/>
    <p:sldId id="394" r:id="rId11"/>
    <p:sldId id="395" r:id="rId12"/>
    <p:sldId id="396" r:id="rId13"/>
    <p:sldId id="397" r:id="rId14"/>
    <p:sldId id="398" r:id="rId15"/>
    <p:sldId id="399" r:id="rId16"/>
    <p:sldId id="400" r:id="rId17"/>
    <p:sldId id="401" r:id="rId18"/>
    <p:sldId id="402" r:id="rId19"/>
    <p:sldId id="331" r:id="rId20"/>
    <p:sldId id="403" r:id="rId21"/>
    <p:sldId id="404" r:id="rId22"/>
    <p:sldId id="405" r:id="rId23"/>
    <p:sldId id="406" r:id="rId24"/>
    <p:sldId id="335" r:id="rId25"/>
    <p:sldId id="407" r:id="rId26"/>
    <p:sldId id="408" r:id="rId27"/>
    <p:sldId id="338" r:id="rId28"/>
    <p:sldId id="339" r:id="rId29"/>
    <p:sldId id="409" r:id="rId30"/>
    <p:sldId id="410" r:id="rId31"/>
    <p:sldId id="411" r:id="rId32"/>
    <p:sldId id="412" r:id="rId33"/>
    <p:sldId id="414" r:id="rId34"/>
  </p:sldIdLst>
  <p:sldSz cx="9144000" cy="6858000" type="screen4x3"/>
  <p:notesSz cx="7002463"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145" autoAdjust="0"/>
    <p:restoredTop sz="85229" autoAdjust="0"/>
  </p:normalViewPr>
  <p:slideViewPr>
    <p:cSldViewPr>
      <p:cViewPr varScale="1">
        <p:scale>
          <a:sx n="46" d="100"/>
          <a:sy n="46" d="100"/>
        </p:scale>
        <p:origin x="1083" y="3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4401" cy="461804"/>
          </a:xfrm>
          <a:prstGeom prst="rect">
            <a:avLst/>
          </a:prstGeom>
        </p:spPr>
        <p:txBody>
          <a:bodyPr vert="horz" lIns="92784" tIns="46392" rIns="92784" bIns="46392" rtlCol="0"/>
          <a:lstStyle>
            <a:lvl1pPr algn="l">
              <a:defRPr sz="1200"/>
            </a:lvl1pPr>
          </a:lstStyle>
          <a:p>
            <a:endParaRPr lang="en-GB"/>
          </a:p>
        </p:txBody>
      </p:sp>
      <p:sp>
        <p:nvSpPr>
          <p:cNvPr id="3" name="Date Placeholder 2"/>
          <p:cNvSpPr>
            <a:spLocks noGrp="1"/>
          </p:cNvSpPr>
          <p:nvPr>
            <p:ph type="dt" idx="1"/>
          </p:nvPr>
        </p:nvSpPr>
        <p:spPr>
          <a:xfrm>
            <a:off x="3966442" y="0"/>
            <a:ext cx="3034401" cy="461804"/>
          </a:xfrm>
          <a:prstGeom prst="rect">
            <a:avLst/>
          </a:prstGeom>
        </p:spPr>
        <p:txBody>
          <a:bodyPr vert="horz" lIns="92784" tIns="46392" rIns="92784" bIns="46392" rtlCol="0"/>
          <a:lstStyle>
            <a:lvl1pPr algn="r">
              <a:defRPr sz="1200"/>
            </a:lvl1pPr>
          </a:lstStyle>
          <a:p>
            <a:fld id="{AC0FC7C6-D9B0-40A7-8DF7-5F2AB1252FC2}" type="datetimeFigureOut">
              <a:rPr lang="en-US" smtClean="0"/>
              <a:pPr/>
              <a:t>2/6/2025</a:t>
            </a:fld>
            <a:endParaRPr lang="en-GB"/>
          </a:p>
        </p:txBody>
      </p:sp>
      <p:sp>
        <p:nvSpPr>
          <p:cNvPr id="4" name="Slide Image Placeholder 3"/>
          <p:cNvSpPr>
            <a:spLocks noGrp="1" noRot="1" noChangeAspect="1"/>
          </p:cNvSpPr>
          <p:nvPr>
            <p:ph type="sldImg" idx="2"/>
          </p:nvPr>
        </p:nvSpPr>
        <p:spPr>
          <a:xfrm>
            <a:off x="1192213" y="692150"/>
            <a:ext cx="4618037" cy="3463925"/>
          </a:xfrm>
          <a:prstGeom prst="rect">
            <a:avLst/>
          </a:prstGeom>
          <a:noFill/>
          <a:ln w="12700">
            <a:solidFill>
              <a:prstClr val="black"/>
            </a:solidFill>
          </a:ln>
        </p:spPr>
        <p:txBody>
          <a:bodyPr vert="horz" lIns="92784" tIns="46392" rIns="92784" bIns="46392" rtlCol="0" anchor="ctr"/>
          <a:lstStyle/>
          <a:p>
            <a:endParaRPr lang="en-GB"/>
          </a:p>
        </p:txBody>
      </p:sp>
      <p:sp>
        <p:nvSpPr>
          <p:cNvPr id="5" name="Notes Placeholder 4"/>
          <p:cNvSpPr>
            <a:spLocks noGrp="1"/>
          </p:cNvSpPr>
          <p:nvPr>
            <p:ph type="body" sz="quarter" idx="3"/>
          </p:nvPr>
        </p:nvSpPr>
        <p:spPr>
          <a:xfrm>
            <a:off x="700247" y="4387136"/>
            <a:ext cx="5601970" cy="4156234"/>
          </a:xfrm>
          <a:prstGeom prst="rect">
            <a:avLst/>
          </a:prstGeom>
        </p:spPr>
        <p:txBody>
          <a:bodyPr vert="horz" lIns="92784" tIns="46392" rIns="92784" bIns="4639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772668"/>
            <a:ext cx="3034401" cy="461804"/>
          </a:xfrm>
          <a:prstGeom prst="rect">
            <a:avLst/>
          </a:prstGeom>
        </p:spPr>
        <p:txBody>
          <a:bodyPr vert="horz" lIns="92784" tIns="46392" rIns="92784" bIns="46392" rtlCol="0" anchor="b"/>
          <a:lstStyle>
            <a:lvl1pPr algn="l">
              <a:defRPr sz="1200"/>
            </a:lvl1pPr>
          </a:lstStyle>
          <a:p>
            <a:endParaRPr lang="en-GB"/>
          </a:p>
        </p:txBody>
      </p:sp>
      <p:sp>
        <p:nvSpPr>
          <p:cNvPr id="7" name="Slide Number Placeholder 6"/>
          <p:cNvSpPr>
            <a:spLocks noGrp="1"/>
          </p:cNvSpPr>
          <p:nvPr>
            <p:ph type="sldNum" sz="quarter" idx="5"/>
          </p:nvPr>
        </p:nvSpPr>
        <p:spPr>
          <a:xfrm>
            <a:off x="3966442" y="8772668"/>
            <a:ext cx="3034401" cy="461804"/>
          </a:xfrm>
          <a:prstGeom prst="rect">
            <a:avLst/>
          </a:prstGeom>
        </p:spPr>
        <p:txBody>
          <a:bodyPr vert="horz" lIns="92784" tIns="46392" rIns="92784" bIns="46392" rtlCol="0" anchor="b"/>
          <a:lstStyle>
            <a:lvl1pPr algn="r">
              <a:defRPr sz="1200"/>
            </a:lvl1pPr>
          </a:lstStyle>
          <a:p>
            <a:fld id="{9CC03C7C-7F42-46E4-8618-77F0BF105838}" type="slidenum">
              <a:rPr lang="en-GB" smtClean="0"/>
              <a:pPr/>
              <a:t>‹#›</a:t>
            </a:fld>
            <a:endParaRPr lang="en-GB"/>
          </a:p>
        </p:txBody>
      </p:sp>
    </p:spTree>
    <p:extLst>
      <p:ext uri="{BB962C8B-B14F-4D97-AF65-F5344CB8AC3E}">
        <p14:creationId xmlns:p14="http://schemas.microsoft.com/office/powerpoint/2010/main" val="847842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CC03C7C-7F42-46E4-8618-77F0BF105838}" type="slidenum">
              <a:rPr lang="en-GB" smtClean="0"/>
              <a:pPr/>
              <a:t>1</a:t>
            </a:fld>
            <a:endParaRPr lang="en-GB"/>
          </a:p>
        </p:txBody>
      </p:sp>
    </p:spTree>
    <p:extLst>
      <p:ext uri="{BB962C8B-B14F-4D97-AF65-F5344CB8AC3E}">
        <p14:creationId xmlns:p14="http://schemas.microsoft.com/office/powerpoint/2010/main" val="2852407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304049EF-9FF5-452A-B8CD-B28D8D33C686}" type="slidenum">
              <a:rPr lang="en-US" smtClean="0"/>
              <a:pPr/>
              <a:t>24</a:t>
            </a:fld>
            <a:endParaRPr lang="en-US"/>
          </a:p>
        </p:txBody>
      </p:sp>
    </p:spTree>
    <p:extLst>
      <p:ext uri="{BB962C8B-B14F-4D97-AF65-F5344CB8AC3E}">
        <p14:creationId xmlns:p14="http://schemas.microsoft.com/office/powerpoint/2010/main" val="7875779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Example: </a:t>
            </a:r>
          </a:p>
          <a:p>
            <a:r>
              <a:rPr lang="en-US" sz="1200" dirty="0"/>
              <a:t>If the app requires users to log in, these log in sessions should be tracked on the device and the backend. User sessions should be terminated by the system when a user has remained idle for an extended time.</a:t>
            </a:r>
            <a:endParaRPr lang="en-MY" dirty="0"/>
          </a:p>
        </p:txBody>
      </p:sp>
      <p:sp>
        <p:nvSpPr>
          <p:cNvPr id="4" name="Slide Number Placeholder 3"/>
          <p:cNvSpPr>
            <a:spLocks noGrp="1"/>
          </p:cNvSpPr>
          <p:nvPr>
            <p:ph type="sldNum" sz="quarter" idx="10"/>
          </p:nvPr>
        </p:nvSpPr>
        <p:spPr/>
        <p:txBody>
          <a:bodyPr/>
          <a:lstStyle/>
          <a:p>
            <a:fld id="{304049EF-9FF5-452A-B8CD-B28D8D33C686}" type="slidenum">
              <a:rPr lang="en-US" smtClean="0"/>
              <a:pPr/>
              <a:t>27</a:t>
            </a:fld>
            <a:endParaRPr lang="en-US"/>
          </a:p>
        </p:txBody>
      </p:sp>
    </p:spTree>
    <p:extLst>
      <p:ext uri="{BB962C8B-B14F-4D97-AF65-F5344CB8AC3E}">
        <p14:creationId xmlns:p14="http://schemas.microsoft.com/office/powerpoint/2010/main" val="858867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Most companies tend to develop their enterprise mobile app first with Apple’s iOS mobile platform; only where needed they build an app for the Android platform.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During the testing phase, there are many ways for distributing the</a:t>
            </a:r>
            <a:r>
              <a:rPr lang="en-US" sz="1200" baseline="0" dirty="0"/>
              <a:t> </a:t>
            </a:r>
            <a:r>
              <a:rPr lang="en-US" sz="1200" dirty="0"/>
              <a:t>app development builds to the testers.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The most common approach with iOS apps is using the </a:t>
            </a:r>
            <a:r>
              <a:rPr lang="en-US" sz="1200" dirty="0" err="1"/>
              <a:t>Testflight</a:t>
            </a:r>
            <a:r>
              <a:rPr lang="en-US" sz="1200" dirty="0"/>
              <a:t> and for Android apps via email or Over The Air (OTA) installs.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MY" dirty="0"/>
          </a:p>
        </p:txBody>
      </p:sp>
      <p:sp>
        <p:nvSpPr>
          <p:cNvPr id="4" name="Slide Number Placeholder 3"/>
          <p:cNvSpPr>
            <a:spLocks noGrp="1"/>
          </p:cNvSpPr>
          <p:nvPr>
            <p:ph type="sldNum" sz="quarter" idx="10"/>
          </p:nvPr>
        </p:nvSpPr>
        <p:spPr/>
        <p:txBody>
          <a:bodyPr/>
          <a:lstStyle/>
          <a:p>
            <a:fld id="{304049EF-9FF5-452A-B8CD-B28D8D33C686}" type="slidenum">
              <a:rPr lang="en-US" smtClean="0"/>
              <a:pPr/>
              <a:t>29</a:t>
            </a:fld>
            <a:endParaRPr lang="en-US"/>
          </a:p>
        </p:txBody>
      </p:sp>
    </p:spTree>
    <p:extLst>
      <p:ext uri="{BB962C8B-B14F-4D97-AF65-F5344CB8AC3E}">
        <p14:creationId xmlns:p14="http://schemas.microsoft.com/office/powerpoint/2010/main" val="329943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Example:</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If the</a:t>
            </a:r>
            <a:r>
              <a:rPr lang="en-US" sz="1200" baseline="0" dirty="0"/>
              <a:t> </a:t>
            </a:r>
            <a:r>
              <a:rPr lang="en-US" sz="1200" dirty="0"/>
              <a:t>app requires users to log in, then you will need to provide Apple with a test user account as part of the release process.</a:t>
            </a:r>
          </a:p>
          <a:p>
            <a:endParaRPr lang="en-MY" dirty="0"/>
          </a:p>
        </p:txBody>
      </p:sp>
      <p:sp>
        <p:nvSpPr>
          <p:cNvPr id="4" name="Slide Number Placeholder 3"/>
          <p:cNvSpPr>
            <a:spLocks noGrp="1"/>
          </p:cNvSpPr>
          <p:nvPr>
            <p:ph type="sldNum" sz="quarter" idx="10"/>
          </p:nvPr>
        </p:nvSpPr>
        <p:spPr/>
        <p:txBody>
          <a:bodyPr/>
          <a:lstStyle/>
          <a:p>
            <a:fld id="{304049EF-9FF5-452A-B8CD-B28D8D33C686}" type="slidenum">
              <a:rPr lang="en-US" smtClean="0"/>
              <a:pPr/>
              <a:t>30</a:t>
            </a:fld>
            <a:endParaRPr lang="en-US"/>
          </a:p>
        </p:txBody>
      </p:sp>
    </p:spTree>
    <p:extLst>
      <p:ext uri="{BB962C8B-B14F-4D97-AF65-F5344CB8AC3E}">
        <p14:creationId xmlns:p14="http://schemas.microsoft.com/office/powerpoint/2010/main" val="4585803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Celestia-R1---OverlayTitle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397750" cy="6858000"/>
          </a:xfrm>
          <a:prstGeom prst="rect">
            <a:avLst/>
          </a:prstGeom>
        </p:spPr>
      </p:pic>
      <p:sp>
        <p:nvSpPr>
          <p:cNvPr id="2" name="Title 1"/>
          <p:cNvSpPr>
            <a:spLocks noGrp="1"/>
          </p:cNvSpPr>
          <p:nvPr>
            <p:ph type="ctrTitle"/>
          </p:nvPr>
        </p:nvSpPr>
        <p:spPr>
          <a:xfrm>
            <a:off x="2743973" y="1964267"/>
            <a:ext cx="5714228" cy="2421464"/>
          </a:xfrm>
        </p:spPr>
        <p:txBody>
          <a:bodyPr anchor="b">
            <a:normAutofit/>
          </a:bodyPr>
          <a:lstStyle>
            <a:lvl1pPr algn="r">
              <a:defRPr sz="4400">
                <a:effectLst/>
              </a:defRPr>
            </a:lvl1pPr>
          </a:lstStyle>
          <a:p>
            <a:r>
              <a:rPr lang="en-US"/>
              <a:t>Click to edit Master title style</a:t>
            </a:r>
            <a:endParaRPr lang="en-US" dirty="0"/>
          </a:p>
        </p:txBody>
      </p:sp>
      <p:sp>
        <p:nvSpPr>
          <p:cNvPr id="3" name="Subtitle 2"/>
          <p:cNvSpPr>
            <a:spLocks noGrp="1"/>
          </p:cNvSpPr>
          <p:nvPr>
            <p:ph type="subTitle" idx="1"/>
          </p:nvPr>
        </p:nvSpPr>
        <p:spPr>
          <a:xfrm>
            <a:off x="2743973" y="4385733"/>
            <a:ext cx="5714228"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752311" y="5870576"/>
            <a:ext cx="1212173" cy="377825"/>
          </a:xfrm>
        </p:spPr>
        <p:txBody>
          <a:bodyPr/>
          <a:lstStyle/>
          <a:p>
            <a:fld id="{09D1F9B5-B790-4CE2-A831-A5CF1ABBDBBC}" type="datetime3">
              <a:rPr lang="en-US" smtClean="0"/>
              <a:t>6 February 2025</a:t>
            </a:fld>
            <a:endParaRPr lang="en-GB"/>
          </a:p>
        </p:txBody>
      </p:sp>
      <p:sp>
        <p:nvSpPr>
          <p:cNvPr id="5" name="Footer Placeholder 4"/>
          <p:cNvSpPr>
            <a:spLocks noGrp="1"/>
          </p:cNvSpPr>
          <p:nvPr>
            <p:ph type="ftr" sz="quarter" idx="11"/>
          </p:nvPr>
        </p:nvSpPr>
        <p:spPr>
          <a:xfrm>
            <a:off x="2743973" y="5870576"/>
            <a:ext cx="3932137" cy="377825"/>
          </a:xfrm>
        </p:spPr>
        <p:txBody>
          <a:bodyPr/>
          <a:lstStyle/>
          <a:p>
            <a:r>
              <a:rPr lang="en-GB"/>
              <a:t> © LMS SEGi education group</a:t>
            </a:r>
          </a:p>
        </p:txBody>
      </p:sp>
      <p:sp>
        <p:nvSpPr>
          <p:cNvPr id="6" name="Slide Number Placeholder 5"/>
          <p:cNvSpPr>
            <a:spLocks noGrp="1"/>
          </p:cNvSpPr>
          <p:nvPr>
            <p:ph type="sldNum" sz="quarter" idx="12"/>
          </p:nvPr>
        </p:nvSpPr>
        <p:spPr>
          <a:xfrm>
            <a:off x="8040685" y="5870576"/>
            <a:ext cx="417516" cy="377825"/>
          </a:xfrm>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2744110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p:txBody>
          <a:bodyPr>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424F53-5DB5-463F-A038-FE6B72202C93}" type="datetime3">
              <a:rPr lang="en-US" smtClean="0"/>
              <a:t>6 February 2025</a:t>
            </a:fld>
            <a:endParaRPr lang="en-GB"/>
          </a:p>
        </p:txBody>
      </p:sp>
      <p:sp>
        <p:nvSpPr>
          <p:cNvPr id="5" name="Footer Placeholder 4"/>
          <p:cNvSpPr>
            <a:spLocks noGrp="1"/>
          </p:cNvSpPr>
          <p:nvPr>
            <p:ph type="ftr" sz="quarter" idx="11"/>
          </p:nvPr>
        </p:nvSpPr>
        <p:spPr/>
        <p:txBody>
          <a:bodyPr/>
          <a:lstStyle/>
          <a:p>
            <a:r>
              <a:rPr lang="en-GB"/>
              <a:t> © LMS SEGi education group</a:t>
            </a:r>
          </a:p>
        </p:txBody>
      </p:sp>
      <p:sp>
        <p:nvSpPr>
          <p:cNvPr id="6" name="Slide Number Placeholder 5"/>
          <p:cNvSpPr>
            <a:spLocks noGrp="1"/>
          </p:cNvSpPr>
          <p:nvPr>
            <p:ph type="sldNum" sz="quarter" idx="12"/>
          </p:nvPr>
        </p:nvSpPr>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2558702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2" y="3308581"/>
            <a:ext cx="77724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457201" y="4777381"/>
            <a:ext cx="7772400" cy="860400"/>
          </a:xfrm>
        </p:spPr>
        <p:txBody>
          <a:bodyPr anchor="t">
            <a:normAutofit/>
          </a:bodyPr>
          <a:lstStyle>
            <a:lvl1pPr marL="0" indent="0" algn="l">
              <a:buNone/>
              <a:defRPr sz="18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B1445A8-CA3F-4F8C-9112-3451178299FE}" type="datetime3">
              <a:rPr lang="en-US" smtClean="0"/>
              <a:t>6 February 2025</a:t>
            </a:fld>
            <a:endParaRPr lang="en-GB"/>
          </a:p>
        </p:txBody>
      </p:sp>
      <p:sp>
        <p:nvSpPr>
          <p:cNvPr id="5" name="Footer Placeholder 4"/>
          <p:cNvSpPr>
            <a:spLocks noGrp="1"/>
          </p:cNvSpPr>
          <p:nvPr>
            <p:ph type="ftr" sz="quarter" idx="11"/>
          </p:nvPr>
        </p:nvSpPr>
        <p:spPr/>
        <p:txBody>
          <a:bodyPr/>
          <a:lstStyle/>
          <a:p>
            <a:r>
              <a:rPr lang="en-GB"/>
              <a:t> © LMS SEGi education group</a:t>
            </a:r>
          </a:p>
        </p:txBody>
      </p:sp>
      <p:sp>
        <p:nvSpPr>
          <p:cNvPr id="6" name="Slide Number Placeholder 5"/>
          <p:cNvSpPr>
            <a:spLocks noGrp="1"/>
          </p:cNvSpPr>
          <p:nvPr>
            <p:ph type="sldNum" sz="quarter" idx="12"/>
          </p:nvPr>
        </p:nvSpPr>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3282827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1" y="2142068"/>
            <a:ext cx="3813048"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6553" y="2142068"/>
            <a:ext cx="3813048"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B7BA1E1-5FC4-45DC-911F-A123C3A8B0AC}" type="datetime3">
              <a:rPr lang="en-US" smtClean="0"/>
              <a:t>6 February 2025</a:t>
            </a:fld>
            <a:endParaRPr lang="en-GB"/>
          </a:p>
        </p:txBody>
      </p:sp>
      <p:sp>
        <p:nvSpPr>
          <p:cNvPr id="6" name="Footer Placeholder 5"/>
          <p:cNvSpPr>
            <a:spLocks noGrp="1"/>
          </p:cNvSpPr>
          <p:nvPr>
            <p:ph type="ftr" sz="quarter" idx="11"/>
          </p:nvPr>
        </p:nvSpPr>
        <p:spPr/>
        <p:txBody>
          <a:bodyPr/>
          <a:lstStyle/>
          <a:p>
            <a:r>
              <a:rPr lang="en-GB"/>
              <a:t> © LMS SEGi education group</a:t>
            </a:r>
          </a:p>
        </p:txBody>
      </p:sp>
      <p:sp>
        <p:nvSpPr>
          <p:cNvPr id="7" name="Slide Number Placeholder 6"/>
          <p:cNvSpPr>
            <a:spLocks noGrp="1"/>
          </p:cNvSpPr>
          <p:nvPr>
            <p:ph type="sldNum" sz="quarter" idx="12"/>
          </p:nvPr>
        </p:nvSpPr>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3190600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p:txBody>
          <a:bodyPr>
            <a:normAutofit/>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743480" y="2218267"/>
            <a:ext cx="354060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870201"/>
            <a:ext cx="3813048"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11120" y="2218267"/>
            <a:ext cx="3518480"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6552" y="2870201"/>
            <a:ext cx="3813048"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C384F94-EA1C-4210-9DF5-83C38875BC15}" type="datetime3">
              <a:rPr lang="en-US" smtClean="0"/>
              <a:t>6 February 2025</a:t>
            </a:fld>
            <a:endParaRPr lang="en-GB"/>
          </a:p>
        </p:txBody>
      </p:sp>
      <p:sp>
        <p:nvSpPr>
          <p:cNvPr id="8" name="Footer Placeholder 7"/>
          <p:cNvSpPr>
            <a:spLocks noGrp="1"/>
          </p:cNvSpPr>
          <p:nvPr>
            <p:ph type="ftr" sz="quarter" idx="11"/>
          </p:nvPr>
        </p:nvSpPr>
        <p:spPr/>
        <p:txBody>
          <a:bodyPr/>
          <a:lstStyle/>
          <a:p>
            <a:r>
              <a:rPr lang="en-GB"/>
              <a:t> © LMS SEGi education group</a:t>
            </a:r>
          </a:p>
        </p:txBody>
      </p:sp>
      <p:sp>
        <p:nvSpPr>
          <p:cNvPr id="9" name="Slide Number Placeholder 8"/>
          <p:cNvSpPr>
            <a:spLocks noGrp="1"/>
          </p:cNvSpPr>
          <p:nvPr>
            <p:ph type="sldNum" sz="quarter" idx="12"/>
          </p:nvPr>
        </p:nvSpPr>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4109767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1" y="609601"/>
            <a:ext cx="7772400" cy="1456267"/>
          </a:xfrm>
        </p:spPr>
        <p:txBody>
          <a:bodyPr>
            <a:normAutofit/>
          </a:bodyPr>
          <a:lstStyle>
            <a:lvl1pPr>
              <a:defRPr sz="3200"/>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F1004B5-11BA-40F6-9FDD-CBE8CA3587D0}" type="datetime3">
              <a:rPr lang="en-US" smtClean="0"/>
              <a:t>6 February 2025</a:t>
            </a:fld>
            <a:endParaRPr lang="en-GB"/>
          </a:p>
        </p:txBody>
      </p:sp>
      <p:sp>
        <p:nvSpPr>
          <p:cNvPr id="4" name="Footer Placeholder 3"/>
          <p:cNvSpPr>
            <a:spLocks noGrp="1"/>
          </p:cNvSpPr>
          <p:nvPr>
            <p:ph type="ftr" sz="quarter" idx="11"/>
          </p:nvPr>
        </p:nvSpPr>
        <p:spPr/>
        <p:txBody>
          <a:bodyPr/>
          <a:lstStyle/>
          <a:p>
            <a:r>
              <a:rPr lang="en-GB"/>
              <a:t> © LMS SEGi education group</a:t>
            </a:r>
          </a:p>
        </p:txBody>
      </p:sp>
      <p:sp>
        <p:nvSpPr>
          <p:cNvPr id="5" name="Slide Number Placeholder 4"/>
          <p:cNvSpPr>
            <a:spLocks noGrp="1"/>
          </p:cNvSpPr>
          <p:nvPr>
            <p:ph type="sldNum" sz="quarter" idx="12"/>
          </p:nvPr>
        </p:nvSpPr>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2767623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Date Placeholder 1"/>
          <p:cNvSpPr>
            <a:spLocks noGrp="1"/>
          </p:cNvSpPr>
          <p:nvPr>
            <p:ph type="dt" sz="half" idx="10"/>
          </p:nvPr>
        </p:nvSpPr>
        <p:spPr/>
        <p:txBody>
          <a:bodyPr/>
          <a:lstStyle/>
          <a:p>
            <a:fld id="{E5BCA975-82A5-43E2-9762-C897F1AFA85D}" type="datetime3">
              <a:rPr lang="en-US" smtClean="0"/>
              <a:t>6 February 2025</a:t>
            </a:fld>
            <a:endParaRPr lang="en-GB"/>
          </a:p>
        </p:txBody>
      </p:sp>
      <p:sp>
        <p:nvSpPr>
          <p:cNvPr id="3" name="Footer Placeholder 2"/>
          <p:cNvSpPr>
            <a:spLocks noGrp="1"/>
          </p:cNvSpPr>
          <p:nvPr>
            <p:ph type="ftr" sz="quarter" idx="11"/>
          </p:nvPr>
        </p:nvSpPr>
        <p:spPr/>
        <p:txBody>
          <a:bodyPr/>
          <a:lstStyle/>
          <a:p>
            <a:r>
              <a:rPr lang="en-GB"/>
              <a:t> © LMS SEGi education group</a:t>
            </a:r>
          </a:p>
        </p:txBody>
      </p:sp>
      <p:sp>
        <p:nvSpPr>
          <p:cNvPr id="4" name="Slide Number Placeholder 3"/>
          <p:cNvSpPr>
            <a:spLocks noGrp="1"/>
          </p:cNvSpPr>
          <p:nvPr>
            <p:ph type="sldNum" sz="quarter" idx="12"/>
          </p:nvPr>
        </p:nvSpPr>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665465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2" name="Picture 11"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61718" y="1557868"/>
            <a:ext cx="2862910" cy="1439332"/>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606144" y="609601"/>
            <a:ext cx="4627975"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61718" y="2997200"/>
            <a:ext cx="2862910" cy="184573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E3AA2D-A1E1-44E4-9439-7E1CFD3E62FD}" type="datetime3">
              <a:rPr lang="en-US" smtClean="0"/>
              <a:t>6 February 2025</a:t>
            </a:fld>
            <a:endParaRPr lang="en-GB"/>
          </a:p>
        </p:txBody>
      </p:sp>
      <p:sp>
        <p:nvSpPr>
          <p:cNvPr id="6" name="Footer Placeholder 5"/>
          <p:cNvSpPr>
            <a:spLocks noGrp="1"/>
          </p:cNvSpPr>
          <p:nvPr>
            <p:ph type="ftr" sz="quarter" idx="11"/>
          </p:nvPr>
        </p:nvSpPr>
        <p:spPr/>
        <p:txBody>
          <a:bodyPr/>
          <a:lstStyle/>
          <a:p>
            <a:r>
              <a:rPr lang="en-GB"/>
              <a:t> © LMS SEGi education group</a:t>
            </a:r>
          </a:p>
        </p:txBody>
      </p:sp>
      <p:sp>
        <p:nvSpPr>
          <p:cNvPr id="7" name="Slide Number Placeholder 6"/>
          <p:cNvSpPr>
            <a:spLocks noGrp="1"/>
          </p:cNvSpPr>
          <p:nvPr>
            <p:ph type="sldNum" sz="quarter" idx="12"/>
          </p:nvPr>
        </p:nvSpPr>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4275502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1" name="Picture 10"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62128" y="1735672"/>
            <a:ext cx="4097204" cy="1371600"/>
          </a:xfrm>
        </p:spPr>
        <p:txBody>
          <a:bodyPr anchor="b">
            <a:normAutofit/>
          </a:bodyPr>
          <a:lstStyle>
            <a:lvl1pPr algn="l">
              <a:defRPr sz="24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029200" y="914400"/>
            <a:ext cx="3200400"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dirty="0"/>
            </a:lvl1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a:xfrm>
            <a:off x="462128" y="3107272"/>
            <a:ext cx="4097204"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F0CED5-FE0F-4624-B54C-84AEFB7FC388}" type="datetime3">
              <a:rPr lang="en-US" smtClean="0"/>
              <a:t>6 February 2025</a:t>
            </a:fld>
            <a:endParaRPr lang="en-GB"/>
          </a:p>
        </p:txBody>
      </p:sp>
      <p:sp>
        <p:nvSpPr>
          <p:cNvPr id="6" name="Footer Placeholder 5"/>
          <p:cNvSpPr>
            <a:spLocks noGrp="1"/>
          </p:cNvSpPr>
          <p:nvPr>
            <p:ph type="ftr" sz="quarter" idx="11"/>
          </p:nvPr>
        </p:nvSpPr>
        <p:spPr/>
        <p:txBody>
          <a:bodyPr/>
          <a:lstStyle/>
          <a:p>
            <a:r>
              <a:rPr lang="en-GB"/>
              <a:t> © LMS SEGi education group</a:t>
            </a:r>
          </a:p>
        </p:txBody>
      </p:sp>
      <p:sp>
        <p:nvSpPr>
          <p:cNvPr id="7" name="Slide Number Placeholder 6"/>
          <p:cNvSpPr>
            <a:spLocks noGrp="1"/>
          </p:cNvSpPr>
          <p:nvPr>
            <p:ph type="sldNum" sz="quarter" idx="12"/>
          </p:nvPr>
        </p:nvSpPr>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1654187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1" y="4732865"/>
            <a:ext cx="7772400" cy="566738"/>
          </a:xfrm>
        </p:spPr>
        <p:txBody>
          <a:bodyPr anchor="b">
            <a:normAutofit/>
          </a:bodyPr>
          <a:lstStyle>
            <a:lvl1pPr algn="l">
              <a:defRPr sz="2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4401" y="932112"/>
            <a:ext cx="6858000"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a:lvl1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a:xfrm>
            <a:off x="457201" y="5299603"/>
            <a:ext cx="77724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2BDCA4-2EC8-4050-A37C-0F8AECD7E65B}" type="datetime3">
              <a:rPr lang="en-US" smtClean="0"/>
              <a:t>6 February 2025</a:t>
            </a:fld>
            <a:endParaRPr lang="en-GB"/>
          </a:p>
        </p:txBody>
      </p:sp>
      <p:sp>
        <p:nvSpPr>
          <p:cNvPr id="6" name="Footer Placeholder 5"/>
          <p:cNvSpPr>
            <a:spLocks noGrp="1"/>
          </p:cNvSpPr>
          <p:nvPr>
            <p:ph type="ftr" sz="quarter" idx="11"/>
          </p:nvPr>
        </p:nvSpPr>
        <p:spPr/>
        <p:txBody>
          <a:bodyPr/>
          <a:lstStyle/>
          <a:p>
            <a:r>
              <a:rPr lang="en-GB"/>
              <a:t> © LMS SEGi education group</a:t>
            </a:r>
          </a:p>
        </p:txBody>
      </p:sp>
      <p:sp>
        <p:nvSpPr>
          <p:cNvPr id="7" name="Slide Number Placeholder 6"/>
          <p:cNvSpPr>
            <a:spLocks noGrp="1"/>
          </p:cNvSpPr>
          <p:nvPr>
            <p:ph type="sldNum" sz="quarter" idx="12"/>
          </p:nvPr>
        </p:nvSpPr>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13644191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3" y="609602"/>
            <a:ext cx="7772399"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457202" y="4343400"/>
            <a:ext cx="7772399"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196160-EBC7-41E4-AD6B-9794A2505D7B}" type="datetime3">
              <a:rPr lang="en-US" smtClean="0"/>
              <a:t>6 February 2025</a:t>
            </a:fld>
            <a:endParaRPr lang="en-GB"/>
          </a:p>
        </p:txBody>
      </p:sp>
      <p:sp>
        <p:nvSpPr>
          <p:cNvPr id="5" name="Footer Placeholder 4"/>
          <p:cNvSpPr>
            <a:spLocks noGrp="1"/>
          </p:cNvSpPr>
          <p:nvPr>
            <p:ph type="ftr" sz="quarter" idx="11"/>
          </p:nvPr>
        </p:nvSpPr>
        <p:spPr/>
        <p:txBody>
          <a:bodyPr/>
          <a:lstStyle/>
          <a:p>
            <a:r>
              <a:rPr lang="en-GB"/>
              <a:t> © LMS SEGi education group</a:t>
            </a:r>
          </a:p>
        </p:txBody>
      </p:sp>
      <p:sp>
        <p:nvSpPr>
          <p:cNvPr id="6" name="Slide Number Placeholder 5"/>
          <p:cNvSpPr>
            <a:spLocks noGrp="1"/>
          </p:cNvSpPr>
          <p:nvPr>
            <p:ph type="sldNum" sz="quarter" idx="12"/>
          </p:nvPr>
        </p:nvSpPr>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14527174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7" name="Picture 1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14" name="TextBox 13"/>
          <p:cNvSpPr txBox="1"/>
          <p:nvPr/>
        </p:nvSpPr>
        <p:spPr>
          <a:xfrm>
            <a:off x="421796" y="718114"/>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7735800" y="2751671"/>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879115" y="609602"/>
            <a:ext cx="7091297"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988671" y="3352800"/>
            <a:ext cx="6876133" cy="381000"/>
          </a:xfrm>
        </p:spPr>
        <p:txBody>
          <a:bodyPr anchor="ctr">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462266" y="4343400"/>
            <a:ext cx="7772400"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CA7EF0-7B27-45C6-B8B1-B540979BC3B1}" type="datetime3">
              <a:rPr lang="en-US" smtClean="0"/>
              <a:t>6 February 2025</a:t>
            </a:fld>
            <a:endParaRPr lang="en-GB"/>
          </a:p>
        </p:txBody>
      </p:sp>
      <p:sp>
        <p:nvSpPr>
          <p:cNvPr id="5" name="Footer Placeholder 4"/>
          <p:cNvSpPr>
            <a:spLocks noGrp="1"/>
          </p:cNvSpPr>
          <p:nvPr>
            <p:ph type="ftr" sz="quarter" idx="11"/>
          </p:nvPr>
        </p:nvSpPr>
        <p:spPr/>
        <p:txBody>
          <a:bodyPr/>
          <a:lstStyle/>
          <a:p>
            <a:r>
              <a:rPr lang="en-GB"/>
              <a:t> © LMS SEGi education group</a:t>
            </a:r>
          </a:p>
        </p:txBody>
      </p:sp>
      <p:sp>
        <p:nvSpPr>
          <p:cNvPr id="6" name="Slide Number Placeholder 5"/>
          <p:cNvSpPr>
            <a:spLocks noGrp="1"/>
          </p:cNvSpPr>
          <p:nvPr>
            <p:ph type="sldNum" sz="quarter" idx="12"/>
          </p:nvPr>
        </p:nvSpPr>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30952533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1" y="3291648"/>
            <a:ext cx="7772401" cy="1468800"/>
          </a:xfrm>
        </p:spPr>
        <p:txBody>
          <a:bodyPr anchor="b">
            <a:normAutofit/>
          </a:bodyPr>
          <a:lstStyle>
            <a:lvl1pPr algn="l">
              <a:defRPr sz="2800" b="0" cap="none"/>
            </a:lvl1pPr>
          </a:lstStyle>
          <a:p>
            <a:r>
              <a:rPr lang="en-US"/>
              <a:t>Click to edit Master title style</a:t>
            </a:r>
            <a:endParaRPr lang="en-US" dirty="0"/>
          </a:p>
        </p:txBody>
      </p:sp>
      <p:sp>
        <p:nvSpPr>
          <p:cNvPr id="3" name="Text Placeholder 2"/>
          <p:cNvSpPr>
            <a:spLocks noGrp="1"/>
          </p:cNvSpPr>
          <p:nvPr>
            <p:ph type="body" idx="1"/>
          </p:nvPr>
        </p:nvSpPr>
        <p:spPr>
          <a:xfrm>
            <a:off x="457200" y="4760448"/>
            <a:ext cx="7772402"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7196DD-99A7-44EF-9C04-286A83B7E609}" type="datetime3">
              <a:rPr lang="en-US" smtClean="0"/>
              <a:t>6 February 2025</a:t>
            </a:fld>
            <a:endParaRPr lang="en-GB"/>
          </a:p>
        </p:txBody>
      </p:sp>
      <p:sp>
        <p:nvSpPr>
          <p:cNvPr id="5" name="Footer Placeholder 4"/>
          <p:cNvSpPr>
            <a:spLocks noGrp="1"/>
          </p:cNvSpPr>
          <p:nvPr>
            <p:ph type="ftr" sz="quarter" idx="11"/>
          </p:nvPr>
        </p:nvSpPr>
        <p:spPr/>
        <p:txBody>
          <a:bodyPr/>
          <a:lstStyle/>
          <a:p>
            <a:r>
              <a:rPr lang="en-GB"/>
              <a:t> © LMS SEGi education group</a:t>
            </a:r>
          </a:p>
        </p:txBody>
      </p:sp>
      <p:sp>
        <p:nvSpPr>
          <p:cNvPr id="6" name="Slide Number Placeholder 5"/>
          <p:cNvSpPr>
            <a:spLocks noGrp="1"/>
          </p:cNvSpPr>
          <p:nvPr>
            <p:ph type="sldNum" sz="quarter" idx="12"/>
          </p:nvPr>
        </p:nvSpPr>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1733644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11" name="TextBox 10"/>
          <p:cNvSpPr txBox="1"/>
          <p:nvPr/>
        </p:nvSpPr>
        <p:spPr>
          <a:xfrm>
            <a:off x="421796" y="718114"/>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6" name="TextBox 15"/>
          <p:cNvSpPr txBox="1"/>
          <p:nvPr/>
        </p:nvSpPr>
        <p:spPr>
          <a:xfrm>
            <a:off x="7735800" y="2751671"/>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879115" y="609602"/>
            <a:ext cx="7091297"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457200" y="3886200"/>
            <a:ext cx="7772401" cy="8890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457200" y="4775200"/>
            <a:ext cx="7772401" cy="10160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AC01A9-FA38-47CB-9E14-FB6DA2B66C4E}" type="datetime3">
              <a:rPr lang="en-US" smtClean="0"/>
              <a:t>6 February 2025</a:t>
            </a:fld>
            <a:endParaRPr lang="en-GB"/>
          </a:p>
        </p:txBody>
      </p:sp>
      <p:sp>
        <p:nvSpPr>
          <p:cNvPr id="5" name="Footer Placeholder 4"/>
          <p:cNvSpPr>
            <a:spLocks noGrp="1"/>
          </p:cNvSpPr>
          <p:nvPr>
            <p:ph type="ftr" sz="quarter" idx="11"/>
          </p:nvPr>
        </p:nvSpPr>
        <p:spPr/>
        <p:txBody>
          <a:bodyPr/>
          <a:lstStyle/>
          <a:p>
            <a:r>
              <a:rPr lang="en-GB"/>
              <a:t> © LMS SEGi education group</a:t>
            </a:r>
          </a:p>
        </p:txBody>
      </p:sp>
      <p:sp>
        <p:nvSpPr>
          <p:cNvPr id="6" name="Slide Number Placeholder 5"/>
          <p:cNvSpPr>
            <a:spLocks noGrp="1"/>
          </p:cNvSpPr>
          <p:nvPr>
            <p:ph type="sldNum" sz="quarter" idx="12"/>
          </p:nvPr>
        </p:nvSpPr>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1620392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64440" y="609602"/>
            <a:ext cx="7772401" cy="2743199"/>
          </a:xfrm>
        </p:spPr>
        <p:txBody>
          <a:bodyPr vert="horz" lIns="91440" tIns="45720" rIns="91440" bIns="45720" rtlCol="0" anchor="ctr">
            <a:normAutofit/>
          </a:bodyPr>
          <a:lstStyle>
            <a:lvl1pPr>
              <a:defRPr lang="en-US" sz="2800"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464440" y="3505200"/>
            <a:ext cx="7772401" cy="8382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464439" y="4343400"/>
            <a:ext cx="7772401" cy="14478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FC6B1F-8FE8-4F04-AC43-DCC5BBA7C8E3}" type="datetime3">
              <a:rPr lang="en-US" smtClean="0"/>
              <a:t>6 February 2025</a:t>
            </a:fld>
            <a:endParaRPr lang="en-GB"/>
          </a:p>
        </p:txBody>
      </p:sp>
      <p:sp>
        <p:nvSpPr>
          <p:cNvPr id="5" name="Footer Placeholder 4"/>
          <p:cNvSpPr>
            <a:spLocks noGrp="1"/>
          </p:cNvSpPr>
          <p:nvPr>
            <p:ph type="ftr" sz="quarter" idx="11"/>
          </p:nvPr>
        </p:nvSpPr>
        <p:spPr/>
        <p:txBody>
          <a:bodyPr/>
          <a:lstStyle/>
          <a:p>
            <a:r>
              <a:rPr lang="en-GB"/>
              <a:t> © LMS SEGi education group</a:t>
            </a:r>
          </a:p>
        </p:txBody>
      </p:sp>
      <p:sp>
        <p:nvSpPr>
          <p:cNvPr id="6" name="Slide Number Placeholder 5"/>
          <p:cNvSpPr>
            <a:spLocks noGrp="1"/>
          </p:cNvSpPr>
          <p:nvPr>
            <p:ph type="sldNum" sz="quarter" idx="12"/>
          </p:nvPr>
        </p:nvSpPr>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34745228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8" name="Title 1"/>
          <p:cNvSpPr>
            <a:spLocks noGrp="1"/>
          </p:cNvSpPr>
          <p:nvPr>
            <p:ph type="title"/>
          </p:nvPr>
        </p:nvSpPr>
        <p:spPr>
          <a:xfrm>
            <a:off x="457200" y="609601"/>
            <a:ext cx="7772400" cy="1456267"/>
          </a:xfrm>
        </p:spPr>
        <p:txBody>
          <a:bodyPr>
            <a:normAutofit/>
          </a:bodyPr>
          <a:lstStyle>
            <a:lvl1pPr>
              <a:defRPr sz="2800"/>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889901-37B4-48D8-9AAA-6ED571399419}" type="datetime3">
              <a:rPr lang="en-US" smtClean="0"/>
              <a:t>6 February 2025</a:t>
            </a:fld>
            <a:endParaRPr lang="en-GB"/>
          </a:p>
        </p:txBody>
      </p:sp>
      <p:sp>
        <p:nvSpPr>
          <p:cNvPr id="5" name="Footer Placeholder 4"/>
          <p:cNvSpPr>
            <a:spLocks noGrp="1"/>
          </p:cNvSpPr>
          <p:nvPr>
            <p:ph type="ftr" sz="quarter" idx="11"/>
          </p:nvPr>
        </p:nvSpPr>
        <p:spPr/>
        <p:txBody>
          <a:bodyPr/>
          <a:lstStyle/>
          <a:p>
            <a:r>
              <a:rPr lang="en-GB"/>
              <a:t> © LMS SEGi education group</a:t>
            </a:r>
          </a:p>
        </p:txBody>
      </p:sp>
      <p:sp>
        <p:nvSpPr>
          <p:cNvPr id="6" name="Slide Number Placeholder 5"/>
          <p:cNvSpPr>
            <a:spLocks noGrp="1"/>
          </p:cNvSpPr>
          <p:nvPr>
            <p:ph type="sldNum" sz="quarter" idx="12"/>
          </p:nvPr>
        </p:nvSpPr>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15723844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Vertical Title 1"/>
          <p:cNvSpPr>
            <a:spLocks noGrp="1"/>
          </p:cNvSpPr>
          <p:nvPr>
            <p:ph type="title" orient="vert"/>
          </p:nvPr>
        </p:nvSpPr>
        <p:spPr>
          <a:xfrm>
            <a:off x="6552978" y="609600"/>
            <a:ext cx="1676621" cy="5181601"/>
          </a:xfrm>
        </p:spPr>
        <p:txBody>
          <a:bodyPr vert="eaVert">
            <a:normAutofit/>
          </a:bodyPr>
          <a:lstStyle>
            <a:lvl1pPr>
              <a:defRPr sz="280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5990184"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7F321A-4B80-4507-9E20-2809E9C0BB72}" type="datetime3">
              <a:rPr lang="en-US" smtClean="0"/>
              <a:t>6 February 2025</a:t>
            </a:fld>
            <a:endParaRPr lang="en-GB"/>
          </a:p>
        </p:txBody>
      </p:sp>
      <p:sp>
        <p:nvSpPr>
          <p:cNvPr id="5" name="Footer Placeholder 4"/>
          <p:cNvSpPr>
            <a:spLocks noGrp="1"/>
          </p:cNvSpPr>
          <p:nvPr>
            <p:ph type="ftr" sz="quarter" idx="11"/>
          </p:nvPr>
        </p:nvSpPr>
        <p:spPr/>
        <p:txBody>
          <a:bodyPr/>
          <a:lstStyle/>
          <a:p>
            <a:r>
              <a:rPr lang="en-GB"/>
              <a:t> © LMS SEGi education group</a:t>
            </a:r>
          </a:p>
        </p:txBody>
      </p:sp>
      <p:sp>
        <p:nvSpPr>
          <p:cNvPr id="6" name="Slide Number Placeholder 5"/>
          <p:cNvSpPr>
            <a:spLocks noGrp="1"/>
          </p:cNvSpPr>
          <p:nvPr>
            <p:ph type="sldNum" sz="quarter" idx="12"/>
          </p:nvPr>
        </p:nvSpPr>
        <p:spPr/>
        <p:txBody>
          <a:bodyPr/>
          <a:lstStyle/>
          <a:p>
            <a:fld id="{CC13ADC4-536D-428E-8667-0275BB2B031C}" type="slidenum">
              <a:rPr lang="en-GB" smtClean="0"/>
              <a:pPr/>
              <a:t>‹#›</a:t>
            </a:fld>
            <a:endParaRPr lang="en-GB"/>
          </a:p>
        </p:txBody>
      </p:sp>
    </p:spTree>
    <p:extLst>
      <p:ext uri="{BB962C8B-B14F-4D97-AF65-F5344CB8AC3E}">
        <p14:creationId xmlns:p14="http://schemas.microsoft.com/office/powerpoint/2010/main" val="2501971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1"/>
            <a:ext cx="7772400"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2142068"/>
            <a:ext cx="7772400"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523712" y="5870576"/>
            <a:ext cx="1212173"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F8AEC43-8657-44C3-8791-EF26D7C60F41}" type="datetime3">
              <a:rPr lang="en-US" smtClean="0"/>
              <a:t>6 February 2025</a:t>
            </a:fld>
            <a:endParaRPr lang="en-GB"/>
          </a:p>
        </p:txBody>
      </p:sp>
      <p:sp>
        <p:nvSpPr>
          <p:cNvPr id="5" name="Footer Placeholder 4"/>
          <p:cNvSpPr>
            <a:spLocks noGrp="1"/>
          </p:cNvSpPr>
          <p:nvPr>
            <p:ph type="ftr" sz="quarter" idx="3"/>
          </p:nvPr>
        </p:nvSpPr>
        <p:spPr>
          <a:xfrm>
            <a:off x="457200" y="5870576"/>
            <a:ext cx="5990311"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GB"/>
              <a:t> © LMS SEGi education group</a:t>
            </a:r>
          </a:p>
        </p:txBody>
      </p:sp>
      <p:sp>
        <p:nvSpPr>
          <p:cNvPr id="6" name="Slide Number Placeholder 5"/>
          <p:cNvSpPr>
            <a:spLocks noGrp="1"/>
          </p:cNvSpPr>
          <p:nvPr>
            <p:ph type="sldNum" sz="quarter" idx="4"/>
          </p:nvPr>
        </p:nvSpPr>
        <p:spPr>
          <a:xfrm>
            <a:off x="7812085" y="5870576"/>
            <a:ext cx="417516"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C13ADC4-536D-428E-8667-0275BB2B031C}" type="slidenum">
              <a:rPr lang="en-GB" smtClean="0"/>
              <a:pPr/>
              <a:t>‹#›</a:t>
            </a:fld>
            <a:endParaRPr lang="en-GB"/>
          </a:p>
        </p:txBody>
      </p:sp>
    </p:spTree>
    <p:extLst>
      <p:ext uri="{BB962C8B-B14F-4D97-AF65-F5344CB8AC3E}">
        <p14:creationId xmlns:p14="http://schemas.microsoft.com/office/powerpoint/2010/main" val="2723713745"/>
      </p:ext>
    </p:extLst>
  </p:cSld>
  <p:clrMap bg1="dk1" tx1="lt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Lst>
  <p:hf hdr="0" ftr="0" dt="0"/>
  <p:txStyles>
    <p:title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GB" dirty="0"/>
              <a:t>TCS3254</a:t>
            </a:r>
            <a:br>
              <a:rPr lang="en-GB" dirty="0"/>
            </a:br>
            <a:r>
              <a:rPr lang="en-GB" dirty="0"/>
              <a:t>PROGRAMMING FOR </a:t>
            </a:r>
            <a:br>
              <a:rPr lang="en-GB" dirty="0"/>
            </a:br>
            <a:r>
              <a:rPr lang="en-GB" dirty="0"/>
              <a:t>MOBILE DEVICES </a:t>
            </a:r>
          </a:p>
        </p:txBody>
      </p:sp>
      <p:sp>
        <p:nvSpPr>
          <p:cNvPr id="3" name="Subtitle 2"/>
          <p:cNvSpPr>
            <a:spLocks noGrp="1"/>
          </p:cNvSpPr>
          <p:nvPr>
            <p:ph type="subTitle" idx="1"/>
          </p:nvPr>
        </p:nvSpPr>
        <p:spPr/>
        <p:txBody>
          <a:bodyPr/>
          <a:lstStyle/>
          <a:p>
            <a:endParaRPr lang="en-MY" b="1" dirty="0"/>
          </a:p>
          <a:p>
            <a:pPr>
              <a:lnSpc>
                <a:spcPct val="107000"/>
              </a:lnSpc>
              <a:spcAft>
                <a:spcPts val="0"/>
              </a:spcAft>
            </a:pPr>
            <a:r>
              <a:rPr lang="en-MY" b="1" dirty="0"/>
              <a:t>Building Layout using Widgets</a:t>
            </a:r>
            <a:endParaRPr lang="en-MY" sz="2400" b="1" dirty="0">
              <a:latin typeface="Calibri" panose="020F0502020204030204" pitchFamily="34" charset="0"/>
              <a:ea typeface="DengXian"/>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2CF92F4A-FC3C-4C13-A76F-34129D2ABBA1}" type="slidenum">
              <a:rPr lang="en-GB" smtClean="0"/>
              <a:pPr/>
              <a:t>1</a:t>
            </a:fld>
            <a:endParaRPr lang="en-GB"/>
          </a:p>
        </p:txBody>
      </p:sp>
      <p:sp>
        <p:nvSpPr>
          <p:cNvPr id="6" name="Title 1">
            <a:extLst>
              <a:ext uri="{FF2B5EF4-FFF2-40B4-BE49-F238E27FC236}">
                <a16:creationId xmlns:a16="http://schemas.microsoft.com/office/drawing/2014/main" id="{4B442B62-80F2-4946-9FAB-70A7182705BB}"/>
              </a:ext>
            </a:extLst>
          </p:cNvPr>
          <p:cNvSpPr txBox="1">
            <a:spLocks/>
          </p:cNvSpPr>
          <p:nvPr/>
        </p:nvSpPr>
        <p:spPr>
          <a:xfrm>
            <a:off x="2743973" y="1964267"/>
            <a:ext cx="5714228" cy="2421464"/>
          </a:xfrm>
          <a:prstGeom prst="rect">
            <a:avLst/>
          </a:prstGeom>
          <a:effectLst/>
        </p:spPr>
        <p:txBody>
          <a:bodyPr vert="horz" lIns="91440" tIns="45720" rIns="91440" bIns="45720" rtlCol="0" anchor="b">
            <a:normAutofit/>
          </a:bodyPr>
          <a:lstStyle>
            <a:lvl1pPr algn="r" defTabSz="457200" rtl="0" eaLnBrk="1" latinLnBrk="0" hangingPunct="1">
              <a:spcBef>
                <a:spcPct val="0"/>
              </a:spcBef>
              <a:buNone/>
              <a:defRPr sz="44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GB"/>
              <a:t>TCS3254</a:t>
            </a:r>
            <a:br>
              <a:rPr lang="en-GB"/>
            </a:br>
            <a:r>
              <a:rPr lang="en-GB"/>
              <a:t>PROGRAMMING FOR </a:t>
            </a:r>
            <a:br>
              <a:rPr lang="en-GB"/>
            </a:br>
            <a:r>
              <a:rPr lang="en-GB"/>
              <a:t>MOBILE DEVICES </a:t>
            </a:r>
            <a:endParaRPr lang="en-GB" dirty="0"/>
          </a:p>
        </p:txBody>
      </p:sp>
      <p:sp>
        <p:nvSpPr>
          <p:cNvPr id="7" name="Subtitle 2">
            <a:extLst>
              <a:ext uri="{FF2B5EF4-FFF2-40B4-BE49-F238E27FC236}">
                <a16:creationId xmlns:a16="http://schemas.microsoft.com/office/drawing/2014/main" id="{250D6EF7-3734-4606-BAF6-09B81DAD2828}"/>
              </a:ext>
            </a:extLst>
          </p:cNvPr>
          <p:cNvSpPr txBox="1">
            <a:spLocks/>
          </p:cNvSpPr>
          <p:nvPr/>
        </p:nvSpPr>
        <p:spPr>
          <a:xfrm>
            <a:off x="2743973" y="4385733"/>
            <a:ext cx="5714228" cy="1405467"/>
          </a:xfrm>
          <a:prstGeom prst="rect">
            <a:avLst/>
          </a:prstGeom>
        </p:spPr>
        <p:txBody>
          <a:bodyPr vert="horz" lIns="91440" tIns="45720" rIns="91440" bIns="45720" rtlCol="0" anchor="t">
            <a:normAutofit/>
          </a:bodyPr>
          <a:lstStyle>
            <a:lvl1pPr marL="0" indent="0" algn="r" defTabSz="457200" rtl="0" eaLnBrk="1" latinLnBrk="0" hangingPunct="1">
              <a:spcBef>
                <a:spcPts val="0"/>
              </a:spcBef>
              <a:spcAft>
                <a:spcPts val="1000"/>
              </a:spcAft>
              <a:buClr>
                <a:schemeClr val="tx1"/>
              </a:buClr>
              <a:buSzPct val="100000"/>
              <a:buFont typeface="Arial"/>
              <a:buNone/>
              <a:defRPr sz="1800" kern="1200" cap="all">
                <a:solidFill>
                  <a:schemeClr val="tx1"/>
                </a:solidFill>
                <a:effectLst/>
                <a:latin typeface="+mn-lt"/>
                <a:ea typeface="+mn-ea"/>
                <a:cs typeface="+mn-cs"/>
              </a:defRPr>
            </a:lvl1pPr>
            <a:lvl2pPr marL="457200" indent="0" algn="ctr" defTabSz="457200" rtl="0" eaLnBrk="1" latinLnBrk="0" hangingPunct="1">
              <a:spcBef>
                <a:spcPts val="0"/>
              </a:spcBef>
              <a:spcAft>
                <a:spcPts val="1000"/>
              </a:spcAft>
              <a:buClr>
                <a:schemeClr val="tx1"/>
              </a:buClr>
              <a:buSzPct val="100000"/>
              <a:buFont typeface="Arial"/>
              <a:buNone/>
              <a:defRPr sz="1600" kern="1200" cap="none">
                <a:solidFill>
                  <a:schemeClr val="tx1">
                    <a:tint val="75000"/>
                  </a:schemeClr>
                </a:solidFill>
                <a:effectLst/>
                <a:latin typeface="+mn-lt"/>
                <a:ea typeface="+mn-ea"/>
                <a:cs typeface="+mn-cs"/>
              </a:defRPr>
            </a:lvl2pPr>
            <a:lvl3pPr marL="914400" indent="0" algn="ctr" defTabSz="457200" rtl="0" eaLnBrk="1" latinLnBrk="0" hangingPunct="1">
              <a:spcBef>
                <a:spcPts val="0"/>
              </a:spcBef>
              <a:spcAft>
                <a:spcPts val="1000"/>
              </a:spcAft>
              <a:buClr>
                <a:schemeClr val="tx1"/>
              </a:buClr>
              <a:buSzPct val="100000"/>
              <a:buFont typeface="Arial"/>
              <a:buNone/>
              <a:defRPr sz="1400" kern="1200" cap="none">
                <a:solidFill>
                  <a:schemeClr val="tx1">
                    <a:tint val="75000"/>
                  </a:schemeClr>
                </a:solidFill>
                <a:effectLst/>
                <a:latin typeface="+mn-lt"/>
                <a:ea typeface="+mn-ea"/>
                <a:cs typeface="+mn-cs"/>
              </a:defRPr>
            </a:lvl3pPr>
            <a:lvl4pPr marL="1371600" indent="0" algn="ctr" defTabSz="457200" rtl="0" eaLnBrk="1" latinLnBrk="0" hangingPunct="1">
              <a:spcBef>
                <a:spcPts val="0"/>
              </a:spcBef>
              <a:spcAft>
                <a:spcPts val="1000"/>
              </a:spcAft>
              <a:buClr>
                <a:schemeClr val="tx1"/>
              </a:buClr>
              <a:buSzPct val="100000"/>
              <a:buFont typeface="Arial"/>
              <a:buNone/>
              <a:defRPr sz="1200" kern="1200" cap="none">
                <a:solidFill>
                  <a:schemeClr val="tx1">
                    <a:tint val="75000"/>
                  </a:schemeClr>
                </a:solidFill>
                <a:effectLst/>
                <a:latin typeface="+mn-lt"/>
                <a:ea typeface="+mn-ea"/>
                <a:cs typeface="+mn-cs"/>
              </a:defRPr>
            </a:lvl4pPr>
            <a:lvl5pPr marL="1828800" indent="0" algn="ctr" defTabSz="457200" rtl="0" eaLnBrk="1" latinLnBrk="0" hangingPunct="1">
              <a:spcBef>
                <a:spcPts val="0"/>
              </a:spcBef>
              <a:spcAft>
                <a:spcPts val="1000"/>
              </a:spcAft>
              <a:buClr>
                <a:schemeClr val="tx1"/>
              </a:buClr>
              <a:buSzPct val="100000"/>
              <a:buFont typeface="Arial"/>
              <a:buNone/>
              <a:defRPr sz="1200" kern="1200" cap="none">
                <a:solidFill>
                  <a:schemeClr val="tx1">
                    <a:tint val="75000"/>
                  </a:schemeClr>
                </a:solidFill>
                <a:effectLst/>
                <a:latin typeface="+mn-lt"/>
                <a:ea typeface="+mn-ea"/>
                <a:cs typeface="+mn-cs"/>
              </a:defRPr>
            </a:lvl5pPr>
            <a:lvl6pPr marL="2286000" indent="0" algn="ctr" defTabSz="457200" rtl="0" eaLnBrk="1" latinLnBrk="0" hangingPunct="1">
              <a:spcBef>
                <a:spcPts val="0"/>
              </a:spcBef>
              <a:spcAft>
                <a:spcPts val="1000"/>
              </a:spcAft>
              <a:buClr>
                <a:schemeClr val="tx1"/>
              </a:buClr>
              <a:buSzPct val="100000"/>
              <a:buFont typeface="Arial"/>
              <a:buNone/>
              <a:defRPr sz="1200" kern="1200" cap="none">
                <a:solidFill>
                  <a:schemeClr val="tx1">
                    <a:tint val="75000"/>
                  </a:schemeClr>
                </a:solidFill>
                <a:effectLst/>
                <a:latin typeface="+mn-lt"/>
                <a:ea typeface="+mn-ea"/>
                <a:cs typeface="+mn-cs"/>
              </a:defRPr>
            </a:lvl6pPr>
            <a:lvl7pPr marL="2743200" indent="0" algn="ctr" defTabSz="457200" rtl="0" eaLnBrk="1" latinLnBrk="0" hangingPunct="1">
              <a:spcBef>
                <a:spcPts val="0"/>
              </a:spcBef>
              <a:spcAft>
                <a:spcPts val="1000"/>
              </a:spcAft>
              <a:buClr>
                <a:schemeClr val="tx1"/>
              </a:buClr>
              <a:buSzPct val="100000"/>
              <a:buFont typeface="Arial"/>
              <a:buNone/>
              <a:defRPr sz="1200" kern="1200" cap="none">
                <a:solidFill>
                  <a:schemeClr val="tx1">
                    <a:tint val="75000"/>
                  </a:schemeClr>
                </a:solidFill>
                <a:effectLst/>
                <a:latin typeface="+mn-lt"/>
                <a:ea typeface="+mn-ea"/>
                <a:cs typeface="+mn-cs"/>
              </a:defRPr>
            </a:lvl7pPr>
            <a:lvl8pPr marL="3200400" indent="0" algn="ctr" defTabSz="457200" rtl="0" eaLnBrk="1" latinLnBrk="0" hangingPunct="1">
              <a:spcBef>
                <a:spcPts val="0"/>
              </a:spcBef>
              <a:spcAft>
                <a:spcPts val="1000"/>
              </a:spcAft>
              <a:buClr>
                <a:schemeClr val="tx1"/>
              </a:buClr>
              <a:buSzPct val="100000"/>
              <a:buFont typeface="Arial"/>
              <a:buNone/>
              <a:defRPr sz="1200" kern="1200" cap="none">
                <a:solidFill>
                  <a:schemeClr val="tx1">
                    <a:tint val="75000"/>
                  </a:schemeClr>
                </a:solidFill>
                <a:effectLst/>
                <a:latin typeface="+mn-lt"/>
                <a:ea typeface="+mn-ea"/>
                <a:cs typeface="+mn-cs"/>
              </a:defRPr>
            </a:lvl8pPr>
            <a:lvl9pPr marL="3657600" indent="0" algn="ctr" defTabSz="457200" rtl="0" eaLnBrk="1" latinLnBrk="0" hangingPunct="1">
              <a:spcBef>
                <a:spcPts val="0"/>
              </a:spcBef>
              <a:spcAft>
                <a:spcPts val="1000"/>
              </a:spcAft>
              <a:buClr>
                <a:schemeClr val="tx1"/>
              </a:buClr>
              <a:buSzPct val="100000"/>
              <a:buFont typeface="Arial"/>
              <a:buNone/>
              <a:defRPr sz="1200" kern="1200" cap="none">
                <a:solidFill>
                  <a:schemeClr val="tx1">
                    <a:tint val="75000"/>
                  </a:schemeClr>
                </a:solidFill>
                <a:effectLst/>
                <a:latin typeface="+mn-lt"/>
                <a:ea typeface="+mn-ea"/>
                <a:cs typeface="+mn-cs"/>
              </a:defRPr>
            </a:lvl9pPr>
          </a:lstStyle>
          <a:p>
            <a:endParaRPr lang="en-MY" b="1"/>
          </a:p>
          <a:p>
            <a:r>
              <a:rPr lang="en-MY" b="1"/>
              <a:t>Application Environment and Framework</a:t>
            </a:r>
            <a:endParaRPr lang="en-GB" b="1" dirty="0"/>
          </a:p>
        </p:txBody>
      </p:sp>
      <p:sp>
        <p:nvSpPr>
          <p:cNvPr id="8" name="Slide Number Placeholder 4">
            <a:extLst>
              <a:ext uri="{FF2B5EF4-FFF2-40B4-BE49-F238E27FC236}">
                <a16:creationId xmlns:a16="http://schemas.microsoft.com/office/drawing/2014/main" id="{6F2A546D-65F7-4977-84E0-F8407237F39E}"/>
              </a:ext>
            </a:extLst>
          </p:cNvPr>
          <p:cNvSpPr txBox="1">
            <a:spLocks/>
          </p:cNvSpPr>
          <p:nvPr/>
        </p:nvSpPr>
        <p:spPr>
          <a:xfrm>
            <a:off x="8040685" y="5870576"/>
            <a:ext cx="417516" cy="377825"/>
          </a:xfrm>
          <a:prstGeom prst="rect">
            <a:avLst/>
          </a:prstGeom>
        </p:spPr>
        <p:txBody>
          <a:bodyPr vert="horz" lIns="91440" tIns="45720" rIns="91440" bIns="45720" rtlCol="0" anchor="ctr"/>
          <a:lstStyle>
            <a:defPPr>
              <a:defRPr lang="en-US"/>
            </a:defPPr>
            <a:lvl1pPr marL="0" algn="r"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CF92F4A-FC3C-4C13-A76F-34129D2ABBA1}" type="slidenum">
              <a:rPr lang="en-GB" smtClean="0"/>
              <a:pPr/>
              <a:t>1</a:t>
            </a:fld>
            <a:endParaRPr lang="en-GB"/>
          </a:p>
        </p:txBody>
      </p:sp>
      <p:pic>
        <p:nvPicPr>
          <p:cNvPr id="9" name="Picture 8" descr="Computer script on a screen">
            <a:extLst>
              <a:ext uri="{FF2B5EF4-FFF2-40B4-BE49-F238E27FC236}">
                <a16:creationId xmlns:a16="http://schemas.microsoft.com/office/drawing/2014/main" id="{EC876FA8-11E2-43CE-96B2-08A5A638A63E}"/>
              </a:ext>
            </a:extLst>
          </p:cNvPr>
          <p:cNvPicPr>
            <a:picLocks noChangeAspect="1"/>
          </p:cNvPicPr>
          <p:nvPr/>
        </p:nvPicPr>
        <p:blipFill rotWithShape="1">
          <a:blip r:embed="rId3"/>
          <a:srcRect r="10999" b="-1"/>
          <a:stretch/>
        </p:blipFill>
        <p:spPr>
          <a:xfrm>
            <a:off x="20" y="10"/>
            <a:ext cx="9143980" cy="6857990"/>
          </a:xfrm>
          <a:prstGeom prst="rect">
            <a:avLst/>
          </a:prstGeom>
        </p:spPr>
      </p:pic>
      <p:pic>
        <p:nvPicPr>
          <p:cNvPr id="10" name="Picture 12">
            <a:extLst>
              <a:ext uri="{FF2B5EF4-FFF2-40B4-BE49-F238E27FC236}">
                <a16:creationId xmlns:a16="http://schemas.microsoft.com/office/drawing/2014/main" id="{3EE04C4D-8C62-412B-AA19-0C9C3881D6A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9141618" cy="6856214"/>
          </a:xfrm>
          <a:prstGeom prst="rect">
            <a:avLst/>
          </a:prstGeom>
        </p:spPr>
      </p:pic>
      <p:sp>
        <p:nvSpPr>
          <p:cNvPr id="11" name="Rectangle 14">
            <a:extLst>
              <a:ext uri="{FF2B5EF4-FFF2-40B4-BE49-F238E27FC236}">
                <a16:creationId xmlns:a16="http://schemas.microsoft.com/office/drawing/2014/main" id="{4E5BA0DF-F0AE-45C7-9B93-41B885FD2A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1284684" y="2125133"/>
            <a:ext cx="6552009" cy="2607734"/>
          </a:xfrm>
          <a:prstGeom prst="rect">
            <a:avLst/>
          </a:prstGeom>
          <a:solidFill>
            <a:schemeClr val="bg1">
              <a:alpha val="70000"/>
            </a:schemeClr>
          </a:solidFill>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solidFill>
                <a:schemeClr val="tx1"/>
              </a:solidFill>
            </a:endParaRPr>
          </a:p>
        </p:txBody>
      </p:sp>
      <p:sp>
        <p:nvSpPr>
          <p:cNvPr id="12" name="Title 1">
            <a:extLst>
              <a:ext uri="{FF2B5EF4-FFF2-40B4-BE49-F238E27FC236}">
                <a16:creationId xmlns:a16="http://schemas.microsoft.com/office/drawing/2014/main" id="{729FFC2B-14A0-47F5-8DF1-39D601A8CA45}"/>
              </a:ext>
            </a:extLst>
          </p:cNvPr>
          <p:cNvSpPr txBox="1">
            <a:spLocks/>
          </p:cNvSpPr>
          <p:nvPr/>
        </p:nvSpPr>
        <p:spPr>
          <a:xfrm>
            <a:off x="1442243" y="2298700"/>
            <a:ext cx="6260307" cy="1595952"/>
          </a:xfrm>
          <a:prstGeom prst="rect">
            <a:avLst/>
          </a:prstGeom>
          <a:effectLst/>
        </p:spPr>
        <p:txBody>
          <a:bodyPr vert="horz" lIns="91440" tIns="45720" rIns="91440" bIns="45720" rtlCol="0" anchor="b">
            <a:normAutofit/>
          </a:bodyPr>
          <a:lstStyle>
            <a:lvl1pPr algn="r" defTabSz="457200" rtl="0" eaLnBrk="1" latinLnBrk="0" hangingPunct="1">
              <a:spcBef>
                <a:spcPct val="0"/>
              </a:spcBef>
              <a:buNone/>
              <a:defRPr sz="44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lnSpc>
                <a:spcPct val="90000"/>
              </a:lnSpc>
            </a:pPr>
            <a:r>
              <a:rPr lang="en-GB" sz="3400" b="1" dirty="0"/>
              <a:t>WEB AND MOBILE</a:t>
            </a:r>
            <a:br>
              <a:rPr lang="en-GB" sz="3400" b="1" dirty="0"/>
            </a:br>
            <a:r>
              <a:rPr lang="en-GB" sz="3400" b="1" dirty="0"/>
              <a:t>DEVELOPMENT </a:t>
            </a:r>
          </a:p>
        </p:txBody>
      </p:sp>
      <p:sp>
        <p:nvSpPr>
          <p:cNvPr id="13" name="Subtitle 2">
            <a:extLst>
              <a:ext uri="{FF2B5EF4-FFF2-40B4-BE49-F238E27FC236}">
                <a16:creationId xmlns:a16="http://schemas.microsoft.com/office/drawing/2014/main" id="{83585E77-E1B2-422F-8B21-724526F02C4F}"/>
              </a:ext>
            </a:extLst>
          </p:cNvPr>
          <p:cNvSpPr txBox="1">
            <a:spLocks/>
          </p:cNvSpPr>
          <p:nvPr/>
        </p:nvSpPr>
        <p:spPr>
          <a:xfrm>
            <a:off x="1439068" y="4068219"/>
            <a:ext cx="6260307" cy="1304997"/>
          </a:xfrm>
          <a:prstGeom prst="rect">
            <a:avLst/>
          </a:prstGeom>
        </p:spPr>
        <p:txBody>
          <a:bodyPr vert="horz" lIns="91440" tIns="45720" rIns="91440" bIns="45720"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all">
                <a:solidFill>
                  <a:schemeClr val="tx1"/>
                </a:solidFill>
                <a:effectLst/>
                <a:latin typeface="+mn-lt"/>
                <a:ea typeface="+mn-ea"/>
                <a:cs typeface="+mn-cs"/>
              </a:defRPr>
            </a:lvl1pPr>
            <a:lvl2pPr marL="457200" indent="0" algn="ctr" defTabSz="457200" rtl="0" eaLnBrk="1" latinLnBrk="0" hangingPunct="1">
              <a:spcBef>
                <a:spcPts val="0"/>
              </a:spcBef>
              <a:spcAft>
                <a:spcPts val="1000"/>
              </a:spcAft>
              <a:buClr>
                <a:schemeClr val="tx1"/>
              </a:buClr>
              <a:buSzPct val="100000"/>
              <a:buFont typeface="Arial"/>
              <a:buNone/>
              <a:defRPr sz="1600" kern="1200" cap="none">
                <a:solidFill>
                  <a:schemeClr val="tx1">
                    <a:tint val="75000"/>
                  </a:schemeClr>
                </a:solidFill>
                <a:effectLst/>
                <a:latin typeface="+mn-lt"/>
                <a:ea typeface="+mn-ea"/>
                <a:cs typeface="+mn-cs"/>
              </a:defRPr>
            </a:lvl2pPr>
            <a:lvl3pPr marL="914400" indent="0" algn="ctr" defTabSz="457200" rtl="0" eaLnBrk="1" latinLnBrk="0" hangingPunct="1">
              <a:spcBef>
                <a:spcPts val="0"/>
              </a:spcBef>
              <a:spcAft>
                <a:spcPts val="1000"/>
              </a:spcAft>
              <a:buClr>
                <a:schemeClr val="tx1"/>
              </a:buClr>
              <a:buSzPct val="100000"/>
              <a:buFont typeface="Arial"/>
              <a:buNone/>
              <a:defRPr sz="1400" kern="1200" cap="none">
                <a:solidFill>
                  <a:schemeClr val="tx1">
                    <a:tint val="75000"/>
                  </a:schemeClr>
                </a:solidFill>
                <a:effectLst/>
                <a:latin typeface="+mn-lt"/>
                <a:ea typeface="+mn-ea"/>
                <a:cs typeface="+mn-cs"/>
              </a:defRPr>
            </a:lvl3pPr>
            <a:lvl4pPr marL="1371600" indent="0" algn="ctr" defTabSz="457200" rtl="0" eaLnBrk="1" latinLnBrk="0" hangingPunct="1">
              <a:spcBef>
                <a:spcPts val="0"/>
              </a:spcBef>
              <a:spcAft>
                <a:spcPts val="1000"/>
              </a:spcAft>
              <a:buClr>
                <a:schemeClr val="tx1"/>
              </a:buClr>
              <a:buSzPct val="100000"/>
              <a:buFont typeface="Arial"/>
              <a:buNone/>
              <a:defRPr sz="1200" kern="1200" cap="none">
                <a:solidFill>
                  <a:schemeClr val="tx1">
                    <a:tint val="75000"/>
                  </a:schemeClr>
                </a:solidFill>
                <a:effectLst/>
                <a:latin typeface="+mn-lt"/>
                <a:ea typeface="+mn-ea"/>
                <a:cs typeface="+mn-cs"/>
              </a:defRPr>
            </a:lvl4pPr>
            <a:lvl5pPr marL="1828800" indent="0" algn="ctr" defTabSz="457200" rtl="0" eaLnBrk="1" latinLnBrk="0" hangingPunct="1">
              <a:spcBef>
                <a:spcPts val="0"/>
              </a:spcBef>
              <a:spcAft>
                <a:spcPts val="1000"/>
              </a:spcAft>
              <a:buClr>
                <a:schemeClr val="tx1"/>
              </a:buClr>
              <a:buSzPct val="100000"/>
              <a:buFont typeface="Arial"/>
              <a:buNone/>
              <a:defRPr sz="1200" kern="1200" cap="none">
                <a:solidFill>
                  <a:schemeClr val="tx1">
                    <a:tint val="75000"/>
                  </a:schemeClr>
                </a:solidFill>
                <a:effectLst/>
                <a:latin typeface="+mn-lt"/>
                <a:ea typeface="+mn-ea"/>
                <a:cs typeface="+mn-cs"/>
              </a:defRPr>
            </a:lvl5pPr>
            <a:lvl6pPr marL="2286000" indent="0" algn="ctr" defTabSz="457200" rtl="0" eaLnBrk="1" latinLnBrk="0" hangingPunct="1">
              <a:spcBef>
                <a:spcPts val="0"/>
              </a:spcBef>
              <a:spcAft>
                <a:spcPts val="1000"/>
              </a:spcAft>
              <a:buClr>
                <a:schemeClr val="tx1"/>
              </a:buClr>
              <a:buSzPct val="100000"/>
              <a:buFont typeface="Arial"/>
              <a:buNone/>
              <a:defRPr sz="1200" kern="1200" cap="none">
                <a:solidFill>
                  <a:schemeClr val="tx1">
                    <a:tint val="75000"/>
                  </a:schemeClr>
                </a:solidFill>
                <a:effectLst/>
                <a:latin typeface="+mn-lt"/>
                <a:ea typeface="+mn-ea"/>
                <a:cs typeface="+mn-cs"/>
              </a:defRPr>
            </a:lvl6pPr>
            <a:lvl7pPr marL="2743200" indent="0" algn="ctr" defTabSz="457200" rtl="0" eaLnBrk="1" latinLnBrk="0" hangingPunct="1">
              <a:spcBef>
                <a:spcPts val="0"/>
              </a:spcBef>
              <a:spcAft>
                <a:spcPts val="1000"/>
              </a:spcAft>
              <a:buClr>
                <a:schemeClr val="tx1"/>
              </a:buClr>
              <a:buSzPct val="100000"/>
              <a:buFont typeface="Arial"/>
              <a:buNone/>
              <a:defRPr sz="1200" kern="1200" cap="none">
                <a:solidFill>
                  <a:schemeClr val="tx1">
                    <a:tint val="75000"/>
                  </a:schemeClr>
                </a:solidFill>
                <a:effectLst/>
                <a:latin typeface="+mn-lt"/>
                <a:ea typeface="+mn-ea"/>
                <a:cs typeface="+mn-cs"/>
              </a:defRPr>
            </a:lvl7pPr>
            <a:lvl8pPr marL="3200400" indent="0" algn="ctr" defTabSz="457200" rtl="0" eaLnBrk="1" latinLnBrk="0" hangingPunct="1">
              <a:spcBef>
                <a:spcPts val="0"/>
              </a:spcBef>
              <a:spcAft>
                <a:spcPts val="1000"/>
              </a:spcAft>
              <a:buClr>
                <a:schemeClr val="tx1"/>
              </a:buClr>
              <a:buSzPct val="100000"/>
              <a:buFont typeface="Arial"/>
              <a:buNone/>
              <a:defRPr sz="1200" kern="1200" cap="none">
                <a:solidFill>
                  <a:schemeClr val="tx1">
                    <a:tint val="75000"/>
                  </a:schemeClr>
                </a:solidFill>
                <a:effectLst/>
                <a:latin typeface="+mn-lt"/>
                <a:ea typeface="+mn-ea"/>
                <a:cs typeface="+mn-cs"/>
              </a:defRPr>
            </a:lvl8pPr>
            <a:lvl9pPr marL="3657600" indent="0" algn="ctr" defTabSz="457200" rtl="0" eaLnBrk="1" latinLnBrk="0" hangingPunct="1">
              <a:spcBef>
                <a:spcPts val="0"/>
              </a:spcBef>
              <a:spcAft>
                <a:spcPts val="1000"/>
              </a:spcAft>
              <a:buClr>
                <a:schemeClr val="tx1"/>
              </a:buClr>
              <a:buSzPct val="100000"/>
              <a:buFont typeface="Arial"/>
              <a:buNone/>
              <a:defRPr sz="1200" kern="1200" cap="none">
                <a:solidFill>
                  <a:schemeClr val="tx1">
                    <a:tint val="75000"/>
                  </a:schemeClr>
                </a:solidFill>
                <a:effectLst/>
                <a:latin typeface="+mn-lt"/>
                <a:ea typeface="+mn-ea"/>
                <a:cs typeface="+mn-cs"/>
              </a:defRPr>
            </a:lvl9pPr>
          </a:lstStyle>
          <a:p>
            <a:pPr algn="ctr"/>
            <a:r>
              <a:rPr lang="en-GB" sz="2000" b="1" dirty="0">
                <a:solidFill>
                  <a:srgbClr val="FFC000"/>
                </a:solidFill>
              </a:rPr>
              <a:t>Mobile application DEVELOPMENT PROCESS</a:t>
            </a:r>
          </a:p>
        </p:txBody>
      </p:sp>
      <p:sp>
        <p:nvSpPr>
          <p:cNvPr id="14" name="Slide Number Placeholder 4">
            <a:extLst>
              <a:ext uri="{FF2B5EF4-FFF2-40B4-BE49-F238E27FC236}">
                <a16:creationId xmlns:a16="http://schemas.microsoft.com/office/drawing/2014/main" id="{57280033-CB77-4C9E-8A90-3C5B745CA563}"/>
              </a:ext>
            </a:extLst>
          </p:cNvPr>
          <p:cNvSpPr txBox="1">
            <a:spLocks/>
          </p:cNvSpPr>
          <p:nvPr/>
        </p:nvSpPr>
        <p:spPr>
          <a:xfrm>
            <a:off x="7423318" y="5870575"/>
            <a:ext cx="413375" cy="3778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CC13ADC4-536D-428E-8667-0275BB2B031C}" type="slidenum">
              <a:rPr lang="en-GB" smtClean="0"/>
              <a:pPr>
                <a:spcAft>
                  <a:spcPts val="600"/>
                </a:spcAft>
              </a:pPr>
              <a:t>1</a:t>
            </a:fld>
            <a:endParaRPr 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700"/>
                                        <p:tgtEl>
                                          <p:spTgt spid="13">
                                            <p:txEl>
                                              <p:pRg st="0" end="0"/>
                                            </p:txEl>
                                          </p:spTgt>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12"/>
                                        </p:tgtEl>
                                        <p:attrNameLst>
                                          <p:attrName>style.visibility</p:attrName>
                                        </p:attrNameLst>
                                      </p:cBhvr>
                                      <p:to>
                                        <p:strVal val="visible"/>
                                      </p:to>
                                    </p:set>
                                    <p:animEffect transition="in" filter="fade">
                                      <p:cBhvr>
                                        <p:cTn id="10" dur="7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466" y="338665"/>
            <a:ext cx="8201333" cy="1456267"/>
          </a:xfrm>
        </p:spPr>
        <p:txBody>
          <a:bodyPr>
            <a:normAutofit/>
          </a:bodyPr>
          <a:lstStyle/>
          <a:p>
            <a:r>
              <a:rPr lang="en-MY" sz="3200" b="1" dirty="0">
                <a:solidFill>
                  <a:srgbClr val="FFC000"/>
                </a:solidFill>
              </a:rPr>
              <a:t>INTRODUCTION</a:t>
            </a:r>
          </a:p>
        </p:txBody>
      </p:sp>
      <p:sp>
        <p:nvSpPr>
          <p:cNvPr id="3" name="Content Placeholder 2"/>
          <p:cNvSpPr>
            <a:spLocks noGrp="1"/>
          </p:cNvSpPr>
          <p:nvPr>
            <p:ph idx="1"/>
          </p:nvPr>
        </p:nvSpPr>
        <p:spPr>
          <a:xfrm>
            <a:off x="457200" y="1794932"/>
            <a:ext cx="8363272" cy="4154348"/>
          </a:xfrm>
        </p:spPr>
        <p:txBody>
          <a:bodyPr>
            <a:noAutofit/>
          </a:bodyPr>
          <a:lstStyle/>
          <a:p>
            <a:pPr algn="just"/>
            <a:r>
              <a:rPr lang="en-US" sz="2400" dirty="0"/>
              <a:t>The process of mobile app development is a structured journey that transforms an </a:t>
            </a:r>
            <a:r>
              <a:rPr lang="en-US" sz="2400" b="1" dirty="0">
                <a:solidFill>
                  <a:srgbClr val="00B0F0"/>
                </a:solidFill>
              </a:rPr>
              <a:t>idea into a fully functional application</a:t>
            </a:r>
            <a:r>
              <a:rPr lang="en-US" sz="2400" dirty="0"/>
              <a:t>. </a:t>
            </a:r>
          </a:p>
          <a:p>
            <a:pPr algn="just"/>
            <a:endParaRPr lang="en-US" sz="2400" dirty="0"/>
          </a:p>
          <a:p>
            <a:pPr algn="just"/>
            <a:r>
              <a:rPr lang="en-US" sz="2400" dirty="0"/>
              <a:t>It involves </a:t>
            </a:r>
            <a:r>
              <a:rPr lang="en-US" sz="2400" b="1" dirty="0">
                <a:solidFill>
                  <a:srgbClr val="00B0F0"/>
                </a:solidFill>
              </a:rPr>
              <a:t>multiple phases</a:t>
            </a:r>
            <a:r>
              <a:rPr lang="en-US" sz="2400" dirty="0"/>
              <a:t>, each critical to ensuring a successful product that meets user expectations and business goals. </a:t>
            </a:r>
          </a:p>
          <a:p>
            <a:pPr algn="just"/>
            <a:endParaRPr lang="en-US" sz="2400" dirty="0"/>
          </a:p>
          <a:p>
            <a:pPr algn="just"/>
            <a:r>
              <a:rPr lang="en-US" sz="2400" dirty="0"/>
              <a:t>From initial planning and concept validation to UI/UX design, development, testing, and deployment, every step plays a key role in shaping the final app.</a:t>
            </a:r>
          </a:p>
        </p:txBody>
      </p:sp>
      <p:sp>
        <p:nvSpPr>
          <p:cNvPr id="6" name="Slide Number Placeholder 5"/>
          <p:cNvSpPr>
            <a:spLocks noGrp="1"/>
          </p:cNvSpPr>
          <p:nvPr>
            <p:ph type="sldNum" sz="quarter" idx="12"/>
          </p:nvPr>
        </p:nvSpPr>
        <p:spPr/>
        <p:txBody>
          <a:bodyPr/>
          <a:lstStyle/>
          <a:p>
            <a:fld id="{CC13ADC4-536D-428E-8667-0275BB2B031C}" type="slidenum">
              <a:rPr lang="en-GB" smtClean="0"/>
              <a:pPr/>
              <a:t>2</a:t>
            </a:fld>
            <a:endParaRPr lang="en-GB"/>
          </a:p>
        </p:txBody>
      </p:sp>
    </p:spTree>
    <p:extLst>
      <p:ext uri="{BB962C8B-B14F-4D97-AF65-F5344CB8AC3E}">
        <p14:creationId xmlns:p14="http://schemas.microsoft.com/office/powerpoint/2010/main" val="12477373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466" y="338665"/>
            <a:ext cx="8201333" cy="1456267"/>
          </a:xfrm>
        </p:spPr>
        <p:txBody>
          <a:bodyPr>
            <a:normAutofit/>
          </a:bodyPr>
          <a:lstStyle/>
          <a:p>
            <a:r>
              <a:rPr lang="en-MY" sz="3200" b="1" dirty="0">
                <a:solidFill>
                  <a:srgbClr val="FFC000"/>
                </a:solidFill>
              </a:rPr>
              <a:t>Mobile Application Development Process</a:t>
            </a:r>
          </a:p>
        </p:txBody>
      </p:sp>
      <p:sp>
        <p:nvSpPr>
          <p:cNvPr id="3" name="Content Placeholder 2"/>
          <p:cNvSpPr>
            <a:spLocks noGrp="1"/>
          </p:cNvSpPr>
          <p:nvPr>
            <p:ph idx="1"/>
          </p:nvPr>
        </p:nvSpPr>
        <p:spPr>
          <a:xfrm>
            <a:off x="457200" y="1794932"/>
            <a:ext cx="8363272" cy="3938324"/>
          </a:xfrm>
        </p:spPr>
        <p:txBody>
          <a:bodyPr>
            <a:noAutofit/>
          </a:bodyPr>
          <a:lstStyle/>
          <a:p>
            <a:pPr marL="0" indent="0" algn="just">
              <a:buNone/>
            </a:pPr>
            <a:r>
              <a:rPr lang="en-US" sz="2400" dirty="0"/>
              <a:t>An effective app development process flow spans over the following common phases:</a:t>
            </a:r>
          </a:p>
          <a:p>
            <a:pPr marL="914400" lvl="1" indent="-457200" algn="just">
              <a:buSzPct val="100000"/>
              <a:buFont typeface="+mj-lt"/>
              <a:buAutoNum type="arabicParenR"/>
            </a:pPr>
            <a:r>
              <a:rPr lang="en-MY" sz="2400" b="1" dirty="0">
                <a:solidFill>
                  <a:srgbClr val="00B0F0"/>
                </a:solidFill>
              </a:rPr>
              <a:t>Strategy</a:t>
            </a:r>
          </a:p>
          <a:p>
            <a:pPr marL="914400" lvl="1" indent="-457200" algn="just">
              <a:buSzPct val="100000"/>
              <a:buFont typeface="+mj-lt"/>
              <a:buAutoNum type="arabicParenR"/>
            </a:pPr>
            <a:r>
              <a:rPr lang="en-MY" sz="2400" b="1" dirty="0">
                <a:solidFill>
                  <a:srgbClr val="00B0F0"/>
                </a:solidFill>
              </a:rPr>
              <a:t>Analysis and Planning</a:t>
            </a:r>
          </a:p>
          <a:p>
            <a:pPr marL="914400" lvl="1" indent="-457200" algn="just">
              <a:buSzPct val="100000"/>
              <a:buFont typeface="+mj-lt"/>
              <a:buAutoNum type="arabicParenR"/>
            </a:pPr>
            <a:r>
              <a:rPr lang="en-MY" sz="2400" b="1" dirty="0">
                <a:solidFill>
                  <a:srgbClr val="00B0F0"/>
                </a:solidFill>
              </a:rPr>
              <a:t>UI / UX Design</a:t>
            </a:r>
          </a:p>
          <a:p>
            <a:pPr marL="914400" lvl="1" indent="-457200" algn="just">
              <a:buSzPct val="100000"/>
              <a:buFont typeface="+mj-lt"/>
              <a:buAutoNum type="arabicParenR"/>
            </a:pPr>
            <a:r>
              <a:rPr lang="en-MY" sz="2400" b="1" dirty="0">
                <a:solidFill>
                  <a:srgbClr val="00B0F0"/>
                </a:solidFill>
              </a:rPr>
              <a:t>App Development</a:t>
            </a:r>
          </a:p>
          <a:p>
            <a:pPr marL="914400" lvl="1" indent="-457200" algn="just">
              <a:buSzPct val="100000"/>
              <a:buFont typeface="+mj-lt"/>
              <a:buAutoNum type="arabicParenR"/>
            </a:pPr>
            <a:r>
              <a:rPr lang="en-MY" sz="2400" b="1" dirty="0">
                <a:solidFill>
                  <a:srgbClr val="00B0F0"/>
                </a:solidFill>
              </a:rPr>
              <a:t>Testing</a:t>
            </a:r>
          </a:p>
          <a:p>
            <a:pPr marL="914400" lvl="1" indent="-457200" algn="just">
              <a:buSzPct val="100000"/>
              <a:buFont typeface="+mj-lt"/>
              <a:buAutoNum type="arabicParenR"/>
            </a:pPr>
            <a:r>
              <a:rPr lang="en-MY" sz="2400" b="1" dirty="0">
                <a:solidFill>
                  <a:srgbClr val="00B0F0"/>
                </a:solidFill>
              </a:rPr>
              <a:t>Deployment &amp; Support</a:t>
            </a:r>
            <a:endParaRPr lang="en-MY" sz="2400" dirty="0">
              <a:solidFill>
                <a:srgbClr val="00B0F0"/>
              </a:solidFill>
            </a:endParaRPr>
          </a:p>
        </p:txBody>
      </p:sp>
      <p:sp>
        <p:nvSpPr>
          <p:cNvPr id="6" name="Slide Number Placeholder 5"/>
          <p:cNvSpPr>
            <a:spLocks noGrp="1"/>
          </p:cNvSpPr>
          <p:nvPr>
            <p:ph type="sldNum" sz="quarter" idx="12"/>
          </p:nvPr>
        </p:nvSpPr>
        <p:spPr/>
        <p:txBody>
          <a:bodyPr/>
          <a:lstStyle/>
          <a:p>
            <a:fld id="{CC13ADC4-536D-428E-8667-0275BB2B031C}" type="slidenum">
              <a:rPr lang="en-GB" smtClean="0"/>
              <a:pPr/>
              <a:t>3</a:t>
            </a:fld>
            <a:endParaRPr lang="en-GB"/>
          </a:p>
        </p:txBody>
      </p:sp>
    </p:spTree>
    <p:extLst>
      <p:ext uri="{BB962C8B-B14F-4D97-AF65-F5344CB8AC3E}">
        <p14:creationId xmlns:p14="http://schemas.microsoft.com/office/powerpoint/2010/main" val="2911685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CC13ADC4-536D-428E-8667-0275BB2B031C}" type="slidenum">
              <a:rPr lang="en-GB" smtClean="0"/>
              <a:pPr/>
              <a:t>4</a:t>
            </a:fld>
            <a:endParaRPr lang="en-GB"/>
          </a:p>
        </p:txBody>
      </p:sp>
      <p:pic>
        <p:nvPicPr>
          <p:cNvPr id="2050" name="Picture 2" descr="mobile app development process - IST Networ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536" y="0"/>
            <a:ext cx="9577063"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bwMode="auto">
          <a:xfrm>
            <a:off x="395536" y="548680"/>
            <a:ext cx="8280920" cy="108012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MY" sz="2400" b="1" i="0" u="none" strike="noStrike" normalizeH="0" baseline="0" dirty="0"/>
          </a:p>
          <a:p>
            <a:pPr marL="0" marR="0" indent="0" algn="ctr" defTabSz="914400" rtl="0" eaLnBrk="0" fontAlgn="base" latinLnBrk="0" hangingPunct="0">
              <a:lnSpc>
                <a:spcPct val="100000"/>
              </a:lnSpc>
              <a:spcBef>
                <a:spcPct val="0"/>
              </a:spcBef>
              <a:spcAft>
                <a:spcPct val="0"/>
              </a:spcAft>
              <a:buClrTx/>
              <a:buSzTx/>
              <a:buFontTx/>
              <a:buNone/>
              <a:tabLst/>
            </a:pPr>
            <a:r>
              <a:rPr kumimoji="0" lang="en-MY" sz="2400" b="1" i="0" u="none" strike="noStrike" normalizeH="0" baseline="0" dirty="0"/>
              <a:t>MOBILE</a:t>
            </a:r>
            <a:r>
              <a:rPr kumimoji="0" lang="en-MY" sz="2400" b="1" i="0" u="none" strike="noStrike" normalizeH="0" dirty="0"/>
              <a:t> APPLICATION DEVELOPMENT PROCESS</a:t>
            </a:r>
            <a:endParaRPr kumimoji="0" lang="en-MY" sz="2400" b="1" i="0" u="none" strike="noStrike" normalizeH="0" baseline="0" dirty="0"/>
          </a:p>
        </p:txBody>
      </p:sp>
    </p:spTree>
    <p:extLst>
      <p:ext uri="{BB962C8B-B14F-4D97-AF65-F5344CB8AC3E}">
        <p14:creationId xmlns:p14="http://schemas.microsoft.com/office/powerpoint/2010/main" val="2419751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8665"/>
            <a:ext cx="7772400" cy="1456267"/>
          </a:xfrm>
        </p:spPr>
        <p:txBody>
          <a:bodyPr>
            <a:normAutofit/>
          </a:bodyPr>
          <a:lstStyle/>
          <a:p>
            <a:r>
              <a:rPr lang="en-MY" sz="3200" b="1" dirty="0">
                <a:solidFill>
                  <a:srgbClr val="FFC000"/>
                </a:solidFill>
              </a:rPr>
              <a:t>1. Strategy</a:t>
            </a:r>
          </a:p>
        </p:txBody>
      </p:sp>
      <p:sp>
        <p:nvSpPr>
          <p:cNvPr id="3" name="Content Placeholder 2"/>
          <p:cNvSpPr>
            <a:spLocks noGrp="1"/>
          </p:cNvSpPr>
          <p:nvPr>
            <p:ph idx="1"/>
          </p:nvPr>
        </p:nvSpPr>
        <p:spPr>
          <a:xfrm>
            <a:off x="457200" y="1794932"/>
            <a:ext cx="8291264" cy="4586396"/>
          </a:xfrm>
        </p:spPr>
        <p:txBody>
          <a:bodyPr>
            <a:noAutofit/>
          </a:bodyPr>
          <a:lstStyle/>
          <a:p>
            <a:pPr algn="just"/>
            <a:r>
              <a:rPr lang="en-US" sz="2400" dirty="0"/>
              <a:t>The first phase of the mobile app development process is </a:t>
            </a:r>
            <a:r>
              <a:rPr lang="en-US" sz="2400" b="1" dirty="0">
                <a:solidFill>
                  <a:srgbClr val="00B0F0"/>
                </a:solidFill>
              </a:rPr>
              <a:t>defining the strategy for evolving idea into a successful app. </a:t>
            </a:r>
          </a:p>
          <a:p>
            <a:pPr algn="just"/>
            <a:endParaRPr lang="en-US" sz="2400" b="1" dirty="0">
              <a:solidFill>
                <a:srgbClr val="00B0F0"/>
              </a:solidFill>
            </a:endParaRPr>
          </a:p>
          <a:p>
            <a:pPr algn="just"/>
            <a:r>
              <a:rPr lang="en-US" sz="2400" dirty="0"/>
              <a:t>In this phase, you will:</a:t>
            </a:r>
          </a:p>
          <a:p>
            <a:pPr lvl="1" algn="just"/>
            <a:r>
              <a:rPr lang="en-US" sz="2400" dirty="0"/>
              <a:t>  Identify the app users</a:t>
            </a:r>
          </a:p>
          <a:p>
            <a:pPr lvl="1" algn="just"/>
            <a:r>
              <a:rPr lang="en-US" sz="2400" dirty="0"/>
              <a:t>  Research the competition</a:t>
            </a:r>
          </a:p>
          <a:p>
            <a:pPr lvl="1" algn="just"/>
            <a:r>
              <a:rPr lang="en-US" sz="2400" dirty="0"/>
              <a:t>  Establish the app’s goals and objectives</a:t>
            </a:r>
          </a:p>
          <a:p>
            <a:pPr lvl="1" algn="just"/>
            <a:r>
              <a:rPr lang="en-US" sz="2400" dirty="0"/>
              <a:t>  Select a mobile platform for your app</a:t>
            </a:r>
          </a:p>
          <a:p>
            <a:pPr algn="just"/>
            <a:endParaRPr lang="en-MY" sz="2400" dirty="0"/>
          </a:p>
        </p:txBody>
      </p:sp>
      <p:sp>
        <p:nvSpPr>
          <p:cNvPr id="6" name="Slide Number Placeholder 5"/>
          <p:cNvSpPr>
            <a:spLocks noGrp="1"/>
          </p:cNvSpPr>
          <p:nvPr>
            <p:ph type="sldNum" sz="quarter" idx="12"/>
          </p:nvPr>
        </p:nvSpPr>
        <p:spPr/>
        <p:txBody>
          <a:bodyPr/>
          <a:lstStyle/>
          <a:p>
            <a:fld id="{CC13ADC4-536D-428E-8667-0275BB2B031C}" type="slidenum">
              <a:rPr lang="en-GB" smtClean="0"/>
              <a:pPr/>
              <a:t>5</a:t>
            </a:fld>
            <a:endParaRPr lang="en-GB"/>
          </a:p>
        </p:txBody>
      </p:sp>
    </p:spTree>
    <p:extLst>
      <p:ext uri="{BB962C8B-B14F-4D97-AF65-F5344CB8AC3E}">
        <p14:creationId xmlns:p14="http://schemas.microsoft.com/office/powerpoint/2010/main" val="2830909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6227"/>
            <a:ext cx="7772400" cy="1456267"/>
          </a:xfrm>
        </p:spPr>
        <p:txBody>
          <a:bodyPr>
            <a:normAutofit/>
          </a:bodyPr>
          <a:lstStyle/>
          <a:p>
            <a:r>
              <a:rPr lang="en-MY" sz="3200" b="1" dirty="0">
                <a:solidFill>
                  <a:srgbClr val="FFC000"/>
                </a:solidFill>
              </a:rPr>
              <a:t>2. </a:t>
            </a:r>
            <a:r>
              <a:rPr lang="en-US" sz="3200" b="1" dirty="0">
                <a:solidFill>
                  <a:srgbClr val="FFC000"/>
                </a:solidFill>
              </a:rPr>
              <a:t>Analysis and Planning</a:t>
            </a:r>
            <a:endParaRPr lang="en-MY" sz="3200" b="1" dirty="0">
              <a:solidFill>
                <a:srgbClr val="FFC000"/>
              </a:solidFill>
            </a:endParaRPr>
          </a:p>
        </p:txBody>
      </p:sp>
      <p:sp>
        <p:nvSpPr>
          <p:cNvPr id="3" name="Content Placeholder 2"/>
          <p:cNvSpPr>
            <a:spLocks noGrp="1"/>
          </p:cNvSpPr>
          <p:nvPr>
            <p:ph idx="1"/>
          </p:nvPr>
        </p:nvSpPr>
        <p:spPr>
          <a:xfrm>
            <a:off x="484110" y="1639889"/>
            <a:ext cx="8291264" cy="3852862"/>
          </a:xfrm>
        </p:spPr>
        <p:txBody>
          <a:bodyPr>
            <a:normAutofit/>
          </a:bodyPr>
          <a:lstStyle/>
          <a:p>
            <a:pPr algn="just"/>
            <a:r>
              <a:rPr lang="en-US" sz="2400" dirty="0"/>
              <a:t>Analysis and planning begin with </a:t>
            </a:r>
            <a:r>
              <a:rPr lang="en-US" sz="2400" b="1" dirty="0">
                <a:solidFill>
                  <a:srgbClr val="00B0F0"/>
                </a:solidFill>
              </a:rPr>
              <a:t>defining use cases and capturing detailed functional requirements.</a:t>
            </a:r>
          </a:p>
          <a:p>
            <a:pPr algn="just"/>
            <a:endParaRPr lang="en-US" sz="2400" dirty="0"/>
          </a:p>
          <a:p>
            <a:pPr algn="just"/>
            <a:r>
              <a:rPr lang="en-US" sz="2400" dirty="0"/>
              <a:t>This includes prioritizing the mobile app requirements and grouping them into </a:t>
            </a:r>
            <a:r>
              <a:rPr lang="en-US" sz="2400" b="1" dirty="0">
                <a:solidFill>
                  <a:srgbClr val="00B0F0"/>
                </a:solidFill>
              </a:rPr>
              <a:t>delivery milestones. </a:t>
            </a:r>
            <a:r>
              <a:rPr lang="en-US" sz="2400" dirty="0"/>
              <a:t>Also includes:</a:t>
            </a:r>
          </a:p>
          <a:p>
            <a:pPr lvl="1" indent="-342900" algn="just"/>
            <a:r>
              <a:rPr lang="en-US" sz="2400" dirty="0"/>
              <a:t>identifying the </a:t>
            </a:r>
            <a:r>
              <a:rPr lang="en-US" sz="2400" b="1" dirty="0">
                <a:solidFill>
                  <a:srgbClr val="00B0F0"/>
                </a:solidFill>
              </a:rPr>
              <a:t>skills</a:t>
            </a:r>
            <a:r>
              <a:rPr lang="en-US" sz="2400" dirty="0"/>
              <a:t> needed for the development </a:t>
            </a:r>
          </a:p>
          <a:p>
            <a:pPr lvl="1" indent="-342900" algn="just"/>
            <a:r>
              <a:rPr lang="en-US" sz="2400" dirty="0"/>
              <a:t>identifying the </a:t>
            </a:r>
            <a:r>
              <a:rPr lang="en-US" sz="2400" b="1" dirty="0">
                <a:solidFill>
                  <a:srgbClr val="00B0F0"/>
                </a:solidFill>
              </a:rPr>
              <a:t>name of the app </a:t>
            </a:r>
            <a:r>
              <a:rPr lang="en-US" sz="2400" dirty="0"/>
              <a:t>- names are like domain names and must be unique.</a:t>
            </a:r>
            <a:endParaRPr lang="en-MY" sz="2400" dirty="0"/>
          </a:p>
        </p:txBody>
      </p:sp>
      <p:sp>
        <p:nvSpPr>
          <p:cNvPr id="6" name="Slide Number Placeholder 5"/>
          <p:cNvSpPr>
            <a:spLocks noGrp="1"/>
          </p:cNvSpPr>
          <p:nvPr>
            <p:ph type="sldNum" sz="quarter" idx="12"/>
          </p:nvPr>
        </p:nvSpPr>
        <p:spPr/>
        <p:txBody>
          <a:bodyPr/>
          <a:lstStyle/>
          <a:p>
            <a:fld id="{CC13ADC4-536D-428E-8667-0275BB2B031C}" type="slidenum">
              <a:rPr lang="en-GB" smtClean="0"/>
              <a:pPr/>
              <a:t>6</a:t>
            </a:fld>
            <a:endParaRPr lang="en-GB" dirty="0"/>
          </a:p>
        </p:txBody>
      </p:sp>
    </p:spTree>
    <p:extLst>
      <p:ext uri="{BB962C8B-B14F-4D97-AF65-F5344CB8AC3E}">
        <p14:creationId xmlns:p14="http://schemas.microsoft.com/office/powerpoint/2010/main" val="433692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8665"/>
            <a:ext cx="7772400" cy="1456267"/>
          </a:xfrm>
        </p:spPr>
        <p:txBody>
          <a:bodyPr>
            <a:normAutofit/>
          </a:bodyPr>
          <a:lstStyle/>
          <a:p>
            <a:r>
              <a:rPr lang="en-MY" sz="3200" b="1" dirty="0">
                <a:solidFill>
                  <a:srgbClr val="FFC000"/>
                </a:solidFill>
              </a:rPr>
              <a:t>3. </a:t>
            </a:r>
            <a:r>
              <a:rPr lang="en-US" sz="3200" b="1" dirty="0">
                <a:solidFill>
                  <a:srgbClr val="FFC000"/>
                </a:solidFill>
              </a:rPr>
              <a:t>UI / UX Design</a:t>
            </a:r>
            <a:endParaRPr lang="en-MY" sz="3200" b="1" dirty="0">
              <a:solidFill>
                <a:srgbClr val="FFC000"/>
              </a:solidFill>
            </a:endParaRPr>
          </a:p>
        </p:txBody>
      </p:sp>
      <p:sp>
        <p:nvSpPr>
          <p:cNvPr id="3" name="Content Placeholder 2"/>
          <p:cNvSpPr>
            <a:spLocks noGrp="1"/>
          </p:cNvSpPr>
          <p:nvPr>
            <p:ph idx="1"/>
          </p:nvPr>
        </p:nvSpPr>
        <p:spPr>
          <a:xfrm>
            <a:off x="457200" y="1794932"/>
            <a:ext cx="8219256" cy="4724403"/>
          </a:xfrm>
        </p:spPr>
        <p:txBody>
          <a:bodyPr>
            <a:normAutofit/>
          </a:bodyPr>
          <a:lstStyle/>
          <a:p>
            <a:pPr algn="just"/>
            <a:r>
              <a:rPr lang="en-US" sz="2400" dirty="0"/>
              <a:t>The purpose of an app’s design is to deliver </a:t>
            </a:r>
            <a:r>
              <a:rPr lang="en-US" sz="2400" b="1" dirty="0">
                <a:solidFill>
                  <a:srgbClr val="00B0F0"/>
                </a:solidFill>
              </a:rPr>
              <a:t>seamless and effortless user experiences </a:t>
            </a:r>
            <a:r>
              <a:rPr lang="en-US" sz="2400" dirty="0"/>
              <a:t>with a polished look.</a:t>
            </a:r>
          </a:p>
          <a:p>
            <a:pPr algn="just"/>
            <a:endParaRPr lang="en-US" sz="2400" dirty="0"/>
          </a:p>
          <a:p>
            <a:pPr algn="just"/>
            <a:r>
              <a:rPr lang="en-US" sz="2400" dirty="0"/>
              <a:t>The success of a mobile app is determined based on</a:t>
            </a:r>
            <a:r>
              <a:rPr lang="en-US" sz="2400" dirty="0">
                <a:solidFill>
                  <a:srgbClr val="00B0F0"/>
                </a:solidFill>
              </a:rPr>
              <a:t> </a:t>
            </a:r>
            <a:r>
              <a:rPr lang="en-US" sz="2400" b="1" dirty="0">
                <a:solidFill>
                  <a:srgbClr val="00B0F0"/>
                </a:solidFill>
              </a:rPr>
              <a:t>how well users are adopting and benefiting </a:t>
            </a:r>
            <a:r>
              <a:rPr lang="en-US" sz="2400" dirty="0"/>
              <a:t>from all its features. </a:t>
            </a:r>
          </a:p>
          <a:p>
            <a:pPr algn="just"/>
            <a:endParaRPr lang="en-US" sz="2400" dirty="0"/>
          </a:p>
          <a:p>
            <a:pPr algn="just"/>
            <a:r>
              <a:rPr lang="en-US" sz="2400" dirty="0"/>
              <a:t>The goal for mobile app is creating excellent user experiences</a:t>
            </a:r>
            <a:r>
              <a:rPr lang="en-US" sz="2400" b="1" dirty="0">
                <a:solidFill>
                  <a:schemeClr val="accent6"/>
                </a:solidFill>
              </a:rPr>
              <a:t> </a:t>
            </a:r>
            <a:r>
              <a:rPr lang="en-US" sz="2400" b="1" dirty="0">
                <a:solidFill>
                  <a:srgbClr val="00B0F0"/>
                </a:solidFill>
              </a:rPr>
              <a:t>(e.g., interactive, user-friendly, and intuitive user experiences to keep the user's engagement).</a:t>
            </a:r>
          </a:p>
          <a:p>
            <a:pPr algn="just"/>
            <a:endParaRPr lang="en-MY" sz="2400" dirty="0"/>
          </a:p>
        </p:txBody>
      </p:sp>
      <p:sp>
        <p:nvSpPr>
          <p:cNvPr id="6" name="Slide Number Placeholder 5"/>
          <p:cNvSpPr>
            <a:spLocks noGrp="1"/>
          </p:cNvSpPr>
          <p:nvPr>
            <p:ph type="sldNum" sz="quarter" idx="12"/>
          </p:nvPr>
        </p:nvSpPr>
        <p:spPr/>
        <p:txBody>
          <a:bodyPr/>
          <a:lstStyle/>
          <a:p>
            <a:fld id="{CC13ADC4-536D-428E-8667-0275BB2B031C}" type="slidenum">
              <a:rPr lang="en-GB" smtClean="0"/>
              <a:pPr/>
              <a:t>7</a:t>
            </a:fld>
            <a:endParaRPr lang="en-GB"/>
          </a:p>
        </p:txBody>
      </p:sp>
    </p:spTree>
    <p:extLst>
      <p:ext uri="{BB962C8B-B14F-4D97-AF65-F5344CB8AC3E}">
        <p14:creationId xmlns:p14="http://schemas.microsoft.com/office/powerpoint/2010/main" val="2059010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332656"/>
            <a:ext cx="7772400" cy="1456267"/>
          </a:xfrm>
        </p:spPr>
        <p:txBody>
          <a:bodyPr>
            <a:normAutofit/>
          </a:bodyPr>
          <a:lstStyle/>
          <a:p>
            <a:r>
              <a:rPr lang="en-MY" sz="3200" b="1" dirty="0">
                <a:solidFill>
                  <a:srgbClr val="FFC000"/>
                </a:solidFill>
              </a:rPr>
              <a:t>3. </a:t>
            </a:r>
            <a:r>
              <a:rPr lang="en-US" sz="3200" b="1" dirty="0">
                <a:solidFill>
                  <a:srgbClr val="FFC000"/>
                </a:solidFill>
              </a:rPr>
              <a:t>UI / UX Design</a:t>
            </a:r>
            <a:endParaRPr lang="en-MY" sz="3200" b="1" dirty="0">
              <a:solidFill>
                <a:srgbClr val="FFC000"/>
              </a:solidFill>
            </a:endParaRPr>
          </a:p>
        </p:txBody>
      </p:sp>
      <p:sp>
        <p:nvSpPr>
          <p:cNvPr id="3" name="Content Placeholder 2"/>
          <p:cNvSpPr>
            <a:spLocks noGrp="1"/>
          </p:cNvSpPr>
          <p:nvPr>
            <p:ph idx="1"/>
          </p:nvPr>
        </p:nvSpPr>
        <p:spPr>
          <a:xfrm>
            <a:off x="457200" y="1788924"/>
            <a:ext cx="8291264" cy="3512284"/>
          </a:xfrm>
        </p:spPr>
        <p:txBody>
          <a:bodyPr>
            <a:normAutofit/>
          </a:bodyPr>
          <a:lstStyle/>
          <a:p>
            <a:pPr algn="just"/>
            <a:r>
              <a:rPr lang="en-US" sz="2400" dirty="0"/>
              <a:t>To design a mobile or web apps, it requires lot of</a:t>
            </a:r>
            <a:r>
              <a:rPr lang="en-US" sz="2400" b="1" dirty="0">
                <a:solidFill>
                  <a:schemeClr val="accent6"/>
                </a:solidFill>
              </a:rPr>
              <a:t> </a:t>
            </a:r>
            <a:r>
              <a:rPr lang="en-US" sz="2400" b="1" dirty="0">
                <a:solidFill>
                  <a:srgbClr val="00B0F0"/>
                </a:solidFill>
              </a:rPr>
              <a:t>imagination, conceptualization, and creativity </a:t>
            </a:r>
            <a:r>
              <a:rPr lang="en-US" sz="2400" dirty="0"/>
              <a:t>to put together with technology. </a:t>
            </a:r>
          </a:p>
          <a:p>
            <a:pPr algn="just"/>
            <a:endParaRPr lang="en-US" sz="2400" dirty="0"/>
          </a:p>
          <a:p>
            <a:pPr algn="just"/>
            <a:r>
              <a:rPr lang="en-US" sz="2400" dirty="0"/>
              <a:t>There are lots of </a:t>
            </a:r>
            <a:r>
              <a:rPr lang="en-US" sz="2400" b="1" dirty="0">
                <a:solidFill>
                  <a:srgbClr val="00B0F0"/>
                </a:solidFill>
              </a:rPr>
              <a:t>iteration processes </a:t>
            </a:r>
            <a:r>
              <a:rPr lang="en-US" sz="2400" dirty="0"/>
              <a:t>required to make an application functionally accurate and visually appealing.</a:t>
            </a:r>
          </a:p>
          <a:p>
            <a:pPr algn="just"/>
            <a:endParaRPr lang="en-US" sz="2400" dirty="0"/>
          </a:p>
          <a:p>
            <a:pPr algn="just"/>
            <a:endParaRPr lang="en-MY" sz="2400" dirty="0"/>
          </a:p>
        </p:txBody>
      </p:sp>
      <p:sp>
        <p:nvSpPr>
          <p:cNvPr id="4" name="Slide Number Placeholder 3"/>
          <p:cNvSpPr>
            <a:spLocks noGrp="1"/>
          </p:cNvSpPr>
          <p:nvPr>
            <p:ph type="sldNum" sz="quarter" idx="12"/>
          </p:nvPr>
        </p:nvSpPr>
        <p:spPr/>
        <p:txBody>
          <a:bodyPr/>
          <a:lstStyle/>
          <a:p>
            <a:fld id="{2CF92F4A-FC3C-4C13-A76F-34129D2ABBA1}" type="slidenum">
              <a:rPr lang="en-GB" smtClean="0"/>
              <a:pPr/>
              <a:t>8</a:t>
            </a:fld>
            <a:endParaRPr lang="en-GB"/>
          </a:p>
        </p:txBody>
      </p:sp>
    </p:spTree>
    <p:extLst>
      <p:ext uri="{BB962C8B-B14F-4D97-AF65-F5344CB8AC3E}">
        <p14:creationId xmlns:p14="http://schemas.microsoft.com/office/powerpoint/2010/main" val="2787114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357558"/>
            <a:ext cx="7772400" cy="1456267"/>
          </a:xfrm>
        </p:spPr>
        <p:txBody>
          <a:bodyPr>
            <a:normAutofit/>
          </a:bodyPr>
          <a:lstStyle/>
          <a:p>
            <a:r>
              <a:rPr lang="en-MY" sz="3200" b="1" dirty="0">
                <a:solidFill>
                  <a:srgbClr val="FFC000"/>
                </a:solidFill>
              </a:rPr>
              <a:t>3. </a:t>
            </a:r>
            <a:r>
              <a:rPr lang="en-US" sz="3200" b="1" dirty="0">
                <a:solidFill>
                  <a:srgbClr val="FFC000"/>
                </a:solidFill>
              </a:rPr>
              <a:t>UI / UX Design</a:t>
            </a:r>
            <a:endParaRPr lang="en-MY" sz="3200" b="1" dirty="0">
              <a:solidFill>
                <a:srgbClr val="FFC000"/>
              </a:solidFill>
            </a:endParaRPr>
          </a:p>
        </p:txBody>
      </p:sp>
      <p:sp>
        <p:nvSpPr>
          <p:cNvPr id="3" name="Content Placeholder 2"/>
          <p:cNvSpPr>
            <a:spLocks noGrp="1"/>
          </p:cNvSpPr>
          <p:nvPr>
            <p:ph idx="1"/>
          </p:nvPr>
        </p:nvSpPr>
        <p:spPr>
          <a:xfrm>
            <a:off x="454584" y="1556792"/>
            <a:ext cx="8293879" cy="4691609"/>
          </a:xfrm>
        </p:spPr>
        <p:txBody>
          <a:bodyPr>
            <a:normAutofit lnSpcReduction="10000"/>
          </a:bodyPr>
          <a:lstStyle/>
          <a:p>
            <a:pPr marL="457200" lvl="1" indent="-457200">
              <a:buNone/>
            </a:pPr>
            <a:r>
              <a:rPr lang="en-US" sz="2400" dirty="0"/>
              <a:t>The methods and deliverables are:</a:t>
            </a:r>
          </a:p>
          <a:p>
            <a:pPr marL="457200" lvl="1" indent="-457200">
              <a:buNone/>
            </a:pPr>
            <a:endParaRPr lang="en-US" sz="2400" dirty="0"/>
          </a:p>
          <a:p>
            <a:pPr marL="457200" lvl="1" indent="-457200" algn="just">
              <a:buFont typeface="Wingdings" panose="05000000000000000000" pitchFamily="2" charset="2"/>
              <a:buChar char="Ø"/>
            </a:pPr>
            <a:r>
              <a:rPr lang="en-US" sz="2400" b="1" dirty="0">
                <a:solidFill>
                  <a:srgbClr val="00B0F0"/>
                </a:solidFill>
              </a:rPr>
              <a:t>Information Architecture &amp; Workflows</a:t>
            </a:r>
          </a:p>
          <a:p>
            <a:pPr lvl="1" algn="just"/>
            <a:r>
              <a:rPr lang="en-US" sz="2400" dirty="0"/>
              <a:t>The first step of the app design process is to determine the</a:t>
            </a:r>
            <a:r>
              <a:rPr lang="en-US" sz="2400" dirty="0">
                <a:solidFill>
                  <a:srgbClr val="FFC000"/>
                </a:solidFill>
              </a:rPr>
              <a:t> </a:t>
            </a:r>
            <a:r>
              <a:rPr lang="en-US" sz="2400" b="1" dirty="0">
                <a:solidFill>
                  <a:srgbClr val="00B0F0"/>
                </a:solidFill>
              </a:rPr>
              <a:t>workflows </a:t>
            </a:r>
            <a:r>
              <a:rPr lang="en-US" sz="2400" dirty="0">
                <a:solidFill>
                  <a:srgbClr val="00B0F0"/>
                </a:solidFill>
              </a:rPr>
              <a:t>– </a:t>
            </a:r>
            <a:r>
              <a:rPr lang="en-US" sz="2400" dirty="0"/>
              <a:t>(how) data will display to the users, the data it will collect, user interactions with the finished product, and the user journeys within the app.</a:t>
            </a:r>
          </a:p>
          <a:p>
            <a:pPr lvl="1" algn="just"/>
            <a:endParaRPr lang="en-US" sz="2400" dirty="0"/>
          </a:p>
          <a:p>
            <a:pPr lvl="1" algn="just"/>
            <a:r>
              <a:rPr lang="en-US" sz="2400" b="1" dirty="0">
                <a:solidFill>
                  <a:srgbClr val="00B0F0"/>
                </a:solidFill>
              </a:rPr>
              <a:t>Workflow diagrams </a:t>
            </a:r>
            <a:r>
              <a:rPr lang="en-US" sz="2400" dirty="0"/>
              <a:t>– help identify every possible interaction a user has with the app and the app’s navigation structure.</a:t>
            </a:r>
          </a:p>
        </p:txBody>
      </p:sp>
      <p:sp>
        <p:nvSpPr>
          <p:cNvPr id="6" name="Slide Number Placeholder 5"/>
          <p:cNvSpPr>
            <a:spLocks noGrp="1"/>
          </p:cNvSpPr>
          <p:nvPr>
            <p:ph type="sldNum" sz="quarter" idx="12"/>
          </p:nvPr>
        </p:nvSpPr>
        <p:spPr/>
        <p:txBody>
          <a:bodyPr/>
          <a:lstStyle/>
          <a:p>
            <a:fld id="{CC13ADC4-536D-428E-8667-0275BB2B031C}" type="slidenum">
              <a:rPr lang="en-GB" smtClean="0"/>
              <a:pPr/>
              <a:t>9</a:t>
            </a:fld>
            <a:endParaRPr lang="en-GB"/>
          </a:p>
        </p:txBody>
      </p:sp>
    </p:spTree>
    <p:extLst>
      <p:ext uri="{BB962C8B-B14F-4D97-AF65-F5344CB8AC3E}">
        <p14:creationId xmlns:p14="http://schemas.microsoft.com/office/powerpoint/2010/main" val="5518119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8665"/>
            <a:ext cx="7772400" cy="1456267"/>
          </a:xfrm>
        </p:spPr>
        <p:txBody>
          <a:bodyPr>
            <a:normAutofit/>
          </a:bodyPr>
          <a:lstStyle/>
          <a:p>
            <a:r>
              <a:rPr lang="en-MY" sz="3200" b="1" dirty="0">
                <a:solidFill>
                  <a:srgbClr val="FFC000"/>
                </a:solidFill>
              </a:rPr>
              <a:t>3. </a:t>
            </a:r>
            <a:r>
              <a:rPr lang="en-US" sz="3200" b="1" dirty="0">
                <a:solidFill>
                  <a:srgbClr val="FFC000"/>
                </a:solidFill>
              </a:rPr>
              <a:t>UI / UX Design</a:t>
            </a:r>
            <a:endParaRPr lang="en-MY" sz="3200" b="1" dirty="0">
              <a:solidFill>
                <a:srgbClr val="FFC000"/>
              </a:solidFill>
            </a:endParaRPr>
          </a:p>
        </p:txBody>
      </p:sp>
      <p:sp>
        <p:nvSpPr>
          <p:cNvPr id="3" name="Content Placeholder 2"/>
          <p:cNvSpPr>
            <a:spLocks noGrp="1"/>
          </p:cNvSpPr>
          <p:nvPr>
            <p:ph idx="1"/>
          </p:nvPr>
        </p:nvSpPr>
        <p:spPr>
          <a:xfrm>
            <a:off x="457200" y="1412776"/>
            <a:ext cx="8363272" cy="4835625"/>
          </a:xfrm>
        </p:spPr>
        <p:txBody>
          <a:bodyPr>
            <a:normAutofit/>
          </a:bodyPr>
          <a:lstStyle/>
          <a:p>
            <a:pPr marL="457200" lvl="1" indent="-457200" algn="just">
              <a:buFont typeface="Wingdings" panose="05000000000000000000" pitchFamily="2" charset="2"/>
              <a:buChar char="Ø"/>
            </a:pPr>
            <a:r>
              <a:rPr lang="en-US" sz="2400" b="1" dirty="0">
                <a:solidFill>
                  <a:srgbClr val="00B0F0"/>
                </a:solidFill>
              </a:rPr>
              <a:t> Wireframes</a:t>
            </a:r>
          </a:p>
          <a:p>
            <a:pPr marL="457200" lvl="1" indent="-457200" algn="just">
              <a:buNone/>
            </a:pPr>
            <a:endParaRPr lang="en-US" sz="2800" b="1" dirty="0">
              <a:solidFill>
                <a:srgbClr val="00B0F0"/>
              </a:solidFill>
            </a:endParaRPr>
          </a:p>
          <a:p>
            <a:pPr lvl="1" algn="just"/>
            <a:r>
              <a:rPr lang="en-US" sz="2400" dirty="0"/>
              <a:t>Mobile app designers often start app design with </a:t>
            </a:r>
            <a:r>
              <a:rPr lang="en-US" sz="2400" b="1" dirty="0">
                <a:solidFill>
                  <a:srgbClr val="00B0F0"/>
                </a:solidFill>
              </a:rPr>
              <a:t>sketches on paper. </a:t>
            </a:r>
            <a:r>
              <a:rPr lang="en-US" sz="2400" dirty="0"/>
              <a:t>Wireframes are the </a:t>
            </a:r>
            <a:r>
              <a:rPr lang="en-US" sz="2400" b="1" dirty="0">
                <a:solidFill>
                  <a:srgbClr val="00B0F0"/>
                </a:solidFill>
              </a:rPr>
              <a:t>digital form of sketches. </a:t>
            </a:r>
          </a:p>
          <a:p>
            <a:pPr algn="just"/>
            <a:endParaRPr lang="en-US" sz="2800" dirty="0"/>
          </a:p>
          <a:p>
            <a:pPr lvl="1" algn="just"/>
            <a:r>
              <a:rPr lang="en-US" sz="2400" dirty="0"/>
              <a:t>Wireframes are </a:t>
            </a:r>
            <a:r>
              <a:rPr lang="en-US" sz="2400" b="1" dirty="0">
                <a:solidFill>
                  <a:srgbClr val="00B0F0"/>
                </a:solidFill>
              </a:rPr>
              <a:t>conceptual layouts</a:t>
            </a:r>
            <a:r>
              <a:rPr lang="en-US" sz="2400" dirty="0">
                <a:solidFill>
                  <a:srgbClr val="00B0F0"/>
                </a:solidFill>
              </a:rPr>
              <a:t>, </a:t>
            </a:r>
            <a:r>
              <a:rPr lang="en-US" sz="2400" dirty="0"/>
              <a:t>also referred to as </a:t>
            </a:r>
            <a:r>
              <a:rPr lang="en-US" sz="2400" b="1" dirty="0">
                <a:solidFill>
                  <a:srgbClr val="00B0F0"/>
                </a:solidFill>
              </a:rPr>
              <a:t>low-fidelity mockups </a:t>
            </a:r>
            <a:r>
              <a:rPr lang="en-US" sz="2400" dirty="0"/>
              <a:t>to give visual structure of the app’s functional requirements.</a:t>
            </a:r>
          </a:p>
          <a:p>
            <a:pPr lvl="1" algn="just"/>
            <a:endParaRPr lang="en-US" sz="2400" dirty="0"/>
          </a:p>
          <a:p>
            <a:pPr lvl="1" algn="just"/>
            <a:endParaRPr lang="en-US" sz="2400" dirty="0"/>
          </a:p>
        </p:txBody>
      </p:sp>
      <p:sp>
        <p:nvSpPr>
          <p:cNvPr id="6" name="Slide Number Placeholder 5"/>
          <p:cNvSpPr>
            <a:spLocks noGrp="1"/>
          </p:cNvSpPr>
          <p:nvPr>
            <p:ph type="sldNum" sz="quarter" idx="12"/>
          </p:nvPr>
        </p:nvSpPr>
        <p:spPr/>
        <p:txBody>
          <a:bodyPr/>
          <a:lstStyle/>
          <a:p>
            <a:fld id="{CC13ADC4-536D-428E-8667-0275BB2B031C}" type="slidenum">
              <a:rPr lang="en-GB" smtClean="0"/>
              <a:pPr/>
              <a:t>10</a:t>
            </a:fld>
            <a:endParaRPr lang="en-GB"/>
          </a:p>
        </p:txBody>
      </p:sp>
    </p:spTree>
    <p:extLst>
      <p:ext uri="{BB962C8B-B14F-4D97-AF65-F5344CB8AC3E}">
        <p14:creationId xmlns:p14="http://schemas.microsoft.com/office/powerpoint/2010/main" val="1249321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5896" y="0"/>
            <a:ext cx="7772400" cy="1456267"/>
          </a:xfrm>
        </p:spPr>
        <p:txBody>
          <a:bodyPr/>
          <a:lstStyle/>
          <a:p>
            <a:r>
              <a:rPr lang="en-MY" b="1" dirty="0">
                <a:solidFill>
                  <a:srgbClr val="FFC000"/>
                </a:solidFill>
              </a:rPr>
              <a:t>3. </a:t>
            </a:r>
            <a:r>
              <a:rPr lang="en-US" b="1" dirty="0">
                <a:solidFill>
                  <a:srgbClr val="FFC000"/>
                </a:solidFill>
              </a:rPr>
              <a:t>UI / UX Design</a:t>
            </a:r>
            <a:endParaRPr lang="en-MY" b="1" dirty="0">
              <a:solidFill>
                <a:srgbClr val="FFC000"/>
              </a:solidFill>
            </a:endParaRPr>
          </a:p>
        </p:txBody>
      </p:sp>
      <p:sp>
        <p:nvSpPr>
          <p:cNvPr id="3" name="Content Placeholder 2"/>
          <p:cNvSpPr>
            <a:spLocks noGrp="1"/>
          </p:cNvSpPr>
          <p:nvPr>
            <p:ph idx="1"/>
          </p:nvPr>
        </p:nvSpPr>
        <p:spPr/>
        <p:txBody>
          <a:bodyPr/>
          <a:lstStyle/>
          <a:p>
            <a:endParaRPr lang="en-MY"/>
          </a:p>
        </p:txBody>
      </p:sp>
      <p:sp>
        <p:nvSpPr>
          <p:cNvPr id="4" name="Slide Number Placeholder 3"/>
          <p:cNvSpPr>
            <a:spLocks noGrp="1"/>
          </p:cNvSpPr>
          <p:nvPr>
            <p:ph type="sldNum" sz="quarter" idx="12"/>
          </p:nvPr>
        </p:nvSpPr>
        <p:spPr/>
        <p:txBody>
          <a:bodyPr/>
          <a:lstStyle/>
          <a:p>
            <a:fld id="{2CF92F4A-FC3C-4C13-A76F-34129D2ABBA1}" type="slidenum">
              <a:rPr lang="en-GB" smtClean="0"/>
              <a:pPr/>
              <a:t>11</a:t>
            </a:fld>
            <a:endParaRPr lang="en-GB"/>
          </a:p>
        </p:txBody>
      </p:sp>
      <p:pic>
        <p:nvPicPr>
          <p:cNvPr id="5" name="Picture 2" descr="http://4.bp.blogspot.com/-UP0s5awLlLU/T2GQuALZ3MI/AAAAAAAAACM/Vc59kvQJavs/s1600/thumbnai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192" y="1420813"/>
            <a:ext cx="8435280" cy="51339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08621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615" y="-14925"/>
            <a:ext cx="7772400" cy="1456267"/>
          </a:xfrm>
        </p:spPr>
        <p:txBody>
          <a:bodyPr>
            <a:normAutofit/>
          </a:bodyPr>
          <a:lstStyle/>
          <a:p>
            <a:r>
              <a:rPr lang="en-MY" sz="3200" b="1" dirty="0">
                <a:solidFill>
                  <a:srgbClr val="FFC000"/>
                </a:solidFill>
              </a:rPr>
              <a:t>3. </a:t>
            </a:r>
            <a:r>
              <a:rPr lang="en-US" sz="3200" b="1" dirty="0">
                <a:solidFill>
                  <a:srgbClr val="FFC000"/>
                </a:solidFill>
              </a:rPr>
              <a:t>UI / UX Design</a:t>
            </a:r>
            <a:endParaRPr lang="en-MY" sz="3200" b="1" dirty="0">
              <a:solidFill>
                <a:srgbClr val="FFC000"/>
              </a:solidFill>
            </a:endParaRPr>
          </a:p>
        </p:txBody>
      </p:sp>
      <p:sp>
        <p:nvSpPr>
          <p:cNvPr id="3" name="Content Placeholder 2"/>
          <p:cNvSpPr>
            <a:spLocks noGrp="1"/>
          </p:cNvSpPr>
          <p:nvPr>
            <p:ph idx="1"/>
          </p:nvPr>
        </p:nvSpPr>
        <p:spPr/>
        <p:txBody>
          <a:bodyPr/>
          <a:lstStyle/>
          <a:p>
            <a:endParaRPr lang="en-MY"/>
          </a:p>
        </p:txBody>
      </p:sp>
      <p:sp>
        <p:nvSpPr>
          <p:cNvPr id="4" name="Slide Number Placeholder 3"/>
          <p:cNvSpPr>
            <a:spLocks noGrp="1"/>
          </p:cNvSpPr>
          <p:nvPr>
            <p:ph type="sldNum" sz="quarter" idx="12"/>
          </p:nvPr>
        </p:nvSpPr>
        <p:spPr/>
        <p:txBody>
          <a:bodyPr/>
          <a:lstStyle/>
          <a:p>
            <a:fld id="{2CF92F4A-FC3C-4C13-A76F-34129D2ABBA1}" type="slidenum">
              <a:rPr lang="en-GB" smtClean="0"/>
              <a:pPr/>
              <a:t>12</a:t>
            </a:fld>
            <a:endParaRPr lang="en-GB"/>
          </a:p>
        </p:txBody>
      </p:sp>
      <p:pic>
        <p:nvPicPr>
          <p:cNvPr id="5" name="Picture 2" descr="sket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615" y="1513872"/>
            <a:ext cx="8229600" cy="49055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98808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8665"/>
            <a:ext cx="7772400" cy="1456267"/>
          </a:xfrm>
        </p:spPr>
        <p:txBody>
          <a:bodyPr>
            <a:normAutofit/>
          </a:bodyPr>
          <a:lstStyle/>
          <a:p>
            <a:r>
              <a:rPr lang="en-MY" sz="3200" b="1" dirty="0">
                <a:solidFill>
                  <a:srgbClr val="FFC000"/>
                </a:solidFill>
              </a:rPr>
              <a:t>3. </a:t>
            </a:r>
            <a:r>
              <a:rPr lang="en-US" sz="3200" b="1" dirty="0">
                <a:solidFill>
                  <a:srgbClr val="FFC000"/>
                </a:solidFill>
              </a:rPr>
              <a:t>UI / UX Design</a:t>
            </a:r>
            <a:endParaRPr lang="en-MY" sz="3200" b="1" dirty="0">
              <a:solidFill>
                <a:srgbClr val="FFC000"/>
              </a:solidFill>
            </a:endParaRPr>
          </a:p>
        </p:txBody>
      </p:sp>
      <p:sp>
        <p:nvSpPr>
          <p:cNvPr id="3" name="Content Placeholder 2"/>
          <p:cNvSpPr>
            <a:spLocks noGrp="1"/>
          </p:cNvSpPr>
          <p:nvPr>
            <p:ph idx="1"/>
          </p:nvPr>
        </p:nvSpPr>
        <p:spPr/>
        <p:txBody>
          <a:bodyPr/>
          <a:lstStyle/>
          <a:p>
            <a:r>
              <a:rPr lang="en-US" sz="2400" dirty="0"/>
              <a:t>Creating wireframes is a </a:t>
            </a:r>
            <a:r>
              <a:rPr lang="en-US" sz="2400" b="1" dirty="0">
                <a:solidFill>
                  <a:schemeClr val="accent6"/>
                </a:solidFill>
              </a:rPr>
              <a:t>quick and cost-effective </a:t>
            </a:r>
            <a:r>
              <a:rPr lang="en-US" sz="2400" dirty="0"/>
              <a:t>approach for designing app layouts and iterating through them in the design review process.</a:t>
            </a:r>
          </a:p>
        </p:txBody>
      </p:sp>
      <p:sp>
        <p:nvSpPr>
          <p:cNvPr id="6" name="Slide Number Placeholder 5"/>
          <p:cNvSpPr>
            <a:spLocks noGrp="1"/>
          </p:cNvSpPr>
          <p:nvPr>
            <p:ph type="sldNum" sz="quarter" idx="12"/>
          </p:nvPr>
        </p:nvSpPr>
        <p:spPr/>
        <p:txBody>
          <a:bodyPr/>
          <a:lstStyle/>
          <a:p>
            <a:fld id="{CC13ADC4-536D-428E-8667-0275BB2B031C}" type="slidenum">
              <a:rPr lang="en-GB" smtClean="0"/>
              <a:pPr/>
              <a:t>13</a:t>
            </a:fld>
            <a:endParaRPr lang="en-GB"/>
          </a:p>
        </p:txBody>
      </p:sp>
      <p:pic>
        <p:nvPicPr>
          <p:cNvPr id="7" name="Picture 6"/>
          <p:cNvPicPr>
            <a:picLocks noChangeAspect="1"/>
          </p:cNvPicPr>
          <p:nvPr/>
        </p:nvPicPr>
        <p:blipFill rotWithShape="1">
          <a:blip r:embed="rId2"/>
          <a:srcRect l="21775" t="27360" r="22500" b="12594"/>
          <a:stretch/>
        </p:blipFill>
        <p:spPr>
          <a:xfrm>
            <a:off x="179512" y="2062693"/>
            <a:ext cx="8784976" cy="3690732"/>
          </a:xfrm>
          <a:prstGeom prst="rect">
            <a:avLst/>
          </a:prstGeom>
        </p:spPr>
      </p:pic>
    </p:spTree>
    <p:extLst>
      <p:ext uri="{BB962C8B-B14F-4D97-AF65-F5344CB8AC3E}">
        <p14:creationId xmlns:p14="http://schemas.microsoft.com/office/powerpoint/2010/main" val="27302381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710"/>
            <a:ext cx="7772400" cy="1456267"/>
          </a:xfrm>
        </p:spPr>
        <p:txBody>
          <a:bodyPr>
            <a:normAutofit/>
          </a:bodyPr>
          <a:lstStyle/>
          <a:p>
            <a:r>
              <a:rPr lang="en-MY" sz="3200" b="1" dirty="0">
                <a:solidFill>
                  <a:srgbClr val="FFC000"/>
                </a:solidFill>
              </a:rPr>
              <a:t>3. </a:t>
            </a:r>
            <a:r>
              <a:rPr lang="en-US" sz="3200" b="1" dirty="0">
                <a:solidFill>
                  <a:srgbClr val="FFC000"/>
                </a:solidFill>
              </a:rPr>
              <a:t>UI / UX Design</a:t>
            </a:r>
            <a:endParaRPr lang="en-MY" sz="3200" b="1" dirty="0">
              <a:solidFill>
                <a:srgbClr val="FFC000"/>
              </a:solidFill>
            </a:endParaRPr>
          </a:p>
        </p:txBody>
      </p:sp>
      <p:sp>
        <p:nvSpPr>
          <p:cNvPr id="3" name="Content Placeholder 2"/>
          <p:cNvSpPr>
            <a:spLocks noGrp="1"/>
          </p:cNvSpPr>
          <p:nvPr>
            <p:ph idx="1"/>
          </p:nvPr>
        </p:nvSpPr>
        <p:spPr>
          <a:xfrm>
            <a:off x="457200" y="1459977"/>
            <a:ext cx="8147248" cy="4921351"/>
          </a:xfrm>
        </p:spPr>
        <p:txBody>
          <a:bodyPr>
            <a:noAutofit/>
          </a:bodyPr>
          <a:lstStyle/>
          <a:p>
            <a:pPr algn="just"/>
            <a:r>
              <a:rPr lang="en-US" sz="2400" b="1" dirty="0">
                <a:solidFill>
                  <a:srgbClr val="00B0F0"/>
                </a:solidFill>
              </a:rPr>
              <a:t>Style Guide - living documents </a:t>
            </a:r>
            <a:r>
              <a:rPr lang="en-US" sz="2400" dirty="0"/>
              <a:t>where an </a:t>
            </a:r>
            <a:r>
              <a:rPr lang="en-US" sz="2400" b="1" dirty="0">
                <a:solidFill>
                  <a:srgbClr val="00B0F0"/>
                </a:solidFill>
              </a:rPr>
              <a:t>app’s design standards</a:t>
            </a:r>
            <a:r>
              <a:rPr lang="en-US" sz="2400" b="1" dirty="0">
                <a:solidFill>
                  <a:srgbClr val="FFC000"/>
                </a:solidFill>
              </a:rPr>
              <a:t> </a:t>
            </a:r>
            <a:r>
              <a:rPr lang="en-US" sz="2400" dirty="0"/>
              <a:t>from the company’s branding rules down to the navigation icons that contribute to an </a:t>
            </a:r>
            <a:r>
              <a:rPr lang="en-US" sz="2400" b="1" dirty="0">
                <a:solidFill>
                  <a:srgbClr val="00B0F0"/>
                </a:solidFill>
              </a:rPr>
              <a:t>app’s design strategy.</a:t>
            </a:r>
          </a:p>
          <a:p>
            <a:pPr algn="just"/>
            <a:endParaRPr lang="en-US" sz="2400" dirty="0"/>
          </a:p>
          <a:p>
            <a:pPr algn="just"/>
            <a:r>
              <a:rPr lang="en-US" sz="2400" dirty="0"/>
              <a:t>Style guides include:</a:t>
            </a:r>
          </a:p>
          <a:p>
            <a:pPr lvl="1" algn="just"/>
            <a:r>
              <a:rPr lang="en-US" sz="2400" dirty="0"/>
              <a:t>What font family will the app’s text use?</a:t>
            </a:r>
          </a:p>
          <a:p>
            <a:pPr lvl="1" algn="just"/>
            <a:r>
              <a:rPr lang="en-US" sz="2400" dirty="0"/>
              <a:t>What will the color scheme be?</a:t>
            </a:r>
          </a:p>
          <a:p>
            <a:pPr lvl="1" algn="just"/>
            <a:r>
              <a:rPr lang="en-US" sz="2400" dirty="0"/>
              <a:t>How will the company brand be reflected in the app design?</a:t>
            </a:r>
          </a:p>
          <a:p>
            <a:pPr lvl="1" algn="just"/>
            <a:endParaRPr lang="en-US" sz="2400" dirty="0"/>
          </a:p>
        </p:txBody>
      </p:sp>
      <p:sp>
        <p:nvSpPr>
          <p:cNvPr id="6" name="Slide Number Placeholder 5"/>
          <p:cNvSpPr>
            <a:spLocks noGrp="1"/>
          </p:cNvSpPr>
          <p:nvPr>
            <p:ph type="sldNum" sz="quarter" idx="12"/>
          </p:nvPr>
        </p:nvSpPr>
        <p:spPr/>
        <p:txBody>
          <a:bodyPr/>
          <a:lstStyle/>
          <a:p>
            <a:fld id="{CC13ADC4-536D-428E-8667-0275BB2B031C}" type="slidenum">
              <a:rPr lang="en-GB" smtClean="0"/>
              <a:pPr/>
              <a:t>14</a:t>
            </a:fld>
            <a:endParaRPr lang="en-GB"/>
          </a:p>
        </p:txBody>
      </p:sp>
    </p:spTree>
    <p:extLst>
      <p:ext uri="{BB962C8B-B14F-4D97-AF65-F5344CB8AC3E}">
        <p14:creationId xmlns:p14="http://schemas.microsoft.com/office/powerpoint/2010/main" val="16387653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3342" y="16236"/>
            <a:ext cx="7772400" cy="1456267"/>
          </a:xfrm>
        </p:spPr>
        <p:txBody>
          <a:bodyPr/>
          <a:lstStyle/>
          <a:p>
            <a:r>
              <a:rPr lang="en-MY" b="1" dirty="0">
                <a:solidFill>
                  <a:srgbClr val="FFC000"/>
                </a:solidFill>
              </a:rPr>
              <a:t>3. </a:t>
            </a:r>
            <a:r>
              <a:rPr lang="en-US" b="1" dirty="0">
                <a:solidFill>
                  <a:srgbClr val="FFC000"/>
                </a:solidFill>
              </a:rPr>
              <a:t>UI / UX Design</a:t>
            </a:r>
            <a:endParaRPr lang="en-MY" b="1" dirty="0">
              <a:solidFill>
                <a:srgbClr val="FFC000"/>
              </a:solidFill>
            </a:endParaRPr>
          </a:p>
        </p:txBody>
      </p:sp>
      <p:sp>
        <p:nvSpPr>
          <p:cNvPr id="3" name="Content Placeholder 2"/>
          <p:cNvSpPr>
            <a:spLocks noGrp="1"/>
          </p:cNvSpPr>
          <p:nvPr>
            <p:ph idx="1"/>
          </p:nvPr>
        </p:nvSpPr>
        <p:spPr>
          <a:xfrm>
            <a:off x="457200" y="1268760"/>
            <a:ext cx="8147248" cy="5184576"/>
          </a:xfrm>
        </p:spPr>
        <p:txBody>
          <a:bodyPr>
            <a:normAutofit/>
          </a:bodyPr>
          <a:lstStyle/>
          <a:p>
            <a:pPr algn="just"/>
            <a:r>
              <a:rPr lang="en-US" sz="2400" dirty="0"/>
              <a:t>Establishing a style guide early on as part of the mobile app development process </a:t>
            </a:r>
            <a:r>
              <a:rPr lang="en-US" sz="2400" b="1" dirty="0">
                <a:solidFill>
                  <a:srgbClr val="00B0F0"/>
                </a:solidFill>
              </a:rPr>
              <a:t>expand</a:t>
            </a:r>
            <a:r>
              <a:rPr lang="en-US" sz="2400" dirty="0">
                <a:solidFill>
                  <a:srgbClr val="00B0F0"/>
                </a:solidFill>
              </a:rPr>
              <a:t> </a:t>
            </a:r>
            <a:r>
              <a:rPr lang="en-US" sz="2400" b="1" dirty="0">
                <a:solidFill>
                  <a:srgbClr val="00B0F0"/>
                </a:solidFill>
              </a:rPr>
              <a:t>the productivity </a:t>
            </a:r>
            <a:r>
              <a:rPr lang="en-US" sz="2400" dirty="0"/>
              <a:t>of the mobile apps. </a:t>
            </a:r>
          </a:p>
          <a:p>
            <a:pPr algn="just"/>
            <a:endParaRPr lang="en-US" sz="2400" dirty="0"/>
          </a:p>
          <a:p>
            <a:pPr algn="just"/>
            <a:r>
              <a:rPr lang="en-US" sz="2400" dirty="0"/>
              <a:t>By having these guidelines early on, the team can maintain </a:t>
            </a:r>
            <a:r>
              <a:rPr lang="en-US" sz="2400" b="1" dirty="0">
                <a:solidFill>
                  <a:srgbClr val="00B0F0"/>
                </a:solidFill>
              </a:rPr>
              <a:t>consistency</a:t>
            </a:r>
            <a:r>
              <a:rPr lang="en-US" sz="2400" dirty="0"/>
              <a:t> across the app, reduce time spent on design and development decisions, and streamline collaboration, leading to faster and more productive app creation.</a:t>
            </a:r>
          </a:p>
          <a:p>
            <a:pPr algn="just"/>
            <a:endParaRPr lang="en-US" sz="2400" dirty="0"/>
          </a:p>
          <a:p>
            <a:pPr algn="just"/>
            <a:endParaRPr lang="en-US" sz="2400" dirty="0"/>
          </a:p>
        </p:txBody>
      </p:sp>
      <p:sp>
        <p:nvSpPr>
          <p:cNvPr id="6" name="Slide Number Placeholder 5"/>
          <p:cNvSpPr>
            <a:spLocks noGrp="1"/>
          </p:cNvSpPr>
          <p:nvPr>
            <p:ph type="sldNum" sz="quarter" idx="12"/>
          </p:nvPr>
        </p:nvSpPr>
        <p:spPr/>
        <p:txBody>
          <a:bodyPr/>
          <a:lstStyle/>
          <a:p>
            <a:fld id="{CC13ADC4-536D-428E-8667-0275BB2B031C}" type="slidenum">
              <a:rPr lang="en-GB" smtClean="0"/>
              <a:pPr/>
              <a:t>15</a:t>
            </a:fld>
            <a:endParaRPr lang="en-GB"/>
          </a:p>
        </p:txBody>
      </p:sp>
    </p:spTree>
    <p:extLst>
      <p:ext uri="{BB962C8B-B14F-4D97-AF65-F5344CB8AC3E}">
        <p14:creationId xmlns:p14="http://schemas.microsoft.com/office/powerpoint/2010/main" val="27157704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3342" y="16236"/>
            <a:ext cx="7772400" cy="1456267"/>
          </a:xfrm>
        </p:spPr>
        <p:txBody>
          <a:bodyPr/>
          <a:lstStyle/>
          <a:p>
            <a:r>
              <a:rPr lang="en-MY" b="1" dirty="0">
                <a:solidFill>
                  <a:srgbClr val="FFC000"/>
                </a:solidFill>
              </a:rPr>
              <a:t>3. </a:t>
            </a:r>
            <a:r>
              <a:rPr lang="en-US" b="1" dirty="0">
                <a:solidFill>
                  <a:srgbClr val="FFC000"/>
                </a:solidFill>
              </a:rPr>
              <a:t>UI / UX Design</a:t>
            </a:r>
            <a:endParaRPr lang="en-MY" b="1" dirty="0">
              <a:solidFill>
                <a:srgbClr val="FFC000"/>
              </a:solidFill>
            </a:endParaRPr>
          </a:p>
        </p:txBody>
      </p:sp>
      <p:sp>
        <p:nvSpPr>
          <p:cNvPr id="3" name="Content Placeholder 2"/>
          <p:cNvSpPr>
            <a:spLocks noGrp="1"/>
          </p:cNvSpPr>
          <p:nvPr>
            <p:ph idx="1"/>
          </p:nvPr>
        </p:nvSpPr>
        <p:spPr>
          <a:xfrm>
            <a:off x="457200" y="1268760"/>
            <a:ext cx="8147248" cy="5184576"/>
          </a:xfrm>
        </p:spPr>
        <p:txBody>
          <a:bodyPr>
            <a:normAutofit/>
          </a:bodyPr>
          <a:lstStyle/>
          <a:p>
            <a:pPr algn="just"/>
            <a:r>
              <a:rPr lang="en-US" sz="2400" dirty="0"/>
              <a:t>Also need to consider app design guidelines for </a:t>
            </a:r>
            <a:r>
              <a:rPr lang="en-US" sz="2400" b="1" dirty="0">
                <a:solidFill>
                  <a:srgbClr val="00B0F0"/>
                </a:solidFill>
              </a:rPr>
              <a:t>Android </a:t>
            </a:r>
            <a:r>
              <a:rPr lang="en-MY" sz="2400" b="1" dirty="0">
                <a:solidFill>
                  <a:srgbClr val="00B0F0"/>
                </a:solidFill>
              </a:rPr>
              <a:t>(Material Design Guidelines)</a:t>
            </a:r>
            <a:r>
              <a:rPr lang="en-US" sz="2400" dirty="0">
                <a:solidFill>
                  <a:srgbClr val="00B0F0"/>
                </a:solidFill>
              </a:rPr>
              <a:t> </a:t>
            </a:r>
            <a:r>
              <a:rPr lang="en-US" sz="2400" dirty="0"/>
              <a:t>and</a:t>
            </a:r>
            <a:r>
              <a:rPr lang="en-US" sz="2400" dirty="0">
                <a:solidFill>
                  <a:srgbClr val="00B0F0"/>
                </a:solidFill>
              </a:rPr>
              <a:t> </a:t>
            </a:r>
            <a:r>
              <a:rPr lang="en-US" sz="2400" b="1" dirty="0">
                <a:solidFill>
                  <a:srgbClr val="00B0F0"/>
                </a:solidFill>
              </a:rPr>
              <a:t>iOS apps </a:t>
            </a:r>
            <a:r>
              <a:rPr lang="en-MY" sz="2400" b="1" dirty="0">
                <a:solidFill>
                  <a:srgbClr val="00B0F0"/>
                </a:solidFill>
              </a:rPr>
              <a:t>(Human Interface Guidelines).</a:t>
            </a:r>
          </a:p>
          <a:p>
            <a:pPr algn="just"/>
            <a:endParaRPr lang="en-MY" sz="2400" dirty="0"/>
          </a:p>
          <a:p>
            <a:pPr algn="just"/>
            <a:r>
              <a:rPr lang="en-US" sz="2400" dirty="0"/>
              <a:t>These guidelines outline best practices for creating apps that provide a consistent, user-friendly experience across devices. </a:t>
            </a:r>
          </a:p>
          <a:p>
            <a:pPr algn="just"/>
            <a:endParaRPr lang="en-US" sz="2400" dirty="0"/>
          </a:p>
          <a:p>
            <a:pPr algn="just"/>
            <a:r>
              <a:rPr lang="en-US" sz="2400" dirty="0"/>
              <a:t>They cover aspects like navigation patterns, visual design, user interaction, and accessibility.</a:t>
            </a:r>
          </a:p>
        </p:txBody>
      </p:sp>
      <p:sp>
        <p:nvSpPr>
          <p:cNvPr id="6" name="Slide Number Placeholder 5"/>
          <p:cNvSpPr>
            <a:spLocks noGrp="1"/>
          </p:cNvSpPr>
          <p:nvPr>
            <p:ph type="sldNum" sz="quarter" idx="12"/>
          </p:nvPr>
        </p:nvSpPr>
        <p:spPr/>
        <p:txBody>
          <a:bodyPr/>
          <a:lstStyle/>
          <a:p>
            <a:fld id="{CC13ADC4-536D-428E-8667-0275BB2B031C}" type="slidenum">
              <a:rPr lang="en-GB" smtClean="0"/>
              <a:pPr/>
              <a:t>16</a:t>
            </a:fld>
            <a:endParaRPr lang="en-GB"/>
          </a:p>
        </p:txBody>
      </p:sp>
    </p:spTree>
    <p:extLst>
      <p:ext uri="{BB962C8B-B14F-4D97-AF65-F5344CB8AC3E}">
        <p14:creationId xmlns:p14="http://schemas.microsoft.com/office/powerpoint/2010/main" val="29144351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734" y="332656"/>
            <a:ext cx="7772400" cy="1456267"/>
          </a:xfrm>
        </p:spPr>
        <p:txBody>
          <a:bodyPr>
            <a:normAutofit/>
          </a:bodyPr>
          <a:lstStyle/>
          <a:p>
            <a:r>
              <a:rPr lang="en-MY" sz="3200" b="1" dirty="0">
                <a:solidFill>
                  <a:srgbClr val="FFC000"/>
                </a:solidFill>
              </a:rPr>
              <a:t>3. </a:t>
            </a:r>
            <a:r>
              <a:rPr lang="en-US" sz="3200" b="1" dirty="0">
                <a:solidFill>
                  <a:srgbClr val="FFC000"/>
                </a:solidFill>
              </a:rPr>
              <a:t>UI / UX Design</a:t>
            </a:r>
            <a:endParaRPr lang="en-MY" sz="3200" b="1" dirty="0">
              <a:solidFill>
                <a:srgbClr val="FFC000"/>
              </a:solidFill>
            </a:endParaRPr>
          </a:p>
        </p:txBody>
      </p:sp>
      <p:sp>
        <p:nvSpPr>
          <p:cNvPr id="3" name="Content Placeholder 2"/>
          <p:cNvSpPr>
            <a:spLocks noGrp="1"/>
          </p:cNvSpPr>
          <p:nvPr>
            <p:ph idx="1"/>
          </p:nvPr>
        </p:nvSpPr>
        <p:spPr>
          <a:xfrm>
            <a:off x="457200" y="1600200"/>
            <a:ext cx="8229600" cy="4781128"/>
          </a:xfrm>
        </p:spPr>
        <p:txBody>
          <a:bodyPr>
            <a:noAutofit/>
          </a:bodyPr>
          <a:lstStyle/>
          <a:p>
            <a:pPr algn="just">
              <a:buFont typeface="Wingdings" panose="05000000000000000000" pitchFamily="2" charset="2"/>
              <a:buChar char="Ø"/>
            </a:pPr>
            <a:r>
              <a:rPr lang="en-US" sz="2400" b="1" dirty="0">
                <a:solidFill>
                  <a:srgbClr val="00B0F0"/>
                </a:solidFill>
              </a:rPr>
              <a:t>   Mockups</a:t>
            </a:r>
          </a:p>
          <a:p>
            <a:pPr marL="0" indent="0" algn="just">
              <a:buNone/>
            </a:pPr>
            <a:endParaRPr lang="en-US" sz="2400" b="1" dirty="0">
              <a:solidFill>
                <a:srgbClr val="00B0F0"/>
              </a:solidFill>
            </a:endParaRPr>
          </a:p>
          <a:p>
            <a:pPr lvl="1" algn="just"/>
            <a:r>
              <a:rPr lang="en-US" sz="2400" dirty="0"/>
              <a:t>Mockups, or high-fidelity designs, are the final renderings of your app’s visual design. </a:t>
            </a:r>
          </a:p>
          <a:p>
            <a:pPr marL="0" indent="0" algn="just">
              <a:buNone/>
            </a:pPr>
            <a:endParaRPr lang="en-US" sz="2400" dirty="0"/>
          </a:p>
          <a:p>
            <a:pPr lvl="1" algn="just"/>
            <a:r>
              <a:rPr lang="en-US" sz="2400" dirty="0"/>
              <a:t>Mockups are produced by applying the style guide to the app wireframes. </a:t>
            </a:r>
          </a:p>
          <a:p>
            <a:pPr algn="just"/>
            <a:endParaRPr lang="en-US" sz="2400" dirty="0"/>
          </a:p>
          <a:p>
            <a:pPr lvl="1" algn="just"/>
            <a:r>
              <a:rPr lang="en-US" sz="2400" dirty="0"/>
              <a:t>As the app’s design begins to finalize, expect further modifications to its information architecture, workflow, and aesthetics. </a:t>
            </a:r>
            <a:endParaRPr lang="en-MY" sz="2400" dirty="0"/>
          </a:p>
        </p:txBody>
      </p:sp>
      <p:sp>
        <p:nvSpPr>
          <p:cNvPr id="6" name="Slide Number Placeholder 5"/>
          <p:cNvSpPr>
            <a:spLocks noGrp="1"/>
          </p:cNvSpPr>
          <p:nvPr>
            <p:ph type="sldNum" sz="quarter" idx="12"/>
          </p:nvPr>
        </p:nvSpPr>
        <p:spPr/>
        <p:txBody>
          <a:bodyPr/>
          <a:lstStyle/>
          <a:p>
            <a:fld id="{CC13ADC4-536D-428E-8667-0275BB2B031C}" type="slidenum">
              <a:rPr lang="en-GB" smtClean="0"/>
              <a:pPr/>
              <a:t>17</a:t>
            </a:fld>
            <a:endParaRPr lang="en-GB"/>
          </a:p>
        </p:txBody>
      </p:sp>
    </p:spTree>
    <p:extLst>
      <p:ext uri="{BB962C8B-B14F-4D97-AF65-F5344CB8AC3E}">
        <p14:creationId xmlns:p14="http://schemas.microsoft.com/office/powerpoint/2010/main" val="5264211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457200" y="338665"/>
            <a:ext cx="7772400" cy="1456267"/>
          </a:xfrm>
        </p:spPr>
        <p:txBody>
          <a:bodyPr>
            <a:normAutofit/>
          </a:bodyPr>
          <a:lstStyle/>
          <a:p>
            <a:r>
              <a:rPr lang="en-MY" sz="3200" b="1" dirty="0">
                <a:solidFill>
                  <a:srgbClr val="FFC000"/>
                </a:solidFill>
              </a:rPr>
              <a:t>3. </a:t>
            </a:r>
            <a:r>
              <a:rPr lang="en-US" sz="3200" b="1" dirty="0">
                <a:solidFill>
                  <a:srgbClr val="FFC000"/>
                </a:solidFill>
              </a:rPr>
              <a:t>UI / UX Design</a:t>
            </a:r>
            <a:endParaRPr lang="en-MY" sz="3200" b="1" dirty="0">
              <a:solidFill>
                <a:srgbClr val="FFC000"/>
              </a:solidFill>
            </a:endParaRPr>
          </a:p>
        </p:txBody>
      </p:sp>
      <p:sp>
        <p:nvSpPr>
          <p:cNvPr id="14" name="Content Placeholder 13"/>
          <p:cNvSpPr>
            <a:spLocks noGrp="1"/>
          </p:cNvSpPr>
          <p:nvPr>
            <p:ph idx="1"/>
          </p:nvPr>
        </p:nvSpPr>
        <p:spPr/>
        <p:txBody>
          <a:bodyPr/>
          <a:lstStyle/>
          <a:p>
            <a:pPr marL="0" indent="0">
              <a:buNone/>
            </a:pPr>
            <a:endParaRPr lang="en-MY" dirty="0"/>
          </a:p>
        </p:txBody>
      </p:sp>
      <p:sp>
        <p:nvSpPr>
          <p:cNvPr id="6" name="Slide Number Placeholder 5"/>
          <p:cNvSpPr>
            <a:spLocks noGrp="1"/>
          </p:cNvSpPr>
          <p:nvPr>
            <p:ph type="sldNum" sz="quarter" idx="12"/>
          </p:nvPr>
        </p:nvSpPr>
        <p:spPr/>
        <p:txBody>
          <a:bodyPr/>
          <a:lstStyle/>
          <a:p>
            <a:fld id="{CC13ADC4-536D-428E-8667-0275BB2B031C}" type="slidenum">
              <a:rPr lang="en-GB" smtClean="0"/>
              <a:pPr/>
              <a:t>18</a:t>
            </a:fld>
            <a:endParaRPr lang="en-GB"/>
          </a:p>
        </p:txBody>
      </p:sp>
      <p:pic>
        <p:nvPicPr>
          <p:cNvPr id="7" name="Picture 6"/>
          <p:cNvPicPr>
            <a:picLocks noChangeAspect="1"/>
          </p:cNvPicPr>
          <p:nvPr/>
        </p:nvPicPr>
        <p:blipFill rotWithShape="1">
          <a:blip r:embed="rId2"/>
          <a:srcRect l="22881" t="28344" r="23989" b="27360"/>
          <a:stretch/>
        </p:blipFill>
        <p:spPr>
          <a:xfrm>
            <a:off x="215516" y="1570194"/>
            <a:ext cx="8712968" cy="4739125"/>
          </a:xfrm>
          <a:prstGeom prst="rect">
            <a:avLst/>
          </a:prstGeom>
        </p:spPr>
      </p:pic>
    </p:spTree>
    <p:extLst>
      <p:ext uri="{BB962C8B-B14F-4D97-AF65-F5344CB8AC3E}">
        <p14:creationId xmlns:p14="http://schemas.microsoft.com/office/powerpoint/2010/main" val="9830637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8665"/>
            <a:ext cx="7772400" cy="1456267"/>
          </a:xfrm>
        </p:spPr>
        <p:txBody>
          <a:bodyPr>
            <a:normAutofit/>
          </a:bodyPr>
          <a:lstStyle/>
          <a:p>
            <a:r>
              <a:rPr lang="en-MY" sz="3200" b="1" dirty="0">
                <a:solidFill>
                  <a:srgbClr val="FFC000"/>
                </a:solidFill>
              </a:rPr>
              <a:t>3. </a:t>
            </a:r>
            <a:r>
              <a:rPr lang="en-US" sz="3200" b="1" dirty="0">
                <a:solidFill>
                  <a:srgbClr val="FFC000"/>
                </a:solidFill>
              </a:rPr>
              <a:t>UI / UX </a:t>
            </a:r>
            <a:r>
              <a:rPr lang="en-US" b="1" dirty="0">
                <a:solidFill>
                  <a:srgbClr val="FFC000"/>
                </a:solidFill>
                <a:latin typeface="+mn-lt"/>
              </a:rPr>
              <a:t>Design</a:t>
            </a:r>
            <a:endParaRPr lang="en-MY" sz="3200" b="1" dirty="0">
              <a:solidFill>
                <a:srgbClr val="FFC000"/>
              </a:solidFill>
              <a:latin typeface="+mn-lt"/>
            </a:endParaRPr>
          </a:p>
        </p:txBody>
      </p:sp>
      <p:sp>
        <p:nvSpPr>
          <p:cNvPr id="3" name="Content Placeholder 2"/>
          <p:cNvSpPr>
            <a:spLocks noGrp="1"/>
          </p:cNvSpPr>
          <p:nvPr>
            <p:ph idx="1"/>
          </p:nvPr>
        </p:nvSpPr>
        <p:spPr>
          <a:xfrm>
            <a:off x="457200" y="1412776"/>
            <a:ext cx="8291264" cy="4968552"/>
          </a:xfrm>
        </p:spPr>
        <p:txBody>
          <a:bodyPr>
            <a:normAutofit/>
          </a:bodyPr>
          <a:lstStyle/>
          <a:p>
            <a:pPr algn="just">
              <a:buFont typeface="Wingdings" panose="05000000000000000000" pitchFamily="2" charset="2"/>
              <a:buChar char="Ø"/>
            </a:pPr>
            <a:r>
              <a:rPr lang="en-US" sz="2400" b="1" dirty="0">
                <a:solidFill>
                  <a:srgbClr val="00B0F0"/>
                </a:solidFill>
              </a:rPr>
              <a:t>   Prototype</a:t>
            </a:r>
          </a:p>
          <a:p>
            <a:pPr marL="0" indent="0" algn="just">
              <a:buNone/>
            </a:pPr>
            <a:endParaRPr lang="en-US" sz="2400" b="1" dirty="0">
              <a:solidFill>
                <a:srgbClr val="00B0F0"/>
              </a:solidFill>
            </a:endParaRPr>
          </a:p>
          <a:p>
            <a:pPr lvl="1" algn="just"/>
            <a:r>
              <a:rPr lang="en-US" sz="2400" dirty="0"/>
              <a:t>Prototypes are highly useful for simulating the user experience and the app’s workflows expected from the completed product. </a:t>
            </a:r>
          </a:p>
          <a:p>
            <a:pPr algn="just"/>
            <a:endParaRPr lang="en-US" sz="2400" dirty="0"/>
          </a:p>
          <a:p>
            <a:pPr lvl="1" algn="just"/>
            <a:r>
              <a:rPr lang="en-US" sz="2400" dirty="0"/>
              <a:t>The prototypes help identify modifications to the app’s proposed functionality. Some companies prefer even doing prototypes at a wire-framing stage, particularly when an app’s functional requirements are not well thought out.</a:t>
            </a:r>
          </a:p>
        </p:txBody>
      </p:sp>
      <p:sp>
        <p:nvSpPr>
          <p:cNvPr id="6" name="Slide Number Placeholder 5"/>
          <p:cNvSpPr>
            <a:spLocks noGrp="1"/>
          </p:cNvSpPr>
          <p:nvPr>
            <p:ph type="sldNum" sz="quarter" idx="12"/>
          </p:nvPr>
        </p:nvSpPr>
        <p:spPr/>
        <p:txBody>
          <a:bodyPr/>
          <a:lstStyle/>
          <a:p>
            <a:fld id="{CC13ADC4-536D-428E-8667-0275BB2B031C}" type="slidenum">
              <a:rPr lang="en-GB" smtClean="0"/>
              <a:pPr/>
              <a:t>19</a:t>
            </a:fld>
            <a:endParaRPr lang="en-GB"/>
          </a:p>
        </p:txBody>
      </p:sp>
    </p:spTree>
    <p:extLst>
      <p:ext uri="{BB962C8B-B14F-4D97-AF65-F5344CB8AC3E}">
        <p14:creationId xmlns:p14="http://schemas.microsoft.com/office/powerpoint/2010/main" val="7267375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2895"/>
            <a:ext cx="7772400" cy="1456267"/>
          </a:xfrm>
        </p:spPr>
        <p:txBody>
          <a:bodyPr>
            <a:normAutofit/>
          </a:bodyPr>
          <a:lstStyle/>
          <a:p>
            <a:r>
              <a:rPr lang="en-MY" sz="3200" b="1" dirty="0">
                <a:solidFill>
                  <a:srgbClr val="FFC000"/>
                </a:solidFill>
              </a:rPr>
              <a:t>3. </a:t>
            </a:r>
            <a:r>
              <a:rPr lang="en-US" sz="3200" b="1" dirty="0">
                <a:solidFill>
                  <a:srgbClr val="FFC000"/>
                </a:solidFill>
              </a:rPr>
              <a:t>UI / UX Design</a:t>
            </a:r>
            <a:endParaRPr lang="en-MY" sz="3200" b="1" dirty="0">
              <a:solidFill>
                <a:srgbClr val="FFC000"/>
              </a:solidFill>
            </a:endParaRPr>
          </a:p>
        </p:txBody>
      </p:sp>
      <p:sp>
        <p:nvSpPr>
          <p:cNvPr id="3" name="Content Placeholder 2"/>
          <p:cNvSpPr>
            <a:spLocks noGrp="1"/>
          </p:cNvSpPr>
          <p:nvPr>
            <p:ph idx="1"/>
          </p:nvPr>
        </p:nvSpPr>
        <p:spPr/>
        <p:txBody>
          <a:bodyPr/>
          <a:lstStyle/>
          <a:p>
            <a:endParaRPr lang="en-MY"/>
          </a:p>
        </p:txBody>
      </p:sp>
      <p:sp>
        <p:nvSpPr>
          <p:cNvPr id="4" name="Slide Number Placeholder 3"/>
          <p:cNvSpPr>
            <a:spLocks noGrp="1"/>
          </p:cNvSpPr>
          <p:nvPr>
            <p:ph type="sldNum" sz="quarter" idx="12"/>
          </p:nvPr>
        </p:nvSpPr>
        <p:spPr/>
        <p:txBody>
          <a:bodyPr/>
          <a:lstStyle/>
          <a:p>
            <a:fld id="{2CF92F4A-FC3C-4C13-A76F-34129D2ABBA1}" type="slidenum">
              <a:rPr lang="en-GB" smtClean="0"/>
              <a:pPr/>
              <a:t>20</a:t>
            </a:fld>
            <a:endParaRPr lang="en-GB"/>
          </a:p>
        </p:txBody>
      </p:sp>
      <p:pic>
        <p:nvPicPr>
          <p:cNvPr id="5" name="Picture 2" descr="prototyp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600200"/>
            <a:ext cx="8229600" cy="49549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18293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7772400" cy="1456267"/>
          </a:xfrm>
        </p:spPr>
        <p:txBody>
          <a:bodyPr>
            <a:normAutofit/>
          </a:bodyPr>
          <a:lstStyle/>
          <a:p>
            <a:r>
              <a:rPr lang="en-MY" sz="3200" b="1" dirty="0">
                <a:solidFill>
                  <a:srgbClr val="FFC000"/>
                </a:solidFill>
              </a:rPr>
              <a:t>4. App Development</a:t>
            </a:r>
          </a:p>
        </p:txBody>
      </p:sp>
      <p:sp>
        <p:nvSpPr>
          <p:cNvPr id="3" name="Content Placeholder 2"/>
          <p:cNvSpPr>
            <a:spLocks noGrp="1"/>
          </p:cNvSpPr>
          <p:nvPr>
            <p:ph idx="1"/>
          </p:nvPr>
        </p:nvSpPr>
        <p:spPr>
          <a:xfrm>
            <a:off x="457200" y="1788923"/>
            <a:ext cx="8291264" cy="4592405"/>
          </a:xfrm>
        </p:spPr>
        <p:txBody>
          <a:bodyPr>
            <a:normAutofit lnSpcReduction="10000"/>
          </a:bodyPr>
          <a:lstStyle/>
          <a:p>
            <a:pPr algn="just"/>
            <a:r>
              <a:rPr lang="en-US" sz="2400" dirty="0"/>
              <a:t>A typical mobile app project is made up of three integral parts:</a:t>
            </a:r>
          </a:p>
          <a:p>
            <a:pPr algn="just"/>
            <a:endParaRPr lang="en-US" sz="2400" dirty="0">
              <a:solidFill>
                <a:srgbClr val="FFC000"/>
              </a:solidFill>
            </a:endParaRPr>
          </a:p>
          <a:p>
            <a:pPr lvl="1" algn="just"/>
            <a:r>
              <a:rPr lang="en-US" sz="2400" b="1" dirty="0">
                <a:solidFill>
                  <a:srgbClr val="00B0F0"/>
                </a:solidFill>
              </a:rPr>
              <a:t>back-end/server technology </a:t>
            </a:r>
            <a:r>
              <a:rPr lang="en-US" sz="2400" b="1" dirty="0">
                <a:solidFill>
                  <a:schemeClr val="accent6"/>
                </a:solidFill>
              </a:rPr>
              <a:t>- </a:t>
            </a:r>
            <a:r>
              <a:rPr lang="en-MY" sz="2400" dirty="0"/>
              <a:t>technology stack </a:t>
            </a:r>
            <a:r>
              <a:rPr lang="en-US" sz="2400" dirty="0"/>
              <a:t>that is best suited for the apps</a:t>
            </a:r>
            <a:r>
              <a:rPr lang="en-MY" sz="2400" dirty="0"/>
              <a:t> (i.e. database and server-side objects, programming languages, &amp; framework)</a:t>
            </a:r>
          </a:p>
          <a:p>
            <a:pPr lvl="1" algn="just"/>
            <a:endParaRPr lang="en-MY" sz="2400" dirty="0"/>
          </a:p>
          <a:p>
            <a:pPr lvl="1" algn="just"/>
            <a:r>
              <a:rPr lang="en-US" sz="2400" b="1" dirty="0">
                <a:solidFill>
                  <a:srgbClr val="00B0F0"/>
                </a:solidFill>
              </a:rPr>
              <a:t>API(s) </a:t>
            </a:r>
            <a:r>
              <a:rPr lang="en-US" sz="2400" b="1" dirty="0">
                <a:solidFill>
                  <a:schemeClr val="accent6"/>
                </a:solidFill>
              </a:rPr>
              <a:t>- </a:t>
            </a:r>
            <a:r>
              <a:rPr lang="en-US" sz="2400" dirty="0"/>
              <a:t>method of communication between the app and a back-end server/database</a:t>
            </a:r>
            <a:r>
              <a:rPr lang="en-US" sz="2400" b="1" dirty="0">
                <a:solidFill>
                  <a:srgbClr val="00B0F0"/>
                </a:solidFill>
              </a:rPr>
              <a:t> </a:t>
            </a:r>
          </a:p>
          <a:p>
            <a:pPr lvl="1" algn="just"/>
            <a:endParaRPr lang="en-US" sz="2400" b="1" dirty="0">
              <a:solidFill>
                <a:srgbClr val="00B0F0"/>
              </a:solidFill>
            </a:endParaRPr>
          </a:p>
          <a:p>
            <a:pPr lvl="1" algn="just"/>
            <a:r>
              <a:rPr lang="en-US" sz="2400" b="1" dirty="0">
                <a:solidFill>
                  <a:srgbClr val="00B0F0"/>
                </a:solidFill>
              </a:rPr>
              <a:t>front-end </a:t>
            </a:r>
            <a:r>
              <a:rPr lang="en-US" sz="2400" b="1" dirty="0">
                <a:solidFill>
                  <a:srgbClr val="FFC000"/>
                </a:solidFill>
              </a:rPr>
              <a:t>- </a:t>
            </a:r>
            <a:r>
              <a:rPr lang="en-US" sz="2400" dirty="0"/>
              <a:t>the native mobile app an end-user will use</a:t>
            </a:r>
            <a:endParaRPr lang="en-US" sz="2400" b="1" dirty="0">
              <a:solidFill>
                <a:srgbClr val="00B0F0"/>
              </a:solidFill>
            </a:endParaRPr>
          </a:p>
          <a:p>
            <a:pPr algn="just"/>
            <a:endParaRPr lang="en-MY" sz="2400" dirty="0"/>
          </a:p>
        </p:txBody>
      </p:sp>
      <p:sp>
        <p:nvSpPr>
          <p:cNvPr id="6" name="Slide Number Placeholder 5"/>
          <p:cNvSpPr>
            <a:spLocks noGrp="1"/>
          </p:cNvSpPr>
          <p:nvPr>
            <p:ph type="sldNum" sz="quarter" idx="12"/>
          </p:nvPr>
        </p:nvSpPr>
        <p:spPr/>
        <p:txBody>
          <a:bodyPr/>
          <a:lstStyle/>
          <a:p>
            <a:fld id="{CC13ADC4-536D-428E-8667-0275BB2B031C}" type="slidenum">
              <a:rPr lang="en-GB" smtClean="0"/>
              <a:pPr/>
              <a:t>21</a:t>
            </a:fld>
            <a:endParaRPr lang="en-GB"/>
          </a:p>
        </p:txBody>
      </p:sp>
    </p:spTree>
    <p:extLst>
      <p:ext uri="{BB962C8B-B14F-4D97-AF65-F5344CB8AC3E}">
        <p14:creationId xmlns:p14="http://schemas.microsoft.com/office/powerpoint/2010/main" val="36743898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8665"/>
            <a:ext cx="7772400" cy="1456267"/>
          </a:xfrm>
        </p:spPr>
        <p:txBody>
          <a:bodyPr/>
          <a:lstStyle/>
          <a:p>
            <a:r>
              <a:rPr lang="en-MY" dirty="0">
                <a:solidFill>
                  <a:srgbClr val="FFC000"/>
                </a:solidFill>
              </a:rPr>
              <a:t>5. </a:t>
            </a:r>
            <a:r>
              <a:rPr lang="en-MY" sz="3200" b="1" dirty="0">
                <a:solidFill>
                  <a:srgbClr val="FFC000"/>
                </a:solidFill>
              </a:rPr>
              <a:t>Testing</a:t>
            </a:r>
            <a:endParaRPr lang="en-MY" b="1" dirty="0">
              <a:solidFill>
                <a:srgbClr val="FFC000"/>
              </a:solidFill>
            </a:endParaRPr>
          </a:p>
        </p:txBody>
      </p:sp>
      <p:sp>
        <p:nvSpPr>
          <p:cNvPr id="3" name="Content Placeholder 2"/>
          <p:cNvSpPr>
            <a:spLocks noGrp="1"/>
          </p:cNvSpPr>
          <p:nvPr>
            <p:ph idx="1"/>
          </p:nvPr>
        </p:nvSpPr>
        <p:spPr>
          <a:xfrm>
            <a:off x="457200" y="1794932"/>
            <a:ext cx="8291264" cy="4514388"/>
          </a:xfrm>
        </p:spPr>
        <p:txBody>
          <a:bodyPr>
            <a:normAutofit/>
          </a:bodyPr>
          <a:lstStyle/>
          <a:p>
            <a:r>
              <a:rPr lang="en-US" sz="2400" dirty="0"/>
              <a:t>Performing </a:t>
            </a:r>
            <a:r>
              <a:rPr lang="en-US" sz="2400" b="1" dirty="0">
                <a:solidFill>
                  <a:srgbClr val="00B0F0"/>
                </a:solidFill>
              </a:rPr>
              <a:t>quality assurance (QA) testing </a:t>
            </a:r>
            <a:r>
              <a:rPr lang="en-US" sz="2400" dirty="0"/>
              <a:t>during the mobile app development process makes applications stable, usable, and secure. </a:t>
            </a:r>
          </a:p>
          <a:p>
            <a:endParaRPr lang="en-US" sz="2400" dirty="0"/>
          </a:p>
          <a:p>
            <a:r>
              <a:rPr lang="en-US" sz="2400" dirty="0"/>
              <a:t>To ensure comprehensive QA testing of the app, first need to prepare test cases that address all aspects of app testing.</a:t>
            </a:r>
          </a:p>
          <a:p>
            <a:endParaRPr lang="en-US" sz="2400" dirty="0"/>
          </a:p>
          <a:p>
            <a:r>
              <a:rPr lang="en-US" sz="2400" dirty="0"/>
              <a:t>Similar on how use cases drive the process of mobile app development, test cases drive mobile app testing. </a:t>
            </a:r>
            <a:endParaRPr lang="en-MY" sz="2400" dirty="0"/>
          </a:p>
        </p:txBody>
      </p:sp>
      <p:sp>
        <p:nvSpPr>
          <p:cNvPr id="6" name="Slide Number Placeholder 5"/>
          <p:cNvSpPr>
            <a:spLocks noGrp="1"/>
          </p:cNvSpPr>
          <p:nvPr>
            <p:ph type="sldNum" sz="quarter" idx="12"/>
          </p:nvPr>
        </p:nvSpPr>
        <p:spPr/>
        <p:txBody>
          <a:bodyPr/>
          <a:lstStyle/>
          <a:p>
            <a:fld id="{CC13ADC4-536D-428E-8667-0275BB2B031C}" type="slidenum">
              <a:rPr lang="en-GB" smtClean="0"/>
              <a:pPr/>
              <a:t>22</a:t>
            </a:fld>
            <a:endParaRPr lang="en-GB"/>
          </a:p>
        </p:txBody>
      </p:sp>
    </p:spTree>
    <p:extLst>
      <p:ext uri="{BB962C8B-B14F-4D97-AF65-F5344CB8AC3E}">
        <p14:creationId xmlns:p14="http://schemas.microsoft.com/office/powerpoint/2010/main" val="34861547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801" y="404664"/>
            <a:ext cx="7772400" cy="1456267"/>
          </a:xfrm>
        </p:spPr>
        <p:txBody>
          <a:bodyPr>
            <a:normAutofit/>
          </a:bodyPr>
          <a:lstStyle/>
          <a:p>
            <a:r>
              <a:rPr lang="en-MY" sz="3200" b="1" dirty="0">
                <a:solidFill>
                  <a:srgbClr val="FFC000"/>
                </a:solidFill>
              </a:rPr>
              <a:t>5. Testing</a:t>
            </a:r>
          </a:p>
        </p:txBody>
      </p:sp>
      <p:sp>
        <p:nvSpPr>
          <p:cNvPr id="3" name="Content Placeholder 2"/>
          <p:cNvSpPr>
            <a:spLocks noGrp="1"/>
          </p:cNvSpPr>
          <p:nvPr>
            <p:ph idx="1"/>
          </p:nvPr>
        </p:nvSpPr>
        <p:spPr>
          <a:xfrm>
            <a:off x="457200" y="1860932"/>
            <a:ext cx="8363272" cy="4387468"/>
          </a:xfrm>
        </p:spPr>
        <p:txBody>
          <a:bodyPr>
            <a:normAutofit/>
          </a:bodyPr>
          <a:lstStyle/>
          <a:p>
            <a:r>
              <a:rPr lang="en-US" sz="2400" dirty="0"/>
              <a:t>The app should undergo the following testing methods:</a:t>
            </a:r>
          </a:p>
          <a:p>
            <a:pPr lvl="1"/>
            <a:r>
              <a:rPr lang="en-US" sz="2400" b="1" dirty="0">
                <a:solidFill>
                  <a:srgbClr val="00B0F0"/>
                </a:solidFill>
              </a:rPr>
              <a:t>User experience testing</a:t>
            </a:r>
          </a:p>
          <a:p>
            <a:pPr lvl="1"/>
            <a:r>
              <a:rPr lang="en-US" sz="2400" b="1" dirty="0">
                <a:solidFill>
                  <a:srgbClr val="00B0F0"/>
                </a:solidFill>
              </a:rPr>
              <a:t>Functional testing</a:t>
            </a:r>
          </a:p>
          <a:p>
            <a:pPr lvl="1"/>
            <a:r>
              <a:rPr lang="en-US" sz="2400" b="1" dirty="0">
                <a:solidFill>
                  <a:srgbClr val="00B0F0"/>
                </a:solidFill>
              </a:rPr>
              <a:t>Performance testing</a:t>
            </a:r>
          </a:p>
          <a:p>
            <a:pPr lvl="1"/>
            <a:r>
              <a:rPr lang="en-US" sz="2400" b="1" dirty="0">
                <a:solidFill>
                  <a:srgbClr val="00B0F0"/>
                </a:solidFill>
              </a:rPr>
              <a:t>Security testing</a:t>
            </a:r>
          </a:p>
          <a:p>
            <a:pPr lvl="1"/>
            <a:r>
              <a:rPr lang="en-US" sz="2400" b="1" dirty="0">
                <a:solidFill>
                  <a:srgbClr val="00B0F0"/>
                </a:solidFill>
              </a:rPr>
              <a:t>Device &amp; Platform testing</a:t>
            </a:r>
          </a:p>
          <a:p>
            <a:endParaRPr lang="en-MY" sz="2000" dirty="0"/>
          </a:p>
          <a:p>
            <a:endParaRPr lang="en-MY" sz="2000" dirty="0"/>
          </a:p>
          <a:p>
            <a:endParaRPr lang="en-MY" sz="2000" dirty="0"/>
          </a:p>
        </p:txBody>
      </p:sp>
      <p:sp>
        <p:nvSpPr>
          <p:cNvPr id="6" name="Slide Number Placeholder 5"/>
          <p:cNvSpPr>
            <a:spLocks noGrp="1"/>
          </p:cNvSpPr>
          <p:nvPr>
            <p:ph type="sldNum" sz="quarter" idx="12"/>
          </p:nvPr>
        </p:nvSpPr>
        <p:spPr/>
        <p:txBody>
          <a:bodyPr/>
          <a:lstStyle/>
          <a:p>
            <a:fld id="{CC13ADC4-536D-428E-8667-0275BB2B031C}" type="slidenum">
              <a:rPr lang="en-GB" smtClean="0"/>
              <a:pPr/>
              <a:t>23</a:t>
            </a:fld>
            <a:endParaRPr lang="en-GB"/>
          </a:p>
        </p:txBody>
      </p:sp>
    </p:spTree>
    <p:extLst>
      <p:ext uri="{BB962C8B-B14F-4D97-AF65-F5344CB8AC3E}">
        <p14:creationId xmlns:p14="http://schemas.microsoft.com/office/powerpoint/2010/main" val="1528041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8665"/>
            <a:ext cx="7772400" cy="1456267"/>
          </a:xfrm>
        </p:spPr>
        <p:txBody>
          <a:bodyPr>
            <a:normAutofit/>
          </a:bodyPr>
          <a:lstStyle/>
          <a:p>
            <a:r>
              <a:rPr lang="en-MY" sz="3200" b="1" dirty="0">
                <a:solidFill>
                  <a:srgbClr val="FFC000"/>
                </a:solidFill>
              </a:rPr>
              <a:t>5. Testing</a:t>
            </a:r>
          </a:p>
        </p:txBody>
      </p:sp>
      <p:sp>
        <p:nvSpPr>
          <p:cNvPr id="3" name="Content Placeholder 2"/>
          <p:cNvSpPr>
            <a:spLocks noGrp="1"/>
          </p:cNvSpPr>
          <p:nvPr>
            <p:ph idx="1"/>
          </p:nvPr>
        </p:nvSpPr>
        <p:spPr>
          <a:xfrm>
            <a:off x="457200" y="1628800"/>
            <a:ext cx="8291264" cy="4890535"/>
          </a:xfrm>
        </p:spPr>
        <p:txBody>
          <a:bodyPr>
            <a:normAutofit/>
          </a:bodyPr>
          <a:lstStyle/>
          <a:p>
            <a:pPr marL="0" indent="0" algn="just">
              <a:buNone/>
            </a:pPr>
            <a:r>
              <a:rPr lang="en-US" sz="2400" b="1" dirty="0">
                <a:solidFill>
                  <a:srgbClr val="00B0F0"/>
                </a:solidFill>
              </a:rPr>
              <a:t>User Experience Testing</a:t>
            </a:r>
          </a:p>
          <a:p>
            <a:pPr marL="0" indent="0" algn="just">
              <a:buNone/>
            </a:pPr>
            <a:endParaRPr lang="en-US" sz="2400" b="1" dirty="0">
              <a:solidFill>
                <a:srgbClr val="00B0F0"/>
              </a:solidFill>
            </a:endParaRPr>
          </a:p>
          <a:p>
            <a:pPr algn="just"/>
            <a:r>
              <a:rPr lang="en-US" sz="2400" dirty="0"/>
              <a:t>Objective: to ensure that the final implementation matches the user experience created by the app design team.</a:t>
            </a:r>
          </a:p>
          <a:p>
            <a:pPr marL="0" indent="0" algn="just">
              <a:buNone/>
            </a:pPr>
            <a:endParaRPr lang="en-US" sz="2400" dirty="0"/>
          </a:p>
          <a:p>
            <a:pPr algn="just"/>
            <a:r>
              <a:rPr lang="en-US" sz="2400" dirty="0"/>
              <a:t>It is important the app employs consistent fonts, style treatments, color scheme, padding between data, icon design, and navigation, and matches the original design guidelines!</a:t>
            </a:r>
          </a:p>
          <a:p>
            <a:pPr algn="just"/>
            <a:endParaRPr lang="en-US" sz="2400" dirty="0"/>
          </a:p>
          <a:p>
            <a:pPr algn="just"/>
            <a:endParaRPr lang="en-US" sz="2400" dirty="0"/>
          </a:p>
        </p:txBody>
      </p:sp>
      <p:sp>
        <p:nvSpPr>
          <p:cNvPr id="6" name="Slide Number Placeholder 5"/>
          <p:cNvSpPr>
            <a:spLocks noGrp="1"/>
          </p:cNvSpPr>
          <p:nvPr>
            <p:ph type="sldNum" sz="quarter" idx="12"/>
          </p:nvPr>
        </p:nvSpPr>
        <p:spPr/>
        <p:txBody>
          <a:bodyPr/>
          <a:lstStyle/>
          <a:p>
            <a:fld id="{CC13ADC4-536D-428E-8667-0275BB2B031C}" type="slidenum">
              <a:rPr lang="en-GB" smtClean="0"/>
              <a:pPr/>
              <a:t>24</a:t>
            </a:fld>
            <a:endParaRPr lang="en-GB"/>
          </a:p>
        </p:txBody>
      </p:sp>
    </p:spTree>
    <p:extLst>
      <p:ext uri="{BB962C8B-B14F-4D97-AF65-F5344CB8AC3E}">
        <p14:creationId xmlns:p14="http://schemas.microsoft.com/office/powerpoint/2010/main" val="39301751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6585" y="260648"/>
            <a:ext cx="7772400" cy="1456267"/>
          </a:xfrm>
        </p:spPr>
        <p:txBody>
          <a:bodyPr/>
          <a:lstStyle/>
          <a:p>
            <a:r>
              <a:rPr lang="en-MY" b="1" dirty="0">
                <a:solidFill>
                  <a:srgbClr val="FFC000"/>
                </a:solidFill>
              </a:rPr>
              <a:t>5. Testing</a:t>
            </a:r>
          </a:p>
        </p:txBody>
      </p:sp>
      <p:sp>
        <p:nvSpPr>
          <p:cNvPr id="3" name="Content Placeholder 2"/>
          <p:cNvSpPr>
            <a:spLocks noGrp="1"/>
          </p:cNvSpPr>
          <p:nvPr>
            <p:ph idx="1"/>
          </p:nvPr>
        </p:nvSpPr>
        <p:spPr>
          <a:xfrm>
            <a:off x="457200" y="1412777"/>
            <a:ext cx="8363272" cy="5040560"/>
          </a:xfrm>
        </p:spPr>
        <p:txBody>
          <a:bodyPr>
            <a:normAutofit/>
          </a:bodyPr>
          <a:lstStyle/>
          <a:p>
            <a:pPr marL="0" indent="0">
              <a:buNone/>
            </a:pPr>
            <a:r>
              <a:rPr lang="en-US" sz="2400" b="1" dirty="0">
                <a:solidFill>
                  <a:srgbClr val="00B0F0"/>
                </a:solidFill>
              </a:rPr>
              <a:t>Functional Testing</a:t>
            </a:r>
          </a:p>
          <a:p>
            <a:pPr marL="0" indent="0">
              <a:buNone/>
            </a:pPr>
            <a:endParaRPr lang="en-US" sz="2400" b="1" dirty="0">
              <a:solidFill>
                <a:srgbClr val="00B0F0"/>
              </a:solidFill>
            </a:endParaRPr>
          </a:p>
          <a:p>
            <a:r>
              <a:rPr lang="en-US" sz="2400" dirty="0"/>
              <a:t>The functionality of the app should be tested by </a:t>
            </a:r>
            <a:r>
              <a:rPr lang="en-US" sz="2400" b="1" dirty="0">
                <a:solidFill>
                  <a:srgbClr val="00B0F0"/>
                </a:solidFill>
              </a:rPr>
              <a:t>as many users to cover as many potential testing conditions.</a:t>
            </a:r>
          </a:p>
          <a:p>
            <a:endParaRPr lang="en-US" sz="2400" dirty="0">
              <a:solidFill>
                <a:schemeClr val="accent6"/>
              </a:solidFill>
            </a:endParaRPr>
          </a:p>
          <a:p>
            <a:r>
              <a:rPr lang="en-US" sz="2400" dirty="0"/>
              <a:t>Objective: to ensure that users can use the app’s features and functionality without any issues.</a:t>
            </a:r>
          </a:p>
          <a:p>
            <a:endParaRPr lang="en-US" sz="2400" dirty="0"/>
          </a:p>
          <a:p>
            <a:r>
              <a:rPr lang="en-US" sz="2400" dirty="0"/>
              <a:t>The testing is further into system testing (as a whole), and unit testing (individual functions).</a:t>
            </a:r>
          </a:p>
        </p:txBody>
      </p:sp>
      <p:sp>
        <p:nvSpPr>
          <p:cNvPr id="6" name="Slide Number Placeholder 5"/>
          <p:cNvSpPr>
            <a:spLocks noGrp="1"/>
          </p:cNvSpPr>
          <p:nvPr>
            <p:ph type="sldNum" sz="quarter" idx="12"/>
          </p:nvPr>
        </p:nvSpPr>
        <p:spPr/>
        <p:txBody>
          <a:bodyPr/>
          <a:lstStyle/>
          <a:p>
            <a:fld id="{CC13ADC4-536D-428E-8667-0275BB2B031C}" type="slidenum">
              <a:rPr lang="en-GB" smtClean="0"/>
              <a:pPr/>
              <a:t>25</a:t>
            </a:fld>
            <a:endParaRPr lang="en-GB"/>
          </a:p>
        </p:txBody>
      </p:sp>
    </p:spTree>
    <p:extLst>
      <p:ext uri="{BB962C8B-B14F-4D97-AF65-F5344CB8AC3E}">
        <p14:creationId xmlns:p14="http://schemas.microsoft.com/office/powerpoint/2010/main" val="9860302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2297" y="260648"/>
            <a:ext cx="7772400" cy="1456267"/>
          </a:xfrm>
        </p:spPr>
        <p:txBody>
          <a:bodyPr/>
          <a:lstStyle/>
          <a:p>
            <a:r>
              <a:rPr lang="en-MY" dirty="0">
                <a:solidFill>
                  <a:srgbClr val="FFC000"/>
                </a:solidFill>
              </a:rPr>
              <a:t>5. Testing</a:t>
            </a:r>
          </a:p>
        </p:txBody>
      </p:sp>
      <p:sp>
        <p:nvSpPr>
          <p:cNvPr id="3" name="Content Placeholder 2"/>
          <p:cNvSpPr>
            <a:spLocks noGrp="1"/>
          </p:cNvSpPr>
          <p:nvPr>
            <p:ph idx="1"/>
          </p:nvPr>
        </p:nvSpPr>
        <p:spPr>
          <a:xfrm>
            <a:off x="457200" y="1484784"/>
            <a:ext cx="8229600" cy="5112568"/>
          </a:xfrm>
        </p:spPr>
        <p:txBody>
          <a:bodyPr>
            <a:normAutofit lnSpcReduction="10000"/>
          </a:bodyPr>
          <a:lstStyle/>
          <a:p>
            <a:pPr marL="0" indent="0">
              <a:buNone/>
            </a:pPr>
            <a:r>
              <a:rPr lang="en-US" sz="2400" b="1" dirty="0">
                <a:solidFill>
                  <a:srgbClr val="00B0F0"/>
                </a:solidFill>
              </a:rPr>
              <a:t>Performance Testing</a:t>
            </a:r>
          </a:p>
          <a:p>
            <a:pPr marL="0" indent="0">
              <a:buNone/>
            </a:pPr>
            <a:endParaRPr lang="en-US" sz="2400" b="1" dirty="0">
              <a:solidFill>
                <a:srgbClr val="00B0F0"/>
              </a:solidFill>
            </a:endParaRPr>
          </a:p>
          <a:p>
            <a:r>
              <a:rPr lang="en-US" sz="2400" dirty="0"/>
              <a:t>Quantitative criteria to use for measuring the performance such as: </a:t>
            </a:r>
          </a:p>
          <a:p>
            <a:pPr lvl="1"/>
            <a:r>
              <a:rPr lang="en-US" sz="2400" dirty="0"/>
              <a:t>How well the app responding to the user requests?</a:t>
            </a:r>
          </a:p>
          <a:p>
            <a:pPr lvl="1"/>
            <a:r>
              <a:rPr lang="en-US" sz="2400" dirty="0"/>
              <a:t>How fast are the app’s screens loading?</a:t>
            </a:r>
          </a:p>
          <a:p>
            <a:pPr lvl="1"/>
            <a:r>
              <a:rPr lang="en-US" sz="2400" dirty="0"/>
              <a:t>Is the app draining the phone battery or causing memory leaks?</a:t>
            </a:r>
          </a:p>
          <a:p>
            <a:pPr lvl="1"/>
            <a:r>
              <a:rPr lang="en-US" sz="2400" dirty="0"/>
              <a:t>Does the app leverage network bandwidth efficiently?</a:t>
            </a:r>
          </a:p>
          <a:p>
            <a:pPr lvl="1"/>
            <a:r>
              <a:rPr lang="en-US" sz="2400" dirty="0"/>
              <a:t>Is the size of the app bigger than what it should be?</a:t>
            </a:r>
          </a:p>
          <a:p>
            <a:pPr lvl="1"/>
            <a:r>
              <a:rPr lang="en-US" sz="2400" dirty="0"/>
              <a:t>How the app handle the when usage spikes.</a:t>
            </a:r>
          </a:p>
        </p:txBody>
      </p:sp>
      <p:sp>
        <p:nvSpPr>
          <p:cNvPr id="6" name="Slide Number Placeholder 5"/>
          <p:cNvSpPr>
            <a:spLocks noGrp="1"/>
          </p:cNvSpPr>
          <p:nvPr>
            <p:ph type="sldNum" sz="quarter" idx="12"/>
          </p:nvPr>
        </p:nvSpPr>
        <p:spPr/>
        <p:txBody>
          <a:bodyPr/>
          <a:lstStyle/>
          <a:p>
            <a:fld id="{CC13ADC4-536D-428E-8667-0275BB2B031C}" type="slidenum">
              <a:rPr lang="en-GB" smtClean="0"/>
              <a:pPr/>
              <a:t>26</a:t>
            </a:fld>
            <a:endParaRPr lang="en-GB"/>
          </a:p>
        </p:txBody>
      </p:sp>
    </p:spTree>
    <p:extLst>
      <p:ext uri="{BB962C8B-B14F-4D97-AF65-F5344CB8AC3E}">
        <p14:creationId xmlns:p14="http://schemas.microsoft.com/office/powerpoint/2010/main" val="33412081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3212"/>
            <a:ext cx="7772400" cy="1456267"/>
          </a:xfrm>
        </p:spPr>
        <p:txBody>
          <a:bodyPr/>
          <a:lstStyle/>
          <a:p>
            <a:r>
              <a:rPr lang="en-MY" b="1" dirty="0">
                <a:solidFill>
                  <a:srgbClr val="FFC000"/>
                </a:solidFill>
              </a:rPr>
              <a:t>5. Testing</a:t>
            </a:r>
          </a:p>
        </p:txBody>
      </p:sp>
      <p:sp>
        <p:nvSpPr>
          <p:cNvPr id="3" name="Content Placeholder 2"/>
          <p:cNvSpPr>
            <a:spLocks noGrp="1"/>
          </p:cNvSpPr>
          <p:nvPr>
            <p:ph idx="1"/>
          </p:nvPr>
        </p:nvSpPr>
        <p:spPr>
          <a:xfrm>
            <a:off x="457200" y="1600200"/>
            <a:ext cx="8229600" cy="4954588"/>
          </a:xfrm>
        </p:spPr>
        <p:txBody>
          <a:bodyPr>
            <a:normAutofit/>
          </a:bodyPr>
          <a:lstStyle/>
          <a:p>
            <a:pPr marL="0" indent="0" algn="just">
              <a:buNone/>
            </a:pPr>
            <a:r>
              <a:rPr lang="en-US" sz="2400" b="1" dirty="0">
                <a:solidFill>
                  <a:srgbClr val="00B0F0"/>
                </a:solidFill>
              </a:rPr>
              <a:t>Security Testing</a:t>
            </a:r>
          </a:p>
          <a:p>
            <a:pPr marL="0" indent="0" algn="just">
              <a:buNone/>
            </a:pPr>
            <a:endParaRPr lang="en-US" sz="2400" b="1" dirty="0">
              <a:solidFill>
                <a:srgbClr val="00B0F0"/>
              </a:solidFill>
            </a:endParaRPr>
          </a:p>
          <a:p>
            <a:pPr algn="just"/>
            <a:r>
              <a:rPr lang="en-US" sz="2400" dirty="0"/>
              <a:t>Security is of utmost concern for enterprise mobile apps. Any potential vulnerability can lead to a hack.</a:t>
            </a:r>
          </a:p>
          <a:p>
            <a:pPr algn="just"/>
            <a:endParaRPr lang="en-US" sz="2400" dirty="0"/>
          </a:p>
          <a:p>
            <a:pPr algn="just"/>
            <a:r>
              <a:rPr lang="en-US" sz="2400" dirty="0"/>
              <a:t>Many companies hire outside agencies to perform thorough security testing on their app.</a:t>
            </a:r>
          </a:p>
          <a:p>
            <a:pPr algn="just"/>
            <a:endParaRPr lang="en-US" sz="2400" dirty="0"/>
          </a:p>
          <a:p>
            <a:pPr algn="just"/>
            <a:r>
              <a:rPr lang="en-US" sz="2400" dirty="0"/>
              <a:t>QA &amp; development teams can take a few simple measures to make the app secured e.g., data entry forms should be tested to ensure there is no data leakage.</a:t>
            </a:r>
          </a:p>
        </p:txBody>
      </p:sp>
      <p:sp>
        <p:nvSpPr>
          <p:cNvPr id="6" name="Slide Number Placeholder 5"/>
          <p:cNvSpPr>
            <a:spLocks noGrp="1"/>
          </p:cNvSpPr>
          <p:nvPr>
            <p:ph type="sldNum" sz="quarter" idx="12"/>
          </p:nvPr>
        </p:nvSpPr>
        <p:spPr/>
        <p:txBody>
          <a:bodyPr/>
          <a:lstStyle/>
          <a:p>
            <a:fld id="{CC13ADC4-536D-428E-8667-0275BB2B031C}" type="slidenum">
              <a:rPr lang="en-GB" smtClean="0"/>
              <a:pPr/>
              <a:t>27</a:t>
            </a:fld>
            <a:endParaRPr lang="en-GB"/>
          </a:p>
        </p:txBody>
      </p:sp>
    </p:spTree>
    <p:extLst>
      <p:ext uri="{BB962C8B-B14F-4D97-AF65-F5344CB8AC3E}">
        <p14:creationId xmlns:p14="http://schemas.microsoft.com/office/powerpoint/2010/main" val="24695348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b="1" dirty="0">
                <a:solidFill>
                  <a:srgbClr val="FFC000"/>
                </a:solidFill>
              </a:rPr>
              <a:t>5. Testing</a:t>
            </a:r>
          </a:p>
        </p:txBody>
      </p:sp>
      <p:sp>
        <p:nvSpPr>
          <p:cNvPr id="3" name="Content Placeholder 2"/>
          <p:cNvSpPr>
            <a:spLocks noGrp="1"/>
          </p:cNvSpPr>
          <p:nvPr>
            <p:ph idx="1"/>
          </p:nvPr>
        </p:nvSpPr>
        <p:spPr>
          <a:xfrm>
            <a:off x="457200" y="2142068"/>
            <a:ext cx="8363272" cy="4106331"/>
          </a:xfrm>
        </p:spPr>
        <p:txBody>
          <a:bodyPr>
            <a:normAutofit/>
          </a:bodyPr>
          <a:lstStyle/>
          <a:p>
            <a:pPr marL="0" indent="0">
              <a:buNone/>
            </a:pPr>
            <a:r>
              <a:rPr lang="en-US" sz="2400" b="1" dirty="0">
                <a:solidFill>
                  <a:srgbClr val="00B0F0"/>
                </a:solidFill>
              </a:rPr>
              <a:t>Device and Platform Testing</a:t>
            </a:r>
          </a:p>
          <a:p>
            <a:pPr marL="0" indent="0">
              <a:buNone/>
            </a:pPr>
            <a:endParaRPr lang="en-US" sz="2400" dirty="0"/>
          </a:p>
          <a:p>
            <a:r>
              <a:rPr lang="en-US" sz="2400" dirty="0"/>
              <a:t>Mobile operating systems are updated every few months. Also, the devices come in different sizes and shapes.</a:t>
            </a:r>
          </a:p>
          <a:p>
            <a:endParaRPr lang="en-US" sz="2400" dirty="0"/>
          </a:p>
          <a:p>
            <a:r>
              <a:rPr lang="en-US" sz="2400" dirty="0"/>
              <a:t>Thus, the app must be tested on multiple mobile devices or device simulators to ensure smooth working of the app for all users.</a:t>
            </a:r>
          </a:p>
          <a:p>
            <a:endParaRPr lang="en-US" sz="2400" dirty="0"/>
          </a:p>
        </p:txBody>
      </p:sp>
      <p:sp>
        <p:nvSpPr>
          <p:cNvPr id="6" name="Slide Number Placeholder 5"/>
          <p:cNvSpPr>
            <a:spLocks noGrp="1"/>
          </p:cNvSpPr>
          <p:nvPr>
            <p:ph type="sldNum" sz="quarter" idx="12"/>
          </p:nvPr>
        </p:nvSpPr>
        <p:spPr/>
        <p:txBody>
          <a:bodyPr/>
          <a:lstStyle/>
          <a:p>
            <a:fld id="{CC13ADC4-536D-428E-8667-0275BB2B031C}" type="slidenum">
              <a:rPr lang="en-GB" smtClean="0"/>
              <a:pPr/>
              <a:t>28</a:t>
            </a:fld>
            <a:endParaRPr lang="en-GB"/>
          </a:p>
        </p:txBody>
      </p:sp>
    </p:spTree>
    <p:extLst>
      <p:ext uri="{BB962C8B-B14F-4D97-AF65-F5344CB8AC3E}">
        <p14:creationId xmlns:p14="http://schemas.microsoft.com/office/powerpoint/2010/main" val="4817509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8665"/>
            <a:ext cx="7772400" cy="1456267"/>
          </a:xfrm>
        </p:spPr>
        <p:txBody>
          <a:bodyPr/>
          <a:lstStyle/>
          <a:p>
            <a:r>
              <a:rPr lang="en-MY" b="1" dirty="0">
                <a:solidFill>
                  <a:srgbClr val="FFC000"/>
                </a:solidFill>
              </a:rPr>
              <a:t>5. Testing</a:t>
            </a:r>
          </a:p>
        </p:txBody>
      </p:sp>
      <p:sp>
        <p:nvSpPr>
          <p:cNvPr id="3" name="Content Placeholder 2"/>
          <p:cNvSpPr>
            <a:spLocks noGrp="1"/>
          </p:cNvSpPr>
          <p:nvPr>
            <p:ph idx="1"/>
          </p:nvPr>
        </p:nvSpPr>
        <p:spPr>
          <a:xfrm>
            <a:off x="457200" y="1700808"/>
            <a:ext cx="8291264" cy="4547593"/>
          </a:xfrm>
        </p:spPr>
        <p:txBody>
          <a:bodyPr>
            <a:normAutofit/>
          </a:bodyPr>
          <a:lstStyle/>
          <a:p>
            <a:pPr algn="just"/>
            <a:r>
              <a:rPr lang="en-US" sz="2400" dirty="0"/>
              <a:t>The complexity of mobile app testing on all mobile devices, ongoing support costs, and headaches of mobile device management are primary reasons why companies tend to build their enterprise mobile apps for a single mobile platform.</a:t>
            </a:r>
          </a:p>
          <a:p>
            <a:pPr algn="just"/>
            <a:endParaRPr lang="en-US" sz="2400" dirty="0"/>
          </a:p>
          <a:p>
            <a:pPr algn="just"/>
            <a:r>
              <a:rPr lang="en-US" sz="2400" dirty="0"/>
              <a:t>Testing is imperative to an app’s future success. </a:t>
            </a:r>
          </a:p>
          <a:p>
            <a:pPr algn="just"/>
            <a:endParaRPr lang="en-US" sz="2400" dirty="0"/>
          </a:p>
          <a:p>
            <a:pPr algn="just"/>
            <a:r>
              <a:rPr lang="en-US" sz="2400" dirty="0"/>
              <a:t>Having a </a:t>
            </a:r>
            <a:r>
              <a:rPr lang="en-US" sz="2400" b="1" dirty="0">
                <a:solidFill>
                  <a:srgbClr val="00B0F0"/>
                </a:solidFill>
              </a:rPr>
              <a:t>comprehensive mobile testing strategy </a:t>
            </a:r>
            <a:r>
              <a:rPr lang="en-US" sz="2400" dirty="0"/>
              <a:t>is a must for delivering a quality mobile app.</a:t>
            </a:r>
          </a:p>
          <a:p>
            <a:pPr algn="just"/>
            <a:endParaRPr lang="en-US" sz="2400" dirty="0"/>
          </a:p>
        </p:txBody>
      </p:sp>
      <p:sp>
        <p:nvSpPr>
          <p:cNvPr id="6" name="Slide Number Placeholder 5"/>
          <p:cNvSpPr>
            <a:spLocks noGrp="1"/>
          </p:cNvSpPr>
          <p:nvPr>
            <p:ph type="sldNum" sz="quarter" idx="12"/>
          </p:nvPr>
        </p:nvSpPr>
        <p:spPr/>
        <p:txBody>
          <a:bodyPr/>
          <a:lstStyle/>
          <a:p>
            <a:fld id="{CC13ADC4-536D-428E-8667-0275BB2B031C}" type="slidenum">
              <a:rPr lang="en-GB" smtClean="0"/>
              <a:pPr/>
              <a:t>29</a:t>
            </a:fld>
            <a:endParaRPr lang="en-GB"/>
          </a:p>
        </p:txBody>
      </p:sp>
    </p:spTree>
    <p:extLst>
      <p:ext uri="{BB962C8B-B14F-4D97-AF65-F5344CB8AC3E}">
        <p14:creationId xmlns:p14="http://schemas.microsoft.com/office/powerpoint/2010/main" val="2974740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4664"/>
            <a:ext cx="7772400" cy="1456267"/>
          </a:xfrm>
        </p:spPr>
        <p:txBody>
          <a:bodyPr>
            <a:normAutofit/>
          </a:bodyPr>
          <a:lstStyle/>
          <a:p>
            <a:r>
              <a:rPr lang="en-MY" sz="3200" b="1" dirty="0">
                <a:solidFill>
                  <a:srgbClr val="FFC000"/>
                </a:solidFill>
              </a:rPr>
              <a:t>6. </a:t>
            </a:r>
            <a:r>
              <a:rPr lang="en-US" sz="3200" b="1" dirty="0">
                <a:solidFill>
                  <a:srgbClr val="FFC000"/>
                </a:solidFill>
              </a:rPr>
              <a:t>Deployment &amp; Support</a:t>
            </a:r>
            <a:endParaRPr lang="en-MY" sz="3200" b="1" dirty="0">
              <a:solidFill>
                <a:srgbClr val="FFC000"/>
              </a:solidFill>
            </a:endParaRPr>
          </a:p>
        </p:txBody>
      </p:sp>
      <p:sp>
        <p:nvSpPr>
          <p:cNvPr id="3" name="Content Placeholder 2"/>
          <p:cNvSpPr>
            <a:spLocks noGrp="1"/>
          </p:cNvSpPr>
          <p:nvPr>
            <p:ph idx="1"/>
          </p:nvPr>
        </p:nvSpPr>
        <p:spPr>
          <a:xfrm>
            <a:off x="457200" y="1860932"/>
            <a:ext cx="8147248" cy="4387468"/>
          </a:xfrm>
        </p:spPr>
        <p:txBody>
          <a:bodyPr>
            <a:normAutofit/>
          </a:bodyPr>
          <a:lstStyle/>
          <a:p>
            <a:pPr algn="just"/>
            <a:r>
              <a:rPr lang="en-US" sz="2400" dirty="0"/>
              <a:t>Releasing a </a:t>
            </a:r>
            <a:r>
              <a:rPr lang="en-US" sz="2400" b="1" dirty="0">
                <a:solidFill>
                  <a:srgbClr val="00B0F0"/>
                </a:solidFill>
              </a:rPr>
              <a:t>native mobile app </a:t>
            </a:r>
            <a:r>
              <a:rPr lang="en-US" sz="2400" dirty="0"/>
              <a:t>requires submitting the app to </a:t>
            </a:r>
            <a:r>
              <a:rPr lang="en-US" sz="2400" b="1" dirty="0">
                <a:solidFill>
                  <a:srgbClr val="00B0F0"/>
                </a:solidFill>
              </a:rPr>
              <a:t>Apple App Store </a:t>
            </a:r>
            <a:r>
              <a:rPr lang="en-US" sz="2400" dirty="0"/>
              <a:t>and </a:t>
            </a:r>
            <a:r>
              <a:rPr lang="en-US" sz="2400" b="1" dirty="0">
                <a:solidFill>
                  <a:srgbClr val="00B0F0"/>
                </a:solidFill>
              </a:rPr>
              <a:t>Google Play Store</a:t>
            </a:r>
            <a:r>
              <a:rPr lang="en-US" sz="2400" dirty="0"/>
              <a:t>.</a:t>
            </a:r>
          </a:p>
          <a:p>
            <a:pPr algn="just"/>
            <a:endParaRPr lang="en-US" sz="2400" dirty="0"/>
          </a:p>
          <a:p>
            <a:pPr algn="just"/>
            <a:r>
              <a:rPr lang="en-US" sz="2400" dirty="0"/>
              <a:t>For that, a developer account with Apple App Store and Google Play Store is required.</a:t>
            </a:r>
          </a:p>
          <a:p>
            <a:pPr algn="just"/>
            <a:endParaRPr lang="en-US" sz="2400" dirty="0"/>
          </a:p>
          <a:p>
            <a:pPr algn="just"/>
            <a:r>
              <a:rPr lang="en-US" sz="2400" dirty="0"/>
              <a:t>The iOS apps need to go through a </a:t>
            </a:r>
            <a:r>
              <a:rPr lang="en-US" sz="2400" b="1" dirty="0">
                <a:solidFill>
                  <a:srgbClr val="00B0F0"/>
                </a:solidFill>
              </a:rPr>
              <a:t>review process </a:t>
            </a:r>
            <a:r>
              <a:rPr lang="en-US" sz="2400" dirty="0"/>
              <a:t>which may take from a few days to several weeks depending on the quality of the app &amp; guidelines.</a:t>
            </a:r>
          </a:p>
        </p:txBody>
      </p:sp>
      <p:sp>
        <p:nvSpPr>
          <p:cNvPr id="5" name="Slide Number Placeholder 4"/>
          <p:cNvSpPr>
            <a:spLocks noGrp="1"/>
          </p:cNvSpPr>
          <p:nvPr>
            <p:ph type="sldNum" sz="quarter" idx="12"/>
          </p:nvPr>
        </p:nvSpPr>
        <p:spPr/>
        <p:txBody>
          <a:bodyPr/>
          <a:lstStyle/>
          <a:p>
            <a:fld id="{CC13ADC4-536D-428E-8667-0275BB2B031C}" type="slidenum">
              <a:rPr lang="en-GB" smtClean="0"/>
              <a:pPr/>
              <a:t>30</a:t>
            </a:fld>
            <a:endParaRPr lang="en-GB"/>
          </a:p>
        </p:txBody>
      </p:sp>
    </p:spTree>
    <p:extLst>
      <p:ext uri="{BB962C8B-B14F-4D97-AF65-F5344CB8AC3E}">
        <p14:creationId xmlns:p14="http://schemas.microsoft.com/office/powerpoint/2010/main" val="31013223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19018"/>
            <a:ext cx="7772400" cy="1456267"/>
          </a:xfrm>
        </p:spPr>
        <p:txBody>
          <a:bodyPr/>
          <a:lstStyle/>
          <a:p>
            <a:r>
              <a:rPr lang="en-MY" b="1" dirty="0">
                <a:solidFill>
                  <a:srgbClr val="FFC000"/>
                </a:solidFill>
              </a:rPr>
              <a:t>6. </a:t>
            </a:r>
            <a:r>
              <a:rPr lang="en-US" b="1" dirty="0">
                <a:solidFill>
                  <a:srgbClr val="FFC000"/>
                </a:solidFill>
              </a:rPr>
              <a:t>Deployment &amp; Support</a:t>
            </a:r>
            <a:endParaRPr lang="en-MY" b="1" dirty="0">
              <a:solidFill>
                <a:srgbClr val="FFC000"/>
              </a:solidFill>
            </a:endParaRPr>
          </a:p>
        </p:txBody>
      </p:sp>
      <p:sp>
        <p:nvSpPr>
          <p:cNvPr id="3" name="Content Placeholder 2"/>
          <p:cNvSpPr>
            <a:spLocks noGrp="1"/>
          </p:cNvSpPr>
          <p:nvPr>
            <p:ph idx="1"/>
          </p:nvPr>
        </p:nvSpPr>
        <p:spPr>
          <a:xfrm>
            <a:off x="457200" y="1875285"/>
            <a:ext cx="8147248" cy="3995291"/>
          </a:xfrm>
        </p:spPr>
        <p:txBody>
          <a:bodyPr>
            <a:normAutofit/>
          </a:bodyPr>
          <a:lstStyle/>
          <a:p>
            <a:pPr algn="just"/>
            <a:r>
              <a:rPr lang="en-US" sz="2400" dirty="0"/>
              <a:t>For Android apps, there isn’t any review process - the app will become available within a few hours of submission.</a:t>
            </a:r>
          </a:p>
          <a:p>
            <a:pPr algn="just"/>
            <a:endParaRPr lang="en-US" sz="2400" dirty="0"/>
          </a:p>
          <a:p>
            <a:pPr algn="just"/>
            <a:r>
              <a:rPr lang="en-US" sz="2400" dirty="0"/>
              <a:t>After the app is become available, monitor its usage through </a:t>
            </a:r>
            <a:r>
              <a:rPr lang="en-US" sz="2400" b="1" dirty="0">
                <a:solidFill>
                  <a:srgbClr val="00B0F0"/>
                </a:solidFill>
              </a:rPr>
              <a:t>mobile analytics platforms and track Key Performance Indicators (KPIs) </a:t>
            </a:r>
            <a:r>
              <a:rPr lang="en-US" sz="2400" dirty="0"/>
              <a:t>for measuring the app’s success. </a:t>
            </a:r>
          </a:p>
          <a:p>
            <a:pPr algn="just"/>
            <a:endParaRPr lang="en-US" sz="2400" dirty="0"/>
          </a:p>
          <a:p>
            <a:r>
              <a:rPr lang="en-US" sz="2400" dirty="0"/>
              <a:t>Also need to frequently check for  </a:t>
            </a:r>
            <a:r>
              <a:rPr lang="en-US" sz="2400" b="1" dirty="0">
                <a:solidFill>
                  <a:srgbClr val="00B0F0"/>
                </a:solidFill>
              </a:rPr>
              <a:t>crash reports</a:t>
            </a:r>
            <a:r>
              <a:rPr lang="en-US" sz="2400" dirty="0"/>
              <a:t>, or other user reported issues.</a:t>
            </a:r>
            <a:endParaRPr lang="en-MY" sz="2400" dirty="0"/>
          </a:p>
        </p:txBody>
      </p:sp>
      <p:sp>
        <p:nvSpPr>
          <p:cNvPr id="5" name="Slide Number Placeholder 4"/>
          <p:cNvSpPr>
            <a:spLocks noGrp="1"/>
          </p:cNvSpPr>
          <p:nvPr>
            <p:ph type="sldNum" sz="quarter" idx="12"/>
          </p:nvPr>
        </p:nvSpPr>
        <p:spPr/>
        <p:txBody>
          <a:bodyPr/>
          <a:lstStyle/>
          <a:p>
            <a:fld id="{CC13ADC4-536D-428E-8667-0275BB2B031C}" type="slidenum">
              <a:rPr lang="en-GB" smtClean="0"/>
              <a:pPr/>
              <a:t>31</a:t>
            </a:fld>
            <a:endParaRPr lang="en-GB"/>
          </a:p>
        </p:txBody>
      </p:sp>
    </p:spTree>
    <p:extLst>
      <p:ext uri="{BB962C8B-B14F-4D97-AF65-F5344CB8AC3E}">
        <p14:creationId xmlns:p14="http://schemas.microsoft.com/office/powerpoint/2010/main" val="27238849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389406"/>
            <a:ext cx="7772400" cy="1456267"/>
          </a:xfrm>
        </p:spPr>
        <p:txBody>
          <a:bodyPr>
            <a:normAutofit/>
          </a:bodyPr>
          <a:lstStyle/>
          <a:p>
            <a:r>
              <a:rPr lang="en-MY" sz="3200" b="1" dirty="0">
                <a:solidFill>
                  <a:srgbClr val="FFC000"/>
                </a:solidFill>
              </a:rPr>
              <a:t>6. </a:t>
            </a:r>
            <a:r>
              <a:rPr lang="en-US" sz="3200" b="1" dirty="0">
                <a:solidFill>
                  <a:srgbClr val="FFC000"/>
                </a:solidFill>
              </a:rPr>
              <a:t>Deployment &amp; Support</a:t>
            </a:r>
            <a:endParaRPr lang="en-MY" sz="3200" b="1" dirty="0">
              <a:solidFill>
                <a:srgbClr val="FFC000"/>
              </a:solidFill>
            </a:endParaRPr>
          </a:p>
        </p:txBody>
      </p:sp>
      <p:sp>
        <p:nvSpPr>
          <p:cNvPr id="3" name="Content Placeholder 2"/>
          <p:cNvSpPr>
            <a:spLocks noGrp="1"/>
          </p:cNvSpPr>
          <p:nvPr>
            <p:ph idx="1"/>
          </p:nvPr>
        </p:nvSpPr>
        <p:spPr>
          <a:xfrm>
            <a:off x="457200" y="1700808"/>
            <a:ext cx="8147248" cy="4752528"/>
          </a:xfrm>
        </p:spPr>
        <p:txBody>
          <a:bodyPr>
            <a:normAutofit/>
          </a:bodyPr>
          <a:lstStyle/>
          <a:p>
            <a:r>
              <a:rPr lang="en-US" sz="2400" dirty="0"/>
              <a:t>For support, let users to provide </a:t>
            </a:r>
            <a:r>
              <a:rPr lang="en-US" sz="2400" b="1" dirty="0">
                <a:solidFill>
                  <a:srgbClr val="00B0F0"/>
                </a:solidFill>
              </a:rPr>
              <a:t>feedback and suggestions</a:t>
            </a:r>
            <a:r>
              <a:rPr lang="en-US" sz="2400" dirty="0">
                <a:solidFill>
                  <a:srgbClr val="00B0F0"/>
                </a:solidFill>
              </a:rPr>
              <a:t> </a:t>
            </a:r>
            <a:r>
              <a:rPr lang="en-US" sz="2400" dirty="0"/>
              <a:t>on app to keeping users engaged. </a:t>
            </a:r>
          </a:p>
          <a:p>
            <a:endParaRPr lang="en-US" sz="2400" dirty="0"/>
          </a:p>
          <a:p>
            <a:r>
              <a:rPr lang="en-US" sz="2400" dirty="0"/>
              <a:t>Unlike web apps where patch releases can be available to app users instantly, </a:t>
            </a:r>
            <a:r>
              <a:rPr lang="en-US" sz="2400" dirty="0">
                <a:solidFill>
                  <a:schemeClr val="accent6"/>
                </a:solidFill>
              </a:rPr>
              <a:t> </a:t>
            </a:r>
            <a:r>
              <a:rPr lang="en-US" sz="2400" b="1" dirty="0">
                <a:solidFill>
                  <a:srgbClr val="00B0F0"/>
                </a:solidFill>
              </a:rPr>
              <a:t>mobile app updates </a:t>
            </a:r>
            <a:r>
              <a:rPr lang="en-US" sz="2400" dirty="0"/>
              <a:t>will have to go through the same submission and review process as the initial submission. </a:t>
            </a:r>
          </a:p>
          <a:p>
            <a:endParaRPr lang="en-US" sz="2400" dirty="0"/>
          </a:p>
          <a:p>
            <a:r>
              <a:rPr lang="en-US" sz="2400" dirty="0"/>
              <a:t>The native mobile apps must continually stay on top of technology advancements and routinely update the app for new mobile devices and OS platforms.</a:t>
            </a:r>
            <a:endParaRPr lang="en-MY" sz="2400" dirty="0"/>
          </a:p>
        </p:txBody>
      </p:sp>
      <p:sp>
        <p:nvSpPr>
          <p:cNvPr id="5" name="Slide Number Placeholder 4"/>
          <p:cNvSpPr>
            <a:spLocks noGrp="1"/>
          </p:cNvSpPr>
          <p:nvPr>
            <p:ph type="sldNum" sz="quarter" idx="12"/>
          </p:nvPr>
        </p:nvSpPr>
        <p:spPr/>
        <p:txBody>
          <a:bodyPr/>
          <a:lstStyle/>
          <a:p>
            <a:fld id="{CC13ADC4-536D-428E-8667-0275BB2B031C}" type="slidenum">
              <a:rPr lang="en-GB" smtClean="0"/>
              <a:pPr/>
              <a:t>32</a:t>
            </a:fld>
            <a:endParaRPr lang="en-GB"/>
          </a:p>
        </p:txBody>
      </p:sp>
    </p:spTree>
    <p:extLst>
      <p:ext uri="{BB962C8B-B14F-4D97-AF65-F5344CB8AC3E}">
        <p14:creationId xmlns:p14="http://schemas.microsoft.com/office/powerpoint/2010/main" val="10048008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EB6CC-2C4A-40AF-8043-7994E984CF78}"/>
              </a:ext>
            </a:extLst>
          </p:cNvPr>
          <p:cNvSpPr>
            <a:spLocks noGrp="1"/>
          </p:cNvSpPr>
          <p:nvPr>
            <p:ph type="title"/>
          </p:nvPr>
        </p:nvSpPr>
        <p:spPr>
          <a:xfrm>
            <a:off x="457200" y="212116"/>
            <a:ext cx="7772400" cy="1456267"/>
          </a:xfrm>
        </p:spPr>
        <p:txBody>
          <a:bodyPr>
            <a:normAutofit/>
          </a:bodyPr>
          <a:lstStyle/>
          <a:p>
            <a:r>
              <a:rPr lang="en-US" sz="3200" b="1" dirty="0">
                <a:solidFill>
                  <a:srgbClr val="FFC000"/>
                </a:solidFill>
              </a:rPr>
              <a:t>SUMMARY</a:t>
            </a:r>
            <a:endParaRPr lang="en-MY" sz="3200" b="1" dirty="0">
              <a:solidFill>
                <a:srgbClr val="FFC000"/>
              </a:solidFill>
            </a:endParaRPr>
          </a:p>
        </p:txBody>
      </p:sp>
      <p:sp>
        <p:nvSpPr>
          <p:cNvPr id="3" name="Content Placeholder 2">
            <a:extLst>
              <a:ext uri="{FF2B5EF4-FFF2-40B4-BE49-F238E27FC236}">
                <a16:creationId xmlns:a16="http://schemas.microsoft.com/office/drawing/2014/main" id="{1305E5B9-9959-4824-B872-9577EE0B7233}"/>
              </a:ext>
            </a:extLst>
          </p:cNvPr>
          <p:cNvSpPr>
            <a:spLocks noGrp="1"/>
          </p:cNvSpPr>
          <p:nvPr>
            <p:ph idx="1"/>
          </p:nvPr>
        </p:nvSpPr>
        <p:spPr>
          <a:xfrm>
            <a:off x="437451" y="1430686"/>
            <a:ext cx="8219256" cy="4896544"/>
          </a:xfrm>
        </p:spPr>
        <p:txBody>
          <a:bodyPr>
            <a:normAutofit lnSpcReduction="10000"/>
          </a:bodyPr>
          <a:lstStyle/>
          <a:p>
            <a:pPr algn="just"/>
            <a:r>
              <a:rPr lang="en-US" sz="2400" dirty="0"/>
              <a:t>The </a:t>
            </a:r>
            <a:r>
              <a:rPr lang="en-US" sz="2400" b="1" dirty="0">
                <a:solidFill>
                  <a:srgbClr val="00B0F0"/>
                </a:solidFill>
              </a:rPr>
              <a:t>mobile app development process</a:t>
            </a:r>
            <a:r>
              <a:rPr lang="en-US" sz="2400" dirty="0">
                <a:solidFill>
                  <a:srgbClr val="00B0F0"/>
                </a:solidFill>
              </a:rPr>
              <a:t> </a:t>
            </a:r>
            <a:r>
              <a:rPr lang="en-US" sz="2400" dirty="0"/>
              <a:t>is a structured approach that transforms an idea into a functional and user-friendly application.</a:t>
            </a:r>
          </a:p>
          <a:p>
            <a:pPr algn="just"/>
            <a:endParaRPr lang="en-US" sz="2400" dirty="0"/>
          </a:p>
          <a:p>
            <a:pPr algn="just"/>
            <a:r>
              <a:rPr lang="en-US" sz="2400" dirty="0"/>
              <a:t>A well-defined process helps </a:t>
            </a:r>
            <a:r>
              <a:rPr lang="en-US" sz="2400" b="1" dirty="0">
                <a:solidFill>
                  <a:srgbClr val="00B0F0"/>
                </a:solidFill>
              </a:rPr>
              <a:t>minimize risks, improve app quality, enhance user experience, and increase market success</a:t>
            </a:r>
            <a:r>
              <a:rPr lang="en-US" sz="2400" dirty="0">
                <a:solidFill>
                  <a:srgbClr val="00B0F0"/>
                </a:solidFill>
              </a:rPr>
              <a:t>.</a:t>
            </a:r>
          </a:p>
          <a:p>
            <a:pPr algn="just"/>
            <a:endParaRPr lang="en-US" sz="2400" dirty="0"/>
          </a:p>
          <a:p>
            <a:pPr algn="just"/>
            <a:r>
              <a:rPr lang="en-US" sz="2400" dirty="0"/>
              <a:t>Additionally, it streamlines team collaboration by ensuring all team members—designers, developers, and testers—are aligned and working towards a common goal, improving efficiency and communication.</a:t>
            </a:r>
            <a:endParaRPr lang="en-MY" sz="2400" dirty="0"/>
          </a:p>
        </p:txBody>
      </p:sp>
      <p:sp>
        <p:nvSpPr>
          <p:cNvPr id="4" name="Slide Number Placeholder 3">
            <a:extLst>
              <a:ext uri="{FF2B5EF4-FFF2-40B4-BE49-F238E27FC236}">
                <a16:creationId xmlns:a16="http://schemas.microsoft.com/office/drawing/2014/main" id="{572CFE60-0D51-42DA-B5F8-03FC92F3EDF4}"/>
              </a:ext>
            </a:extLst>
          </p:cNvPr>
          <p:cNvSpPr>
            <a:spLocks noGrp="1"/>
          </p:cNvSpPr>
          <p:nvPr>
            <p:ph type="sldNum" sz="quarter" idx="12"/>
          </p:nvPr>
        </p:nvSpPr>
        <p:spPr/>
        <p:txBody>
          <a:bodyPr/>
          <a:lstStyle/>
          <a:p>
            <a:fld id="{CC13ADC4-536D-428E-8667-0275BB2B031C}" type="slidenum">
              <a:rPr lang="en-GB" smtClean="0"/>
              <a:pPr/>
              <a:t>33</a:t>
            </a:fld>
            <a:endParaRPr lang="en-GB"/>
          </a:p>
        </p:txBody>
      </p:sp>
    </p:spTree>
    <p:extLst>
      <p:ext uri="{BB962C8B-B14F-4D97-AF65-F5344CB8AC3E}">
        <p14:creationId xmlns:p14="http://schemas.microsoft.com/office/powerpoint/2010/main" val="115930083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10070</TotalTime>
  <Words>1907</Words>
  <Application>Microsoft Office PowerPoint</Application>
  <PresentationFormat>On-screen Show (4:3)</PresentationFormat>
  <Paragraphs>235</Paragraphs>
  <Slides>33</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Calibri Light</vt:lpstr>
      <vt:lpstr>Wingdings</vt:lpstr>
      <vt:lpstr>Celestial</vt:lpstr>
      <vt:lpstr>TCS3254 PROGRAMMING FOR  MOBILE DEVICES </vt:lpstr>
      <vt:lpstr>INTRODUCTION</vt:lpstr>
      <vt:lpstr>Mobile Application Development Process</vt:lpstr>
      <vt:lpstr>PowerPoint Presentation</vt:lpstr>
      <vt:lpstr>1. Strategy</vt:lpstr>
      <vt:lpstr>2. Analysis and Planning</vt:lpstr>
      <vt:lpstr>3. UI / UX Design</vt:lpstr>
      <vt:lpstr>3. UI / UX Design</vt:lpstr>
      <vt:lpstr>3. UI / UX Design</vt:lpstr>
      <vt:lpstr>3. UI / UX Design</vt:lpstr>
      <vt:lpstr>3. UI / UX Design</vt:lpstr>
      <vt:lpstr>3. UI / UX Design</vt:lpstr>
      <vt:lpstr>3. UI / UX Design</vt:lpstr>
      <vt:lpstr>3. UI / UX Design</vt:lpstr>
      <vt:lpstr>3. UI / UX Design</vt:lpstr>
      <vt:lpstr>3. UI / UX Design</vt:lpstr>
      <vt:lpstr>3. UI / UX Design</vt:lpstr>
      <vt:lpstr>3. UI / UX Design</vt:lpstr>
      <vt:lpstr>3. UI / UX Design</vt:lpstr>
      <vt:lpstr>3. UI / UX Design</vt:lpstr>
      <vt:lpstr>4. App Development</vt:lpstr>
      <vt:lpstr>5. Testing</vt:lpstr>
      <vt:lpstr>5. Testing</vt:lpstr>
      <vt:lpstr>5. Testing</vt:lpstr>
      <vt:lpstr>5. Testing</vt:lpstr>
      <vt:lpstr>5. Testing</vt:lpstr>
      <vt:lpstr>5. Testing</vt:lpstr>
      <vt:lpstr>5. Testing</vt:lpstr>
      <vt:lpstr>5. Testing</vt:lpstr>
      <vt:lpstr>6. Deployment &amp; Support</vt:lpstr>
      <vt:lpstr>6. Deployment &amp; Support</vt:lpstr>
      <vt:lpstr>6. Deployment &amp; Support</vt:lpstr>
      <vt:lpstr>SUMMARY</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apex</dc:creator>
  <cp:lastModifiedBy>Nurul Azlia Binti Mat Saat</cp:lastModifiedBy>
  <cp:revision>192</cp:revision>
  <dcterms:created xsi:type="dcterms:W3CDTF">2011-09-07T16:45:53Z</dcterms:created>
  <dcterms:modified xsi:type="dcterms:W3CDTF">2025-02-05T21:27:14Z</dcterms:modified>
</cp:coreProperties>
</file>