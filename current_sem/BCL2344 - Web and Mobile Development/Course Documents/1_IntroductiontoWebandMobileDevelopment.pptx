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750" r:id="rId3"/>
  </p:sldMasterIdLst>
  <p:notesMasterIdLst>
    <p:notesMasterId r:id="rId71"/>
  </p:notesMasterIdLst>
  <p:sldIdLst>
    <p:sldId id="256" r:id="rId4"/>
    <p:sldId id="448" r:id="rId5"/>
    <p:sldId id="367" r:id="rId6"/>
    <p:sldId id="411" r:id="rId7"/>
    <p:sldId id="414" r:id="rId8"/>
    <p:sldId id="413" r:id="rId9"/>
    <p:sldId id="417" r:id="rId10"/>
    <p:sldId id="419" r:id="rId11"/>
    <p:sldId id="420" r:id="rId12"/>
    <p:sldId id="421" r:id="rId13"/>
    <p:sldId id="423" r:id="rId14"/>
    <p:sldId id="422" r:id="rId15"/>
    <p:sldId id="449" r:id="rId16"/>
    <p:sldId id="257" r:id="rId17"/>
    <p:sldId id="278" r:id="rId18"/>
    <p:sldId id="406" r:id="rId19"/>
    <p:sldId id="407" r:id="rId20"/>
    <p:sldId id="309" r:id="rId21"/>
    <p:sldId id="306" r:id="rId22"/>
    <p:sldId id="387" r:id="rId23"/>
    <p:sldId id="388" r:id="rId24"/>
    <p:sldId id="307" r:id="rId25"/>
    <p:sldId id="391" r:id="rId26"/>
    <p:sldId id="392" r:id="rId27"/>
    <p:sldId id="393" r:id="rId28"/>
    <p:sldId id="394" r:id="rId29"/>
    <p:sldId id="383" r:id="rId30"/>
    <p:sldId id="384" r:id="rId31"/>
    <p:sldId id="385" r:id="rId32"/>
    <p:sldId id="390" r:id="rId33"/>
    <p:sldId id="404" r:id="rId34"/>
    <p:sldId id="349" r:id="rId35"/>
    <p:sldId id="397" r:id="rId36"/>
    <p:sldId id="437" r:id="rId37"/>
    <p:sldId id="447" r:id="rId38"/>
    <p:sldId id="445" r:id="rId39"/>
    <p:sldId id="450" r:id="rId40"/>
    <p:sldId id="451" r:id="rId41"/>
    <p:sldId id="438" r:id="rId42"/>
    <p:sldId id="452" r:id="rId43"/>
    <p:sldId id="453" r:id="rId44"/>
    <p:sldId id="454" r:id="rId45"/>
    <p:sldId id="455" r:id="rId46"/>
    <p:sldId id="439" r:id="rId47"/>
    <p:sldId id="458" r:id="rId48"/>
    <p:sldId id="446" r:id="rId49"/>
    <p:sldId id="440" r:id="rId50"/>
    <p:sldId id="459" r:id="rId51"/>
    <p:sldId id="460" r:id="rId52"/>
    <p:sldId id="456" r:id="rId53"/>
    <p:sldId id="461" r:id="rId54"/>
    <p:sldId id="462" r:id="rId55"/>
    <p:sldId id="463" r:id="rId56"/>
    <p:sldId id="464" r:id="rId57"/>
    <p:sldId id="478" r:id="rId58"/>
    <p:sldId id="479" r:id="rId59"/>
    <p:sldId id="469" r:id="rId60"/>
    <p:sldId id="480" r:id="rId61"/>
    <p:sldId id="441" r:id="rId62"/>
    <p:sldId id="470" r:id="rId63"/>
    <p:sldId id="442" r:id="rId64"/>
    <p:sldId id="443" r:id="rId65"/>
    <p:sldId id="444" r:id="rId66"/>
    <p:sldId id="471" r:id="rId67"/>
    <p:sldId id="472" r:id="rId68"/>
    <p:sldId id="435" r:id="rId69"/>
    <p:sldId id="481" r:id="rId70"/>
  </p:sldIdLst>
  <p:sldSz cx="9144000" cy="6858000" type="screen4x3"/>
  <p:notesSz cx="7002463"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606" autoAdjust="0"/>
  </p:normalViewPr>
  <p:slideViewPr>
    <p:cSldViewPr>
      <p:cViewPr varScale="1">
        <p:scale>
          <a:sx n="41" d="100"/>
          <a:sy n="41" d="100"/>
        </p:scale>
        <p:origin x="1485" y="3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theme" Target="theme/theme1.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7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1CE7EF-E84F-420D-8AF2-10E68D46D85D}"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n-US"/>
        </a:p>
      </dgm:t>
    </dgm:pt>
    <dgm:pt modelId="{E9F06525-C6D2-4518-9666-BBD337FB1015}">
      <dgm:prSet/>
      <dgm:spPr/>
      <dgm:t>
        <a:bodyPr/>
        <a:lstStyle/>
        <a:p>
          <a:pPr algn="just">
            <a:lnSpc>
              <a:spcPct val="100000"/>
            </a:lnSpc>
            <a:defRPr b="1"/>
          </a:pPr>
          <a:r>
            <a:rPr lang="en-US"/>
            <a:t>A simple definition could be:</a:t>
          </a:r>
        </a:p>
      </dgm:t>
    </dgm:pt>
    <dgm:pt modelId="{C3B4F942-B8A5-4F5C-BC77-438963C00347}" type="parTrans" cxnId="{C29BDF72-59BF-4F49-AED1-A1867D2EB2CF}">
      <dgm:prSet/>
      <dgm:spPr/>
      <dgm:t>
        <a:bodyPr/>
        <a:lstStyle/>
        <a:p>
          <a:pPr algn="just"/>
          <a:endParaRPr lang="en-US"/>
        </a:p>
      </dgm:t>
    </dgm:pt>
    <dgm:pt modelId="{F0D6782A-021A-4814-BB6C-10EB9D047AA1}" type="sibTrans" cxnId="{C29BDF72-59BF-4F49-AED1-A1867D2EB2CF}">
      <dgm:prSet/>
      <dgm:spPr/>
      <dgm:t>
        <a:bodyPr/>
        <a:lstStyle/>
        <a:p>
          <a:pPr algn="just"/>
          <a:endParaRPr lang="en-US"/>
        </a:p>
      </dgm:t>
    </dgm:pt>
    <dgm:pt modelId="{E6D964A0-BB1B-48E7-BE62-64E79BD85617}">
      <dgm:prSet/>
      <dgm:spPr/>
      <dgm:t>
        <a:bodyPr/>
        <a:lstStyle/>
        <a:p>
          <a:pPr algn="just">
            <a:lnSpc>
              <a:spcPct val="100000"/>
            </a:lnSpc>
          </a:pPr>
          <a:r>
            <a:rPr lang="en-US" b="1" dirty="0"/>
            <a:t>Mobile computing </a:t>
          </a:r>
          <a:r>
            <a:rPr lang="en-US" dirty="0"/>
            <a:t>is using  a computer (of one kind or another) while on the move.</a:t>
          </a:r>
        </a:p>
      </dgm:t>
    </dgm:pt>
    <dgm:pt modelId="{9091FA18-ECD1-4A74-8AA3-68C5C8905E1E}" type="parTrans" cxnId="{3C203E95-FA87-40FC-B374-3A64C5A2B24F}">
      <dgm:prSet/>
      <dgm:spPr/>
      <dgm:t>
        <a:bodyPr/>
        <a:lstStyle/>
        <a:p>
          <a:pPr algn="just"/>
          <a:endParaRPr lang="en-US"/>
        </a:p>
      </dgm:t>
    </dgm:pt>
    <dgm:pt modelId="{9CEB538C-0395-4786-B40F-BEAF5F82B244}" type="sibTrans" cxnId="{3C203E95-FA87-40FC-B374-3A64C5A2B24F}">
      <dgm:prSet/>
      <dgm:spPr/>
      <dgm:t>
        <a:bodyPr/>
        <a:lstStyle/>
        <a:p>
          <a:pPr algn="just"/>
          <a:endParaRPr lang="en-US"/>
        </a:p>
      </dgm:t>
    </dgm:pt>
    <dgm:pt modelId="{67D3AAA7-7D82-40A5-9988-E8234246EAC5}">
      <dgm:prSet/>
      <dgm:spPr/>
      <dgm:t>
        <a:bodyPr/>
        <a:lstStyle/>
        <a:p>
          <a:pPr algn="just">
            <a:lnSpc>
              <a:spcPct val="100000"/>
            </a:lnSpc>
            <a:defRPr b="1"/>
          </a:pPr>
          <a:r>
            <a:rPr lang="en-US"/>
            <a:t>Another definition could be:</a:t>
          </a:r>
        </a:p>
      </dgm:t>
    </dgm:pt>
    <dgm:pt modelId="{46718501-94FD-4396-B74E-73A0798EA78E}" type="parTrans" cxnId="{C7D121A5-1943-4CB4-8F51-3498121436EF}">
      <dgm:prSet/>
      <dgm:spPr/>
      <dgm:t>
        <a:bodyPr/>
        <a:lstStyle/>
        <a:p>
          <a:pPr algn="just"/>
          <a:endParaRPr lang="en-US"/>
        </a:p>
      </dgm:t>
    </dgm:pt>
    <dgm:pt modelId="{80D6C47F-1F3A-4D51-A192-36D0E47E16E0}" type="sibTrans" cxnId="{C7D121A5-1943-4CB4-8F51-3498121436EF}">
      <dgm:prSet/>
      <dgm:spPr/>
      <dgm:t>
        <a:bodyPr/>
        <a:lstStyle/>
        <a:p>
          <a:pPr algn="just"/>
          <a:endParaRPr lang="en-US"/>
        </a:p>
      </dgm:t>
    </dgm:pt>
    <dgm:pt modelId="{E37D2C7F-82F9-40A9-B6C4-F09454EBA642}">
      <dgm:prSet/>
      <dgm:spPr/>
      <dgm:t>
        <a:bodyPr/>
        <a:lstStyle/>
        <a:p>
          <a:pPr algn="just">
            <a:lnSpc>
              <a:spcPct val="100000"/>
            </a:lnSpc>
          </a:pPr>
          <a:r>
            <a:rPr lang="en-US" b="1" dirty="0"/>
            <a:t>Mobile computing </a:t>
          </a:r>
          <a:r>
            <a:rPr lang="en-US" dirty="0"/>
            <a:t>is when a (work) process is moved from a normal fixed position to a more dynamic position.</a:t>
          </a:r>
        </a:p>
      </dgm:t>
    </dgm:pt>
    <dgm:pt modelId="{8FA47D85-9A09-4A1A-B80E-209E9562B1D6}" type="parTrans" cxnId="{19CB52F1-6E02-4517-B540-BDB468614CEB}">
      <dgm:prSet/>
      <dgm:spPr/>
      <dgm:t>
        <a:bodyPr/>
        <a:lstStyle/>
        <a:p>
          <a:pPr algn="just"/>
          <a:endParaRPr lang="en-US"/>
        </a:p>
      </dgm:t>
    </dgm:pt>
    <dgm:pt modelId="{D24268F7-B775-40E2-BD2C-DD2E065AB4DB}" type="sibTrans" cxnId="{19CB52F1-6E02-4517-B540-BDB468614CEB}">
      <dgm:prSet/>
      <dgm:spPr/>
      <dgm:t>
        <a:bodyPr/>
        <a:lstStyle/>
        <a:p>
          <a:pPr algn="just"/>
          <a:endParaRPr lang="en-US"/>
        </a:p>
      </dgm:t>
    </dgm:pt>
    <dgm:pt modelId="{F24CF295-094B-441B-B7DF-8FE122F6D7CC}">
      <dgm:prSet/>
      <dgm:spPr/>
      <dgm:t>
        <a:bodyPr/>
        <a:lstStyle/>
        <a:p>
          <a:pPr algn="just">
            <a:lnSpc>
              <a:spcPct val="100000"/>
            </a:lnSpc>
            <a:defRPr b="1"/>
          </a:pPr>
          <a:r>
            <a:rPr lang="en-US"/>
            <a:t>A third definition could be:</a:t>
          </a:r>
        </a:p>
      </dgm:t>
    </dgm:pt>
    <dgm:pt modelId="{BA743D6B-AA89-4719-B334-FD4B800C4357}" type="parTrans" cxnId="{76437CBB-ECC5-4D2A-9FE4-2DF229E80654}">
      <dgm:prSet/>
      <dgm:spPr/>
      <dgm:t>
        <a:bodyPr/>
        <a:lstStyle/>
        <a:p>
          <a:pPr algn="just"/>
          <a:endParaRPr lang="en-US"/>
        </a:p>
      </dgm:t>
    </dgm:pt>
    <dgm:pt modelId="{E6652151-2B5E-45D6-B9EA-619E269A08E7}" type="sibTrans" cxnId="{76437CBB-ECC5-4D2A-9FE4-2DF229E80654}">
      <dgm:prSet/>
      <dgm:spPr/>
      <dgm:t>
        <a:bodyPr/>
        <a:lstStyle/>
        <a:p>
          <a:pPr algn="just"/>
          <a:endParaRPr lang="en-US"/>
        </a:p>
      </dgm:t>
    </dgm:pt>
    <dgm:pt modelId="{24D3EDE3-BD82-4A2C-9D07-168E77C1F857}">
      <dgm:prSet/>
      <dgm:spPr/>
      <dgm:t>
        <a:bodyPr/>
        <a:lstStyle/>
        <a:p>
          <a:pPr algn="just">
            <a:lnSpc>
              <a:spcPct val="100000"/>
            </a:lnSpc>
          </a:pPr>
          <a:r>
            <a:rPr lang="en-US" b="1" dirty="0"/>
            <a:t>Mobile computing </a:t>
          </a:r>
          <a:r>
            <a:rPr lang="en-US" dirty="0"/>
            <a:t>is when a work process is 	carried out somewhere where it was not previously possible</a:t>
          </a:r>
        </a:p>
      </dgm:t>
    </dgm:pt>
    <dgm:pt modelId="{59A25017-07FE-4CD0-B730-D0D95918F1A8}" type="parTrans" cxnId="{EF93DBC8-9034-477F-8C4E-D47E0F3B7D6C}">
      <dgm:prSet/>
      <dgm:spPr/>
      <dgm:t>
        <a:bodyPr/>
        <a:lstStyle/>
        <a:p>
          <a:pPr algn="just"/>
          <a:endParaRPr lang="en-US"/>
        </a:p>
      </dgm:t>
    </dgm:pt>
    <dgm:pt modelId="{A5191F5D-799B-4068-A26C-88AD985029C6}" type="sibTrans" cxnId="{EF93DBC8-9034-477F-8C4E-D47E0F3B7D6C}">
      <dgm:prSet/>
      <dgm:spPr/>
      <dgm:t>
        <a:bodyPr/>
        <a:lstStyle/>
        <a:p>
          <a:pPr algn="just"/>
          <a:endParaRPr lang="en-US"/>
        </a:p>
      </dgm:t>
    </dgm:pt>
    <dgm:pt modelId="{A18CD487-42FF-432C-96D3-A88924D1341C}" type="pres">
      <dgm:prSet presAssocID="{791CE7EF-E84F-420D-8AF2-10E68D46D85D}" presName="linear" presStyleCnt="0">
        <dgm:presLayoutVars>
          <dgm:dir/>
          <dgm:animLvl val="lvl"/>
          <dgm:resizeHandles val="exact"/>
        </dgm:presLayoutVars>
      </dgm:prSet>
      <dgm:spPr/>
    </dgm:pt>
    <dgm:pt modelId="{D85A2A7B-D690-458B-BA00-CEFD1430FA6D}" type="pres">
      <dgm:prSet presAssocID="{E9F06525-C6D2-4518-9666-BBD337FB1015}" presName="parentLin" presStyleCnt="0"/>
      <dgm:spPr/>
    </dgm:pt>
    <dgm:pt modelId="{4BCE5C6B-0812-4E19-8BF3-C5AC03775726}" type="pres">
      <dgm:prSet presAssocID="{E9F06525-C6D2-4518-9666-BBD337FB1015}" presName="parentLeftMargin" presStyleLbl="node1" presStyleIdx="0" presStyleCnt="3"/>
      <dgm:spPr/>
    </dgm:pt>
    <dgm:pt modelId="{949CE95B-815A-4CCB-91BE-20F2057543D6}" type="pres">
      <dgm:prSet presAssocID="{E9F06525-C6D2-4518-9666-BBD337FB1015}" presName="parentText" presStyleLbl="node1" presStyleIdx="0" presStyleCnt="3">
        <dgm:presLayoutVars>
          <dgm:chMax val="0"/>
          <dgm:bulletEnabled val="1"/>
        </dgm:presLayoutVars>
      </dgm:prSet>
      <dgm:spPr/>
    </dgm:pt>
    <dgm:pt modelId="{D4F91A6B-4901-4102-A32E-174709C61E13}" type="pres">
      <dgm:prSet presAssocID="{E9F06525-C6D2-4518-9666-BBD337FB1015}" presName="negativeSpace" presStyleCnt="0"/>
      <dgm:spPr/>
    </dgm:pt>
    <dgm:pt modelId="{02E72785-A92A-482C-89A4-6DC31D9E4363}" type="pres">
      <dgm:prSet presAssocID="{E9F06525-C6D2-4518-9666-BBD337FB1015}" presName="childText" presStyleLbl="conFgAcc1" presStyleIdx="0" presStyleCnt="3">
        <dgm:presLayoutVars>
          <dgm:bulletEnabled val="1"/>
        </dgm:presLayoutVars>
      </dgm:prSet>
      <dgm:spPr/>
    </dgm:pt>
    <dgm:pt modelId="{13023223-CA2F-4A78-BFE7-52DD36E59E69}" type="pres">
      <dgm:prSet presAssocID="{F0D6782A-021A-4814-BB6C-10EB9D047AA1}" presName="spaceBetweenRectangles" presStyleCnt="0"/>
      <dgm:spPr/>
    </dgm:pt>
    <dgm:pt modelId="{94C12AA3-D2FD-4C57-AC7D-1EF3D4834ADC}" type="pres">
      <dgm:prSet presAssocID="{67D3AAA7-7D82-40A5-9988-E8234246EAC5}" presName="parentLin" presStyleCnt="0"/>
      <dgm:spPr/>
    </dgm:pt>
    <dgm:pt modelId="{07B8EC94-19F1-48B1-973A-8E31E124DE9F}" type="pres">
      <dgm:prSet presAssocID="{67D3AAA7-7D82-40A5-9988-E8234246EAC5}" presName="parentLeftMargin" presStyleLbl="node1" presStyleIdx="0" presStyleCnt="3"/>
      <dgm:spPr/>
    </dgm:pt>
    <dgm:pt modelId="{0F161EF7-66A0-4677-8B36-56E204AE05B5}" type="pres">
      <dgm:prSet presAssocID="{67D3AAA7-7D82-40A5-9988-E8234246EAC5}" presName="parentText" presStyleLbl="node1" presStyleIdx="1" presStyleCnt="3">
        <dgm:presLayoutVars>
          <dgm:chMax val="0"/>
          <dgm:bulletEnabled val="1"/>
        </dgm:presLayoutVars>
      </dgm:prSet>
      <dgm:spPr/>
    </dgm:pt>
    <dgm:pt modelId="{AB2F7A79-CAD2-473A-A9CE-1037CD060916}" type="pres">
      <dgm:prSet presAssocID="{67D3AAA7-7D82-40A5-9988-E8234246EAC5}" presName="negativeSpace" presStyleCnt="0"/>
      <dgm:spPr/>
    </dgm:pt>
    <dgm:pt modelId="{6C37EED4-A654-44CB-9F04-2A9CD3931379}" type="pres">
      <dgm:prSet presAssocID="{67D3AAA7-7D82-40A5-9988-E8234246EAC5}" presName="childText" presStyleLbl="conFgAcc1" presStyleIdx="1" presStyleCnt="3">
        <dgm:presLayoutVars>
          <dgm:bulletEnabled val="1"/>
        </dgm:presLayoutVars>
      </dgm:prSet>
      <dgm:spPr/>
    </dgm:pt>
    <dgm:pt modelId="{731809C7-BA08-42BB-8600-AFF6DED576BE}" type="pres">
      <dgm:prSet presAssocID="{80D6C47F-1F3A-4D51-A192-36D0E47E16E0}" presName="spaceBetweenRectangles" presStyleCnt="0"/>
      <dgm:spPr/>
    </dgm:pt>
    <dgm:pt modelId="{DF3CB0DA-6E0C-4F90-960A-4DC51BE3F82D}" type="pres">
      <dgm:prSet presAssocID="{F24CF295-094B-441B-B7DF-8FE122F6D7CC}" presName="parentLin" presStyleCnt="0"/>
      <dgm:spPr/>
    </dgm:pt>
    <dgm:pt modelId="{20D87AB1-2965-4AD8-B122-3840C5646A39}" type="pres">
      <dgm:prSet presAssocID="{F24CF295-094B-441B-B7DF-8FE122F6D7CC}" presName="parentLeftMargin" presStyleLbl="node1" presStyleIdx="1" presStyleCnt="3"/>
      <dgm:spPr/>
    </dgm:pt>
    <dgm:pt modelId="{80614979-B353-4A7C-A9D1-7FC6731D2AF3}" type="pres">
      <dgm:prSet presAssocID="{F24CF295-094B-441B-B7DF-8FE122F6D7CC}" presName="parentText" presStyleLbl="node1" presStyleIdx="2" presStyleCnt="3">
        <dgm:presLayoutVars>
          <dgm:chMax val="0"/>
          <dgm:bulletEnabled val="1"/>
        </dgm:presLayoutVars>
      </dgm:prSet>
      <dgm:spPr/>
    </dgm:pt>
    <dgm:pt modelId="{935F4A43-D7F0-470E-AD68-5A1FE8679C9A}" type="pres">
      <dgm:prSet presAssocID="{F24CF295-094B-441B-B7DF-8FE122F6D7CC}" presName="negativeSpace" presStyleCnt="0"/>
      <dgm:spPr/>
    </dgm:pt>
    <dgm:pt modelId="{9406B00C-DED4-49A4-B5A0-BF0D928404A8}" type="pres">
      <dgm:prSet presAssocID="{F24CF295-094B-441B-B7DF-8FE122F6D7CC}" presName="childText" presStyleLbl="conFgAcc1" presStyleIdx="2" presStyleCnt="3">
        <dgm:presLayoutVars>
          <dgm:bulletEnabled val="1"/>
        </dgm:presLayoutVars>
      </dgm:prSet>
      <dgm:spPr/>
    </dgm:pt>
  </dgm:ptLst>
  <dgm:cxnLst>
    <dgm:cxn modelId="{25A8260C-CAEC-41A4-99AA-5B6EE2197357}" type="presOf" srcId="{F24CF295-094B-441B-B7DF-8FE122F6D7CC}" destId="{20D87AB1-2965-4AD8-B122-3840C5646A39}" srcOrd="0" destOrd="0" presId="urn:microsoft.com/office/officeart/2005/8/layout/list1"/>
    <dgm:cxn modelId="{0DC0A511-6556-4ABF-B45F-AC5871CAB30D}" type="presOf" srcId="{F24CF295-094B-441B-B7DF-8FE122F6D7CC}" destId="{80614979-B353-4A7C-A9D1-7FC6731D2AF3}" srcOrd="1" destOrd="0" presId="urn:microsoft.com/office/officeart/2005/8/layout/list1"/>
    <dgm:cxn modelId="{C29BDF72-59BF-4F49-AED1-A1867D2EB2CF}" srcId="{791CE7EF-E84F-420D-8AF2-10E68D46D85D}" destId="{E9F06525-C6D2-4518-9666-BBD337FB1015}" srcOrd="0" destOrd="0" parTransId="{C3B4F942-B8A5-4F5C-BC77-438963C00347}" sibTransId="{F0D6782A-021A-4814-BB6C-10EB9D047AA1}"/>
    <dgm:cxn modelId="{B7239C73-7B2F-44C5-9707-88B8797C907E}" type="presOf" srcId="{E6D964A0-BB1B-48E7-BE62-64E79BD85617}" destId="{02E72785-A92A-482C-89A4-6DC31D9E4363}" srcOrd="0" destOrd="0" presId="urn:microsoft.com/office/officeart/2005/8/layout/list1"/>
    <dgm:cxn modelId="{4A690A54-C42F-4ED7-A7B9-D1D23F35EF94}" type="presOf" srcId="{791CE7EF-E84F-420D-8AF2-10E68D46D85D}" destId="{A18CD487-42FF-432C-96D3-A88924D1341C}" srcOrd="0" destOrd="0" presId="urn:microsoft.com/office/officeart/2005/8/layout/list1"/>
    <dgm:cxn modelId="{45BADA54-58D6-407D-9675-4BC7AC7779DB}" type="presOf" srcId="{E9F06525-C6D2-4518-9666-BBD337FB1015}" destId="{949CE95B-815A-4CCB-91BE-20F2057543D6}" srcOrd="1" destOrd="0" presId="urn:microsoft.com/office/officeart/2005/8/layout/list1"/>
    <dgm:cxn modelId="{4B3F3181-2E47-4C64-98F9-56BE80FEE7A0}" type="presOf" srcId="{24D3EDE3-BD82-4A2C-9D07-168E77C1F857}" destId="{9406B00C-DED4-49A4-B5A0-BF0D928404A8}" srcOrd="0" destOrd="0" presId="urn:microsoft.com/office/officeart/2005/8/layout/list1"/>
    <dgm:cxn modelId="{0862608E-DC2B-4FDE-A2F9-3F5A98D344CC}" type="presOf" srcId="{67D3AAA7-7D82-40A5-9988-E8234246EAC5}" destId="{0F161EF7-66A0-4677-8B36-56E204AE05B5}" srcOrd="1" destOrd="0" presId="urn:microsoft.com/office/officeart/2005/8/layout/list1"/>
    <dgm:cxn modelId="{4876BF93-DF84-4632-A977-CD7CFF28A03F}" type="presOf" srcId="{E9F06525-C6D2-4518-9666-BBD337FB1015}" destId="{4BCE5C6B-0812-4E19-8BF3-C5AC03775726}" srcOrd="0" destOrd="0" presId="urn:microsoft.com/office/officeart/2005/8/layout/list1"/>
    <dgm:cxn modelId="{3C203E95-FA87-40FC-B374-3A64C5A2B24F}" srcId="{E9F06525-C6D2-4518-9666-BBD337FB1015}" destId="{E6D964A0-BB1B-48E7-BE62-64E79BD85617}" srcOrd="0" destOrd="0" parTransId="{9091FA18-ECD1-4A74-8AA3-68C5C8905E1E}" sibTransId="{9CEB538C-0395-4786-B40F-BEAF5F82B244}"/>
    <dgm:cxn modelId="{C7D121A5-1943-4CB4-8F51-3498121436EF}" srcId="{791CE7EF-E84F-420D-8AF2-10E68D46D85D}" destId="{67D3AAA7-7D82-40A5-9988-E8234246EAC5}" srcOrd="1" destOrd="0" parTransId="{46718501-94FD-4396-B74E-73A0798EA78E}" sibTransId="{80D6C47F-1F3A-4D51-A192-36D0E47E16E0}"/>
    <dgm:cxn modelId="{76437CBB-ECC5-4D2A-9FE4-2DF229E80654}" srcId="{791CE7EF-E84F-420D-8AF2-10E68D46D85D}" destId="{F24CF295-094B-441B-B7DF-8FE122F6D7CC}" srcOrd="2" destOrd="0" parTransId="{BA743D6B-AA89-4719-B334-FD4B800C4357}" sibTransId="{E6652151-2B5E-45D6-B9EA-619E269A08E7}"/>
    <dgm:cxn modelId="{EF93DBC8-9034-477F-8C4E-D47E0F3B7D6C}" srcId="{F24CF295-094B-441B-B7DF-8FE122F6D7CC}" destId="{24D3EDE3-BD82-4A2C-9D07-168E77C1F857}" srcOrd="0" destOrd="0" parTransId="{59A25017-07FE-4CD0-B730-D0D95918F1A8}" sibTransId="{A5191F5D-799B-4068-A26C-88AD985029C6}"/>
    <dgm:cxn modelId="{578EAFDC-F467-40BE-9EDB-5BCBC440898C}" type="presOf" srcId="{67D3AAA7-7D82-40A5-9988-E8234246EAC5}" destId="{07B8EC94-19F1-48B1-973A-8E31E124DE9F}" srcOrd="0" destOrd="0" presId="urn:microsoft.com/office/officeart/2005/8/layout/list1"/>
    <dgm:cxn modelId="{19CB52F1-6E02-4517-B540-BDB468614CEB}" srcId="{67D3AAA7-7D82-40A5-9988-E8234246EAC5}" destId="{E37D2C7F-82F9-40A9-B6C4-F09454EBA642}" srcOrd="0" destOrd="0" parTransId="{8FA47D85-9A09-4A1A-B80E-209E9562B1D6}" sibTransId="{D24268F7-B775-40E2-BD2C-DD2E065AB4DB}"/>
    <dgm:cxn modelId="{4381C1F6-5551-46E9-8F87-71F1EF539626}" type="presOf" srcId="{E37D2C7F-82F9-40A9-B6C4-F09454EBA642}" destId="{6C37EED4-A654-44CB-9F04-2A9CD3931379}" srcOrd="0" destOrd="0" presId="urn:microsoft.com/office/officeart/2005/8/layout/list1"/>
    <dgm:cxn modelId="{7D14C028-B7E1-4141-A8F1-09E60B6AEEE6}" type="presParOf" srcId="{A18CD487-42FF-432C-96D3-A88924D1341C}" destId="{D85A2A7B-D690-458B-BA00-CEFD1430FA6D}" srcOrd="0" destOrd="0" presId="urn:microsoft.com/office/officeart/2005/8/layout/list1"/>
    <dgm:cxn modelId="{1D9EEE45-7F2C-4215-8027-4BC8F45693EA}" type="presParOf" srcId="{D85A2A7B-D690-458B-BA00-CEFD1430FA6D}" destId="{4BCE5C6B-0812-4E19-8BF3-C5AC03775726}" srcOrd="0" destOrd="0" presId="urn:microsoft.com/office/officeart/2005/8/layout/list1"/>
    <dgm:cxn modelId="{B285240E-0ED9-4197-AA68-371DDD7472FE}" type="presParOf" srcId="{D85A2A7B-D690-458B-BA00-CEFD1430FA6D}" destId="{949CE95B-815A-4CCB-91BE-20F2057543D6}" srcOrd="1" destOrd="0" presId="urn:microsoft.com/office/officeart/2005/8/layout/list1"/>
    <dgm:cxn modelId="{34B00588-3F62-4D7B-A4B7-BBC89735C02B}" type="presParOf" srcId="{A18CD487-42FF-432C-96D3-A88924D1341C}" destId="{D4F91A6B-4901-4102-A32E-174709C61E13}" srcOrd="1" destOrd="0" presId="urn:microsoft.com/office/officeart/2005/8/layout/list1"/>
    <dgm:cxn modelId="{B1C0F857-E580-4079-9D7F-D080F8679D63}" type="presParOf" srcId="{A18CD487-42FF-432C-96D3-A88924D1341C}" destId="{02E72785-A92A-482C-89A4-6DC31D9E4363}" srcOrd="2" destOrd="0" presId="urn:microsoft.com/office/officeart/2005/8/layout/list1"/>
    <dgm:cxn modelId="{C0C8CD00-6A13-4628-B0B5-A944BB606050}" type="presParOf" srcId="{A18CD487-42FF-432C-96D3-A88924D1341C}" destId="{13023223-CA2F-4A78-BFE7-52DD36E59E69}" srcOrd="3" destOrd="0" presId="urn:microsoft.com/office/officeart/2005/8/layout/list1"/>
    <dgm:cxn modelId="{CBF9B3FF-FBDC-483F-B587-66A5DD0519B9}" type="presParOf" srcId="{A18CD487-42FF-432C-96D3-A88924D1341C}" destId="{94C12AA3-D2FD-4C57-AC7D-1EF3D4834ADC}" srcOrd="4" destOrd="0" presId="urn:microsoft.com/office/officeart/2005/8/layout/list1"/>
    <dgm:cxn modelId="{D06F858C-F60F-43B0-9A18-D42007BC86B0}" type="presParOf" srcId="{94C12AA3-D2FD-4C57-AC7D-1EF3D4834ADC}" destId="{07B8EC94-19F1-48B1-973A-8E31E124DE9F}" srcOrd="0" destOrd="0" presId="urn:microsoft.com/office/officeart/2005/8/layout/list1"/>
    <dgm:cxn modelId="{4C229619-5607-4960-8809-6A10C027F857}" type="presParOf" srcId="{94C12AA3-D2FD-4C57-AC7D-1EF3D4834ADC}" destId="{0F161EF7-66A0-4677-8B36-56E204AE05B5}" srcOrd="1" destOrd="0" presId="urn:microsoft.com/office/officeart/2005/8/layout/list1"/>
    <dgm:cxn modelId="{5B1320A3-072A-4450-8031-3D561BD9907C}" type="presParOf" srcId="{A18CD487-42FF-432C-96D3-A88924D1341C}" destId="{AB2F7A79-CAD2-473A-A9CE-1037CD060916}" srcOrd="5" destOrd="0" presId="urn:microsoft.com/office/officeart/2005/8/layout/list1"/>
    <dgm:cxn modelId="{7D586BCF-01C0-4B0A-8BC6-BCC64F69E2B6}" type="presParOf" srcId="{A18CD487-42FF-432C-96D3-A88924D1341C}" destId="{6C37EED4-A654-44CB-9F04-2A9CD3931379}" srcOrd="6" destOrd="0" presId="urn:microsoft.com/office/officeart/2005/8/layout/list1"/>
    <dgm:cxn modelId="{04BEC29A-6060-4744-9D2A-B86603C7C584}" type="presParOf" srcId="{A18CD487-42FF-432C-96D3-A88924D1341C}" destId="{731809C7-BA08-42BB-8600-AFF6DED576BE}" srcOrd="7" destOrd="0" presId="urn:microsoft.com/office/officeart/2005/8/layout/list1"/>
    <dgm:cxn modelId="{B8707C9F-5755-4E14-B77A-DAA0B8DC2A7B}" type="presParOf" srcId="{A18CD487-42FF-432C-96D3-A88924D1341C}" destId="{DF3CB0DA-6E0C-4F90-960A-4DC51BE3F82D}" srcOrd="8" destOrd="0" presId="urn:microsoft.com/office/officeart/2005/8/layout/list1"/>
    <dgm:cxn modelId="{84BD786A-6B9F-4542-8C5E-1DD266D459F1}" type="presParOf" srcId="{DF3CB0DA-6E0C-4F90-960A-4DC51BE3F82D}" destId="{20D87AB1-2965-4AD8-B122-3840C5646A39}" srcOrd="0" destOrd="0" presId="urn:microsoft.com/office/officeart/2005/8/layout/list1"/>
    <dgm:cxn modelId="{F119A4FF-DDF6-4BE7-9D25-3DC322A4B452}" type="presParOf" srcId="{DF3CB0DA-6E0C-4F90-960A-4DC51BE3F82D}" destId="{80614979-B353-4A7C-A9D1-7FC6731D2AF3}" srcOrd="1" destOrd="0" presId="urn:microsoft.com/office/officeart/2005/8/layout/list1"/>
    <dgm:cxn modelId="{563FDFF4-D219-41B0-989E-771FD6255CF7}" type="presParOf" srcId="{A18CD487-42FF-432C-96D3-A88924D1341C}" destId="{935F4A43-D7F0-470E-AD68-5A1FE8679C9A}" srcOrd="9" destOrd="0" presId="urn:microsoft.com/office/officeart/2005/8/layout/list1"/>
    <dgm:cxn modelId="{30339434-72AE-4B09-AF23-6EE941F7D548}" type="presParOf" srcId="{A18CD487-42FF-432C-96D3-A88924D1341C}" destId="{9406B00C-DED4-49A4-B5A0-BF0D928404A8}"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E72785-A92A-482C-89A4-6DC31D9E4363}">
      <dsp:nvSpPr>
        <dsp:cNvPr id="0" name=""/>
        <dsp:cNvSpPr/>
      </dsp:nvSpPr>
      <dsp:spPr>
        <a:xfrm>
          <a:off x="0" y="317192"/>
          <a:ext cx="5068081" cy="1587600"/>
        </a:xfrm>
        <a:prstGeom prst="rect">
          <a:avLst/>
        </a:prstGeom>
        <a:solidFill>
          <a:schemeClr val="lt1">
            <a:alpha val="90000"/>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93339" tIns="437388" rIns="393339" bIns="149352" numCol="1" spcCol="1270" anchor="t" anchorCtr="0">
          <a:noAutofit/>
        </a:bodyPr>
        <a:lstStyle/>
        <a:p>
          <a:pPr marL="228600" lvl="1" indent="-228600" algn="just" defTabSz="933450">
            <a:lnSpc>
              <a:spcPct val="100000"/>
            </a:lnSpc>
            <a:spcBef>
              <a:spcPct val="0"/>
            </a:spcBef>
            <a:spcAft>
              <a:spcPct val="15000"/>
            </a:spcAft>
            <a:buChar char="•"/>
          </a:pPr>
          <a:r>
            <a:rPr lang="en-US" sz="2100" b="1" kern="1200" dirty="0"/>
            <a:t>Mobile computing </a:t>
          </a:r>
          <a:r>
            <a:rPr lang="en-US" sz="2100" kern="1200" dirty="0"/>
            <a:t>is using  a computer (of one kind or another) while on the move.</a:t>
          </a:r>
        </a:p>
      </dsp:txBody>
      <dsp:txXfrm>
        <a:off x="0" y="317192"/>
        <a:ext cx="5068081" cy="1587600"/>
      </dsp:txXfrm>
    </dsp:sp>
    <dsp:sp modelId="{949CE95B-815A-4CCB-91BE-20F2057543D6}">
      <dsp:nvSpPr>
        <dsp:cNvPr id="0" name=""/>
        <dsp:cNvSpPr/>
      </dsp:nvSpPr>
      <dsp:spPr>
        <a:xfrm>
          <a:off x="253404" y="7232"/>
          <a:ext cx="3547656" cy="619920"/>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4093" tIns="0" rIns="134093" bIns="0" numCol="1" spcCol="1270" anchor="ctr" anchorCtr="0">
          <a:noAutofit/>
        </a:bodyPr>
        <a:lstStyle/>
        <a:p>
          <a:pPr marL="0" lvl="0" indent="0" algn="just" defTabSz="933450">
            <a:lnSpc>
              <a:spcPct val="100000"/>
            </a:lnSpc>
            <a:spcBef>
              <a:spcPct val="0"/>
            </a:spcBef>
            <a:spcAft>
              <a:spcPct val="35000"/>
            </a:spcAft>
            <a:buNone/>
            <a:defRPr b="1"/>
          </a:pPr>
          <a:r>
            <a:rPr lang="en-US" sz="2100" kern="1200"/>
            <a:t>A simple definition could be:</a:t>
          </a:r>
        </a:p>
      </dsp:txBody>
      <dsp:txXfrm>
        <a:off x="283666" y="37494"/>
        <a:ext cx="3487132" cy="559396"/>
      </dsp:txXfrm>
    </dsp:sp>
    <dsp:sp modelId="{6C37EED4-A654-44CB-9F04-2A9CD3931379}">
      <dsp:nvSpPr>
        <dsp:cNvPr id="0" name=""/>
        <dsp:cNvSpPr/>
      </dsp:nvSpPr>
      <dsp:spPr>
        <a:xfrm>
          <a:off x="0" y="2328152"/>
          <a:ext cx="5068081" cy="1587600"/>
        </a:xfrm>
        <a:prstGeom prst="rect">
          <a:avLst/>
        </a:prstGeom>
        <a:solidFill>
          <a:schemeClr val="lt1">
            <a:alpha val="90000"/>
            <a:hueOff val="0"/>
            <a:satOff val="0"/>
            <a:lumOff val="0"/>
            <a:alphaOff val="0"/>
          </a:schemeClr>
        </a:solidFill>
        <a:ln w="19050" cap="rnd" cmpd="sng" algn="ctr">
          <a:solidFill>
            <a:schemeClr val="accent5">
              <a:hueOff val="-1002469"/>
              <a:satOff val="551"/>
              <a:lumOff val="264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93339" tIns="437388" rIns="393339" bIns="149352" numCol="1" spcCol="1270" anchor="t" anchorCtr="0">
          <a:noAutofit/>
        </a:bodyPr>
        <a:lstStyle/>
        <a:p>
          <a:pPr marL="228600" lvl="1" indent="-228600" algn="just" defTabSz="933450">
            <a:lnSpc>
              <a:spcPct val="100000"/>
            </a:lnSpc>
            <a:spcBef>
              <a:spcPct val="0"/>
            </a:spcBef>
            <a:spcAft>
              <a:spcPct val="15000"/>
            </a:spcAft>
            <a:buChar char="•"/>
          </a:pPr>
          <a:r>
            <a:rPr lang="en-US" sz="2100" b="1" kern="1200" dirty="0"/>
            <a:t>Mobile computing </a:t>
          </a:r>
          <a:r>
            <a:rPr lang="en-US" sz="2100" kern="1200" dirty="0"/>
            <a:t>is when a (work) process is moved from a normal fixed position to a more dynamic position.</a:t>
          </a:r>
        </a:p>
      </dsp:txBody>
      <dsp:txXfrm>
        <a:off x="0" y="2328152"/>
        <a:ext cx="5068081" cy="1587600"/>
      </dsp:txXfrm>
    </dsp:sp>
    <dsp:sp modelId="{0F161EF7-66A0-4677-8B36-56E204AE05B5}">
      <dsp:nvSpPr>
        <dsp:cNvPr id="0" name=""/>
        <dsp:cNvSpPr/>
      </dsp:nvSpPr>
      <dsp:spPr>
        <a:xfrm>
          <a:off x="253404" y="2018192"/>
          <a:ext cx="3547656" cy="619920"/>
        </a:xfrm>
        <a:prstGeom prst="roundRect">
          <a:avLst/>
        </a:prstGeom>
        <a:solidFill>
          <a:schemeClr val="accent5">
            <a:hueOff val="-1002469"/>
            <a:satOff val="551"/>
            <a:lumOff val="264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4093" tIns="0" rIns="134093" bIns="0" numCol="1" spcCol="1270" anchor="ctr" anchorCtr="0">
          <a:noAutofit/>
        </a:bodyPr>
        <a:lstStyle/>
        <a:p>
          <a:pPr marL="0" lvl="0" indent="0" algn="just" defTabSz="933450">
            <a:lnSpc>
              <a:spcPct val="100000"/>
            </a:lnSpc>
            <a:spcBef>
              <a:spcPct val="0"/>
            </a:spcBef>
            <a:spcAft>
              <a:spcPct val="35000"/>
            </a:spcAft>
            <a:buNone/>
            <a:defRPr b="1"/>
          </a:pPr>
          <a:r>
            <a:rPr lang="en-US" sz="2100" kern="1200"/>
            <a:t>Another definition could be:</a:t>
          </a:r>
        </a:p>
      </dsp:txBody>
      <dsp:txXfrm>
        <a:off x="283666" y="2048454"/>
        <a:ext cx="3487132" cy="559396"/>
      </dsp:txXfrm>
    </dsp:sp>
    <dsp:sp modelId="{9406B00C-DED4-49A4-B5A0-BF0D928404A8}">
      <dsp:nvSpPr>
        <dsp:cNvPr id="0" name=""/>
        <dsp:cNvSpPr/>
      </dsp:nvSpPr>
      <dsp:spPr>
        <a:xfrm>
          <a:off x="0" y="4339112"/>
          <a:ext cx="5068081" cy="1918350"/>
        </a:xfrm>
        <a:prstGeom prst="rect">
          <a:avLst/>
        </a:prstGeom>
        <a:solidFill>
          <a:schemeClr val="lt1">
            <a:alpha val="90000"/>
            <a:hueOff val="0"/>
            <a:satOff val="0"/>
            <a:lumOff val="0"/>
            <a:alphaOff val="0"/>
          </a:schemeClr>
        </a:solidFill>
        <a:ln w="19050" cap="rnd" cmpd="sng" algn="ctr">
          <a:solidFill>
            <a:schemeClr val="accent5">
              <a:hueOff val="-2004937"/>
              <a:satOff val="1102"/>
              <a:lumOff val="529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93339" tIns="437388" rIns="393339" bIns="149352" numCol="1" spcCol="1270" anchor="t" anchorCtr="0">
          <a:noAutofit/>
        </a:bodyPr>
        <a:lstStyle/>
        <a:p>
          <a:pPr marL="228600" lvl="1" indent="-228600" algn="just" defTabSz="933450">
            <a:lnSpc>
              <a:spcPct val="100000"/>
            </a:lnSpc>
            <a:spcBef>
              <a:spcPct val="0"/>
            </a:spcBef>
            <a:spcAft>
              <a:spcPct val="15000"/>
            </a:spcAft>
            <a:buChar char="•"/>
          </a:pPr>
          <a:r>
            <a:rPr lang="en-US" sz="2100" b="1" kern="1200" dirty="0"/>
            <a:t>Mobile computing </a:t>
          </a:r>
          <a:r>
            <a:rPr lang="en-US" sz="2100" kern="1200" dirty="0"/>
            <a:t>is when a work process is 	carried out somewhere where it was not previously possible</a:t>
          </a:r>
        </a:p>
      </dsp:txBody>
      <dsp:txXfrm>
        <a:off x="0" y="4339112"/>
        <a:ext cx="5068081" cy="1918350"/>
      </dsp:txXfrm>
    </dsp:sp>
    <dsp:sp modelId="{80614979-B353-4A7C-A9D1-7FC6731D2AF3}">
      <dsp:nvSpPr>
        <dsp:cNvPr id="0" name=""/>
        <dsp:cNvSpPr/>
      </dsp:nvSpPr>
      <dsp:spPr>
        <a:xfrm>
          <a:off x="253404" y="4029152"/>
          <a:ext cx="3547656" cy="619920"/>
        </a:xfrm>
        <a:prstGeom prst="roundRect">
          <a:avLst/>
        </a:prstGeom>
        <a:solidFill>
          <a:schemeClr val="accent5">
            <a:hueOff val="-2004937"/>
            <a:satOff val="1102"/>
            <a:lumOff val="529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4093" tIns="0" rIns="134093" bIns="0" numCol="1" spcCol="1270" anchor="ctr" anchorCtr="0">
          <a:noAutofit/>
        </a:bodyPr>
        <a:lstStyle/>
        <a:p>
          <a:pPr marL="0" lvl="0" indent="0" algn="just" defTabSz="933450">
            <a:lnSpc>
              <a:spcPct val="100000"/>
            </a:lnSpc>
            <a:spcBef>
              <a:spcPct val="0"/>
            </a:spcBef>
            <a:spcAft>
              <a:spcPct val="35000"/>
            </a:spcAft>
            <a:buNone/>
            <a:defRPr b="1"/>
          </a:pPr>
          <a:r>
            <a:rPr lang="en-US" sz="2100" kern="1200"/>
            <a:t>A third definition could be:</a:t>
          </a:r>
        </a:p>
      </dsp:txBody>
      <dsp:txXfrm>
        <a:off x="283666" y="4059414"/>
        <a:ext cx="3487132" cy="55939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4401" cy="461804"/>
          </a:xfrm>
          <a:prstGeom prst="rect">
            <a:avLst/>
          </a:prstGeom>
        </p:spPr>
        <p:txBody>
          <a:bodyPr vert="horz" lIns="92784" tIns="46392" rIns="92784" bIns="46392" rtlCol="0"/>
          <a:lstStyle>
            <a:lvl1pPr algn="l">
              <a:defRPr sz="1200"/>
            </a:lvl1pPr>
          </a:lstStyle>
          <a:p>
            <a:endParaRPr lang="en-US"/>
          </a:p>
        </p:txBody>
      </p:sp>
      <p:sp>
        <p:nvSpPr>
          <p:cNvPr id="3" name="Date Placeholder 2"/>
          <p:cNvSpPr>
            <a:spLocks noGrp="1"/>
          </p:cNvSpPr>
          <p:nvPr>
            <p:ph type="dt" idx="1"/>
          </p:nvPr>
        </p:nvSpPr>
        <p:spPr>
          <a:xfrm>
            <a:off x="3966442" y="0"/>
            <a:ext cx="3034401" cy="461804"/>
          </a:xfrm>
          <a:prstGeom prst="rect">
            <a:avLst/>
          </a:prstGeom>
        </p:spPr>
        <p:txBody>
          <a:bodyPr vert="horz" lIns="92784" tIns="46392" rIns="92784" bIns="46392" rtlCol="0"/>
          <a:lstStyle>
            <a:lvl1pPr algn="r">
              <a:defRPr sz="1200"/>
            </a:lvl1pPr>
          </a:lstStyle>
          <a:p>
            <a:fld id="{1A2612C6-D078-4407-9C5C-013B66ED75F1}" type="datetimeFigureOut">
              <a:rPr lang="en-US" smtClean="0"/>
              <a:pPr/>
              <a:t>2/6/2025</a:t>
            </a:fld>
            <a:endParaRPr lang="en-US"/>
          </a:p>
        </p:txBody>
      </p:sp>
      <p:sp>
        <p:nvSpPr>
          <p:cNvPr id="4" name="Slide Image Placeholder 3"/>
          <p:cNvSpPr>
            <a:spLocks noGrp="1" noRot="1" noChangeAspect="1"/>
          </p:cNvSpPr>
          <p:nvPr>
            <p:ph type="sldImg" idx="2"/>
          </p:nvPr>
        </p:nvSpPr>
        <p:spPr>
          <a:xfrm>
            <a:off x="1192213" y="692150"/>
            <a:ext cx="4618037" cy="3463925"/>
          </a:xfrm>
          <a:prstGeom prst="rect">
            <a:avLst/>
          </a:prstGeom>
          <a:noFill/>
          <a:ln w="12700">
            <a:solidFill>
              <a:prstClr val="black"/>
            </a:solidFill>
          </a:ln>
        </p:spPr>
        <p:txBody>
          <a:bodyPr vert="horz" lIns="92784" tIns="46392" rIns="92784" bIns="46392" rtlCol="0" anchor="ctr"/>
          <a:lstStyle/>
          <a:p>
            <a:endParaRPr lang="en-US"/>
          </a:p>
        </p:txBody>
      </p:sp>
      <p:sp>
        <p:nvSpPr>
          <p:cNvPr id="5" name="Notes Placeholder 4"/>
          <p:cNvSpPr>
            <a:spLocks noGrp="1"/>
          </p:cNvSpPr>
          <p:nvPr>
            <p:ph type="body" sz="quarter" idx="3"/>
          </p:nvPr>
        </p:nvSpPr>
        <p:spPr>
          <a:xfrm>
            <a:off x="700247" y="4387136"/>
            <a:ext cx="5601970" cy="4156234"/>
          </a:xfrm>
          <a:prstGeom prst="rect">
            <a:avLst/>
          </a:prstGeom>
        </p:spPr>
        <p:txBody>
          <a:bodyPr vert="horz" lIns="92784" tIns="46392" rIns="92784" bIns="4639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34401" cy="461804"/>
          </a:xfrm>
          <a:prstGeom prst="rect">
            <a:avLst/>
          </a:prstGeom>
        </p:spPr>
        <p:txBody>
          <a:bodyPr vert="horz" lIns="92784" tIns="46392" rIns="92784" bIns="46392" rtlCol="0" anchor="b"/>
          <a:lstStyle>
            <a:lvl1pPr algn="l">
              <a:defRPr sz="1200"/>
            </a:lvl1pPr>
          </a:lstStyle>
          <a:p>
            <a:endParaRPr lang="en-US"/>
          </a:p>
        </p:txBody>
      </p:sp>
      <p:sp>
        <p:nvSpPr>
          <p:cNvPr id="7" name="Slide Number Placeholder 6"/>
          <p:cNvSpPr>
            <a:spLocks noGrp="1"/>
          </p:cNvSpPr>
          <p:nvPr>
            <p:ph type="sldNum" sz="quarter" idx="5"/>
          </p:nvPr>
        </p:nvSpPr>
        <p:spPr>
          <a:xfrm>
            <a:off x="3966442" y="8772668"/>
            <a:ext cx="3034401" cy="461804"/>
          </a:xfrm>
          <a:prstGeom prst="rect">
            <a:avLst/>
          </a:prstGeom>
        </p:spPr>
        <p:txBody>
          <a:bodyPr vert="horz" lIns="92784" tIns="46392" rIns="92784" bIns="46392" rtlCol="0" anchor="b"/>
          <a:lstStyle>
            <a:lvl1pPr algn="r">
              <a:defRPr sz="1200"/>
            </a:lvl1pPr>
          </a:lstStyle>
          <a:p>
            <a:fld id="{304049EF-9FF5-452A-B8CD-B28D8D33C686}" type="slidenum">
              <a:rPr lang="en-US" smtClean="0"/>
              <a:pPr/>
              <a:t>‹#›</a:t>
            </a:fld>
            <a:endParaRPr lang="en-US"/>
          </a:p>
        </p:txBody>
      </p:sp>
    </p:spTree>
    <p:extLst>
      <p:ext uri="{BB962C8B-B14F-4D97-AF65-F5344CB8AC3E}">
        <p14:creationId xmlns:p14="http://schemas.microsoft.com/office/powerpoint/2010/main" val="4251532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04049EF-9FF5-452A-B8CD-B28D8D33C686}" type="slidenum">
              <a:rPr lang="en-US" smtClean="0"/>
              <a:pPr/>
              <a:t>1</a:t>
            </a:fld>
            <a:endParaRPr lang="en-US"/>
          </a:p>
        </p:txBody>
      </p:sp>
    </p:spTree>
    <p:extLst>
      <p:ext uri="{BB962C8B-B14F-4D97-AF65-F5344CB8AC3E}">
        <p14:creationId xmlns:p14="http://schemas.microsoft.com/office/powerpoint/2010/main" val="3670272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lgn="l"/>
            <a:r>
              <a:rPr lang="en-US" b="0" i="0" dirty="0">
                <a:solidFill>
                  <a:srgbClr val="374151"/>
                </a:solidFill>
                <a:effectLst/>
                <a:latin typeface="Söhne"/>
              </a:rPr>
              <a:t>Mobile computing is a concept closely tied to the idea of making computer resources and functionality accessible while on the move. It revolves around the mobility of hardware, data, and software in various computer applications. </a:t>
            </a:r>
          </a:p>
          <a:p>
            <a:pPr algn="l"/>
            <a:r>
              <a:rPr lang="en-US" b="0" i="0" dirty="0">
                <a:solidFill>
                  <a:srgbClr val="374151"/>
                </a:solidFill>
                <a:effectLst/>
                <a:latin typeface="Söhne"/>
              </a:rPr>
              <a:t>Here's an explanation of mobile computing:</a:t>
            </a:r>
          </a:p>
          <a:p>
            <a:pPr algn="l"/>
            <a:r>
              <a:rPr lang="en-US" b="1" i="0" dirty="0">
                <a:solidFill>
                  <a:srgbClr val="374151"/>
                </a:solidFill>
                <a:effectLst/>
                <a:latin typeface="Söhne"/>
              </a:rPr>
              <a:t>Mobile Computing:</a:t>
            </a:r>
            <a:r>
              <a:rPr lang="en-US" b="0" i="0" dirty="0">
                <a:solidFill>
                  <a:srgbClr val="374151"/>
                </a:solidFill>
                <a:effectLst/>
                <a:latin typeface="Söhne"/>
              </a:rPr>
              <a:t> Mobile computing is a technological paradigm that revolves around the mobility of hardware, data, and software in the realm of computer applications. It fundamentally transforms the way we interact with and utilize computer resources, enabling users to access data, information, or other logical objects from virtually any device connected to a network, even while on the move.</a:t>
            </a:r>
          </a:p>
          <a:p>
            <a:pPr algn="l"/>
            <a:r>
              <a:rPr lang="en-US" b="1" i="0" dirty="0">
                <a:solidFill>
                  <a:srgbClr val="374151"/>
                </a:solidFill>
                <a:effectLst/>
                <a:latin typeface="Söhne"/>
              </a:rPr>
              <a:t>Key Features of Mobile Computing:</a:t>
            </a:r>
            <a:endParaRPr lang="en-US" b="0" i="0" dirty="0">
              <a:solidFill>
                <a:srgbClr val="374151"/>
              </a:solidFill>
              <a:effectLst/>
              <a:latin typeface="Söhne"/>
            </a:endParaRPr>
          </a:p>
          <a:p>
            <a:pPr algn="l">
              <a:buFont typeface="+mj-lt"/>
              <a:buAutoNum type="arabicPeriod"/>
            </a:pPr>
            <a:r>
              <a:rPr lang="en-US" b="1" i="0" dirty="0">
                <a:solidFill>
                  <a:srgbClr val="374151"/>
                </a:solidFill>
                <a:effectLst/>
                <a:latin typeface="Söhne"/>
              </a:rPr>
              <a:t>Access from Anywhere:</a:t>
            </a:r>
            <a:r>
              <a:rPr lang="en-US" b="0" i="0" dirty="0">
                <a:solidFill>
                  <a:srgbClr val="374151"/>
                </a:solidFill>
                <a:effectLst/>
                <a:latin typeface="Söhne"/>
              </a:rPr>
              <a:t> With mobile computing, users have the remarkable ability to access their data and perform tasks from anywhere, regardless of their physical location. This means you can connect to your computer systems, retrieve information, or execute commands whether you are at home, in the office, or on the go.</a:t>
            </a:r>
          </a:p>
          <a:p>
            <a:pPr algn="l">
              <a:buFont typeface="+mj-lt"/>
              <a:buAutoNum type="arabicPeriod"/>
            </a:pPr>
            <a:r>
              <a:rPr lang="en-US" b="1" i="0" dirty="0">
                <a:solidFill>
                  <a:srgbClr val="374151"/>
                </a:solidFill>
                <a:effectLst/>
                <a:latin typeface="Söhne"/>
              </a:rPr>
              <a:t>Device Agnosticism:</a:t>
            </a:r>
            <a:r>
              <a:rPr lang="en-US" b="0" i="0" dirty="0">
                <a:solidFill>
                  <a:srgbClr val="374151"/>
                </a:solidFill>
                <a:effectLst/>
                <a:latin typeface="Söhne"/>
              </a:rPr>
              <a:t> Mobile computing isn't bound to a specific device. It's device-agnostic, meaning you can use a variety of computing devices, such as smartphones, tablets, laptops, or wearable devices, to access and manipulate data or run applications.</a:t>
            </a:r>
          </a:p>
          <a:p>
            <a:pPr algn="l">
              <a:buFont typeface="+mj-lt"/>
              <a:buAutoNum type="arabicPeriod"/>
            </a:pPr>
            <a:r>
              <a:rPr lang="en-US" b="1" i="0" dirty="0">
                <a:solidFill>
                  <a:srgbClr val="374151"/>
                </a:solidFill>
                <a:effectLst/>
                <a:latin typeface="Söhne"/>
              </a:rPr>
              <a:t>Network Connectivity:</a:t>
            </a:r>
            <a:r>
              <a:rPr lang="en-US" b="0" i="0" dirty="0">
                <a:solidFill>
                  <a:srgbClr val="374151"/>
                </a:solidFill>
                <a:effectLst/>
                <a:latin typeface="Söhne"/>
              </a:rPr>
              <a:t> Mobile computing relies heavily on network connectivity. Users can tap into data and services stored on remote servers or in the cloud, making it possible to retrieve information and perform tasks over the internet or private networks.</a:t>
            </a:r>
          </a:p>
          <a:p>
            <a:pPr algn="l">
              <a:buFont typeface="+mj-lt"/>
              <a:buAutoNum type="arabicPeriod"/>
            </a:pPr>
            <a:r>
              <a:rPr lang="en-US" b="1" i="0" dirty="0">
                <a:solidFill>
                  <a:srgbClr val="374151"/>
                </a:solidFill>
                <a:effectLst/>
                <a:latin typeface="Söhne"/>
              </a:rPr>
              <a:t>Task Flexibility:</a:t>
            </a:r>
            <a:r>
              <a:rPr lang="en-US" b="0" i="0" dirty="0">
                <a:solidFill>
                  <a:srgbClr val="374151"/>
                </a:solidFill>
                <a:effectLst/>
                <a:latin typeface="Söhne"/>
              </a:rPr>
              <a:t> One of the remarkable aspects of mobile computing is the flexibility it offers in performing tasks. You're not limited to a specific location or device, allowing you to work, communicate, or access information on your own terms.</a:t>
            </a:r>
          </a:p>
          <a:p>
            <a:pPr algn="l">
              <a:buFont typeface="+mj-lt"/>
              <a:buAutoNum type="arabicPeriod"/>
            </a:pPr>
            <a:r>
              <a:rPr lang="en-US" b="1" i="0" dirty="0">
                <a:solidFill>
                  <a:srgbClr val="374151"/>
                </a:solidFill>
                <a:effectLst/>
                <a:latin typeface="Söhne"/>
              </a:rPr>
              <a:t>Enhanced Productivity:</a:t>
            </a:r>
            <a:r>
              <a:rPr lang="en-US" b="0" i="0" dirty="0">
                <a:solidFill>
                  <a:srgbClr val="374151"/>
                </a:solidFill>
                <a:effectLst/>
                <a:latin typeface="Söhne"/>
              </a:rPr>
              <a:t> By removing the constraints of fixed locations and devices, mobile computing enhances productivity. It enables individuals and organizations to work efficiently, collaborate seamlessly, and stay connected in an increasingly mobile world.</a:t>
            </a:r>
          </a:p>
          <a:p>
            <a:pPr algn="l"/>
            <a:r>
              <a:rPr lang="en-US" b="0" i="0" dirty="0">
                <a:solidFill>
                  <a:srgbClr val="374151"/>
                </a:solidFill>
                <a:effectLst/>
                <a:latin typeface="Söhne"/>
              </a:rPr>
              <a:t>In essence, mobile computing empowers users with the freedom to stay connected, productive, and informed regardless of their physical location. It has become an integral part of our modern digital lifestyle, revolutionizing the way we live and work in an interconnected world.</a:t>
            </a:r>
          </a:p>
          <a:p>
            <a:endParaRPr lang="en-MY" dirty="0"/>
          </a:p>
        </p:txBody>
      </p:sp>
      <p:sp>
        <p:nvSpPr>
          <p:cNvPr id="4" name="Slide Number Placeholder 3"/>
          <p:cNvSpPr>
            <a:spLocks noGrp="1"/>
          </p:cNvSpPr>
          <p:nvPr>
            <p:ph type="sldNum" sz="quarter" idx="5"/>
          </p:nvPr>
        </p:nvSpPr>
        <p:spPr/>
        <p:txBody>
          <a:bodyPr/>
          <a:lstStyle/>
          <a:p>
            <a:fld id="{304049EF-9FF5-452A-B8CD-B28D8D33C686}" type="slidenum">
              <a:rPr lang="en-US" smtClean="0"/>
              <a:pPr/>
              <a:t>14</a:t>
            </a:fld>
            <a:endParaRPr lang="en-US"/>
          </a:p>
        </p:txBody>
      </p:sp>
    </p:spTree>
    <p:extLst>
      <p:ext uri="{BB962C8B-B14F-4D97-AF65-F5344CB8AC3E}">
        <p14:creationId xmlns:p14="http://schemas.microsoft.com/office/powerpoint/2010/main" val="1798003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74151"/>
                </a:solidFill>
                <a:effectLst/>
                <a:latin typeface="Söhne"/>
              </a:rPr>
              <a:t>Describing mobile computing using these three different definitions:</a:t>
            </a:r>
          </a:p>
          <a:p>
            <a:pPr algn="l">
              <a:buFont typeface="+mj-lt"/>
              <a:buAutoNum type="arabicPeriod"/>
            </a:pPr>
            <a:r>
              <a:rPr lang="en-US" b="1" i="0" dirty="0">
                <a:solidFill>
                  <a:srgbClr val="374151"/>
                </a:solidFill>
                <a:effectLst/>
                <a:latin typeface="Söhne"/>
              </a:rPr>
              <a:t>Mobile Computing as Portable Computer Usage:</a:t>
            </a:r>
            <a:endParaRPr lang="en-US" b="0" i="0" dirty="0">
              <a:solidFill>
                <a:srgbClr val="374151"/>
              </a:solidFill>
              <a:effectLst/>
              <a:latin typeface="Söhne"/>
            </a:endParaRPr>
          </a:p>
          <a:p>
            <a:pPr marL="457200" lvl="1" indent="0" algn="l">
              <a:buFont typeface="+mj-lt"/>
              <a:buNone/>
            </a:pPr>
            <a:r>
              <a:rPr lang="en-US" b="0" i="0" dirty="0">
                <a:solidFill>
                  <a:srgbClr val="374151"/>
                </a:solidFill>
                <a:effectLst/>
                <a:latin typeface="Söhne"/>
              </a:rPr>
              <a:t>- Mobile computing can be simplistically defined as the use of a computer, in various forms, while on the move. It encompasses the idea of harnessing computing power and accessing digital resources from devices like smartphones, tablets, or laptops, irrespective of your location.</a:t>
            </a:r>
          </a:p>
          <a:p>
            <a:pPr algn="l">
              <a:buFont typeface="+mj-lt"/>
              <a:buAutoNum type="arabicPeriod"/>
            </a:pPr>
            <a:r>
              <a:rPr lang="en-US" b="1" i="0" dirty="0">
                <a:solidFill>
                  <a:srgbClr val="374151"/>
                </a:solidFill>
                <a:effectLst/>
                <a:latin typeface="Söhne"/>
              </a:rPr>
              <a:t>Mobile Computing as Dynamic Work Process Relocation:</a:t>
            </a:r>
            <a:endParaRPr lang="en-US" b="0" i="0" dirty="0">
              <a:solidFill>
                <a:srgbClr val="374151"/>
              </a:solidFill>
              <a:effectLst/>
              <a:latin typeface="Söhne"/>
            </a:endParaRPr>
          </a:p>
          <a:p>
            <a:pPr marL="457200" lvl="1" indent="0" algn="l">
              <a:buFont typeface="+mj-lt"/>
              <a:buNone/>
            </a:pPr>
            <a:r>
              <a:rPr lang="en-US" b="0" i="0" dirty="0">
                <a:solidFill>
                  <a:srgbClr val="374151"/>
                </a:solidFill>
                <a:effectLst/>
                <a:latin typeface="Söhne"/>
              </a:rPr>
              <a:t>- Another perspective on mobile computing is the relocation of a work process from a traditional, fixed position to a more dynamic and flexible location. It involves adapting tasks and workflows to be performed on portable devices, allowing for greater mobility and adaptability in how work is accomplished.</a:t>
            </a:r>
          </a:p>
          <a:p>
            <a:pPr algn="l">
              <a:buFont typeface="+mj-lt"/>
              <a:buAutoNum type="arabicPeriod"/>
            </a:pPr>
            <a:r>
              <a:rPr lang="en-US" b="1" i="0" dirty="0">
                <a:solidFill>
                  <a:srgbClr val="374151"/>
                </a:solidFill>
                <a:effectLst/>
                <a:latin typeface="Söhne"/>
              </a:rPr>
              <a:t>Mobile Computing as Expanding Work Possibilities:</a:t>
            </a:r>
            <a:endParaRPr lang="en-US" b="0" i="0" dirty="0">
              <a:solidFill>
                <a:srgbClr val="374151"/>
              </a:solidFill>
              <a:effectLst/>
              <a:latin typeface="Söhne"/>
            </a:endParaRPr>
          </a:p>
          <a:p>
            <a:pPr marL="457200" lvl="1" indent="0" algn="l">
              <a:buFont typeface="+mj-lt"/>
              <a:buNone/>
            </a:pPr>
            <a:r>
              <a:rPr lang="en-US" b="0" i="0" dirty="0">
                <a:solidFill>
                  <a:srgbClr val="374151"/>
                </a:solidFill>
                <a:effectLst/>
                <a:latin typeface="Söhne"/>
              </a:rPr>
              <a:t>- From a broader standpoint, mobile computing can be seen as the expansion of work possibilities to locations where they were previously impractical or impossible. It opens up new avenues for conducting tasks and carrying out processes in places that were not traditionally equipped for such activities, thereby increasing efficiency and convenience.</a:t>
            </a:r>
          </a:p>
          <a:p>
            <a:pPr algn="l"/>
            <a:r>
              <a:rPr lang="en-US" b="0" i="0" dirty="0">
                <a:solidFill>
                  <a:srgbClr val="374151"/>
                </a:solidFill>
                <a:effectLst/>
                <a:latin typeface="Söhne"/>
              </a:rPr>
              <a:t>These definitions provide varying levels of detail, making it easier to convey the concept of mobile computing to different audiences or for different purposes. The core idea in all three definitions is the utilization of computing technology in a mobile or flexible manner to enhance accessibility and productivity.</a:t>
            </a:r>
          </a:p>
          <a:p>
            <a:endParaRPr lang="en-MY" dirty="0"/>
          </a:p>
        </p:txBody>
      </p:sp>
      <p:sp>
        <p:nvSpPr>
          <p:cNvPr id="4" name="Slide Number Placeholder 3"/>
          <p:cNvSpPr>
            <a:spLocks noGrp="1"/>
          </p:cNvSpPr>
          <p:nvPr>
            <p:ph type="sldNum" sz="quarter" idx="5"/>
          </p:nvPr>
        </p:nvSpPr>
        <p:spPr/>
        <p:txBody>
          <a:bodyPr/>
          <a:lstStyle/>
          <a:p>
            <a:fld id="{304049EF-9FF5-452A-B8CD-B28D8D33C686}" type="slidenum">
              <a:rPr lang="en-US" smtClean="0"/>
              <a:pPr/>
              <a:t>15</a:t>
            </a:fld>
            <a:endParaRPr lang="en-US"/>
          </a:p>
        </p:txBody>
      </p:sp>
    </p:spTree>
    <p:extLst>
      <p:ext uri="{BB962C8B-B14F-4D97-AF65-F5344CB8AC3E}">
        <p14:creationId xmlns:p14="http://schemas.microsoft.com/office/powerpoint/2010/main" val="3683880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lgn="l"/>
            <a:r>
              <a:rPr lang="en-US" b="1" i="0" dirty="0">
                <a:solidFill>
                  <a:srgbClr val="374151"/>
                </a:solidFill>
                <a:effectLst/>
                <a:latin typeface="Söhne"/>
              </a:rPr>
              <a:t>The Evolution of Computer Interaction: A Journey Through Interface Paradigms</a:t>
            </a:r>
            <a:endParaRPr lang="en-US" b="0" i="0" dirty="0">
              <a:solidFill>
                <a:srgbClr val="374151"/>
              </a:solidFill>
              <a:effectLst/>
              <a:latin typeface="Söhne"/>
            </a:endParaRPr>
          </a:p>
          <a:p>
            <a:pPr algn="l">
              <a:buFont typeface="+mj-lt"/>
              <a:buAutoNum type="arabicPeriod"/>
            </a:pPr>
            <a:r>
              <a:rPr lang="en-US" b="1" i="0" dirty="0">
                <a:solidFill>
                  <a:srgbClr val="374151"/>
                </a:solidFill>
                <a:effectLst/>
                <a:latin typeface="Söhne"/>
              </a:rPr>
              <a:t>No Interaction:</a:t>
            </a:r>
            <a:endParaRPr lang="en-US" b="0" i="0" dirty="0">
              <a:solidFill>
                <a:srgbClr val="374151"/>
              </a:solidFill>
              <a:effectLst/>
              <a:latin typeface="Söhne"/>
            </a:endParaRPr>
          </a:p>
          <a:p>
            <a:pPr marL="457200" lvl="1" indent="0" algn="l">
              <a:buFont typeface="+mj-lt"/>
              <a:buNone/>
            </a:pPr>
            <a:r>
              <a:rPr lang="en-US" b="0" i="0" dirty="0">
                <a:solidFill>
                  <a:srgbClr val="374151"/>
                </a:solidFill>
                <a:effectLst/>
                <a:latin typeface="Söhne"/>
              </a:rPr>
              <a:t>In the earliest days of computing, there was virtually no interaction between humans and machines. Computers were large, room-filling devices operated by experts who fed them punch cards or toggled switches to execute specific tasks. Interaction was minimal and restricted to the technical domain.</a:t>
            </a:r>
          </a:p>
          <a:p>
            <a:pPr algn="l">
              <a:buFont typeface="+mj-lt"/>
              <a:buAutoNum type="arabicPeriod"/>
            </a:pPr>
            <a:r>
              <a:rPr lang="en-US" b="1" i="0" dirty="0">
                <a:solidFill>
                  <a:srgbClr val="374151"/>
                </a:solidFill>
                <a:effectLst/>
                <a:latin typeface="Söhne"/>
              </a:rPr>
              <a:t>Attentive Interaction:</a:t>
            </a:r>
            <a:endParaRPr lang="en-US" b="0" i="0" dirty="0">
              <a:solidFill>
                <a:srgbClr val="374151"/>
              </a:solidFill>
              <a:effectLst/>
              <a:latin typeface="Söhne"/>
            </a:endParaRPr>
          </a:p>
          <a:p>
            <a:pPr marL="457200" lvl="1" indent="0" algn="l">
              <a:buFont typeface="+mj-lt"/>
              <a:buNone/>
            </a:pPr>
            <a:r>
              <a:rPr lang="en-US" b="0" i="0" dirty="0">
                <a:solidFill>
                  <a:srgbClr val="374151"/>
                </a:solidFill>
                <a:effectLst/>
                <a:latin typeface="Söhne"/>
              </a:rPr>
              <a:t>The advent of text-based interfaces marked a significant step forward. Users could now interact with computers by typing commands or queries. This attentive interaction required users to have knowledge of specific commands and syntax, making computing accessible to a broader audience but still demanding attention to detail.</a:t>
            </a:r>
          </a:p>
          <a:p>
            <a:pPr algn="l">
              <a:buFont typeface="+mj-lt"/>
              <a:buAutoNum type="arabicPeriod"/>
            </a:pPr>
            <a:r>
              <a:rPr lang="en-US" b="1" i="0" dirty="0">
                <a:solidFill>
                  <a:srgbClr val="374151"/>
                </a:solidFill>
                <a:effectLst/>
                <a:latin typeface="Söhne"/>
              </a:rPr>
              <a:t>WYSIWYG (What You See Is What You Get):</a:t>
            </a:r>
            <a:endParaRPr lang="en-US" b="0" i="0" dirty="0">
              <a:solidFill>
                <a:srgbClr val="374151"/>
              </a:solidFill>
              <a:effectLst/>
              <a:latin typeface="Söhne"/>
            </a:endParaRPr>
          </a:p>
          <a:p>
            <a:pPr marL="457200" lvl="1" indent="0" algn="l">
              <a:buFont typeface="+mj-lt"/>
              <a:buNone/>
            </a:pPr>
            <a:r>
              <a:rPr lang="en-US" b="0" i="0" dirty="0">
                <a:solidFill>
                  <a:srgbClr val="374151"/>
                </a:solidFill>
                <a:effectLst/>
                <a:latin typeface="Söhne"/>
              </a:rPr>
              <a:t>The introduction of graphical user interfaces (GUIs) brought about a paradigm shift. WYSIWYG interfaces allowed users to interact with computers in a more intuitive and visually appealing way. Users could see on the screen exactly what they were working on, making word processing, design, and desktop computing more user-friendly.</a:t>
            </a:r>
          </a:p>
          <a:p>
            <a:pPr algn="l">
              <a:buFont typeface="+mj-lt"/>
              <a:buAutoNum type="arabicPeriod"/>
            </a:pPr>
            <a:r>
              <a:rPr lang="en-US" b="1" i="0" dirty="0">
                <a:solidFill>
                  <a:srgbClr val="374151"/>
                </a:solidFill>
                <a:effectLst/>
                <a:latin typeface="Söhne"/>
              </a:rPr>
              <a:t>Seamless Transaction:</a:t>
            </a:r>
            <a:endParaRPr lang="en-US" b="0" i="0" dirty="0">
              <a:solidFill>
                <a:srgbClr val="374151"/>
              </a:solidFill>
              <a:effectLst/>
              <a:latin typeface="Söhne"/>
            </a:endParaRPr>
          </a:p>
          <a:p>
            <a:pPr marL="457200" lvl="1" indent="0" algn="l">
              <a:buFont typeface="+mj-lt"/>
              <a:buNone/>
            </a:pPr>
            <a:r>
              <a:rPr lang="en-US" b="0" i="0" dirty="0">
                <a:solidFill>
                  <a:srgbClr val="374151"/>
                </a:solidFill>
                <a:effectLst/>
                <a:latin typeface="Söhne"/>
              </a:rPr>
              <a:t>The evolution continued with the concept of seamless transactions. With the growth of e-commerce and online services, users could interact with computers to conduct transactions, shop online, or manage financial accounts. This paradigm emphasized ease of use and secure, efficient interactions for tasks like online shopping and banking.</a:t>
            </a:r>
          </a:p>
          <a:p>
            <a:pPr algn="l">
              <a:buFont typeface="+mj-lt"/>
              <a:buAutoNum type="arabicPeriod"/>
            </a:pPr>
            <a:r>
              <a:rPr lang="en-US" b="1" i="0" dirty="0">
                <a:solidFill>
                  <a:srgbClr val="374151"/>
                </a:solidFill>
                <a:effectLst/>
                <a:latin typeface="Söhne"/>
              </a:rPr>
              <a:t>Touch and Feel:</a:t>
            </a:r>
            <a:endParaRPr lang="en-US" b="0" i="0" dirty="0">
              <a:solidFill>
                <a:srgbClr val="374151"/>
              </a:solidFill>
              <a:effectLst/>
              <a:latin typeface="Söhne"/>
            </a:endParaRPr>
          </a:p>
          <a:p>
            <a:pPr marL="457200" lvl="1" indent="0" algn="l">
              <a:buFont typeface="+mj-lt"/>
              <a:buNone/>
            </a:pPr>
            <a:r>
              <a:rPr lang="en-US" b="0" i="0" dirty="0">
                <a:solidFill>
                  <a:srgbClr val="374151"/>
                </a:solidFill>
                <a:effectLst/>
                <a:latin typeface="Söhne"/>
              </a:rPr>
              <a:t>The advent of touch interfaces, driven by smartphones and tablets, introduced a tactile dimension to computer interaction. Users could touch, swipe, and pinch on screens to navigate and manipulate digital content. This tactile experience made computing more intuitive and accessible, especially for mobile devices.</a:t>
            </a:r>
          </a:p>
          <a:p>
            <a:pPr algn="l">
              <a:buFont typeface="+mj-lt"/>
              <a:buAutoNum type="arabicPeriod"/>
            </a:pPr>
            <a:r>
              <a:rPr lang="en-US" b="1" i="0" dirty="0">
                <a:solidFill>
                  <a:srgbClr val="374151"/>
                </a:solidFill>
                <a:effectLst/>
                <a:latin typeface="Söhne"/>
              </a:rPr>
              <a:t>Immersive Interaction:</a:t>
            </a:r>
            <a:endParaRPr lang="en-US" b="0" i="0" dirty="0">
              <a:solidFill>
                <a:srgbClr val="374151"/>
              </a:solidFill>
              <a:effectLst/>
              <a:latin typeface="Söhne"/>
            </a:endParaRPr>
          </a:p>
          <a:p>
            <a:pPr marL="457200" lvl="1" indent="0" algn="l">
              <a:buFont typeface="+mj-lt"/>
              <a:buNone/>
            </a:pPr>
            <a:r>
              <a:rPr lang="en-US" b="0" i="0" dirty="0">
                <a:solidFill>
                  <a:srgbClr val="374151"/>
                </a:solidFill>
                <a:effectLst/>
                <a:latin typeface="Söhne"/>
              </a:rPr>
              <a:t>The latest frontier in computer interaction is immersion. Emerging technologies like virtual reality (VR) and augmented reality (AR) enable users to step inside digital worlds or overlay digital information onto the physical world. Immersive interactions engage multiple senses, creating an environment where users can fully immerse themselves in virtual experiences.</a:t>
            </a:r>
          </a:p>
          <a:p>
            <a:endParaRPr lang="en-MY" dirty="0"/>
          </a:p>
        </p:txBody>
      </p:sp>
      <p:sp>
        <p:nvSpPr>
          <p:cNvPr id="4" name="Slide Number Placeholder 3"/>
          <p:cNvSpPr>
            <a:spLocks noGrp="1"/>
          </p:cNvSpPr>
          <p:nvPr>
            <p:ph type="sldNum" sz="quarter" idx="5"/>
          </p:nvPr>
        </p:nvSpPr>
        <p:spPr/>
        <p:txBody>
          <a:bodyPr/>
          <a:lstStyle/>
          <a:p>
            <a:fld id="{304049EF-9FF5-452A-B8CD-B28D8D33C686}" type="slidenum">
              <a:rPr lang="en-US" smtClean="0"/>
              <a:pPr/>
              <a:t>16</a:t>
            </a:fld>
            <a:endParaRPr lang="en-US"/>
          </a:p>
        </p:txBody>
      </p:sp>
    </p:spTree>
    <p:extLst>
      <p:ext uri="{BB962C8B-B14F-4D97-AF65-F5344CB8AC3E}">
        <p14:creationId xmlns:p14="http://schemas.microsoft.com/office/powerpoint/2010/main" val="30502682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D0E556A-40F9-084D-98C3-3BF4B5142D2C}" type="slidenum">
              <a:rPr lang="en-US" smtClean="0"/>
              <a:t>18</a:t>
            </a:fld>
            <a:endParaRPr lang="en-US"/>
          </a:p>
        </p:txBody>
      </p:sp>
    </p:spTree>
    <p:extLst>
      <p:ext uri="{BB962C8B-B14F-4D97-AF65-F5344CB8AC3E}">
        <p14:creationId xmlns:p14="http://schemas.microsoft.com/office/powerpoint/2010/main" val="37240826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04049EF-9FF5-452A-B8CD-B28D8D33C686}" type="slidenum">
              <a:rPr lang="en-US" smtClean="0"/>
              <a:pPr/>
              <a:t>19</a:t>
            </a:fld>
            <a:endParaRPr lang="en-US"/>
          </a:p>
        </p:txBody>
      </p:sp>
    </p:spTree>
    <p:extLst>
      <p:ext uri="{BB962C8B-B14F-4D97-AF65-F5344CB8AC3E}">
        <p14:creationId xmlns:p14="http://schemas.microsoft.com/office/powerpoint/2010/main" val="2468787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04049EF-9FF5-452A-B8CD-B28D8D33C686}" type="slidenum">
              <a:rPr lang="en-US" smtClean="0"/>
              <a:pPr/>
              <a:t>22</a:t>
            </a:fld>
            <a:endParaRPr lang="en-US"/>
          </a:p>
        </p:txBody>
      </p:sp>
    </p:spTree>
    <p:extLst>
      <p:ext uri="{BB962C8B-B14F-4D97-AF65-F5344CB8AC3E}">
        <p14:creationId xmlns:p14="http://schemas.microsoft.com/office/powerpoint/2010/main" val="3443995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04049EF-9FF5-452A-B8CD-B28D8D33C686}" type="slidenum">
              <a:rPr lang="en-US" smtClean="0"/>
              <a:pPr/>
              <a:t>27</a:t>
            </a:fld>
            <a:endParaRPr lang="en-US"/>
          </a:p>
        </p:txBody>
      </p:sp>
    </p:spTree>
    <p:extLst>
      <p:ext uri="{BB962C8B-B14F-4D97-AF65-F5344CB8AC3E}">
        <p14:creationId xmlns:p14="http://schemas.microsoft.com/office/powerpoint/2010/main" val="12313229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304049EF-9FF5-452A-B8CD-B28D8D33C686}" type="slidenum">
              <a:rPr lang="en-US" smtClean="0"/>
              <a:pPr/>
              <a:t>28</a:t>
            </a:fld>
            <a:endParaRPr lang="en-US"/>
          </a:p>
        </p:txBody>
      </p:sp>
    </p:spTree>
    <p:extLst>
      <p:ext uri="{BB962C8B-B14F-4D97-AF65-F5344CB8AC3E}">
        <p14:creationId xmlns:p14="http://schemas.microsoft.com/office/powerpoint/2010/main" val="34799730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Platshållare för bildobjekt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Platshållare för anteckninga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p>
        </p:txBody>
      </p:sp>
      <p:sp>
        <p:nvSpPr>
          <p:cNvPr id="21508" name="Platshållare för bildnumm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7DCECE2E-5335-4EA3-ACC6-D2476F4FFF63}" type="slidenum">
              <a:rPr lang="sv-SE"/>
              <a:pPr/>
              <a:t>32</a:t>
            </a:fld>
            <a:endParaRPr lang="sv-SE"/>
          </a:p>
        </p:txBody>
      </p:sp>
    </p:spTree>
    <p:extLst>
      <p:ext uri="{BB962C8B-B14F-4D97-AF65-F5344CB8AC3E}">
        <p14:creationId xmlns:p14="http://schemas.microsoft.com/office/powerpoint/2010/main" val="36881991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Platshållare för bildobjekt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Platshållare för anteckninga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p>
        </p:txBody>
      </p:sp>
      <p:sp>
        <p:nvSpPr>
          <p:cNvPr id="21508" name="Platshållare för bildnumm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7DCECE2E-5335-4EA3-ACC6-D2476F4FFF63}" type="slidenum">
              <a:rPr lang="sv-SE"/>
              <a:pPr/>
              <a:t>33</a:t>
            </a:fld>
            <a:endParaRPr lang="sv-SE"/>
          </a:p>
        </p:txBody>
      </p:sp>
    </p:spTree>
    <p:extLst>
      <p:ext uri="{BB962C8B-B14F-4D97-AF65-F5344CB8AC3E}">
        <p14:creationId xmlns:p14="http://schemas.microsoft.com/office/powerpoint/2010/main" val="8943708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algn="l"/>
            <a:r>
              <a:rPr lang="en-US" b="0" i="0" dirty="0">
                <a:solidFill>
                  <a:srgbClr val="374151"/>
                </a:solidFill>
                <a:effectLst/>
                <a:latin typeface="Söhne"/>
              </a:rPr>
              <a:t>Native mobile apps are applications that are developed specifically for a particular mobile operating system, such as iOS or Android. These apps are written in programming languages that are natively supported by the device's OS vendor, and they utilize the development tools and libraries provided by the respective platform. Here's a closer look at native mobile app development for iOS and Android:</a:t>
            </a:r>
          </a:p>
          <a:p>
            <a:pPr algn="l"/>
            <a:r>
              <a:rPr lang="en-US" b="1" i="0" dirty="0">
                <a:solidFill>
                  <a:srgbClr val="374151"/>
                </a:solidFill>
                <a:effectLst/>
                <a:latin typeface="Söhne"/>
              </a:rPr>
              <a:t>iOS (Apple)</a:t>
            </a:r>
            <a:r>
              <a:rPr lang="en-US" b="0" i="0" dirty="0">
                <a:solidFill>
                  <a:srgbClr val="374151"/>
                </a:solidFill>
                <a:effectLst/>
                <a:latin typeface="Söhne"/>
              </a:rPr>
              <a:t>:</a:t>
            </a:r>
          </a:p>
          <a:p>
            <a:pPr algn="l">
              <a:buFont typeface="Arial" panose="020B0604020202020204" pitchFamily="34" charset="0"/>
              <a:buChar char="•"/>
            </a:pPr>
            <a:r>
              <a:rPr lang="en-US" b="1" i="0" dirty="0">
                <a:solidFill>
                  <a:srgbClr val="374151"/>
                </a:solidFill>
                <a:effectLst/>
                <a:latin typeface="Söhne"/>
              </a:rPr>
              <a:t>Languages</a:t>
            </a:r>
            <a:r>
              <a:rPr lang="en-US" b="0" i="0" dirty="0">
                <a:solidFill>
                  <a:srgbClr val="374151"/>
                </a:solidFill>
                <a:effectLst/>
                <a:latin typeface="Söhne"/>
              </a:rPr>
              <a:t>: Native iOS apps are primarily written in either </a:t>
            </a:r>
            <a:r>
              <a:rPr lang="en-US" b="1" i="0" dirty="0">
                <a:solidFill>
                  <a:srgbClr val="374151"/>
                </a:solidFill>
                <a:effectLst/>
                <a:latin typeface="Söhne"/>
              </a:rPr>
              <a:t>Swift</a:t>
            </a:r>
            <a:r>
              <a:rPr lang="en-US" b="0" i="0" dirty="0">
                <a:solidFill>
                  <a:srgbClr val="374151"/>
                </a:solidFill>
                <a:effectLst/>
                <a:latin typeface="Söhne"/>
              </a:rPr>
              <a:t> or </a:t>
            </a:r>
            <a:r>
              <a:rPr lang="en-US" b="1" i="0" dirty="0">
                <a:solidFill>
                  <a:srgbClr val="374151"/>
                </a:solidFill>
                <a:effectLst/>
                <a:latin typeface="Söhne"/>
              </a:rPr>
              <a:t>Objective-C</a:t>
            </a:r>
            <a:r>
              <a:rPr lang="en-US" b="0" i="0" dirty="0">
                <a:solidFill>
                  <a:srgbClr val="374151"/>
                </a:solidFill>
                <a:effectLst/>
                <a:latin typeface="Söhne"/>
              </a:rPr>
              <a:t>.</a:t>
            </a:r>
          </a:p>
          <a:p>
            <a:pPr marL="742950" lvl="1" indent="-285750" algn="l">
              <a:buFont typeface="Arial" panose="020B0604020202020204" pitchFamily="34" charset="0"/>
              <a:buChar char="•"/>
            </a:pPr>
            <a:r>
              <a:rPr lang="en-US" b="1" i="0" dirty="0">
                <a:solidFill>
                  <a:srgbClr val="374151"/>
                </a:solidFill>
                <a:effectLst/>
                <a:latin typeface="Söhne"/>
              </a:rPr>
              <a:t>Swift</a:t>
            </a:r>
            <a:r>
              <a:rPr lang="en-US" b="0" i="0" dirty="0">
                <a:solidFill>
                  <a:srgbClr val="374151"/>
                </a:solidFill>
                <a:effectLst/>
                <a:latin typeface="Söhne"/>
              </a:rPr>
              <a:t>: This is Apple's modern and preferred programming language for iOS app development. It's known for its readability, performance, and safety features.</a:t>
            </a:r>
          </a:p>
          <a:p>
            <a:pPr marL="742950" lvl="1" indent="-285750" algn="l">
              <a:buFont typeface="Arial" panose="020B0604020202020204" pitchFamily="34" charset="0"/>
              <a:buChar char="•"/>
            </a:pPr>
            <a:r>
              <a:rPr lang="en-US" b="1" i="0" dirty="0">
                <a:solidFill>
                  <a:srgbClr val="374151"/>
                </a:solidFill>
                <a:effectLst/>
                <a:latin typeface="Söhne"/>
              </a:rPr>
              <a:t>Objective-C</a:t>
            </a:r>
            <a:r>
              <a:rPr lang="en-US" b="0" i="0" dirty="0">
                <a:solidFill>
                  <a:srgbClr val="374151"/>
                </a:solidFill>
                <a:effectLst/>
                <a:latin typeface="Söhne"/>
              </a:rPr>
              <a:t>: While less commonly used today, it was the primary language for iOS development before Swift was introduced.</a:t>
            </a:r>
          </a:p>
          <a:p>
            <a:pPr algn="l">
              <a:buFont typeface="Arial" panose="020B0604020202020204" pitchFamily="34" charset="0"/>
              <a:buChar char="•"/>
            </a:pPr>
            <a:r>
              <a:rPr lang="en-US" b="1" i="0" dirty="0">
                <a:solidFill>
                  <a:srgbClr val="374151"/>
                </a:solidFill>
                <a:effectLst/>
                <a:latin typeface="Söhne"/>
              </a:rPr>
              <a:t>Development Tools</a:t>
            </a:r>
            <a:r>
              <a:rPr lang="en-US" b="0" i="0" dirty="0">
                <a:solidFill>
                  <a:srgbClr val="374151"/>
                </a:solidFill>
                <a:effectLst/>
                <a:latin typeface="Söhne"/>
              </a:rPr>
              <a:t>: Developers use </a:t>
            </a:r>
            <a:r>
              <a:rPr lang="en-US" b="1" i="0" dirty="0">
                <a:solidFill>
                  <a:srgbClr val="374151"/>
                </a:solidFill>
                <a:effectLst/>
                <a:latin typeface="Söhne"/>
              </a:rPr>
              <a:t>Xcode</a:t>
            </a:r>
            <a:r>
              <a:rPr lang="en-US" b="0" i="0" dirty="0">
                <a:solidFill>
                  <a:srgbClr val="374151"/>
                </a:solidFill>
                <a:effectLst/>
                <a:latin typeface="Söhne"/>
              </a:rPr>
              <a:t> as the Integrated Development Environment (IDE) for iOS app development. Xcode provides a comprehensive suite of tools for coding, debugging, and designing user interfaces.</a:t>
            </a:r>
          </a:p>
          <a:p>
            <a:pPr algn="l">
              <a:buFont typeface="Arial" panose="020B0604020202020204" pitchFamily="34" charset="0"/>
              <a:buChar char="•"/>
            </a:pPr>
            <a:r>
              <a:rPr lang="en-US" b="1" i="0" dirty="0">
                <a:solidFill>
                  <a:srgbClr val="374151"/>
                </a:solidFill>
                <a:effectLst/>
                <a:latin typeface="Söhne"/>
              </a:rPr>
              <a:t>Interface Design</a:t>
            </a:r>
            <a:r>
              <a:rPr lang="en-US" b="0" i="0" dirty="0">
                <a:solidFill>
                  <a:srgbClr val="374151"/>
                </a:solidFill>
                <a:effectLst/>
                <a:latin typeface="Söhne"/>
              </a:rPr>
              <a:t>: Interface design for iOS apps is typically done using </a:t>
            </a:r>
            <a:r>
              <a:rPr lang="en-US" b="1" i="0" dirty="0" err="1">
                <a:solidFill>
                  <a:srgbClr val="374151"/>
                </a:solidFill>
                <a:effectLst/>
                <a:latin typeface="Söhne"/>
              </a:rPr>
              <a:t>UIKit</a:t>
            </a:r>
            <a:r>
              <a:rPr lang="en-US" b="0" i="0" dirty="0">
                <a:solidFill>
                  <a:srgbClr val="374151"/>
                </a:solidFill>
                <a:effectLst/>
                <a:latin typeface="Söhne"/>
              </a:rPr>
              <a:t> for traditional app layouts and </a:t>
            </a:r>
            <a:r>
              <a:rPr lang="en-US" b="1" i="0" dirty="0" err="1">
                <a:solidFill>
                  <a:srgbClr val="374151"/>
                </a:solidFill>
                <a:effectLst/>
                <a:latin typeface="Söhne"/>
              </a:rPr>
              <a:t>SwiftUI</a:t>
            </a:r>
            <a:r>
              <a:rPr lang="en-US" b="0" i="0" dirty="0">
                <a:solidFill>
                  <a:srgbClr val="374151"/>
                </a:solidFill>
                <a:effectLst/>
                <a:latin typeface="Söhne"/>
              </a:rPr>
              <a:t> for more modern and declarative UI development.</a:t>
            </a:r>
          </a:p>
          <a:p>
            <a:pPr algn="l"/>
            <a:r>
              <a:rPr lang="en-US" b="1" i="0" dirty="0">
                <a:solidFill>
                  <a:srgbClr val="374151"/>
                </a:solidFill>
                <a:effectLst/>
                <a:latin typeface="Söhne"/>
              </a:rPr>
              <a:t>Android (Google)</a:t>
            </a:r>
            <a:r>
              <a:rPr lang="en-US" b="0" i="0" dirty="0">
                <a:solidFill>
                  <a:srgbClr val="374151"/>
                </a:solidFill>
                <a:effectLst/>
                <a:latin typeface="Söhne"/>
              </a:rPr>
              <a:t>:</a:t>
            </a:r>
          </a:p>
          <a:p>
            <a:pPr algn="l">
              <a:buFont typeface="Arial" panose="020B0604020202020204" pitchFamily="34" charset="0"/>
              <a:buChar char="•"/>
            </a:pPr>
            <a:r>
              <a:rPr lang="en-US" b="1" i="0" dirty="0">
                <a:solidFill>
                  <a:srgbClr val="374151"/>
                </a:solidFill>
                <a:effectLst/>
                <a:latin typeface="Söhne"/>
              </a:rPr>
              <a:t>Languages</a:t>
            </a:r>
            <a:r>
              <a:rPr lang="en-US" b="0" i="0" dirty="0">
                <a:solidFill>
                  <a:srgbClr val="374151"/>
                </a:solidFill>
                <a:effectLst/>
                <a:latin typeface="Söhne"/>
              </a:rPr>
              <a:t>: Native Android apps can be written in </a:t>
            </a:r>
            <a:r>
              <a:rPr lang="en-US" b="1" i="0" dirty="0">
                <a:solidFill>
                  <a:srgbClr val="374151"/>
                </a:solidFill>
                <a:effectLst/>
                <a:latin typeface="Söhne"/>
              </a:rPr>
              <a:t>Java</a:t>
            </a:r>
            <a:r>
              <a:rPr lang="en-US" b="0" i="0" dirty="0">
                <a:solidFill>
                  <a:srgbClr val="374151"/>
                </a:solidFill>
                <a:effectLst/>
                <a:latin typeface="Söhne"/>
              </a:rPr>
              <a:t> or </a:t>
            </a:r>
            <a:r>
              <a:rPr lang="en-US" b="1" i="0" dirty="0">
                <a:solidFill>
                  <a:srgbClr val="374151"/>
                </a:solidFill>
                <a:effectLst/>
                <a:latin typeface="Söhne"/>
              </a:rPr>
              <a:t>Kotlin</a:t>
            </a:r>
            <a:r>
              <a:rPr lang="en-US" b="0" i="0" dirty="0">
                <a:solidFill>
                  <a:srgbClr val="374151"/>
                </a:solidFill>
                <a:effectLst/>
                <a:latin typeface="Söhne"/>
              </a:rPr>
              <a:t>.</a:t>
            </a:r>
          </a:p>
          <a:p>
            <a:pPr marL="742950" lvl="1" indent="-285750" algn="l">
              <a:buFont typeface="Arial" panose="020B0604020202020204" pitchFamily="34" charset="0"/>
              <a:buChar char="•"/>
            </a:pPr>
            <a:r>
              <a:rPr lang="en-US" b="1" i="0" dirty="0">
                <a:solidFill>
                  <a:srgbClr val="374151"/>
                </a:solidFill>
                <a:effectLst/>
                <a:latin typeface="Söhne"/>
              </a:rPr>
              <a:t>Java</a:t>
            </a:r>
            <a:r>
              <a:rPr lang="en-US" b="0" i="0" dirty="0">
                <a:solidFill>
                  <a:srgbClr val="374151"/>
                </a:solidFill>
                <a:effectLst/>
                <a:latin typeface="Söhne"/>
              </a:rPr>
              <a:t>: Historically, Java was the primary language for Android app development. It's still widely used in legacy applications.</a:t>
            </a:r>
          </a:p>
          <a:p>
            <a:pPr marL="742950" lvl="1" indent="-285750" algn="l">
              <a:buFont typeface="Arial" panose="020B0604020202020204" pitchFamily="34" charset="0"/>
              <a:buChar char="•"/>
            </a:pPr>
            <a:r>
              <a:rPr lang="en-US" b="1" i="0" dirty="0">
                <a:solidFill>
                  <a:srgbClr val="374151"/>
                </a:solidFill>
                <a:effectLst/>
                <a:latin typeface="Söhne"/>
              </a:rPr>
              <a:t>Kotlin</a:t>
            </a:r>
            <a:r>
              <a:rPr lang="en-US" b="0" i="0" dirty="0">
                <a:solidFill>
                  <a:srgbClr val="374151"/>
                </a:solidFill>
                <a:effectLst/>
                <a:latin typeface="Söhne"/>
              </a:rPr>
              <a:t>: Kotlin is now the preferred language for Android development due to its conciseness, safety features, and interoperability with Java.</a:t>
            </a:r>
          </a:p>
          <a:p>
            <a:pPr algn="l">
              <a:buFont typeface="Arial" panose="020B0604020202020204" pitchFamily="34" charset="0"/>
              <a:buChar char="•"/>
            </a:pPr>
            <a:r>
              <a:rPr lang="en-US" b="1" i="0" dirty="0">
                <a:solidFill>
                  <a:srgbClr val="374151"/>
                </a:solidFill>
                <a:effectLst/>
                <a:latin typeface="Söhne"/>
              </a:rPr>
              <a:t>Development Tools</a:t>
            </a:r>
            <a:r>
              <a:rPr lang="en-US" b="0" i="0" dirty="0">
                <a:solidFill>
                  <a:srgbClr val="374151"/>
                </a:solidFill>
                <a:effectLst/>
                <a:latin typeface="Söhne"/>
              </a:rPr>
              <a:t>: For Android app development, developers use </a:t>
            </a:r>
            <a:r>
              <a:rPr lang="en-US" b="1" i="0" dirty="0">
                <a:solidFill>
                  <a:srgbClr val="374151"/>
                </a:solidFill>
                <a:effectLst/>
                <a:latin typeface="Söhne"/>
              </a:rPr>
              <a:t>Android Studio</a:t>
            </a:r>
            <a:r>
              <a:rPr lang="en-US" b="0" i="0" dirty="0">
                <a:solidFill>
                  <a:srgbClr val="374151"/>
                </a:solidFill>
                <a:effectLst/>
                <a:latin typeface="Söhne"/>
              </a:rPr>
              <a:t>, which is the official IDE provided by Google. Android Studio offers powerful tools for coding, debugging, and testing Android apps.</a:t>
            </a:r>
          </a:p>
          <a:p>
            <a:pPr algn="l">
              <a:buFont typeface="Arial" panose="020B0604020202020204" pitchFamily="34" charset="0"/>
              <a:buChar char="•"/>
            </a:pPr>
            <a:r>
              <a:rPr lang="en-US" b="1" i="0" dirty="0">
                <a:solidFill>
                  <a:srgbClr val="374151"/>
                </a:solidFill>
                <a:effectLst/>
                <a:latin typeface="Söhne"/>
              </a:rPr>
              <a:t>Interface Design</a:t>
            </a:r>
            <a:r>
              <a:rPr lang="en-US" b="0" i="0" dirty="0">
                <a:solidFill>
                  <a:srgbClr val="374151"/>
                </a:solidFill>
                <a:effectLst/>
                <a:latin typeface="Söhne"/>
              </a:rPr>
              <a:t>: Android uses the </a:t>
            </a:r>
            <a:r>
              <a:rPr lang="en-US" b="1" i="0" dirty="0">
                <a:solidFill>
                  <a:srgbClr val="374151"/>
                </a:solidFill>
                <a:effectLst/>
                <a:latin typeface="Söhne"/>
              </a:rPr>
              <a:t>Android UI Toolkit</a:t>
            </a:r>
            <a:r>
              <a:rPr lang="en-US" b="0" i="0" dirty="0">
                <a:solidFill>
                  <a:srgbClr val="374151"/>
                </a:solidFill>
                <a:effectLst/>
                <a:latin typeface="Söhne"/>
              </a:rPr>
              <a:t>, which includes components like </a:t>
            </a:r>
            <a:r>
              <a:rPr lang="en-US" b="1" i="0" dirty="0">
                <a:solidFill>
                  <a:srgbClr val="374151"/>
                </a:solidFill>
                <a:effectLst/>
                <a:latin typeface="Söhne"/>
              </a:rPr>
              <a:t>Activities</a:t>
            </a:r>
            <a:r>
              <a:rPr lang="en-US" b="0" i="0" dirty="0">
                <a:solidFill>
                  <a:srgbClr val="374151"/>
                </a:solidFill>
                <a:effectLst/>
                <a:latin typeface="Söhne"/>
              </a:rPr>
              <a:t>, </a:t>
            </a:r>
            <a:r>
              <a:rPr lang="en-US" b="1" i="0" dirty="0">
                <a:solidFill>
                  <a:srgbClr val="374151"/>
                </a:solidFill>
                <a:effectLst/>
                <a:latin typeface="Söhne"/>
              </a:rPr>
              <a:t>Fragments</a:t>
            </a:r>
            <a:r>
              <a:rPr lang="en-US" b="0" i="0" dirty="0">
                <a:solidFill>
                  <a:srgbClr val="374151"/>
                </a:solidFill>
                <a:effectLst/>
                <a:latin typeface="Söhne"/>
              </a:rPr>
              <a:t>, and </a:t>
            </a:r>
            <a:r>
              <a:rPr lang="en-US" b="1" i="0" dirty="0">
                <a:solidFill>
                  <a:srgbClr val="374151"/>
                </a:solidFill>
                <a:effectLst/>
                <a:latin typeface="Söhne"/>
              </a:rPr>
              <a:t>XML layouts</a:t>
            </a:r>
            <a:r>
              <a:rPr lang="en-US" b="0" i="0" dirty="0">
                <a:solidFill>
                  <a:srgbClr val="374151"/>
                </a:solidFill>
                <a:effectLst/>
                <a:latin typeface="Söhne"/>
              </a:rPr>
              <a:t> to design user interfaces. The design can also be enhanced with tools like </a:t>
            </a:r>
            <a:r>
              <a:rPr lang="en-US" b="1" i="0" dirty="0">
                <a:solidFill>
                  <a:srgbClr val="374151"/>
                </a:solidFill>
                <a:effectLst/>
                <a:latin typeface="Söhne"/>
              </a:rPr>
              <a:t>Jetpack Compose</a:t>
            </a:r>
            <a:r>
              <a:rPr lang="en-US" b="0" i="0" dirty="0">
                <a:solidFill>
                  <a:srgbClr val="374151"/>
                </a:solidFill>
                <a:effectLst/>
                <a:latin typeface="Söhne"/>
              </a:rPr>
              <a:t> for modern UI development.</a:t>
            </a:r>
          </a:p>
          <a:p>
            <a:pPr algn="l"/>
            <a:r>
              <a:rPr lang="en-US" b="0" i="0" dirty="0">
                <a:solidFill>
                  <a:srgbClr val="374151"/>
                </a:solidFill>
                <a:effectLst/>
                <a:latin typeface="Söhne"/>
              </a:rPr>
              <a:t>The key advantages of native mobile app development are:</a:t>
            </a:r>
          </a:p>
          <a:p>
            <a:pPr algn="l">
              <a:buFont typeface="+mj-lt"/>
              <a:buAutoNum type="arabicPeriod"/>
            </a:pPr>
            <a:r>
              <a:rPr lang="en-US" b="1" i="0" dirty="0">
                <a:solidFill>
                  <a:srgbClr val="374151"/>
                </a:solidFill>
                <a:effectLst/>
                <a:latin typeface="Söhne"/>
              </a:rPr>
              <a:t>Performance</a:t>
            </a:r>
            <a:r>
              <a:rPr lang="en-US" b="0" i="0" dirty="0">
                <a:solidFill>
                  <a:srgbClr val="374151"/>
                </a:solidFill>
                <a:effectLst/>
                <a:latin typeface="Söhne"/>
              </a:rPr>
              <a:t>: Native apps are optimized for their respective platforms, resulting in faster and more efficient performance.</a:t>
            </a:r>
          </a:p>
          <a:p>
            <a:pPr algn="l">
              <a:buFont typeface="+mj-lt"/>
              <a:buAutoNum type="arabicPeriod"/>
            </a:pPr>
            <a:r>
              <a:rPr lang="en-US" b="1" i="0" dirty="0">
                <a:solidFill>
                  <a:srgbClr val="374151"/>
                </a:solidFill>
                <a:effectLst/>
                <a:latin typeface="Söhne"/>
              </a:rPr>
              <a:t>Access to Device Features</a:t>
            </a:r>
            <a:r>
              <a:rPr lang="en-US" b="0" i="0" dirty="0">
                <a:solidFill>
                  <a:srgbClr val="374151"/>
                </a:solidFill>
                <a:effectLst/>
                <a:latin typeface="Söhne"/>
              </a:rPr>
              <a:t>: Native apps have direct access to device hardware and features, allowing for more extensive integration.</a:t>
            </a:r>
          </a:p>
          <a:p>
            <a:pPr algn="l">
              <a:buFont typeface="+mj-lt"/>
              <a:buAutoNum type="arabicPeriod"/>
            </a:pPr>
            <a:r>
              <a:rPr lang="en-US" b="1" i="0" dirty="0">
                <a:solidFill>
                  <a:srgbClr val="374151"/>
                </a:solidFill>
                <a:effectLst/>
                <a:latin typeface="Söhne"/>
              </a:rPr>
              <a:t>Platform-Specific Design</a:t>
            </a:r>
            <a:r>
              <a:rPr lang="en-US" b="0" i="0" dirty="0">
                <a:solidFill>
                  <a:srgbClr val="374151"/>
                </a:solidFill>
                <a:effectLst/>
                <a:latin typeface="Söhne"/>
              </a:rPr>
              <a:t>: Developers can create user interfaces that follow the platform's design guidelines, ensuring a consistent and familiar user experience.</a:t>
            </a:r>
          </a:p>
          <a:p>
            <a:pPr algn="l">
              <a:buFont typeface="+mj-lt"/>
              <a:buAutoNum type="arabicPeriod"/>
            </a:pPr>
            <a:r>
              <a:rPr lang="en-US" b="1" i="0" dirty="0">
                <a:solidFill>
                  <a:srgbClr val="374151"/>
                </a:solidFill>
                <a:effectLst/>
                <a:latin typeface="Söhne"/>
              </a:rPr>
              <a:t>App Store Optimization</a:t>
            </a:r>
            <a:r>
              <a:rPr lang="en-US" b="0" i="0" dirty="0">
                <a:solidFill>
                  <a:srgbClr val="374151"/>
                </a:solidFill>
                <a:effectLst/>
                <a:latin typeface="Söhne"/>
              </a:rPr>
              <a:t>: Native apps can take full advantage of app store features, such as in-app purchases, reviews, and notifications.</a:t>
            </a:r>
          </a:p>
          <a:p>
            <a:pPr algn="l"/>
            <a:r>
              <a:rPr lang="en-US" b="0" i="0" dirty="0">
                <a:solidFill>
                  <a:srgbClr val="374151"/>
                </a:solidFill>
                <a:effectLst/>
                <a:latin typeface="Söhne"/>
              </a:rPr>
              <a:t>However, it's important to note that developing native apps for both iOS and Android can be more time-consuming and resource-intensive compared to cross-platform or hybrid app development approaches. Developers often choose between native and cross-platform development based on project requirements, target audience, and development team expertise.</a:t>
            </a:r>
          </a:p>
          <a:p>
            <a:endParaRPr lang="en-MY" dirty="0"/>
          </a:p>
        </p:txBody>
      </p:sp>
      <p:sp>
        <p:nvSpPr>
          <p:cNvPr id="4" name="Slide Number Placeholder 3"/>
          <p:cNvSpPr>
            <a:spLocks noGrp="1"/>
          </p:cNvSpPr>
          <p:nvPr>
            <p:ph type="sldNum" sz="quarter" idx="5"/>
          </p:nvPr>
        </p:nvSpPr>
        <p:spPr/>
        <p:txBody>
          <a:bodyPr/>
          <a:lstStyle/>
          <a:p>
            <a:fld id="{304049EF-9FF5-452A-B8CD-B28D8D33C686}" type="slidenum">
              <a:rPr lang="en-US" smtClean="0"/>
              <a:pPr/>
              <a:t>35</a:t>
            </a:fld>
            <a:endParaRPr lang="en-US"/>
          </a:p>
        </p:txBody>
      </p:sp>
    </p:spTree>
    <p:extLst>
      <p:ext uri="{BB962C8B-B14F-4D97-AF65-F5344CB8AC3E}">
        <p14:creationId xmlns:p14="http://schemas.microsoft.com/office/powerpoint/2010/main" val="15369996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algn="l"/>
            <a:r>
              <a:rPr lang="en-US" b="0" i="0" dirty="0">
                <a:solidFill>
                  <a:srgbClr val="374151"/>
                </a:solidFill>
                <a:effectLst/>
                <a:latin typeface="Söhne"/>
              </a:rPr>
              <a:t>Native apps indeed offer several advantages due to their direct integration with the device's operating system and hardware features. Here's a closer look at the key advantages of native apps in this context:</a:t>
            </a:r>
          </a:p>
          <a:p>
            <a:pPr algn="l"/>
            <a:r>
              <a:rPr lang="en-US" b="1" i="0" dirty="0">
                <a:solidFill>
                  <a:srgbClr val="374151"/>
                </a:solidFill>
                <a:effectLst/>
                <a:latin typeface="Söhne"/>
              </a:rPr>
              <a:t>1. Full Access to Device Features:</a:t>
            </a:r>
            <a:endParaRPr lang="en-US" b="0" i="0" dirty="0">
              <a:solidFill>
                <a:srgbClr val="374151"/>
              </a:solidFill>
              <a:effectLst/>
              <a:latin typeface="Söhne"/>
            </a:endParaRPr>
          </a:p>
          <a:p>
            <a:pPr algn="l">
              <a:buFont typeface="Arial" panose="020B0604020202020204" pitchFamily="34" charset="0"/>
              <a:buChar char="•"/>
            </a:pPr>
            <a:r>
              <a:rPr lang="en-US" b="1" i="0" dirty="0">
                <a:solidFill>
                  <a:srgbClr val="374151"/>
                </a:solidFill>
                <a:effectLst/>
                <a:latin typeface="Söhne"/>
              </a:rPr>
              <a:t>GPS</a:t>
            </a:r>
            <a:r>
              <a:rPr lang="en-US" b="0" i="0" dirty="0">
                <a:solidFill>
                  <a:srgbClr val="374151"/>
                </a:solidFill>
                <a:effectLst/>
                <a:latin typeface="Söhne"/>
              </a:rPr>
              <a:t>: Native apps can access precise location information, enabling location-based services like maps, geofencing, and navigation.</a:t>
            </a:r>
          </a:p>
          <a:p>
            <a:pPr algn="l">
              <a:buFont typeface="Arial" panose="020B0604020202020204" pitchFamily="34" charset="0"/>
              <a:buChar char="•"/>
            </a:pPr>
            <a:r>
              <a:rPr lang="en-US" b="1" i="0" dirty="0">
                <a:solidFill>
                  <a:srgbClr val="374151"/>
                </a:solidFill>
                <a:effectLst/>
                <a:latin typeface="Söhne"/>
              </a:rPr>
              <a:t>Camera</a:t>
            </a:r>
            <a:r>
              <a:rPr lang="en-US" b="0" i="0" dirty="0">
                <a:solidFill>
                  <a:srgbClr val="374151"/>
                </a:solidFill>
                <a:effectLst/>
                <a:latin typeface="Söhne"/>
              </a:rPr>
              <a:t>: They can utilize the device's camera for features like taking photos, recording videos, or enabling augmented reality experiences.</a:t>
            </a:r>
          </a:p>
          <a:p>
            <a:pPr algn="l">
              <a:buFont typeface="Arial" panose="020B0604020202020204" pitchFamily="34" charset="0"/>
              <a:buChar char="•"/>
            </a:pPr>
            <a:r>
              <a:rPr lang="en-US" b="1" i="0" dirty="0">
                <a:solidFill>
                  <a:srgbClr val="374151"/>
                </a:solidFill>
                <a:effectLst/>
                <a:latin typeface="Söhne"/>
              </a:rPr>
              <a:t>Microphone</a:t>
            </a:r>
            <a:r>
              <a:rPr lang="en-US" b="0" i="0" dirty="0">
                <a:solidFill>
                  <a:srgbClr val="374151"/>
                </a:solidFill>
                <a:effectLst/>
                <a:latin typeface="Söhne"/>
              </a:rPr>
              <a:t>: Native apps can access the microphone for voice recording, voice commands, or audio processing.</a:t>
            </a:r>
          </a:p>
          <a:p>
            <a:pPr algn="l">
              <a:buFont typeface="Arial" panose="020B0604020202020204" pitchFamily="34" charset="0"/>
              <a:buChar char="•"/>
            </a:pPr>
            <a:r>
              <a:rPr lang="en-US" b="1" i="0" dirty="0">
                <a:solidFill>
                  <a:srgbClr val="374151"/>
                </a:solidFill>
                <a:effectLst/>
                <a:latin typeface="Söhne"/>
              </a:rPr>
              <a:t>Contacts</a:t>
            </a:r>
            <a:r>
              <a:rPr lang="en-US" b="0" i="0" dirty="0">
                <a:solidFill>
                  <a:srgbClr val="374151"/>
                </a:solidFill>
                <a:effectLst/>
                <a:latin typeface="Söhne"/>
              </a:rPr>
              <a:t>: They have access to the device's contact list for features like importing, syncing, or sharing contacts.</a:t>
            </a:r>
          </a:p>
          <a:p>
            <a:pPr algn="l">
              <a:buFont typeface="Arial" panose="020B0604020202020204" pitchFamily="34" charset="0"/>
              <a:buChar char="•"/>
            </a:pPr>
            <a:r>
              <a:rPr lang="en-US" b="1" i="0" dirty="0">
                <a:solidFill>
                  <a:srgbClr val="374151"/>
                </a:solidFill>
                <a:effectLst/>
                <a:latin typeface="Söhne"/>
              </a:rPr>
              <a:t>Offline Access</a:t>
            </a:r>
            <a:r>
              <a:rPr lang="en-US" b="0" i="0" dirty="0">
                <a:solidFill>
                  <a:srgbClr val="374151"/>
                </a:solidFill>
                <a:effectLst/>
                <a:latin typeface="Söhne"/>
              </a:rPr>
              <a:t>: Native apps can store data locally, allowing users to access content and features even when they are offline.</a:t>
            </a:r>
          </a:p>
          <a:p>
            <a:pPr algn="l">
              <a:buFont typeface="Arial" panose="020B0604020202020204" pitchFamily="34" charset="0"/>
              <a:buChar char="•"/>
            </a:pPr>
            <a:r>
              <a:rPr lang="en-US" b="1" i="0" dirty="0">
                <a:solidFill>
                  <a:srgbClr val="374151"/>
                </a:solidFill>
                <a:effectLst/>
                <a:latin typeface="Söhne"/>
              </a:rPr>
              <a:t>Sensors</a:t>
            </a:r>
            <a:r>
              <a:rPr lang="en-US" b="0" i="0" dirty="0">
                <a:solidFill>
                  <a:srgbClr val="374151"/>
                </a:solidFill>
                <a:effectLst/>
                <a:latin typeface="Söhne"/>
              </a:rPr>
              <a:t>: They can tap into various sensors like accelerometers, gyroscopes, and ambient light sensors for innovative functionalities.</a:t>
            </a:r>
          </a:p>
          <a:p>
            <a:pPr algn="l">
              <a:buFont typeface="Arial" panose="020B0604020202020204" pitchFamily="34" charset="0"/>
              <a:buChar char="•"/>
            </a:pPr>
            <a:r>
              <a:rPr lang="en-US" b="1" i="0" dirty="0">
                <a:solidFill>
                  <a:srgbClr val="374151"/>
                </a:solidFill>
                <a:effectLst/>
                <a:latin typeface="Söhne"/>
              </a:rPr>
              <a:t>Notifications</a:t>
            </a:r>
            <a:r>
              <a:rPr lang="en-US" b="0" i="0" dirty="0">
                <a:solidFill>
                  <a:srgbClr val="374151"/>
                </a:solidFill>
                <a:effectLst/>
                <a:latin typeface="Söhne"/>
              </a:rPr>
              <a:t>: Native apps can use the device's notification system for timely alerts and updates.</a:t>
            </a:r>
          </a:p>
          <a:p>
            <a:pPr algn="l"/>
            <a:r>
              <a:rPr lang="en-US" b="1" i="0" dirty="0">
                <a:solidFill>
                  <a:srgbClr val="374151"/>
                </a:solidFill>
                <a:effectLst/>
                <a:latin typeface="Söhne"/>
              </a:rPr>
              <a:t>2. Performance:</a:t>
            </a: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374151"/>
                </a:solidFill>
                <a:effectLst/>
                <a:latin typeface="Söhne"/>
              </a:rPr>
              <a:t>Native apps are optimized for their respective platforms and take full advantage of platform-specific coding languages, libraries, and tools. This optimization results in faster execution and smoother user interactions.</a:t>
            </a:r>
          </a:p>
          <a:p>
            <a:pPr algn="l">
              <a:buFont typeface="Arial" panose="020B0604020202020204" pitchFamily="34" charset="0"/>
              <a:buChar char="•"/>
            </a:pPr>
            <a:r>
              <a:rPr lang="en-US" b="0" i="0" dirty="0">
                <a:solidFill>
                  <a:srgbClr val="374151"/>
                </a:solidFill>
                <a:effectLst/>
                <a:latin typeface="Söhne"/>
              </a:rPr>
              <a:t>They are compiled directly into machine code, which eliminates the need for an intermediate layer, improving overall performance.</a:t>
            </a:r>
          </a:p>
          <a:p>
            <a:pPr algn="l"/>
            <a:r>
              <a:rPr lang="en-US" b="1" i="0" dirty="0">
                <a:solidFill>
                  <a:srgbClr val="374151"/>
                </a:solidFill>
                <a:effectLst/>
                <a:latin typeface="Söhne"/>
              </a:rPr>
              <a:t>3. Reliability:</a:t>
            </a: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374151"/>
                </a:solidFill>
                <a:effectLst/>
                <a:latin typeface="Söhne"/>
              </a:rPr>
              <a:t>Native apps are known for their reliability and stability. Since they are designed specifically for a particular operating system, they are less likely to experience compatibility issues or crashes.</a:t>
            </a:r>
          </a:p>
          <a:p>
            <a:pPr algn="l">
              <a:buFont typeface="Arial" panose="020B0604020202020204" pitchFamily="34" charset="0"/>
              <a:buChar char="•"/>
            </a:pPr>
            <a:r>
              <a:rPr lang="en-US" b="0" i="0" dirty="0">
                <a:solidFill>
                  <a:srgbClr val="374151"/>
                </a:solidFill>
                <a:effectLst/>
                <a:latin typeface="Söhne"/>
              </a:rPr>
              <a:t>Developers have access to platform-specific debugging tools and resources, making it easier to identify and fix issues quickly.</a:t>
            </a:r>
          </a:p>
          <a:p>
            <a:pPr algn="l"/>
            <a:r>
              <a:rPr lang="en-US" b="1" i="0" dirty="0">
                <a:solidFill>
                  <a:srgbClr val="374151"/>
                </a:solidFill>
                <a:effectLst/>
                <a:latin typeface="Söhne"/>
              </a:rPr>
              <a:t>4. Consistent User Experience:</a:t>
            </a: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374151"/>
                </a:solidFill>
                <a:effectLst/>
                <a:latin typeface="Söhne"/>
              </a:rPr>
              <a:t>Native apps adhere to the design guidelines and user interface conventions of the respective platforms (iOS or Android). This ensures a consistent and intuitive user experience.</a:t>
            </a:r>
          </a:p>
          <a:p>
            <a:pPr algn="l">
              <a:buFont typeface="Arial" panose="020B0604020202020204" pitchFamily="34" charset="0"/>
              <a:buChar char="•"/>
            </a:pPr>
            <a:r>
              <a:rPr lang="en-US" b="0" i="0" dirty="0">
                <a:solidFill>
                  <a:srgbClr val="374151"/>
                </a:solidFill>
                <a:effectLst/>
                <a:latin typeface="Söhne"/>
              </a:rPr>
              <a:t>Users feel familiar with the app's navigation and layout, enhancing usability.</a:t>
            </a:r>
          </a:p>
          <a:p>
            <a:pPr algn="l"/>
            <a:r>
              <a:rPr lang="en-US" b="1" i="0" dirty="0">
                <a:solidFill>
                  <a:srgbClr val="374151"/>
                </a:solidFill>
                <a:effectLst/>
                <a:latin typeface="Söhne"/>
              </a:rPr>
              <a:t>5. Security:</a:t>
            </a: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374151"/>
                </a:solidFill>
                <a:effectLst/>
                <a:latin typeface="Söhne"/>
              </a:rPr>
              <a:t>Native apps can implement robust security measures, including encryption and authentication, to protect sensitive user data.</a:t>
            </a:r>
          </a:p>
          <a:p>
            <a:pPr algn="l">
              <a:buFont typeface="Arial" panose="020B0604020202020204" pitchFamily="34" charset="0"/>
              <a:buChar char="•"/>
            </a:pPr>
            <a:r>
              <a:rPr lang="en-US" b="0" i="0" dirty="0">
                <a:solidFill>
                  <a:srgbClr val="374151"/>
                </a:solidFill>
                <a:effectLst/>
                <a:latin typeface="Söhne"/>
              </a:rPr>
              <a:t>They can leverage platform-specific security features and updates to stay ahead of emerging threats.</a:t>
            </a:r>
          </a:p>
          <a:p>
            <a:pPr algn="l"/>
            <a:r>
              <a:rPr lang="en-US" b="1" i="0" dirty="0">
                <a:solidFill>
                  <a:srgbClr val="374151"/>
                </a:solidFill>
                <a:effectLst/>
                <a:latin typeface="Söhne"/>
              </a:rPr>
              <a:t>6. App Store Optimization:</a:t>
            </a: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374151"/>
                </a:solidFill>
                <a:effectLst/>
                <a:latin typeface="Söhne"/>
              </a:rPr>
              <a:t>Native apps can fully utilize the features provided by app stores, such as user reviews, ratings, in-app purchases, and push notifications, to enhance user engagement and monetization.</a:t>
            </a:r>
          </a:p>
          <a:p>
            <a:pPr algn="l"/>
            <a:r>
              <a:rPr lang="en-US" b="0" i="0" dirty="0">
                <a:solidFill>
                  <a:srgbClr val="374151"/>
                </a:solidFill>
                <a:effectLst/>
                <a:latin typeface="Söhne"/>
              </a:rPr>
              <a:t>However, it's important to note that native app development typically requires separate development efforts for each platform (iOS and Android) and may involve a longer development timeline and higher development costs compared to cross-platform or hybrid approaches. Developers need platform-specific expertise to build and maintain native apps effectively. The choice between native and other development methods depends on project goals, budget, and the need for specific device features and performance.</a:t>
            </a:r>
          </a:p>
          <a:p>
            <a:endParaRPr lang="en-MY" dirty="0"/>
          </a:p>
        </p:txBody>
      </p:sp>
      <p:sp>
        <p:nvSpPr>
          <p:cNvPr id="4" name="Slide Number Placeholder 3"/>
          <p:cNvSpPr>
            <a:spLocks noGrp="1"/>
          </p:cNvSpPr>
          <p:nvPr>
            <p:ph type="sldNum" sz="quarter" idx="5"/>
          </p:nvPr>
        </p:nvSpPr>
        <p:spPr/>
        <p:txBody>
          <a:bodyPr/>
          <a:lstStyle/>
          <a:p>
            <a:fld id="{304049EF-9FF5-452A-B8CD-B28D8D33C686}" type="slidenum">
              <a:rPr lang="en-US" smtClean="0"/>
              <a:pPr/>
              <a:t>36</a:t>
            </a:fld>
            <a:endParaRPr lang="en-US"/>
          </a:p>
        </p:txBody>
      </p:sp>
    </p:spTree>
    <p:extLst>
      <p:ext uri="{BB962C8B-B14F-4D97-AF65-F5344CB8AC3E}">
        <p14:creationId xmlns:p14="http://schemas.microsoft.com/office/powerpoint/2010/main" val="24426974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If the business obliges to serve the audience well, we should go with Native app development.</a:t>
            </a:r>
            <a:endParaRPr lang="en-MY" dirty="0"/>
          </a:p>
        </p:txBody>
      </p:sp>
      <p:sp>
        <p:nvSpPr>
          <p:cNvPr id="4" name="Slide Number Placeholder 3"/>
          <p:cNvSpPr>
            <a:spLocks noGrp="1"/>
          </p:cNvSpPr>
          <p:nvPr>
            <p:ph type="sldNum" sz="quarter" idx="5"/>
          </p:nvPr>
        </p:nvSpPr>
        <p:spPr/>
        <p:txBody>
          <a:bodyPr/>
          <a:lstStyle/>
          <a:p>
            <a:fld id="{304049EF-9FF5-452A-B8CD-B28D8D33C686}" type="slidenum">
              <a:rPr lang="en-US" smtClean="0"/>
              <a:pPr/>
              <a:t>37</a:t>
            </a:fld>
            <a:endParaRPr lang="en-US"/>
          </a:p>
        </p:txBody>
      </p:sp>
    </p:spTree>
    <p:extLst>
      <p:ext uri="{BB962C8B-B14F-4D97-AF65-F5344CB8AC3E}">
        <p14:creationId xmlns:p14="http://schemas.microsoft.com/office/powerpoint/2010/main" val="12757468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b="0" i="0" dirty="0">
                <a:solidFill>
                  <a:srgbClr val="374151"/>
                </a:solidFill>
                <a:effectLst/>
                <a:latin typeface="Söhne"/>
              </a:rPr>
              <a:t>Cross-platform mobile application development is an approach to creating mobile apps that allows developers to write a single codebase that can run on multiple mobile platforms, such as iOS, Android, and sometimes even other platforms like Windows or web browsers. This approach is designed to streamline development, reduce costs, and reach a broader audience with a consistent user experience. Here are key aspects of cross-platform mobile application development:</a:t>
            </a:r>
          </a:p>
          <a:p>
            <a:pPr algn="l"/>
            <a:r>
              <a:rPr lang="en-US" b="1" i="0" dirty="0">
                <a:solidFill>
                  <a:srgbClr val="374151"/>
                </a:solidFill>
                <a:effectLst/>
                <a:latin typeface="Söhne"/>
              </a:rPr>
              <a:t>1. Single Codebase:</a:t>
            </a: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374151"/>
                </a:solidFill>
                <a:effectLst/>
                <a:latin typeface="Söhne"/>
              </a:rPr>
              <a:t>Developers write and maintain one set of code using languages like JavaScript, TypeScript, or Dart (for frameworks like React Native, Flutter, or Xamarin).</a:t>
            </a:r>
          </a:p>
          <a:p>
            <a:pPr algn="l">
              <a:buFont typeface="Arial" panose="020B0604020202020204" pitchFamily="34" charset="0"/>
              <a:buChar char="•"/>
            </a:pPr>
            <a:r>
              <a:rPr lang="en-US" b="0" i="0" dirty="0">
                <a:solidFill>
                  <a:srgbClr val="374151"/>
                </a:solidFill>
                <a:effectLst/>
                <a:latin typeface="Söhne"/>
              </a:rPr>
              <a:t>This code is then compiled or translated to native code for each target platform, allowing the app to function on different operating systems.</a:t>
            </a:r>
          </a:p>
          <a:p>
            <a:pPr algn="l"/>
            <a:r>
              <a:rPr lang="en-US" b="1" i="0" dirty="0">
                <a:solidFill>
                  <a:srgbClr val="374151"/>
                </a:solidFill>
                <a:effectLst/>
                <a:latin typeface="Söhne"/>
              </a:rPr>
              <a:t>2. Frameworks and Tools:</a:t>
            </a: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374151"/>
                </a:solidFill>
                <a:effectLst/>
                <a:latin typeface="Söhne"/>
              </a:rPr>
              <a:t>Cross-platform development is facilitated by frameworks and tools that abstract away platform-specific differences and provide a unified development environment.</a:t>
            </a:r>
          </a:p>
          <a:p>
            <a:pPr algn="l">
              <a:buFont typeface="Arial" panose="020B0604020202020204" pitchFamily="34" charset="0"/>
              <a:buChar char="•"/>
            </a:pPr>
            <a:r>
              <a:rPr lang="en-US" b="0" i="0" dirty="0">
                <a:solidFill>
                  <a:srgbClr val="374151"/>
                </a:solidFill>
                <a:effectLst/>
                <a:latin typeface="Söhne"/>
              </a:rPr>
              <a:t>Popular cross-platform frameworks include React Native, Flutter, Xamarin, and Apache Cordova (PhoneGap).</a:t>
            </a:r>
          </a:p>
          <a:p>
            <a:pPr algn="l"/>
            <a:r>
              <a:rPr lang="en-US" b="1" i="0" dirty="0">
                <a:solidFill>
                  <a:srgbClr val="374151"/>
                </a:solidFill>
                <a:effectLst/>
                <a:latin typeface="Söhne"/>
              </a:rPr>
              <a:t>3. Access to Device Features:</a:t>
            </a: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374151"/>
                </a:solidFill>
                <a:effectLst/>
                <a:latin typeface="Söhne"/>
              </a:rPr>
              <a:t>Cross-platform apps aim to provide access to many device features, similar to native apps. This is achieved through plugins or modules that bridge the gap between the cross-platform codebase and native APIs.</a:t>
            </a:r>
          </a:p>
          <a:p>
            <a:pPr algn="l">
              <a:buFont typeface="Arial" panose="020B0604020202020204" pitchFamily="34" charset="0"/>
              <a:buChar char="•"/>
            </a:pPr>
            <a:r>
              <a:rPr lang="en-US" b="0" i="0" dirty="0">
                <a:solidFill>
                  <a:srgbClr val="374151"/>
                </a:solidFill>
                <a:effectLst/>
                <a:latin typeface="Söhne"/>
              </a:rPr>
              <a:t>Developers can access features like GPS, camera, accelerometer, and more, although there may be some limitations or delays in adopting new features.</a:t>
            </a:r>
          </a:p>
          <a:p>
            <a:pPr algn="l"/>
            <a:r>
              <a:rPr lang="en-US" b="1" i="0" dirty="0">
                <a:solidFill>
                  <a:srgbClr val="374151"/>
                </a:solidFill>
                <a:effectLst/>
                <a:latin typeface="Söhne"/>
              </a:rPr>
              <a:t>4. User Experience:</a:t>
            </a: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374151"/>
                </a:solidFill>
                <a:effectLst/>
                <a:latin typeface="Söhne"/>
              </a:rPr>
              <a:t>Cross-platform apps strive to offer a native-like user experience by adhering to the design guidelines of each platform. This helps ensure that the app looks and behaves appropriately on iOS and Android.</a:t>
            </a:r>
          </a:p>
          <a:p>
            <a:pPr algn="l">
              <a:buFont typeface="Arial" panose="020B0604020202020204" pitchFamily="34" charset="0"/>
              <a:buChar char="•"/>
            </a:pPr>
            <a:r>
              <a:rPr lang="en-US" b="0" i="0" dirty="0">
                <a:solidFill>
                  <a:srgbClr val="374151"/>
                </a:solidFill>
                <a:effectLst/>
                <a:latin typeface="Söhne"/>
              </a:rPr>
              <a:t>Frameworks like Flutter emphasize pixel-perfect design and smooth animations to achieve this goal.</a:t>
            </a:r>
          </a:p>
          <a:p>
            <a:pPr algn="l"/>
            <a:r>
              <a:rPr lang="en-US" b="1" i="0" dirty="0">
                <a:solidFill>
                  <a:srgbClr val="374151"/>
                </a:solidFill>
                <a:effectLst/>
                <a:latin typeface="Söhne"/>
              </a:rPr>
              <a:t>5. App Stores:</a:t>
            </a: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374151"/>
                </a:solidFill>
                <a:effectLst/>
                <a:latin typeface="Söhne"/>
              </a:rPr>
              <a:t>Cross-platform apps can be published in app stores, such as the Apple App Store and Google Play Store, just like native apps. Users can discover and install them in the same way.</a:t>
            </a:r>
          </a:p>
          <a:p>
            <a:pPr algn="l"/>
            <a:r>
              <a:rPr lang="en-US" b="1" i="0" dirty="0">
                <a:solidFill>
                  <a:srgbClr val="374151"/>
                </a:solidFill>
                <a:effectLst/>
                <a:latin typeface="Söhne"/>
              </a:rPr>
              <a:t>6. Performance:</a:t>
            </a: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374151"/>
                </a:solidFill>
                <a:effectLst/>
                <a:latin typeface="Söhne"/>
              </a:rPr>
              <a:t>While cross-platform frameworks have made significant strides in improving performance, native apps may still have a slight edge in terms of raw speed and efficiency, especially for graphics-intensive applications.</a:t>
            </a:r>
          </a:p>
          <a:p>
            <a:pPr algn="l"/>
            <a:r>
              <a:rPr lang="en-US" b="1" i="0" dirty="0">
                <a:solidFill>
                  <a:srgbClr val="374151"/>
                </a:solidFill>
                <a:effectLst/>
                <a:latin typeface="Söhne"/>
              </a:rPr>
              <a:t>7. Code Reusability:</a:t>
            </a: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374151"/>
                </a:solidFill>
                <a:effectLst/>
                <a:latin typeface="Söhne"/>
              </a:rPr>
              <a:t>One of the primary benefits of cross-platform development is code reusability. Developers can reuse a significant portion of their codebase for different platforms, reducing development time and effort.</a:t>
            </a:r>
          </a:p>
          <a:p>
            <a:pPr algn="l"/>
            <a:r>
              <a:rPr lang="en-US" b="1" i="0" dirty="0">
                <a:solidFill>
                  <a:srgbClr val="374151"/>
                </a:solidFill>
                <a:effectLst/>
                <a:latin typeface="Söhne"/>
              </a:rPr>
              <a:t>8. Cost Savings:</a:t>
            </a: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374151"/>
                </a:solidFill>
                <a:effectLst/>
                <a:latin typeface="Söhne"/>
              </a:rPr>
              <a:t>Cross-platform development can be cost-effective, as it requires fewer resources than building separate native apps for each platform.</a:t>
            </a:r>
          </a:p>
          <a:p>
            <a:pPr algn="l"/>
            <a:r>
              <a:rPr lang="en-US" b="1" i="0" dirty="0">
                <a:solidFill>
                  <a:srgbClr val="374151"/>
                </a:solidFill>
                <a:effectLst/>
                <a:latin typeface="Söhne"/>
              </a:rPr>
              <a:t>9. Rapid Development:</a:t>
            </a: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374151"/>
                </a:solidFill>
                <a:effectLst/>
                <a:latin typeface="Söhne"/>
              </a:rPr>
              <a:t>Cross-platform frameworks often offer hot-reloading and other developer-friendly features, enabling rapid development and testing cycles.</a:t>
            </a:r>
          </a:p>
          <a:p>
            <a:pPr algn="l"/>
            <a:r>
              <a:rPr lang="en-US" b="1" i="0" dirty="0">
                <a:solidFill>
                  <a:srgbClr val="374151"/>
                </a:solidFill>
                <a:effectLst/>
                <a:latin typeface="Söhne"/>
              </a:rPr>
              <a:t>10. Maintenance:</a:t>
            </a: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374151"/>
                </a:solidFill>
                <a:effectLst/>
                <a:latin typeface="Söhne"/>
              </a:rPr>
              <a:t>Maintaining a single codebase for multiple platforms can simplify app updates and bug fixes, as changes are applied uniformly across all platforms.</a:t>
            </a:r>
          </a:p>
          <a:p>
            <a:pPr algn="l"/>
            <a:r>
              <a:rPr lang="en-US" b="0" i="0" dirty="0">
                <a:solidFill>
                  <a:srgbClr val="374151"/>
                </a:solidFill>
                <a:effectLst/>
                <a:latin typeface="Söhne"/>
              </a:rPr>
              <a:t>In summary, cross-platform mobile application development offers a practical way to create mobile apps for multiple platforms while maximizing code reuse and minimizing development time and costs. However, the choice between cross-platform and native development depends on factors like the specific project requirements, performance considerations, and the development team's expertise.</a:t>
            </a:r>
          </a:p>
          <a:p>
            <a:endParaRPr lang="en-MY" dirty="0"/>
          </a:p>
        </p:txBody>
      </p:sp>
      <p:sp>
        <p:nvSpPr>
          <p:cNvPr id="4" name="Slide Number Placeholder 3"/>
          <p:cNvSpPr>
            <a:spLocks noGrp="1"/>
          </p:cNvSpPr>
          <p:nvPr>
            <p:ph type="sldNum" sz="quarter" idx="5"/>
          </p:nvPr>
        </p:nvSpPr>
        <p:spPr/>
        <p:txBody>
          <a:bodyPr/>
          <a:lstStyle/>
          <a:p>
            <a:fld id="{304049EF-9FF5-452A-B8CD-B28D8D33C686}" type="slidenum">
              <a:rPr lang="en-US" smtClean="0"/>
              <a:pPr/>
              <a:t>44</a:t>
            </a:fld>
            <a:endParaRPr lang="en-US"/>
          </a:p>
        </p:txBody>
      </p:sp>
    </p:spTree>
    <p:extLst>
      <p:ext uri="{BB962C8B-B14F-4D97-AF65-F5344CB8AC3E}">
        <p14:creationId xmlns:p14="http://schemas.microsoft.com/office/powerpoint/2010/main" val="884643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44"/>
          <p:cNvSpPr>
            <a:spLocks noChangeArrowheads="1"/>
          </p:cNvSpPr>
          <p:nvPr/>
        </p:nvSpPr>
        <p:spPr bwMode="auto">
          <a:xfrm>
            <a:off x="0" y="0"/>
            <a:ext cx="9144000" cy="1196975"/>
          </a:xfrm>
          <a:prstGeom prst="rect">
            <a:avLst/>
          </a:prstGeom>
          <a:gradFill rotWithShape="1">
            <a:gsLst>
              <a:gs pos="0">
                <a:srgbClr val="ACC6DC"/>
              </a:gs>
              <a:gs pos="100000">
                <a:srgbClr val="2E639E"/>
              </a:gs>
            </a:gsLst>
            <a:path path="rect">
              <a:fillToRect l="100000" b="100000"/>
            </a:path>
          </a:gradFill>
          <a:ln w="9525">
            <a:noFill/>
            <a:miter lim="800000"/>
            <a:headEnd/>
            <a:tailEnd/>
          </a:ln>
          <a:effectLst/>
        </p:spPr>
        <p:txBody>
          <a:bodyPr wrap="none" anchor="ctr"/>
          <a:lstStyle/>
          <a:p>
            <a:endParaRPr lang="en-US"/>
          </a:p>
        </p:txBody>
      </p:sp>
      <p:sp>
        <p:nvSpPr>
          <p:cNvPr id="5" name="Rectangle 47"/>
          <p:cNvSpPr>
            <a:spLocks noChangeArrowheads="1"/>
          </p:cNvSpPr>
          <p:nvPr/>
        </p:nvSpPr>
        <p:spPr bwMode="auto">
          <a:xfrm>
            <a:off x="0" y="6742113"/>
            <a:ext cx="9144000" cy="115887"/>
          </a:xfrm>
          <a:prstGeom prst="rect">
            <a:avLst/>
          </a:prstGeom>
          <a:gradFill rotWithShape="1">
            <a:gsLst>
              <a:gs pos="0">
                <a:srgbClr val="6A9AC1"/>
              </a:gs>
              <a:gs pos="100000">
                <a:srgbClr val="6A9AC1">
                  <a:gamma/>
                  <a:shade val="46275"/>
                  <a:invGamma/>
                </a:srgbClr>
              </a:gs>
            </a:gsLst>
            <a:lin ang="5400000" scaled="1"/>
          </a:gradFill>
          <a:ln w="9525">
            <a:noFill/>
            <a:miter lim="800000"/>
            <a:headEnd/>
            <a:tailEnd/>
          </a:ln>
          <a:effectLst/>
        </p:spPr>
        <p:txBody>
          <a:bodyPr wrap="none" anchor="ctr"/>
          <a:lstStyle/>
          <a:p>
            <a:endParaRPr lang="en-US"/>
          </a:p>
        </p:txBody>
      </p:sp>
      <p:sp>
        <p:nvSpPr>
          <p:cNvPr id="6" name="PowerPlusWaterMarkObject3"/>
          <p:cNvSpPr>
            <a:spLocks noChangeArrowheads="1" noChangeShapeType="1" noTextEdit="1"/>
          </p:cNvSpPr>
          <p:nvPr/>
        </p:nvSpPr>
        <p:spPr bwMode="auto">
          <a:xfrm rot="5400000">
            <a:off x="-2008188" y="3168651"/>
            <a:ext cx="4352925" cy="552450"/>
          </a:xfrm>
          <a:prstGeom prst="rect">
            <a:avLst/>
          </a:prstGeom>
        </p:spPr>
        <p:txBody>
          <a:bodyPr wrap="none" fromWordArt="1">
            <a:prstTxWarp prst="textPlain">
              <a:avLst>
                <a:gd name="adj" fmla="val 50000"/>
              </a:avLst>
            </a:prstTxWarp>
          </a:bodyPr>
          <a:lstStyle/>
          <a:p>
            <a:pPr algn="ctr"/>
            <a:r>
              <a:rPr lang="en-US" sz="3600" kern="10">
                <a:ln w="9525">
                  <a:noFill/>
                  <a:round/>
                  <a:headEnd/>
                  <a:tailEnd/>
                </a:ln>
                <a:solidFill>
                  <a:srgbClr val="99CCFF">
                    <a:alpha val="20000"/>
                  </a:srgbClr>
                </a:solidFill>
                <a:latin typeface="Tahoma"/>
                <a:cs typeface="Tahoma"/>
              </a:rPr>
              <a:t>SEGi education group</a:t>
            </a:r>
          </a:p>
        </p:txBody>
      </p:sp>
      <p:pic>
        <p:nvPicPr>
          <p:cNvPr id="7" name="Picture 54" descr="segiedu"/>
          <p:cNvPicPr>
            <a:picLocks noChangeAspect="1" noChangeArrowheads="1"/>
          </p:cNvPicPr>
          <p:nvPr/>
        </p:nvPicPr>
        <p:blipFill>
          <a:blip r:embed="rId2"/>
          <a:srcRect/>
          <a:stretch>
            <a:fillRect/>
          </a:stretch>
        </p:blipFill>
        <p:spPr bwMode="auto">
          <a:xfrm>
            <a:off x="2114550" y="1588"/>
            <a:ext cx="4702175" cy="1220787"/>
          </a:xfrm>
          <a:prstGeom prst="rect">
            <a:avLst/>
          </a:prstGeom>
          <a:noFill/>
          <a:ln w="9525">
            <a:noFill/>
            <a:miter lim="800000"/>
            <a:headEnd/>
            <a:tailEnd/>
          </a:ln>
        </p:spPr>
      </p:pic>
      <p:sp>
        <p:nvSpPr>
          <p:cNvPr id="25639" name="Rectangle 39"/>
          <p:cNvSpPr>
            <a:spLocks noGrp="1" noChangeArrowheads="1"/>
          </p:cNvSpPr>
          <p:nvPr>
            <p:ph type="subTitle" idx="1"/>
          </p:nvPr>
        </p:nvSpPr>
        <p:spPr>
          <a:xfrm>
            <a:off x="1371600" y="3886200"/>
            <a:ext cx="6400800" cy="1752600"/>
          </a:xfrm>
        </p:spPr>
        <p:txBody>
          <a:bodyPr/>
          <a:lstStyle>
            <a:lvl1pPr marL="0" indent="0" algn="ctr">
              <a:buFontTx/>
              <a:buNone/>
              <a:defRPr sz="2800"/>
            </a:lvl1pPr>
          </a:lstStyle>
          <a:p>
            <a:r>
              <a:rPr lang="en-US"/>
              <a:t>Click to edit Master subtitle style</a:t>
            </a:r>
          </a:p>
        </p:txBody>
      </p:sp>
      <p:sp>
        <p:nvSpPr>
          <p:cNvPr id="25640" name="Rectangle 40"/>
          <p:cNvSpPr>
            <a:spLocks noGrp="1" noChangeArrowheads="1"/>
          </p:cNvSpPr>
          <p:nvPr>
            <p:ph type="ctrTitle"/>
          </p:nvPr>
        </p:nvSpPr>
        <p:spPr>
          <a:xfrm>
            <a:off x="685800" y="1768475"/>
            <a:ext cx="7772400" cy="1736725"/>
          </a:xfrm>
        </p:spPr>
        <p:txBody>
          <a:bodyPr anchor="b" anchorCtr="1"/>
          <a:lstStyle>
            <a:lvl1pPr>
              <a:defRPr/>
            </a:lvl1pPr>
          </a:lstStyle>
          <a:p>
            <a:r>
              <a:rPr lang="en-US"/>
              <a:t>Click to edit Master title style</a:t>
            </a:r>
          </a:p>
        </p:txBody>
      </p:sp>
      <p:sp>
        <p:nvSpPr>
          <p:cNvPr id="8" name="Rectangle 48"/>
          <p:cNvSpPr>
            <a:spLocks noGrp="1" noChangeArrowheads="1"/>
          </p:cNvSpPr>
          <p:nvPr>
            <p:ph type="dt" sz="half" idx="10"/>
          </p:nvPr>
        </p:nvSpPr>
        <p:spPr/>
        <p:txBody>
          <a:bodyPr/>
          <a:lstStyle>
            <a:lvl1pPr>
              <a:defRPr/>
            </a:lvl1pPr>
          </a:lstStyle>
          <a:p>
            <a:fld id="{23613130-F1E8-4EFE-B3F7-329396A5CE3D}" type="datetime3">
              <a:rPr lang="en-US" smtClean="0"/>
              <a:t>6 February 2025</a:t>
            </a:fld>
            <a:endParaRPr lang="en-GB"/>
          </a:p>
        </p:txBody>
      </p:sp>
      <p:sp>
        <p:nvSpPr>
          <p:cNvPr id="9" name="Rectangle 49"/>
          <p:cNvSpPr>
            <a:spLocks noGrp="1" noChangeArrowheads="1"/>
          </p:cNvSpPr>
          <p:nvPr>
            <p:ph type="ftr" sz="quarter" idx="11"/>
          </p:nvPr>
        </p:nvSpPr>
        <p:spPr/>
        <p:txBody>
          <a:bodyPr/>
          <a:lstStyle>
            <a:lvl1pPr>
              <a:defRPr/>
            </a:lvl1pPr>
          </a:lstStyle>
          <a:p>
            <a:r>
              <a:rPr lang="en-GB"/>
              <a:t> © LMS SEGi education group</a:t>
            </a:r>
          </a:p>
        </p:txBody>
      </p:sp>
      <p:sp>
        <p:nvSpPr>
          <p:cNvPr id="10" name="Rectangle 50"/>
          <p:cNvSpPr>
            <a:spLocks noGrp="1" noChangeArrowheads="1"/>
          </p:cNvSpPr>
          <p:nvPr>
            <p:ph type="sldNum" sz="quarter" idx="12"/>
          </p:nvPr>
        </p:nvSpPr>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4"/>
          <p:cNvSpPr>
            <a:spLocks noGrp="1" noChangeArrowheads="1"/>
          </p:cNvSpPr>
          <p:nvPr>
            <p:ph type="dt" sz="half" idx="10"/>
          </p:nvPr>
        </p:nvSpPr>
        <p:spPr>
          <a:ln/>
        </p:spPr>
        <p:txBody>
          <a:bodyPr/>
          <a:lstStyle>
            <a:lvl1pPr>
              <a:defRPr/>
            </a:lvl1pPr>
          </a:lstStyle>
          <a:p>
            <a:fld id="{B6727BCA-463C-447A-B735-860A722CE346}" type="datetime3">
              <a:rPr lang="en-US" smtClean="0"/>
              <a:t>6 February 2025</a:t>
            </a:fld>
            <a:endParaRPr lang="en-GB"/>
          </a:p>
        </p:txBody>
      </p:sp>
      <p:sp>
        <p:nvSpPr>
          <p:cNvPr id="5" name="Rectangle 45"/>
          <p:cNvSpPr>
            <a:spLocks noGrp="1" noChangeArrowheads="1"/>
          </p:cNvSpPr>
          <p:nvPr>
            <p:ph type="ftr" sz="quarter" idx="11"/>
          </p:nvPr>
        </p:nvSpPr>
        <p:spPr>
          <a:ln/>
        </p:spPr>
        <p:txBody>
          <a:bodyPr/>
          <a:lstStyle>
            <a:lvl1pPr>
              <a:defRPr/>
            </a:lvl1pPr>
          </a:lstStyle>
          <a:p>
            <a:r>
              <a:rPr lang="en-GB"/>
              <a:t> © LMS SEGi education group</a:t>
            </a:r>
          </a:p>
        </p:txBody>
      </p:sp>
      <p:sp>
        <p:nvSpPr>
          <p:cNvPr id="6" name="Rectangle 46"/>
          <p:cNvSpPr>
            <a:spLocks noGrp="1" noChangeArrowheads="1"/>
          </p:cNvSpPr>
          <p:nvPr>
            <p:ph type="sldNum" sz="quarter" idx="12"/>
          </p:nvPr>
        </p:nvSpPr>
        <p:spPr>
          <a:ln/>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4"/>
          <p:cNvSpPr>
            <a:spLocks noGrp="1" noChangeArrowheads="1"/>
          </p:cNvSpPr>
          <p:nvPr>
            <p:ph type="dt" sz="half" idx="10"/>
          </p:nvPr>
        </p:nvSpPr>
        <p:spPr>
          <a:ln/>
        </p:spPr>
        <p:txBody>
          <a:bodyPr/>
          <a:lstStyle>
            <a:lvl1pPr>
              <a:defRPr/>
            </a:lvl1pPr>
          </a:lstStyle>
          <a:p>
            <a:fld id="{5D7136E2-C0A4-4A17-97F2-1C5002F24D70}" type="datetime3">
              <a:rPr lang="en-US" smtClean="0"/>
              <a:t>6 February 2025</a:t>
            </a:fld>
            <a:endParaRPr lang="en-GB"/>
          </a:p>
        </p:txBody>
      </p:sp>
      <p:sp>
        <p:nvSpPr>
          <p:cNvPr id="5" name="Rectangle 45"/>
          <p:cNvSpPr>
            <a:spLocks noGrp="1" noChangeArrowheads="1"/>
          </p:cNvSpPr>
          <p:nvPr>
            <p:ph type="ftr" sz="quarter" idx="11"/>
          </p:nvPr>
        </p:nvSpPr>
        <p:spPr>
          <a:ln/>
        </p:spPr>
        <p:txBody>
          <a:bodyPr/>
          <a:lstStyle>
            <a:lvl1pPr>
              <a:defRPr/>
            </a:lvl1pPr>
          </a:lstStyle>
          <a:p>
            <a:r>
              <a:rPr lang="en-GB"/>
              <a:t> © LMS SEGi education group</a:t>
            </a:r>
          </a:p>
        </p:txBody>
      </p:sp>
      <p:sp>
        <p:nvSpPr>
          <p:cNvPr id="6" name="Rectangle 46"/>
          <p:cNvSpPr>
            <a:spLocks noGrp="1" noChangeArrowheads="1"/>
          </p:cNvSpPr>
          <p:nvPr>
            <p:ph type="sldNum" sz="quarter" idx="12"/>
          </p:nvPr>
        </p:nvSpPr>
        <p:spPr>
          <a:ln/>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4"/>
          <p:cNvSpPr>
            <a:spLocks noGrp="1" noChangeArrowheads="1"/>
          </p:cNvSpPr>
          <p:nvPr>
            <p:ph type="dt" sz="half" idx="10"/>
          </p:nvPr>
        </p:nvSpPr>
        <p:spPr>
          <a:ln/>
        </p:spPr>
        <p:txBody>
          <a:bodyPr/>
          <a:lstStyle>
            <a:lvl1pPr>
              <a:defRPr/>
            </a:lvl1pPr>
          </a:lstStyle>
          <a:p>
            <a:fld id="{76CAB357-8C55-4DEB-832C-5C0281A1BEFE}" type="datetime3">
              <a:rPr lang="en-US" smtClean="0"/>
              <a:t>6 February 2025</a:t>
            </a:fld>
            <a:endParaRPr lang="en-GB"/>
          </a:p>
        </p:txBody>
      </p:sp>
      <p:sp>
        <p:nvSpPr>
          <p:cNvPr id="6" name="Rectangle 45"/>
          <p:cNvSpPr>
            <a:spLocks noGrp="1" noChangeArrowheads="1"/>
          </p:cNvSpPr>
          <p:nvPr>
            <p:ph type="ftr" sz="quarter" idx="11"/>
          </p:nvPr>
        </p:nvSpPr>
        <p:spPr>
          <a:ln/>
        </p:spPr>
        <p:txBody>
          <a:bodyPr/>
          <a:lstStyle>
            <a:lvl1pPr>
              <a:defRPr/>
            </a:lvl1pPr>
          </a:lstStyle>
          <a:p>
            <a:r>
              <a:rPr lang="en-GB"/>
              <a:t> © LMS SEGi education group</a:t>
            </a:r>
          </a:p>
        </p:txBody>
      </p:sp>
      <p:sp>
        <p:nvSpPr>
          <p:cNvPr id="7" name="Rectangle 46"/>
          <p:cNvSpPr>
            <a:spLocks noGrp="1" noChangeArrowheads="1"/>
          </p:cNvSpPr>
          <p:nvPr>
            <p:ph type="sldNum" sz="quarter" idx="12"/>
          </p:nvPr>
        </p:nvSpPr>
        <p:spPr>
          <a:ln/>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4"/>
          <p:cNvSpPr>
            <a:spLocks noGrp="1" noChangeArrowheads="1"/>
          </p:cNvSpPr>
          <p:nvPr>
            <p:ph type="dt" sz="half" idx="10"/>
          </p:nvPr>
        </p:nvSpPr>
        <p:spPr>
          <a:ln/>
        </p:spPr>
        <p:txBody>
          <a:bodyPr/>
          <a:lstStyle>
            <a:lvl1pPr>
              <a:defRPr/>
            </a:lvl1pPr>
          </a:lstStyle>
          <a:p>
            <a:fld id="{B1565B30-5B6A-4D4D-8EBC-61891AB5674A}" type="datetime3">
              <a:rPr lang="en-US" smtClean="0"/>
              <a:t>6 February 2025</a:t>
            </a:fld>
            <a:endParaRPr lang="en-GB"/>
          </a:p>
        </p:txBody>
      </p:sp>
      <p:sp>
        <p:nvSpPr>
          <p:cNvPr id="8" name="Rectangle 45"/>
          <p:cNvSpPr>
            <a:spLocks noGrp="1" noChangeArrowheads="1"/>
          </p:cNvSpPr>
          <p:nvPr>
            <p:ph type="ftr" sz="quarter" idx="11"/>
          </p:nvPr>
        </p:nvSpPr>
        <p:spPr>
          <a:ln/>
        </p:spPr>
        <p:txBody>
          <a:bodyPr/>
          <a:lstStyle>
            <a:lvl1pPr>
              <a:defRPr/>
            </a:lvl1pPr>
          </a:lstStyle>
          <a:p>
            <a:r>
              <a:rPr lang="en-GB"/>
              <a:t> © LMS SEGi education group</a:t>
            </a:r>
          </a:p>
        </p:txBody>
      </p:sp>
      <p:sp>
        <p:nvSpPr>
          <p:cNvPr id="9" name="Rectangle 46"/>
          <p:cNvSpPr>
            <a:spLocks noGrp="1" noChangeArrowheads="1"/>
          </p:cNvSpPr>
          <p:nvPr>
            <p:ph type="sldNum" sz="quarter" idx="12"/>
          </p:nvPr>
        </p:nvSpPr>
        <p:spPr>
          <a:ln/>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4"/>
          <p:cNvSpPr>
            <a:spLocks noGrp="1" noChangeArrowheads="1"/>
          </p:cNvSpPr>
          <p:nvPr>
            <p:ph type="dt" sz="half" idx="10"/>
          </p:nvPr>
        </p:nvSpPr>
        <p:spPr>
          <a:ln/>
        </p:spPr>
        <p:txBody>
          <a:bodyPr/>
          <a:lstStyle>
            <a:lvl1pPr>
              <a:defRPr/>
            </a:lvl1pPr>
          </a:lstStyle>
          <a:p>
            <a:fld id="{BEE60E7E-9A0D-456A-84EF-766DA09435E8}" type="datetime3">
              <a:rPr lang="en-US" smtClean="0"/>
              <a:t>6 February 2025</a:t>
            </a:fld>
            <a:endParaRPr lang="en-GB"/>
          </a:p>
        </p:txBody>
      </p:sp>
      <p:sp>
        <p:nvSpPr>
          <p:cNvPr id="4" name="Rectangle 45"/>
          <p:cNvSpPr>
            <a:spLocks noGrp="1" noChangeArrowheads="1"/>
          </p:cNvSpPr>
          <p:nvPr>
            <p:ph type="ftr" sz="quarter" idx="11"/>
          </p:nvPr>
        </p:nvSpPr>
        <p:spPr>
          <a:ln/>
        </p:spPr>
        <p:txBody>
          <a:bodyPr/>
          <a:lstStyle>
            <a:lvl1pPr>
              <a:defRPr/>
            </a:lvl1pPr>
          </a:lstStyle>
          <a:p>
            <a:r>
              <a:rPr lang="en-GB"/>
              <a:t> © LMS SEGi education group</a:t>
            </a:r>
          </a:p>
        </p:txBody>
      </p:sp>
      <p:sp>
        <p:nvSpPr>
          <p:cNvPr id="5" name="Rectangle 46"/>
          <p:cNvSpPr>
            <a:spLocks noGrp="1" noChangeArrowheads="1"/>
          </p:cNvSpPr>
          <p:nvPr>
            <p:ph type="sldNum" sz="quarter" idx="12"/>
          </p:nvPr>
        </p:nvSpPr>
        <p:spPr>
          <a:ln/>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4"/>
          <p:cNvSpPr>
            <a:spLocks noGrp="1" noChangeArrowheads="1"/>
          </p:cNvSpPr>
          <p:nvPr>
            <p:ph type="dt" sz="half" idx="10"/>
          </p:nvPr>
        </p:nvSpPr>
        <p:spPr>
          <a:ln/>
        </p:spPr>
        <p:txBody>
          <a:bodyPr/>
          <a:lstStyle>
            <a:lvl1pPr>
              <a:defRPr/>
            </a:lvl1pPr>
          </a:lstStyle>
          <a:p>
            <a:fld id="{8A8AC8E4-81F3-4992-9804-609A6C56EBBD}" type="datetime3">
              <a:rPr lang="en-US" smtClean="0"/>
              <a:t>6 February 2025</a:t>
            </a:fld>
            <a:endParaRPr lang="en-GB"/>
          </a:p>
        </p:txBody>
      </p:sp>
      <p:sp>
        <p:nvSpPr>
          <p:cNvPr id="3" name="Rectangle 45"/>
          <p:cNvSpPr>
            <a:spLocks noGrp="1" noChangeArrowheads="1"/>
          </p:cNvSpPr>
          <p:nvPr>
            <p:ph type="ftr" sz="quarter" idx="11"/>
          </p:nvPr>
        </p:nvSpPr>
        <p:spPr>
          <a:ln/>
        </p:spPr>
        <p:txBody>
          <a:bodyPr/>
          <a:lstStyle>
            <a:lvl1pPr>
              <a:defRPr/>
            </a:lvl1pPr>
          </a:lstStyle>
          <a:p>
            <a:r>
              <a:rPr lang="en-GB"/>
              <a:t> © LMS SEGi education group</a:t>
            </a:r>
          </a:p>
        </p:txBody>
      </p:sp>
      <p:sp>
        <p:nvSpPr>
          <p:cNvPr id="4" name="Rectangle 46"/>
          <p:cNvSpPr>
            <a:spLocks noGrp="1" noChangeArrowheads="1"/>
          </p:cNvSpPr>
          <p:nvPr>
            <p:ph type="sldNum" sz="quarter" idx="12"/>
          </p:nvPr>
        </p:nvSpPr>
        <p:spPr>
          <a:ln/>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4"/>
          <p:cNvSpPr>
            <a:spLocks noGrp="1" noChangeArrowheads="1"/>
          </p:cNvSpPr>
          <p:nvPr>
            <p:ph type="dt" sz="half" idx="10"/>
          </p:nvPr>
        </p:nvSpPr>
        <p:spPr>
          <a:ln/>
        </p:spPr>
        <p:txBody>
          <a:bodyPr/>
          <a:lstStyle>
            <a:lvl1pPr>
              <a:defRPr/>
            </a:lvl1pPr>
          </a:lstStyle>
          <a:p>
            <a:fld id="{2AEFB867-3203-4CF0-B3D9-F80E77028321}" type="datetime3">
              <a:rPr lang="en-US" smtClean="0"/>
              <a:t>6 February 2025</a:t>
            </a:fld>
            <a:endParaRPr lang="en-GB"/>
          </a:p>
        </p:txBody>
      </p:sp>
      <p:sp>
        <p:nvSpPr>
          <p:cNvPr id="6" name="Rectangle 45"/>
          <p:cNvSpPr>
            <a:spLocks noGrp="1" noChangeArrowheads="1"/>
          </p:cNvSpPr>
          <p:nvPr>
            <p:ph type="ftr" sz="quarter" idx="11"/>
          </p:nvPr>
        </p:nvSpPr>
        <p:spPr>
          <a:ln/>
        </p:spPr>
        <p:txBody>
          <a:bodyPr/>
          <a:lstStyle>
            <a:lvl1pPr>
              <a:defRPr/>
            </a:lvl1pPr>
          </a:lstStyle>
          <a:p>
            <a:r>
              <a:rPr lang="en-GB"/>
              <a:t> © LMS SEGi education group</a:t>
            </a:r>
          </a:p>
        </p:txBody>
      </p:sp>
      <p:sp>
        <p:nvSpPr>
          <p:cNvPr id="7" name="Rectangle 46"/>
          <p:cNvSpPr>
            <a:spLocks noGrp="1" noChangeArrowheads="1"/>
          </p:cNvSpPr>
          <p:nvPr>
            <p:ph type="sldNum" sz="quarter" idx="12"/>
          </p:nvPr>
        </p:nvSpPr>
        <p:spPr>
          <a:ln/>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4"/>
          <p:cNvSpPr>
            <a:spLocks noGrp="1" noChangeArrowheads="1"/>
          </p:cNvSpPr>
          <p:nvPr>
            <p:ph type="dt" sz="half" idx="10"/>
          </p:nvPr>
        </p:nvSpPr>
        <p:spPr>
          <a:ln/>
        </p:spPr>
        <p:txBody>
          <a:bodyPr/>
          <a:lstStyle>
            <a:lvl1pPr>
              <a:defRPr/>
            </a:lvl1pPr>
          </a:lstStyle>
          <a:p>
            <a:fld id="{EF1885D6-A5F2-41DA-B4CB-E1A7DC4FC761}" type="datetime3">
              <a:rPr lang="en-US" smtClean="0"/>
              <a:t>6 February 2025</a:t>
            </a:fld>
            <a:endParaRPr lang="en-GB"/>
          </a:p>
        </p:txBody>
      </p:sp>
      <p:sp>
        <p:nvSpPr>
          <p:cNvPr id="6" name="Rectangle 45"/>
          <p:cNvSpPr>
            <a:spLocks noGrp="1" noChangeArrowheads="1"/>
          </p:cNvSpPr>
          <p:nvPr>
            <p:ph type="ftr" sz="quarter" idx="11"/>
          </p:nvPr>
        </p:nvSpPr>
        <p:spPr>
          <a:ln/>
        </p:spPr>
        <p:txBody>
          <a:bodyPr/>
          <a:lstStyle>
            <a:lvl1pPr>
              <a:defRPr/>
            </a:lvl1pPr>
          </a:lstStyle>
          <a:p>
            <a:r>
              <a:rPr lang="en-GB"/>
              <a:t> © LMS SEGi education group</a:t>
            </a:r>
          </a:p>
        </p:txBody>
      </p:sp>
      <p:sp>
        <p:nvSpPr>
          <p:cNvPr id="7" name="Rectangle 46"/>
          <p:cNvSpPr>
            <a:spLocks noGrp="1" noChangeArrowheads="1"/>
          </p:cNvSpPr>
          <p:nvPr>
            <p:ph type="sldNum" sz="quarter" idx="12"/>
          </p:nvPr>
        </p:nvSpPr>
        <p:spPr>
          <a:ln/>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4"/>
          <p:cNvSpPr>
            <a:spLocks noGrp="1" noChangeArrowheads="1"/>
          </p:cNvSpPr>
          <p:nvPr>
            <p:ph type="dt" sz="half" idx="10"/>
          </p:nvPr>
        </p:nvSpPr>
        <p:spPr>
          <a:ln/>
        </p:spPr>
        <p:txBody>
          <a:bodyPr/>
          <a:lstStyle>
            <a:lvl1pPr>
              <a:defRPr/>
            </a:lvl1pPr>
          </a:lstStyle>
          <a:p>
            <a:fld id="{2EEB7177-4079-40CD-B3B8-2CE47EFFB1B8}" type="datetime3">
              <a:rPr lang="en-US" smtClean="0"/>
              <a:t>6 February 2025</a:t>
            </a:fld>
            <a:endParaRPr lang="en-GB"/>
          </a:p>
        </p:txBody>
      </p:sp>
      <p:sp>
        <p:nvSpPr>
          <p:cNvPr id="5" name="Rectangle 45"/>
          <p:cNvSpPr>
            <a:spLocks noGrp="1" noChangeArrowheads="1"/>
          </p:cNvSpPr>
          <p:nvPr>
            <p:ph type="ftr" sz="quarter" idx="11"/>
          </p:nvPr>
        </p:nvSpPr>
        <p:spPr>
          <a:ln/>
        </p:spPr>
        <p:txBody>
          <a:bodyPr/>
          <a:lstStyle>
            <a:lvl1pPr>
              <a:defRPr/>
            </a:lvl1pPr>
          </a:lstStyle>
          <a:p>
            <a:r>
              <a:rPr lang="en-GB"/>
              <a:t> © LMS SEGi education group</a:t>
            </a:r>
          </a:p>
        </p:txBody>
      </p:sp>
      <p:sp>
        <p:nvSpPr>
          <p:cNvPr id="6" name="Rectangle 46"/>
          <p:cNvSpPr>
            <a:spLocks noGrp="1" noChangeArrowheads="1"/>
          </p:cNvSpPr>
          <p:nvPr>
            <p:ph type="sldNum" sz="quarter" idx="12"/>
          </p:nvPr>
        </p:nvSpPr>
        <p:spPr>
          <a:ln/>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4"/>
          <p:cNvSpPr>
            <a:spLocks noGrp="1" noChangeArrowheads="1"/>
          </p:cNvSpPr>
          <p:nvPr>
            <p:ph type="dt" sz="half" idx="10"/>
          </p:nvPr>
        </p:nvSpPr>
        <p:spPr>
          <a:ln/>
        </p:spPr>
        <p:txBody>
          <a:bodyPr/>
          <a:lstStyle>
            <a:lvl1pPr>
              <a:defRPr/>
            </a:lvl1pPr>
          </a:lstStyle>
          <a:p>
            <a:fld id="{A2879D92-314D-476B-A469-65CE1585A51B}" type="datetime3">
              <a:rPr lang="en-US" smtClean="0"/>
              <a:t>6 February 2025</a:t>
            </a:fld>
            <a:endParaRPr lang="en-GB"/>
          </a:p>
        </p:txBody>
      </p:sp>
      <p:sp>
        <p:nvSpPr>
          <p:cNvPr id="5" name="Rectangle 45"/>
          <p:cNvSpPr>
            <a:spLocks noGrp="1" noChangeArrowheads="1"/>
          </p:cNvSpPr>
          <p:nvPr>
            <p:ph type="ftr" sz="quarter" idx="11"/>
          </p:nvPr>
        </p:nvSpPr>
        <p:spPr>
          <a:ln/>
        </p:spPr>
        <p:txBody>
          <a:bodyPr/>
          <a:lstStyle>
            <a:lvl1pPr>
              <a:defRPr/>
            </a:lvl1pPr>
          </a:lstStyle>
          <a:p>
            <a:r>
              <a:rPr lang="en-GB"/>
              <a:t> © LMS SEGi education group</a:t>
            </a:r>
          </a:p>
        </p:txBody>
      </p:sp>
      <p:sp>
        <p:nvSpPr>
          <p:cNvPr id="6" name="Rectangle 46"/>
          <p:cNvSpPr>
            <a:spLocks noGrp="1" noChangeArrowheads="1"/>
          </p:cNvSpPr>
          <p:nvPr>
            <p:ph type="sldNum" sz="quarter" idx="12"/>
          </p:nvPr>
        </p:nvSpPr>
        <p:spPr>
          <a:ln/>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44"/>
          <p:cNvSpPr>
            <a:spLocks noChangeArrowheads="1"/>
          </p:cNvSpPr>
          <p:nvPr/>
        </p:nvSpPr>
        <p:spPr bwMode="auto">
          <a:xfrm>
            <a:off x="0" y="0"/>
            <a:ext cx="9144000" cy="1196975"/>
          </a:xfrm>
          <a:prstGeom prst="rect">
            <a:avLst/>
          </a:prstGeom>
          <a:gradFill rotWithShape="1">
            <a:gsLst>
              <a:gs pos="0">
                <a:srgbClr val="ACC6DC"/>
              </a:gs>
              <a:gs pos="100000">
                <a:srgbClr val="2E639E"/>
              </a:gs>
            </a:gsLst>
            <a:path path="rect">
              <a:fillToRect l="100000" b="100000"/>
            </a:path>
          </a:gradFill>
          <a:ln w="9525">
            <a:noFill/>
            <a:miter lim="800000"/>
            <a:headEnd/>
            <a:tailEnd/>
          </a:ln>
          <a:effectLst/>
        </p:spPr>
        <p:txBody>
          <a:bodyPr wrap="none" anchor="ctr"/>
          <a:lstStyle/>
          <a:p>
            <a:endParaRPr lang="en-US"/>
          </a:p>
        </p:txBody>
      </p:sp>
      <p:sp>
        <p:nvSpPr>
          <p:cNvPr id="5" name="Rectangle 47"/>
          <p:cNvSpPr>
            <a:spLocks noChangeArrowheads="1"/>
          </p:cNvSpPr>
          <p:nvPr/>
        </p:nvSpPr>
        <p:spPr bwMode="auto">
          <a:xfrm>
            <a:off x="0" y="6742113"/>
            <a:ext cx="9144000" cy="115887"/>
          </a:xfrm>
          <a:prstGeom prst="rect">
            <a:avLst/>
          </a:prstGeom>
          <a:gradFill rotWithShape="1">
            <a:gsLst>
              <a:gs pos="0">
                <a:srgbClr val="6A9AC1"/>
              </a:gs>
              <a:gs pos="100000">
                <a:srgbClr val="6A9AC1">
                  <a:gamma/>
                  <a:shade val="46275"/>
                  <a:invGamma/>
                </a:srgbClr>
              </a:gs>
            </a:gsLst>
            <a:lin ang="5400000" scaled="1"/>
          </a:gradFill>
          <a:ln w="9525">
            <a:noFill/>
            <a:miter lim="800000"/>
            <a:headEnd/>
            <a:tailEnd/>
          </a:ln>
          <a:effectLst/>
        </p:spPr>
        <p:txBody>
          <a:bodyPr wrap="none" anchor="ctr"/>
          <a:lstStyle/>
          <a:p>
            <a:endParaRPr lang="en-US"/>
          </a:p>
        </p:txBody>
      </p:sp>
      <p:sp>
        <p:nvSpPr>
          <p:cNvPr id="6" name="PowerPlusWaterMarkObject3"/>
          <p:cNvSpPr>
            <a:spLocks noChangeArrowheads="1" noChangeShapeType="1" noTextEdit="1"/>
          </p:cNvSpPr>
          <p:nvPr/>
        </p:nvSpPr>
        <p:spPr bwMode="auto">
          <a:xfrm rot="5400000">
            <a:off x="-2008188" y="3168651"/>
            <a:ext cx="4352925" cy="552450"/>
          </a:xfrm>
          <a:prstGeom prst="rect">
            <a:avLst/>
          </a:prstGeom>
        </p:spPr>
        <p:txBody>
          <a:bodyPr wrap="none" fromWordArt="1">
            <a:prstTxWarp prst="textPlain">
              <a:avLst>
                <a:gd name="adj" fmla="val 50000"/>
              </a:avLst>
            </a:prstTxWarp>
          </a:bodyPr>
          <a:lstStyle/>
          <a:p>
            <a:pPr algn="ctr"/>
            <a:r>
              <a:rPr lang="en-US" sz="3600" kern="10">
                <a:ln w="9525">
                  <a:noFill/>
                  <a:round/>
                  <a:headEnd/>
                  <a:tailEnd/>
                </a:ln>
                <a:solidFill>
                  <a:srgbClr val="99CCFF">
                    <a:alpha val="20000"/>
                  </a:srgbClr>
                </a:solidFill>
                <a:latin typeface="Tahoma"/>
                <a:cs typeface="Tahoma"/>
              </a:rPr>
              <a:t>SEGi education group</a:t>
            </a:r>
          </a:p>
        </p:txBody>
      </p:sp>
      <p:pic>
        <p:nvPicPr>
          <p:cNvPr id="7" name="Picture 54" descr="segiedu"/>
          <p:cNvPicPr>
            <a:picLocks noChangeAspect="1" noChangeArrowheads="1"/>
          </p:cNvPicPr>
          <p:nvPr/>
        </p:nvPicPr>
        <p:blipFill>
          <a:blip r:embed="rId2"/>
          <a:srcRect/>
          <a:stretch>
            <a:fillRect/>
          </a:stretch>
        </p:blipFill>
        <p:spPr bwMode="auto">
          <a:xfrm>
            <a:off x="2114550" y="1588"/>
            <a:ext cx="4702175" cy="1220787"/>
          </a:xfrm>
          <a:prstGeom prst="rect">
            <a:avLst/>
          </a:prstGeom>
          <a:noFill/>
          <a:ln w="9525">
            <a:noFill/>
            <a:miter lim="800000"/>
            <a:headEnd/>
            <a:tailEnd/>
          </a:ln>
        </p:spPr>
      </p:pic>
      <p:sp>
        <p:nvSpPr>
          <p:cNvPr id="25639" name="Rectangle 39"/>
          <p:cNvSpPr>
            <a:spLocks noGrp="1" noChangeArrowheads="1"/>
          </p:cNvSpPr>
          <p:nvPr>
            <p:ph type="subTitle" idx="1"/>
          </p:nvPr>
        </p:nvSpPr>
        <p:spPr>
          <a:xfrm>
            <a:off x="1371600" y="3886200"/>
            <a:ext cx="6400800" cy="1752600"/>
          </a:xfrm>
        </p:spPr>
        <p:txBody>
          <a:bodyPr/>
          <a:lstStyle>
            <a:lvl1pPr marL="0" indent="0" algn="ctr">
              <a:buFontTx/>
              <a:buNone/>
              <a:defRPr sz="2800"/>
            </a:lvl1pPr>
          </a:lstStyle>
          <a:p>
            <a:r>
              <a:rPr lang="en-US"/>
              <a:t>Click to edit Master subtitle style</a:t>
            </a:r>
          </a:p>
        </p:txBody>
      </p:sp>
      <p:sp>
        <p:nvSpPr>
          <p:cNvPr id="25640" name="Rectangle 40"/>
          <p:cNvSpPr>
            <a:spLocks noGrp="1" noChangeArrowheads="1"/>
          </p:cNvSpPr>
          <p:nvPr>
            <p:ph type="ctrTitle"/>
          </p:nvPr>
        </p:nvSpPr>
        <p:spPr>
          <a:xfrm>
            <a:off x="685800" y="1768475"/>
            <a:ext cx="7772400" cy="1736725"/>
          </a:xfrm>
        </p:spPr>
        <p:txBody>
          <a:bodyPr anchor="b" anchorCtr="1"/>
          <a:lstStyle>
            <a:lvl1pPr>
              <a:defRPr/>
            </a:lvl1pPr>
          </a:lstStyle>
          <a:p>
            <a:r>
              <a:rPr lang="en-US"/>
              <a:t>Click to edit Master title style</a:t>
            </a:r>
          </a:p>
        </p:txBody>
      </p:sp>
      <p:sp>
        <p:nvSpPr>
          <p:cNvPr id="8" name="Rectangle 48"/>
          <p:cNvSpPr>
            <a:spLocks noGrp="1" noChangeArrowheads="1"/>
          </p:cNvSpPr>
          <p:nvPr>
            <p:ph type="dt" sz="half" idx="10"/>
          </p:nvPr>
        </p:nvSpPr>
        <p:spPr/>
        <p:txBody>
          <a:bodyPr/>
          <a:lstStyle>
            <a:lvl1pPr>
              <a:defRPr/>
            </a:lvl1pPr>
          </a:lstStyle>
          <a:p>
            <a:fld id="{246DE990-17DD-43EE-AB98-992CA55D57D7}" type="datetime3">
              <a:rPr lang="en-US" smtClean="0"/>
              <a:t>6 February 2025</a:t>
            </a:fld>
            <a:endParaRPr lang="en-GB"/>
          </a:p>
        </p:txBody>
      </p:sp>
      <p:sp>
        <p:nvSpPr>
          <p:cNvPr id="9" name="Rectangle 49"/>
          <p:cNvSpPr>
            <a:spLocks noGrp="1" noChangeArrowheads="1"/>
          </p:cNvSpPr>
          <p:nvPr>
            <p:ph type="ftr" sz="quarter" idx="11"/>
          </p:nvPr>
        </p:nvSpPr>
        <p:spPr/>
        <p:txBody>
          <a:bodyPr/>
          <a:lstStyle>
            <a:lvl1pPr>
              <a:defRPr/>
            </a:lvl1pPr>
          </a:lstStyle>
          <a:p>
            <a:r>
              <a:rPr lang="en-GB"/>
              <a:t> © LMS SEGi education group</a:t>
            </a:r>
          </a:p>
        </p:txBody>
      </p:sp>
      <p:sp>
        <p:nvSpPr>
          <p:cNvPr id="10" name="Rectangle 50"/>
          <p:cNvSpPr>
            <a:spLocks noGrp="1" noChangeArrowheads="1"/>
          </p:cNvSpPr>
          <p:nvPr>
            <p:ph type="sldNum" sz="quarter" idx="12"/>
          </p:nvPr>
        </p:nvSpPr>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4"/>
          <p:cNvSpPr>
            <a:spLocks noGrp="1" noChangeArrowheads="1"/>
          </p:cNvSpPr>
          <p:nvPr>
            <p:ph type="dt" sz="half" idx="10"/>
          </p:nvPr>
        </p:nvSpPr>
        <p:spPr>
          <a:ln/>
        </p:spPr>
        <p:txBody>
          <a:bodyPr/>
          <a:lstStyle>
            <a:lvl1pPr>
              <a:defRPr/>
            </a:lvl1pPr>
          </a:lstStyle>
          <a:p>
            <a:fld id="{46EA6CE2-041F-4CE6-848B-9878C22326C1}" type="datetime3">
              <a:rPr lang="en-US" smtClean="0"/>
              <a:t>6 February 2025</a:t>
            </a:fld>
            <a:endParaRPr lang="en-GB"/>
          </a:p>
        </p:txBody>
      </p:sp>
      <p:sp>
        <p:nvSpPr>
          <p:cNvPr id="5" name="Rectangle 45"/>
          <p:cNvSpPr>
            <a:spLocks noGrp="1" noChangeArrowheads="1"/>
          </p:cNvSpPr>
          <p:nvPr>
            <p:ph type="ftr" sz="quarter" idx="11"/>
          </p:nvPr>
        </p:nvSpPr>
        <p:spPr>
          <a:ln/>
        </p:spPr>
        <p:txBody>
          <a:bodyPr/>
          <a:lstStyle>
            <a:lvl1pPr>
              <a:defRPr/>
            </a:lvl1pPr>
          </a:lstStyle>
          <a:p>
            <a:r>
              <a:rPr lang="en-GB"/>
              <a:t> © LMS SEGi education group</a:t>
            </a:r>
          </a:p>
        </p:txBody>
      </p:sp>
      <p:sp>
        <p:nvSpPr>
          <p:cNvPr id="6" name="Rectangle 46"/>
          <p:cNvSpPr>
            <a:spLocks noGrp="1" noChangeArrowheads="1"/>
          </p:cNvSpPr>
          <p:nvPr>
            <p:ph type="sldNum" sz="quarter" idx="12"/>
          </p:nvPr>
        </p:nvSpPr>
        <p:spPr>
          <a:ln/>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4"/>
          <p:cNvSpPr>
            <a:spLocks noGrp="1" noChangeArrowheads="1"/>
          </p:cNvSpPr>
          <p:nvPr>
            <p:ph type="dt" sz="half" idx="10"/>
          </p:nvPr>
        </p:nvSpPr>
        <p:spPr>
          <a:ln/>
        </p:spPr>
        <p:txBody>
          <a:bodyPr/>
          <a:lstStyle>
            <a:lvl1pPr>
              <a:defRPr/>
            </a:lvl1pPr>
          </a:lstStyle>
          <a:p>
            <a:fld id="{5B7954EE-F554-4E4B-9BBC-16BDFF8A9CAD}" type="datetime3">
              <a:rPr lang="en-US" smtClean="0"/>
              <a:t>6 February 2025</a:t>
            </a:fld>
            <a:endParaRPr lang="en-GB"/>
          </a:p>
        </p:txBody>
      </p:sp>
      <p:sp>
        <p:nvSpPr>
          <p:cNvPr id="5" name="Rectangle 45"/>
          <p:cNvSpPr>
            <a:spLocks noGrp="1" noChangeArrowheads="1"/>
          </p:cNvSpPr>
          <p:nvPr>
            <p:ph type="ftr" sz="quarter" idx="11"/>
          </p:nvPr>
        </p:nvSpPr>
        <p:spPr>
          <a:ln/>
        </p:spPr>
        <p:txBody>
          <a:bodyPr/>
          <a:lstStyle>
            <a:lvl1pPr>
              <a:defRPr/>
            </a:lvl1pPr>
          </a:lstStyle>
          <a:p>
            <a:r>
              <a:rPr lang="en-GB"/>
              <a:t> © LMS SEGi education group</a:t>
            </a:r>
          </a:p>
        </p:txBody>
      </p:sp>
      <p:sp>
        <p:nvSpPr>
          <p:cNvPr id="6" name="Rectangle 46"/>
          <p:cNvSpPr>
            <a:spLocks noGrp="1" noChangeArrowheads="1"/>
          </p:cNvSpPr>
          <p:nvPr>
            <p:ph type="sldNum" sz="quarter" idx="12"/>
          </p:nvPr>
        </p:nvSpPr>
        <p:spPr>
          <a:ln/>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4"/>
          <p:cNvSpPr>
            <a:spLocks noGrp="1" noChangeArrowheads="1"/>
          </p:cNvSpPr>
          <p:nvPr>
            <p:ph type="dt" sz="half" idx="10"/>
          </p:nvPr>
        </p:nvSpPr>
        <p:spPr>
          <a:ln/>
        </p:spPr>
        <p:txBody>
          <a:bodyPr/>
          <a:lstStyle>
            <a:lvl1pPr>
              <a:defRPr/>
            </a:lvl1pPr>
          </a:lstStyle>
          <a:p>
            <a:fld id="{6BC7BC7D-D11E-49CA-999D-66C5056C368D}" type="datetime3">
              <a:rPr lang="en-US" smtClean="0"/>
              <a:t>6 February 2025</a:t>
            </a:fld>
            <a:endParaRPr lang="en-GB"/>
          </a:p>
        </p:txBody>
      </p:sp>
      <p:sp>
        <p:nvSpPr>
          <p:cNvPr id="6" name="Rectangle 45"/>
          <p:cNvSpPr>
            <a:spLocks noGrp="1" noChangeArrowheads="1"/>
          </p:cNvSpPr>
          <p:nvPr>
            <p:ph type="ftr" sz="quarter" idx="11"/>
          </p:nvPr>
        </p:nvSpPr>
        <p:spPr>
          <a:ln/>
        </p:spPr>
        <p:txBody>
          <a:bodyPr/>
          <a:lstStyle>
            <a:lvl1pPr>
              <a:defRPr/>
            </a:lvl1pPr>
          </a:lstStyle>
          <a:p>
            <a:r>
              <a:rPr lang="en-GB"/>
              <a:t> © LMS SEGi education group</a:t>
            </a:r>
          </a:p>
        </p:txBody>
      </p:sp>
      <p:sp>
        <p:nvSpPr>
          <p:cNvPr id="7" name="Rectangle 46"/>
          <p:cNvSpPr>
            <a:spLocks noGrp="1" noChangeArrowheads="1"/>
          </p:cNvSpPr>
          <p:nvPr>
            <p:ph type="sldNum" sz="quarter" idx="12"/>
          </p:nvPr>
        </p:nvSpPr>
        <p:spPr>
          <a:ln/>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4"/>
          <p:cNvSpPr>
            <a:spLocks noGrp="1" noChangeArrowheads="1"/>
          </p:cNvSpPr>
          <p:nvPr>
            <p:ph type="dt" sz="half" idx="10"/>
          </p:nvPr>
        </p:nvSpPr>
        <p:spPr>
          <a:ln/>
        </p:spPr>
        <p:txBody>
          <a:bodyPr/>
          <a:lstStyle>
            <a:lvl1pPr>
              <a:defRPr/>
            </a:lvl1pPr>
          </a:lstStyle>
          <a:p>
            <a:fld id="{AA5F75B4-090E-411D-B470-2446B6B8C4D9}" type="datetime3">
              <a:rPr lang="en-US" smtClean="0"/>
              <a:t>6 February 2025</a:t>
            </a:fld>
            <a:endParaRPr lang="en-GB"/>
          </a:p>
        </p:txBody>
      </p:sp>
      <p:sp>
        <p:nvSpPr>
          <p:cNvPr id="8" name="Rectangle 45"/>
          <p:cNvSpPr>
            <a:spLocks noGrp="1" noChangeArrowheads="1"/>
          </p:cNvSpPr>
          <p:nvPr>
            <p:ph type="ftr" sz="quarter" idx="11"/>
          </p:nvPr>
        </p:nvSpPr>
        <p:spPr>
          <a:ln/>
        </p:spPr>
        <p:txBody>
          <a:bodyPr/>
          <a:lstStyle>
            <a:lvl1pPr>
              <a:defRPr/>
            </a:lvl1pPr>
          </a:lstStyle>
          <a:p>
            <a:r>
              <a:rPr lang="en-GB"/>
              <a:t> © LMS SEGi education group</a:t>
            </a:r>
          </a:p>
        </p:txBody>
      </p:sp>
      <p:sp>
        <p:nvSpPr>
          <p:cNvPr id="9" name="Rectangle 46"/>
          <p:cNvSpPr>
            <a:spLocks noGrp="1" noChangeArrowheads="1"/>
          </p:cNvSpPr>
          <p:nvPr>
            <p:ph type="sldNum" sz="quarter" idx="12"/>
          </p:nvPr>
        </p:nvSpPr>
        <p:spPr>
          <a:ln/>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4"/>
          <p:cNvSpPr>
            <a:spLocks noGrp="1" noChangeArrowheads="1"/>
          </p:cNvSpPr>
          <p:nvPr>
            <p:ph type="dt" sz="half" idx="10"/>
          </p:nvPr>
        </p:nvSpPr>
        <p:spPr>
          <a:ln/>
        </p:spPr>
        <p:txBody>
          <a:bodyPr/>
          <a:lstStyle>
            <a:lvl1pPr>
              <a:defRPr/>
            </a:lvl1pPr>
          </a:lstStyle>
          <a:p>
            <a:fld id="{0FA55D50-DBE3-40D4-BB8C-08622B2053E5}" type="datetime3">
              <a:rPr lang="en-US" smtClean="0"/>
              <a:t>6 February 2025</a:t>
            </a:fld>
            <a:endParaRPr lang="en-GB"/>
          </a:p>
        </p:txBody>
      </p:sp>
      <p:sp>
        <p:nvSpPr>
          <p:cNvPr id="4" name="Rectangle 45"/>
          <p:cNvSpPr>
            <a:spLocks noGrp="1" noChangeArrowheads="1"/>
          </p:cNvSpPr>
          <p:nvPr>
            <p:ph type="ftr" sz="quarter" idx="11"/>
          </p:nvPr>
        </p:nvSpPr>
        <p:spPr>
          <a:ln/>
        </p:spPr>
        <p:txBody>
          <a:bodyPr/>
          <a:lstStyle>
            <a:lvl1pPr>
              <a:defRPr/>
            </a:lvl1pPr>
          </a:lstStyle>
          <a:p>
            <a:r>
              <a:rPr lang="en-GB"/>
              <a:t> © LMS SEGi education group</a:t>
            </a:r>
          </a:p>
        </p:txBody>
      </p:sp>
      <p:sp>
        <p:nvSpPr>
          <p:cNvPr id="5" name="Rectangle 46"/>
          <p:cNvSpPr>
            <a:spLocks noGrp="1" noChangeArrowheads="1"/>
          </p:cNvSpPr>
          <p:nvPr>
            <p:ph type="sldNum" sz="quarter" idx="12"/>
          </p:nvPr>
        </p:nvSpPr>
        <p:spPr>
          <a:ln/>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4"/>
          <p:cNvSpPr>
            <a:spLocks noGrp="1" noChangeArrowheads="1"/>
          </p:cNvSpPr>
          <p:nvPr>
            <p:ph type="dt" sz="half" idx="10"/>
          </p:nvPr>
        </p:nvSpPr>
        <p:spPr>
          <a:ln/>
        </p:spPr>
        <p:txBody>
          <a:bodyPr/>
          <a:lstStyle>
            <a:lvl1pPr>
              <a:defRPr/>
            </a:lvl1pPr>
          </a:lstStyle>
          <a:p>
            <a:fld id="{55BBD763-3799-4DA5-9503-3F3EE00462FD}" type="datetime3">
              <a:rPr lang="en-US" smtClean="0"/>
              <a:t>6 February 2025</a:t>
            </a:fld>
            <a:endParaRPr lang="en-GB"/>
          </a:p>
        </p:txBody>
      </p:sp>
      <p:sp>
        <p:nvSpPr>
          <p:cNvPr id="3" name="Rectangle 45"/>
          <p:cNvSpPr>
            <a:spLocks noGrp="1" noChangeArrowheads="1"/>
          </p:cNvSpPr>
          <p:nvPr>
            <p:ph type="ftr" sz="quarter" idx="11"/>
          </p:nvPr>
        </p:nvSpPr>
        <p:spPr>
          <a:ln/>
        </p:spPr>
        <p:txBody>
          <a:bodyPr/>
          <a:lstStyle>
            <a:lvl1pPr>
              <a:defRPr/>
            </a:lvl1pPr>
          </a:lstStyle>
          <a:p>
            <a:r>
              <a:rPr lang="en-GB"/>
              <a:t> © LMS SEGi education group</a:t>
            </a:r>
          </a:p>
        </p:txBody>
      </p:sp>
      <p:sp>
        <p:nvSpPr>
          <p:cNvPr id="4" name="Rectangle 46"/>
          <p:cNvSpPr>
            <a:spLocks noGrp="1" noChangeArrowheads="1"/>
          </p:cNvSpPr>
          <p:nvPr>
            <p:ph type="sldNum" sz="quarter" idx="12"/>
          </p:nvPr>
        </p:nvSpPr>
        <p:spPr>
          <a:ln/>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4"/>
          <p:cNvSpPr>
            <a:spLocks noGrp="1" noChangeArrowheads="1"/>
          </p:cNvSpPr>
          <p:nvPr>
            <p:ph type="dt" sz="half" idx="10"/>
          </p:nvPr>
        </p:nvSpPr>
        <p:spPr>
          <a:ln/>
        </p:spPr>
        <p:txBody>
          <a:bodyPr/>
          <a:lstStyle>
            <a:lvl1pPr>
              <a:defRPr/>
            </a:lvl1pPr>
          </a:lstStyle>
          <a:p>
            <a:fld id="{1EE6FC61-8CBE-436A-9DB6-C45D921873CC}" type="datetime3">
              <a:rPr lang="en-US" smtClean="0"/>
              <a:t>6 February 2025</a:t>
            </a:fld>
            <a:endParaRPr lang="en-GB"/>
          </a:p>
        </p:txBody>
      </p:sp>
      <p:sp>
        <p:nvSpPr>
          <p:cNvPr id="6" name="Rectangle 45"/>
          <p:cNvSpPr>
            <a:spLocks noGrp="1" noChangeArrowheads="1"/>
          </p:cNvSpPr>
          <p:nvPr>
            <p:ph type="ftr" sz="quarter" idx="11"/>
          </p:nvPr>
        </p:nvSpPr>
        <p:spPr>
          <a:ln/>
        </p:spPr>
        <p:txBody>
          <a:bodyPr/>
          <a:lstStyle>
            <a:lvl1pPr>
              <a:defRPr/>
            </a:lvl1pPr>
          </a:lstStyle>
          <a:p>
            <a:r>
              <a:rPr lang="en-GB"/>
              <a:t> © LMS SEGi education group</a:t>
            </a:r>
          </a:p>
        </p:txBody>
      </p:sp>
      <p:sp>
        <p:nvSpPr>
          <p:cNvPr id="7" name="Rectangle 46"/>
          <p:cNvSpPr>
            <a:spLocks noGrp="1" noChangeArrowheads="1"/>
          </p:cNvSpPr>
          <p:nvPr>
            <p:ph type="sldNum" sz="quarter" idx="12"/>
          </p:nvPr>
        </p:nvSpPr>
        <p:spPr>
          <a:ln/>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4"/>
          <p:cNvSpPr>
            <a:spLocks noGrp="1" noChangeArrowheads="1"/>
          </p:cNvSpPr>
          <p:nvPr>
            <p:ph type="dt" sz="half" idx="10"/>
          </p:nvPr>
        </p:nvSpPr>
        <p:spPr>
          <a:ln/>
        </p:spPr>
        <p:txBody>
          <a:bodyPr/>
          <a:lstStyle>
            <a:lvl1pPr>
              <a:defRPr/>
            </a:lvl1pPr>
          </a:lstStyle>
          <a:p>
            <a:fld id="{06D306C5-3207-4881-9C2B-5A60A10994CF}" type="datetime3">
              <a:rPr lang="en-US" smtClean="0"/>
              <a:t>6 February 2025</a:t>
            </a:fld>
            <a:endParaRPr lang="en-GB"/>
          </a:p>
        </p:txBody>
      </p:sp>
      <p:sp>
        <p:nvSpPr>
          <p:cNvPr id="6" name="Rectangle 45"/>
          <p:cNvSpPr>
            <a:spLocks noGrp="1" noChangeArrowheads="1"/>
          </p:cNvSpPr>
          <p:nvPr>
            <p:ph type="ftr" sz="quarter" idx="11"/>
          </p:nvPr>
        </p:nvSpPr>
        <p:spPr>
          <a:ln/>
        </p:spPr>
        <p:txBody>
          <a:bodyPr/>
          <a:lstStyle>
            <a:lvl1pPr>
              <a:defRPr/>
            </a:lvl1pPr>
          </a:lstStyle>
          <a:p>
            <a:r>
              <a:rPr lang="en-GB"/>
              <a:t> © LMS SEGi education group</a:t>
            </a:r>
          </a:p>
        </p:txBody>
      </p:sp>
      <p:sp>
        <p:nvSpPr>
          <p:cNvPr id="7" name="Rectangle 46"/>
          <p:cNvSpPr>
            <a:spLocks noGrp="1" noChangeArrowheads="1"/>
          </p:cNvSpPr>
          <p:nvPr>
            <p:ph type="sldNum" sz="quarter" idx="12"/>
          </p:nvPr>
        </p:nvSpPr>
        <p:spPr>
          <a:ln/>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4"/>
          <p:cNvSpPr>
            <a:spLocks noGrp="1" noChangeArrowheads="1"/>
          </p:cNvSpPr>
          <p:nvPr>
            <p:ph type="dt" sz="half" idx="10"/>
          </p:nvPr>
        </p:nvSpPr>
        <p:spPr>
          <a:ln/>
        </p:spPr>
        <p:txBody>
          <a:bodyPr/>
          <a:lstStyle>
            <a:lvl1pPr>
              <a:defRPr/>
            </a:lvl1pPr>
          </a:lstStyle>
          <a:p>
            <a:fld id="{10821D7D-05FB-4AC0-AB6E-701A3BFE4252}" type="datetime3">
              <a:rPr lang="en-US" smtClean="0"/>
              <a:t>6 February 2025</a:t>
            </a:fld>
            <a:endParaRPr lang="en-GB"/>
          </a:p>
        </p:txBody>
      </p:sp>
      <p:sp>
        <p:nvSpPr>
          <p:cNvPr id="5" name="Rectangle 45"/>
          <p:cNvSpPr>
            <a:spLocks noGrp="1" noChangeArrowheads="1"/>
          </p:cNvSpPr>
          <p:nvPr>
            <p:ph type="ftr" sz="quarter" idx="11"/>
          </p:nvPr>
        </p:nvSpPr>
        <p:spPr>
          <a:ln/>
        </p:spPr>
        <p:txBody>
          <a:bodyPr/>
          <a:lstStyle>
            <a:lvl1pPr>
              <a:defRPr/>
            </a:lvl1pPr>
          </a:lstStyle>
          <a:p>
            <a:r>
              <a:rPr lang="en-GB"/>
              <a:t> © LMS SEGi education group</a:t>
            </a:r>
          </a:p>
        </p:txBody>
      </p:sp>
      <p:sp>
        <p:nvSpPr>
          <p:cNvPr id="6" name="Rectangle 46"/>
          <p:cNvSpPr>
            <a:spLocks noGrp="1" noChangeArrowheads="1"/>
          </p:cNvSpPr>
          <p:nvPr>
            <p:ph type="sldNum" sz="quarter" idx="12"/>
          </p:nvPr>
        </p:nvSpPr>
        <p:spPr>
          <a:ln/>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4"/>
          <p:cNvSpPr>
            <a:spLocks noGrp="1" noChangeArrowheads="1"/>
          </p:cNvSpPr>
          <p:nvPr>
            <p:ph type="dt" sz="half" idx="10"/>
          </p:nvPr>
        </p:nvSpPr>
        <p:spPr>
          <a:ln/>
        </p:spPr>
        <p:txBody>
          <a:bodyPr/>
          <a:lstStyle>
            <a:lvl1pPr>
              <a:defRPr/>
            </a:lvl1pPr>
          </a:lstStyle>
          <a:p>
            <a:fld id="{6BE7C450-ABB9-4EEB-A575-58F54A06492B}" type="datetime3">
              <a:rPr lang="en-US" smtClean="0"/>
              <a:t>6 February 2025</a:t>
            </a:fld>
            <a:endParaRPr lang="en-GB"/>
          </a:p>
        </p:txBody>
      </p:sp>
      <p:sp>
        <p:nvSpPr>
          <p:cNvPr id="5" name="Rectangle 45"/>
          <p:cNvSpPr>
            <a:spLocks noGrp="1" noChangeArrowheads="1"/>
          </p:cNvSpPr>
          <p:nvPr>
            <p:ph type="ftr" sz="quarter" idx="11"/>
          </p:nvPr>
        </p:nvSpPr>
        <p:spPr>
          <a:ln/>
        </p:spPr>
        <p:txBody>
          <a:bodyPr/>
          <a:lstStyle>
            <a:lvl1pPr>
              <a:defRPr/>
            </a:lvl1pPr>
          </a:lstStyle>
          <a:p>
            <a:r>
              <a:rPr lang="en-GB"/>
              <a:t> © LMS SEGi education group</a:t>
            </a:r>
          </a:p>
        </p:txBody>
      </p:sp>
      <p:sp>
        <p:nvSpPr>
          <p:cNvPr id="6" name="Rectangle 46"/>
          <p:cNvSpPr>
            <a:spLocks noGrp="1" noChangeArrowheads="1"/>
          </p:cNvSpPr>
          <p:nvPr>
            <p:ph type="sldNum" sz="quarter" idx="12"/>
          </p:nvPr>
        </p:nvSpPr>
        <p:spPr>
          <a:ln/>
        </p:spPr>
        <p:txBody>
          <a:bodyPr/>
          <a:lstStyle>
            <a:lvl1pPr>
              <a:defRPr/>
            </a:lvl1pPr>
          </a:lstStyle>
          <a:p>
            <a:fld id="{CC13ADC4-536D-428E-8667-0275BB2B031C}" type="slidenum">
              <a:rPr lang="en-GB" smtClean="0"/>
              <a:pPr/>
              <a:t>‹#›</a:t>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Celestia-R1---OverlayTitle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397750" cy="6858000"/>
          </a:xfrm>
          <a:prstGeom prst="rect">
            <a:avLst/>
          </a:prstGeom>
        </p:spPr>
      </p:pic>
      <p:sp>
        <p:nvSpPr>
          <p:cNvPr id="2" name="Title 1"/>
          <p:cNvSpPr>
            <a:spLocks noGrp="1"/>
          </p:cNvSpPr>
          <p:nvPr>
            <p:ph type="ctrTitle"/>
          </p:nvPr>
        </p:nvSpPr>
        <p:spPr>
          <a:xfrm>
            <a:off x="2743973" y="1964267"/>
            <a:ext cx="5714228" cy="2421464"/>
          </a:xfrm>
        </p:spPr>
        <p:txBody>
          <a:bodyPr anchor="b">
            <a:normAutofit/>
          </a:bodyPr>
          <a:lstStyle>
            <a:lvl1pPr algn="r">
              <a:defRPr sz="4400">
                <a:effectLst/>
              </a:defRPr>
            </a:lvl1pPr>
          </a:lstStyle>
          <a:p>
            <a:r>
              <a:rPr lang="en-US"/>
              <a:t>Click to edit Master title style</a:t>
            </a:r>
            <a:endParaRPr lang="en-US" dirty="0"/>
          </a:p>
        </p:txBody>
      </p:sp>
      <p:sp>
        <p:nvSpPr>
          <p:cNvPr id="3" name="Subtitle 2"/>
          <p:cNvSpPr>
            <a:spLocks noGrp="1"/>
          </p:cNvSpPr>
          <p:nvPr>
            <p:ph type="subTitle" idx="1"/>
          </p:nvPr>
        </p:nvSpPr>
        <p:spPr>
          <a:xfrm>
            <a:off x="2743973" y="4385733"/>
            <a:ext cx="5714228"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752311" y="5870576"/>
            <a:ext cx="1212173" cy="377825"/>
          </a:xfrm>
        </p:spPr>
        <p:txBody>
          <a:bodyPr/>
          <a:lstStyle/>
          <a:p>
            <a:fld id="{09D1F9B5-B790-4CE2-A831-A5CF1ABBDBBC}" type="datetime3">
              <a:rPr lang="en-US" smtClean="0"/>
              <a:t>6 February 2025</a:t>
            </a:fld>
            <a:endParaRPr lang="en-GB"/>
          </a:p>
        </p:txBody>
      </p:sp>
      <p:sp>
        <p:nvSpPr>
          <p:cNvPr id="5" name="Footer Placeholder 4"/>
          <p:cNvSpPr>
            <a:spLocks noGrp="1"/>
          </p:cNvSpPr>
          <p:nvPr>
            <p:ph type="ftr" sz="quarter" idx="11"/>
          </p:nvPr>
        </p:nvSpPr>
        <p:spPr>
          <a:xfrm>
            <a:off x="2743973" y="5870576"/>
            <a:ext cx="3932137" cy="377825"/>
          </a:xfrm>
        </p:spPr>
        <p:txBody>
          <a:bodyPr/>
          <a:lstStyle/>
          <a:p>
            <a:r>
              <a:rPr lang="en-GB"/>
              <a:t> © LMS SEGi education group</a:t>
            </a:r>
          </a:p>
        </p:txBody>
      </p:sp>
      <p:sp>
        <p:nvSpPr>
          <p:cNvPr id="6" name="Slide Number Placeholder 5"/>
          <p:cNvSpPr>
            <a:spLocks noGrp="1"/>
          </p:cNvSpPr>
          <p:nvPr>
            <p:ph type="sldNum" sz="quarter" idx="12"/>
          </p:nvPr>
        </p:nvSpPr>
        <p:spPr>
          <a:xfrm>
            <a:off x="8040685" y="5870576"/>
            <a:ext cx="417516" cy="377825"/>
          </a:xfrm>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41096148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424F53-5DB5-463F-A038-FE6B72202C93}" type="datetime3">
              <a:rPr lang="en-US" smtClean="0"/>
              <a:t>6 February 2025</a:t>
            </a:fld>
            <a:endParaRPr lang="en-GB"/>
          </a:p>
        </p:txBody>
      </p:sp>
      <p:sp>
        <p:nvSpPr>
          <p:cNvPr id="5" name="Footer Placeholder 4"/>
          <p:cNvSpPr>
            <a:spLocks noGrp="1"/>
          </p:cNvSpPr>
          <p:nvPr>
            <p:ph type="ftr" sz="quarter" idx="11"/>
          </p:nvPr>
        </p:nvSpPr>
        <p:spPr/>
        <p:txBody>
          <a:bodyPr/>
          <a:lstStyle/>
          <a:p>
            <a:r>
              <a:rPr lang="en-GB"/>
              <a:t> © LMS SEGi education group</a:t>
            </a:r>
          </a:p>
        </p:txBody>
      </p:sp>
      <p:sp>
        <p:nvSpPr>
          <p:cNvPr id="6" name="Slide Number Placeholder 5"/>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14604032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2" y="3308581"/>
            <a:ext cx="77724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457201" y="4777381"/>
            <a:ext cx="7772400" cy="860400"/>
          </a:xfrm>
        </p:spPr>
        <p:txBody>
          <a:bodyPr anchor="t">
            <a:normAutofit/>
          </a:bodyPr>
          <a:lstStyle>
            <a:lvl1pPr marL="0" indent="0" algn="l">
              <a:buNone/>
              <a:defRPr sz="18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1445A8-CA3F-4F8C-9112-3451178299FE}" type="datetime3">
              <a:rPr lang="en-US" smtClean="0"/>
              <a:t>6 February 2025</a:t>
            </a:fld>
            <a:endParaRPr lang="en-GB"/>
          </a:p>
        </p:txBody>
      </p:sp>
      <p:sp>
        <p:nvSpPr>
          <p:cNvPr id="5" name="Footer Placeholder 4"/>
          <p:cNvSpPr>
            <a:spLocks noGrp="1"/>
          </p:cNvSpPr>
          <p:nvPr>
            <p:ph type="ftr" sz="quarter" idx="11"/>
          </p:nvPr>
        </p:nvSpPr>
        <p:spPr/>
        <p:txBody>
          <a:bodyPr/>
          <a:lstStyle/>
          <a:p>
            <a:r>
              <a:rPr lang="en-GB"/>
              <a:t> © LMS SEGi education group</a:t>
            </a:r>
          </a:p>
        </p:txBody>
      </p:sp>
      <p:sp>
        <p:nvSpPr>
          <p:cNvPr id="6" name="Slide Number Placeholder 5"/>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5244351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1" y="2142068"/>
            <a:ext cx="3813048"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6553" y="2142068"/>
            <a:ext cx="3813048"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B7BA1E1-5FC4-45DC-911F-A123C3A8B0AC}" type="datetime3">
              <a:rPr lang="en-US" smtClean="0"/>
              <a:t>6 February 2025</a:t>
            </a:fld>
            <a:endParaRPr lang="en-GB"/>
          </a:p>
        </p:txBody>
      </p:sp>
      <p:sp>
        <p:nvSpPr>
          <p:cNvPr id="6" name="Footer Placeholder 5"/>
          <p:cNvSpPr>
            <a:spLocks noGrp="1"/>
          </p:cNvSpPr>
          <p:nvPr>
            <p:ph type="ftr" sz="quarter" idx="11"/>
          </p:nvPr>
        </p:nvSpPr>
        <p:spPr/>
        <p:txBody>
          <a:bodyPr/>
          <a:lstStyle/>
          <a:p>
            <a:r>
              <a:rPr lang="en-GB"/>
              <a:t> © LMS SEGi education group</a:t>
            </a:r>
          </a:p>
        </p:txBody>
      </p:sp>
      <p:sp>
        <p:nvSpPr>
          <p:cNvPr id="7" name="Slide Number Placeholder 6"/>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20120511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743480" y="2218267"/>
            <a:ext cx="354060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870201"/>
            <a:ext cx="3813048"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11120" y="2218267"/>
            <a:ext cx="3518480"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6552" y="2870201"/>
            <a:ext cx="3813048"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384F94-EA1C-4210-9DF5-83C38875BC15}" type="datetime3">
              <a:rPr lang="en-US" smtClean="0"/>
              <a:t>6 February 2025</a:t>
            </a:fld>
            <a:endParaRPr lang="en-GB"/>
          </a:p>
        </p:txBody>
      </p:sp>
      <p:sp>
        <p:nvSpPr>
          <p:cNvPr id="8" name="Footer Placeholder 7"/>
          <p:cNvSpPr>
            <a:spLocks noGrp="1"/>
          </p:cNvSpPr>
          <p:nvPr>
            <p:ph type="ftr" sz="quarter" idx="11"/>
          </p:nvPr>
        </p:nvSpPr>
        <p:spPr/>
        <p:txBody>
          <a:bodyPr/>
          <a:lstStyle/>
          <a:p>
            <a:r>
              <a:rPr lang="en-GB"/>
              <a:t> © LMS SEGi education group</a:t>
            </a:r>
          </a:p>
        </p:txBody>
      </p:sp>
      <p:sp>
        <p:nvSpPr>
          <p:cNvPr id="9" name="Slide Number Placeholder 8"/>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36655845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609601"/>
            <a:ext cx="7772400" cy="1456267"/>
          </a:xfrm>
        </p:spPr>
        <p:txBody>
          <a:bodyPr>
            <a:normAutofit/>
          </a:bodyPr>
          <a:lstStyle>
            <a:lvl1pPr>
              <a:defRPr sz="320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1004B5-11BA-40F6-9FDD-CBE8CA3587D0}" type="datetime3">
              <a:rPr lang="en-US" smtClean="0"/>
              <a:t>6 February 2025</a:t>
            </a:fld>
            <a:endParaRPr lang="en-GB"/>
          </a:p>
        </p:txBody>
      </p:sp>
      <p:sp>
        <p:nvSpPr>
          <p:cNvPr id="4" name="Footer Placeholder 3"/>
          <p:cNvSpPr>
            <a:spLocks noGrp="1"/>
          </p:cNvSpPr>
          <p:nvPr>
            <p:ph type="ftr" sz="quarter" idx="11"/>
          </p:nvPr>
        </p:nvSpPr>
        <p:spPr/>
        <p:txBody>
          <a:bodyPr/>
          <a:lstStyle/>
          <a:p>
            <a:r>
              <a:rPr lang="en-GB"/>
              <a:t> © LMS SEGi education group</a:t>
            </a:r>
          </a:p>
        </p:txBody>
      </p:sp>
      <p:sp>
        <p:nvSpPr>
          <p:cNvPr id="5" name="Slide Number Placeholder 4"/>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36197836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Date Placeholder 1"/>
          <p:cNvSpPr>
            <a:spLocks noGrp="1"/>
          </p:cNvSpPr>
          <p:nvPr>
            <p:ph type="dt" sz="half" idx="10"/>
          </p:nvPr>
        </p:nvSpPr>
        <p:spPr/>
        <p:txBody>
          <a:bodyPr/>
          <a:lstStyle/>
          <a:p>
            <a:fld id="{E5BCA975-82A5-43E2-9762-C897F1AFA85D}" type="datetime3">
              <a:rPr lang="en-US" smtClean="0"/>
              <a:t>6 February 2025</a:t>
            </a:fld>
            <a:endParaRPr lang="en-GB"/>
          </a:p>
        </p:txBody>
      </p:sp>
      <p:sp>
        <p:nvSpPr>
          <p:cNvPr id="3" name="Footer Placeholder 2"/>
          <p:cNvSpPr>
            <a:spLocks noGrp="1"/>
          </p:cNvSpPr>
          <p:nvPr>
            <p:ph type="ftr" sz="quarter" idx="11"/>
          </p:nvPr>
        </p:nvSpPr>
        <p:spPr/>
        <p:txBody>
          <a:bodyPr/>
          <a:lstStyle/>
          <a:p>
            <a:r>
              <a:rPr lang="en-GB"/>
              <a:t> © LMS SEGi education group</a:t>
            </a:r>
          </a:p>
        </p:txBody>
      </p:sp>
      <p:sp>
        <p:nvSpPr>
          <p:cNvPr id="4" name="Slide Number Placeholder 3"/>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20782920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2" name="Picture 11"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1718" y="1557868"/>
            <a:ext cx="2862910" cy="1439332"/>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606144" y="609601"/>
            <a:ext cx="4627975"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61718" y="2997200"/>
            <a:ext cx="2862910" cy="184573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E3AA2D-A1E1-44E4-9439-7E1CFD3E62FD}" type="datetime3">
              <a:rPr lang="en-US" smtClean="0"/>
              <a:t>6 February 2025</a:t>
            </a:fld>
            <a:endParaRPr lang="en-GB"/>
          </a:p>
        </p:txBody>
      </p:sp>
      <p:sp>
        <p:nvSpPr>
          <p:cNvPr id="6" name="Footer Placeholder 5"/>
          <p:cNvSpPr>
            <a:spLocks noGrp="1"/>
          </p:cNvSpPr>
          <p:nvPr>
            <p:ph type="ftr" sz="quarter" idx="11"/>
          </p:nvPr>
        </p:nvSpPr>
        <p:spPr/>
        <p:txBody>
          <a:bodyPr/>
          <a:lstStyle/>
          <a:p>
            <a:r>
              <a:rPr lang="en-GB"/>
              <a:t> © LMS SEGi education group</a:t>
            </a:r>
          </a:p>
        </p:txBody>
      </p:sp>
      <p:sp>
        <p:nvSpPr>
          <p:cNvPr id="7" name="Slide Number Placeholder 6"/>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6708140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1" name="Picture 10"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2128" y="1735672"/>
            <a:ext cx="4097204" cy="1371600"/>
          </a:xfrm>
        </p:spPr>
        <p:txBody>
          <a:bodyPr anchor="b">
            <a:normAutofit/>
          </a:bodyPr>
          <a:lstStyle>
            <a:lvl1pPr algn="l">
              <a:defRPr sz="24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029200" y="914400"/>
            <a:ext cx="3200400"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dirty="0"/>
            </a:lvl1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a:xfrm>
            <a:off x="462128" y="3107272"/>
            <a:ext cx="4097204"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F0CED5-FE0F-4624-B54C-84AEFB7FC388}" type="datetime3">
              <a:rPr lang="en-US" smtClean="0"/>
              <a:t>6 February 2025</a:t>
            </a:fld>
            <a:endParaRPr lang="en-GB"/>
          </a:p>
        </p:txBody>
      </p:sp>
      <p:sp>
        <p:nvSpPr>
          <p:cNvPr id="6" name="Footer Placeholder 5"/>
          <p:cNvSpPr>
            <a:spLocks noGrp="1"/>
          </p:cNvSpPr>
          <p:nvPr>
            <p:ph type="ftr" sz="quarter" idx="11"/>
          </p:nvPr>
        </p:nvSpPr>
        <p:spPr/>
        <p:txBody>
          <a:bodyPr/>
          <a:lstStyle/>
          <a:p>
            <a:r>
              <a:rPr lang="en-GB"/>
              <a:t> © LMS SEGi education group</a:t>
            </a:r>
          </a:p>
        </p:txBody>
      </p:sp>
      <p:sp>
        <p:nvSpPr>
          <p:cNvPr id="7" name="Slide Number Placeholder 6"/>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27710709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4732865"/>
            <a:ext cx="7772400" cy="566738"/>
          </a:xfrm>
        </p:spPr>
        <p:txBody>
          <a:bodyPr anchor="b">
            <a:normAutofit/>
          </a:bodyPr>
          <a:lstStyle>
            <a:lvl1pPr algn="l">
              <a:defRPr sz="2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4401" y="932112"/>
            <a:ext cx="6858000"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a:lvl1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a:xfrm>
            <a:off x="457201" y="5299603"/>
            <a:ext cx="77724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2BDCA4-2EC8-4050-A37C-0F8AECD7E65B}" type="datetime3">
              <a:rPr lang="en-US" smtClean="0"/>
              <a:t>6 February 2025</a:t>
            </a:fld>
            <a:endParaRPr lang="en-GB"/>
          </a:p>
        </p:txBody>
      </p:sp>
      <p:sp>
        <p:nvSpPr>
          <p:cNvPr id="6" name="Footer Placeholder 5"/>
          <p:cNvSpPr>
            <a:spLocks noGrp="1"/>
          </p:cNvSpPr>
          <p:nvPr>
            <p:ph type="ftr" sz="quarter" idx="11"/>
          </p:nvPr>
        </p:nvSpPr>
        <p:spPr/>
        <p:txBody>
          <a:bodyPr/>
          <a:lstStyle/>
          <a:p>
            <a:r>
              <a:rPr lang="en-GB"/>
              <a:t> © LMS SEGi education group</a:t>
            </a:r>
          </a:p>
        </p:txBody>
      </p:sp>
      <p:sp>
        <p:nvSpPr>
          <p:cNvPr id="7" name="Slide Number Placeholder 6"/>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30089549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3" y="609602"/>
            <a:ext cx="7772399"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457202" y="4343400"/>
            <a:ext cx="7772399"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196160-EBC7-41E4-AD6B-9794A2505D7B}" type="datetime3">
              <a:rPr lang="en-US" smtClean="0"/>
              <a:t>6 February 2025</a:t>
            </a:fld>
            <a:endParaRPr lang="en-GB"/>
          </a:p>
        </p:txBody>
      </p:sp>
      <p:sp>
        <p:nvSpPr>
          <p:cNvPr id="5" name="Footer Placeholder 4"/>
          <p:cNvSpPr>
            <a:spLocks noGrp="1"/>
          </p:cNvSpPr>
          <p:nvPr>
            <p:ph type="ftr" sz="quarter" idx="11"/>
          </p:nvPr>
        </p:nvSpPr>
        <p:spPr/>
        <p:txBody>
          <a:bodyPr/>
          <a:lstStyle/>
          <a:p>
            <a:r>
              <a:rPr lang="en-GB"/>
              <a:t> © LMS SEGi education group</a:t>
            </a:r>
          </a:p>
        </p:txBody>
      </p:sp>
      <p:sp>
        <p:nvSpPr>
          <p:cNvPr id="6" name="Slide Number Placeholder 5"/>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32711434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7" name="Picture 1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14" name="TextBox 13"/>
          <p:cNvSpPr txBox="1"/>
          <p:nvPr/>
        </p:nvSpPr>
        <p:spPr>
          <a:xfrm>
            <a:off x="421796" y="718114"/>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7735800" y="275167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879115" y="609602"/>
            <a:ext cx="7091297"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988671" y="3352800"/>
            <a:ext cx="6876133" cy="381000"/>
          </a:xfrm>
        </p:spPr>
        <p:txBody>
          <a:bodyPr anchor="ctr">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462266" y="4343400"/>
            <a:ext cx="77724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CA7EF0-7B27-45C6-B8B1-B540979BC3B1}" type="datetime3">
              <a:rPr lang="en-US" smtClean="0"/>
              <a:t>6 February 2025</a:t>
            </a:fld>
            <a:endParaRPr lang="en-GB"/>
          </a:p>
        </p:txBody>
      </p:sp>
      <p:sp>
        <p:nvSpPr>
          <p:cNvPr id="5" name="Footer Placeholder 4"/>
          <p:cNvSpPr>
            <a:spLocks noGrp="1"/>
          </p:cNvSpPr>
          <p:nvPr>
            <p:ph type="ftr" sz="quarter" idx="11"/>
          </p:nvPr>
        </p:nvSpPr>
        <p:spPr/>
        <p:txBody>
          <a:bodyPr/>
          <a:lstStyle/>
          <a:p>
            <a:r>
              <a:rPr lang="en-GB"/>
              <a:t> © LMS SEGi education group</a:t>
            </a:r>
          </a:p>
        </p:txBody>
      </p:sp>
      <p:sp>
        <p:nvSpPr>
          <p:cNvPr id="6" name="Slide Number Placeholder 5"/>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298277528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3291648"/>
            <a:ext cx="7772401" cy="1468800"/>
          </a:xfrm>
        </p:spPr>
        <p:txBody>
          <a:bodyPr anchor="b">
            <a:normAutofit/>
          </a:bodyPr>
          <a:lstStyle>
            <a:lvl1pPr algn="l">
              <a:defRPr sz="2800" b="0" cap="none"/>
            </a:lvl1pPr>
          </a:lstStyle>
          <a:p>
            <a:r>
              <a:rPr lang="en-US"/>
              <a:t>Click to edit Master title style</a:t>
            </a:r>
            <a:endParaRPr lang="en-US" dirty="0"/>
          </a:p>
        </p:txBody>
      </p:sp>
      <p:sp>
        <p:nvSpPr>
          <p:cNvPr id="3" name="Text Placeholder 2"/>
          <p:cNvSpPr>
            <a:spLocks noGrp="1"/>
          </p:cNvSpPr>
          <p:nvPr>
            <p:ph type="body" idx="1"/>
          </p:nvPr>
        </p:nvSpPr>
        <p:spPr>
          <a:xfrm>
            <a:off x="457200" y="4760448"/>
            <a:ext cx="7772402"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7196DD-99A7-44EF-9C04-286A83B7E609}" type="datetime3">
              <a:rPr lang="en-US" smtClean="0"/>
              <a:t>6 February 2025</a:t>
            </a:fld>
            <a:endParaRPr lang="en-GB"/>
          </a:p>
        </p:txBody>
      </p:sp>
      <p:sp>
        <p:nvSpPr>
          <p:cNvPr id="5" name="Footer Placeholder 4"/>
          <p:cNvSpPr>
            <a:spLocks noGrp="1"/>
          </p:cNvSpPr>
          <p:nvPr>
            <p:ph type="ftr" sz="quarter" idx="11"/>
          </p:nvPr>
        </p:nvSpPr>
        <p:spPr/>
        <p:txBody>
          <a:bodyPr/>
          <a:lstStyle/>
          <a:p>
            <a:r>
              <a:rPr lang="en-GB"/>
              <a:t> © LMS SEGi education group</a:t>
            </a:r>
          </a:p>
        </p:txBody>
      </p:sp>
      <p:sp>
        <p:nvSpPr>
          <p:cNvPr id="6" name="Slide Number Placeholder 5"/>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34050906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11" name="TextBox 10"/>
          <p:cNvSpPr txBox="1"/>
          <p:nvPr/>
        </p:nvSpPr>
        <p:spPr>
          <a:xfrm>
            <a:off x="421796" y="718114"/>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6" name="TextBox 15"/>
          <p:cNvSpPr txBox="1"/>
          <p:nvPr/>
        </p:nvSpPr>
        <p:spPr>
          <a:xfrm>
            <a:off x="7735800" y="275167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879115" y="609602"/>
            <a:ext cx="7091297"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457200" y="3886200"/>
            <a:ext cx="7772401" cy="8890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457200" y="4775200"/>
            <a:ext cx="7772401" cy="10160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AC01A9-FA38-47CB-9E14-FB6DA2B66C4E}" type="datetime3">
              <a:rPr lang="en-US" smtClean="0"/>
              <a:t>6 February 2025</a:t>
            </a:fld>
            <a:endParaRPr lang="en-GB"/>
          </a:p>
        </p:txBody>
      </p:sp>
      <p:sp>
        <p:nvSpPr>
          <p:cNvPr id="5" name="Footer Placeholder 4"/>
          <p:cNvSpPr>
            <a:spLocks noGrp="1"/>
          </p:cNvSpPr>
          <p:nvPr>
            <p:ph type="ftr" sz="quarter" idx="11"/>
          </p:nvPr>
        </p:nvSpPr>
        <p:spPr/>
        <p:txBody>
          <a:bodyPr/>
          <a:lstStyle/>
          <a:p>
            <a:r>
              <a:rPr lang="en-GB"/>
              <a:t> © LMS SEGi education group</a:t>
            </a:r>
          </a:p>
        </p:txBody>
      </p:sp>
      <p:sp>
        <p:nvSpPr>
          <p:cNvPr id="6" name="Slide Number Placeholder 5"/>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289193037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4440" y="609602"/>
            <a:ext cx="7772401" cy="2743199"/>
          </a:xfrm>
        </p:spPr>
        <p:txBody>
          <a:bodyPr vert="horz" lIns="91440" tIns="45720" rIns="91440" bIns="45720" rtlCol="0" anchor="ctr">
            <a:normAutofit/>
          </a:bodyPr>
          <a:lstStyle>
            <a:lvl1pPr>
              <a:defRPr lang="en-US" sz="2800"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464440" y="3505200"/>
            <a:ext cx="7772401" cy="8382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464439" y="4343400"/>
            <a:ext cx="7772401" cy="14478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FC6B1F-8FE8-4F04-AC43-DCC5BBA7C8E3}" type="datetime3">
              <a:rPr lang="en-US" smtClean="0"/>
              <a:t>6 February 2025</a:t>
            </a:fld>
            <a:endParaRPr lang="en-GB"/>
          </a:p>
        </p:txBody>
      </p:sp>
      <p:sp>
        <p:nvSpPr>
          <p:cNvPr id="5" name="Footer Placeholder 4"/>
          <p:cNvSpPr>
            <a:spLocks noGrp="1"/>
          </p:cNvSpPr>
          <p:nvPr>
            <p:ph type="ftr" sz="quarter" idx="11"/>
          </p:nvPr>
        </p:nvSpPr>
        <p:spPr/>
        <p:txBody>
          <a:bodyPr/>
          <a:lstStyle/>
          <a:p>
            <a:r>
              <a:rPr lang="en-GB"/>
              <a:t> © LMS SEGi education group</a:t>
            </a:r>
          </a:p>
        </p:txBody>
      </p:sp>
      <p:sp>
        <p:nvSpPr>
          <p:cNvPr id="6" name="Slide Number Placeholder 5"/>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5986214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8" name="Title 1"/>
          <p:cNvSpPr>
            <a:spLocks noGrp="1"/>
          </p:cNvSpPr>
          <p:nvPr>
            <p:ph type="title"/>
          </p:nvPr>
        </p:nvSpPr>
        <p:spPr>
          <a:xfrm>
            <a:off x="457200" y="609601"/>
            <a:ext cx="7772400" cy="1456267"/>
          </a:xfrm>
        </p:spPr>
        <p:txBody>
          <a:bodyPr>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889901-37B4-48D8-9AAA-6ED571399419}" type="datetime3">
              <a:rPr lang="en-US" smtClean="0"/>
              <a:t>6 February 2025</a:t>
            </a:fld>
            <a:endParaRPr lang="en-GB"/>
          </a:p>
        </p:txBody>
      </p:sp>
      <p:sp>
        <p:nvSpPr>
          <p:cNvPr id="5" name="Footer Placeholder 4"/>
          <p:cNvSpPr>
            <a:spLocks noGrp="1"/>
          </p:cNvSpPr>
          <p:nvPr>
            <p:ph type="ftr" sz="quarter" idx="11"/>
          </p:nvPr>
        </p:nvSpPr>
        <p:spPr/>
        <p:txBody>
          <a:bodyPr/>
          <a:lstStyle/>
          <a:p>
            <a:r>
              <a:rPr lang="en-GB"/>
              <a:t> © LMS SEGi education group</a:t>
            </a:r>
          </a:p>
        </p:txBody>
      </p:sp>
      <p:sp>
        <p:nvSpPr>
          <p:cNvPr id="6" name="Slide Number Placeholder 5"/>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380556797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Vertical Title 1"/>
          <p:cNvSpPr>
            <a:spLocks noGrp="1"/>
          </p:cNvSpPr>
          <p:nvPr>
            <p:ph type="title" orient="vert"/>
          </p:nvPr>
        </p:nvSpPr>
        <p:spPr>
          <a:xfrm>
            <a:off x="6552978" y="609600"/>
            <a:ext cx="1676621" cy="5181601"/>
          </a:xfrm>
        </p:spPr>
        <p:txBody>
          <a:bodyPr vert="eaVert">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5990184"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7F321A-4B80-4507-9E20-2809E9C0BB72}" type="datetime3">
              <a:rPr lang="en-US" smtClean="0"/>
              <a:t>6 February 2025</a:t>
            </a:fld>
            <a:endParaRPr lang="en-GB"/>
          </a:p>
        </p:txBody>
      </p:sp>
      <p:sp>
        <p:nvSpPr>
          <p:cNvPr id="5" name="Footer Placeholder 4"/>
          <p:cNvSpPr>
            <a:spLocks noGrp="1"/>
          </p:cNvSpPr>
          <p:nvPr>
            <p:ph type="ftr" sz="quarter" idx="11"/>
          </p:nvPr>
        </p:nvSpPr>
        <p:spPr/>
        <p:txBody>
          <a:bodyPr/>
          <a:lstStyle/>
          <a:p>
            <a:r>
              <a:rPr lang="en-GB"/>
              <a:t> © LMS SEGi education group</a:t>
            </a:r>
          </a:p>
        </p:txBody>
      </p:sp>
      <p:sp>
        <p:nvSpPr>
          <p:cNvPr id="6" name="Slide Number Placeholder 5"/>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2484676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6A9AC1"/>
        </a:solidFill>
        <a:effectLst/>
      </p:bgPr>
    </p:bg>
    <p:spTree>
      <p:nvGrpSpPr>
        <p:cNvPr id="1" name=""/>
        <p:cNvGrpSpPr/>
        <p:nvPr/>
      </p:nvGrpSpPr>
      <p:grpSpPr>
        <a:xfrm>
          <a:off x="0" y="0"/>
          <a:ext cx="0" cy="0"/>
          <a:chOff x="0" y="0"/>
          <a:chExt cx="0" cy="0"/>
        </a:xfrm>
      </p:grpSpPr>
      <p:sp>
        <p:nvSpPr>
          <p:cNvPr id="1026" name="Rectangle 37"/>
          <p:cNvSpPr>
            <a:spLocks noGrp="1" noChangeArrowheads="1"/>
          </p:cNvSpPr>
          <p:nvPr>
            <p:ph type="title"/>
          </p:nvPr>
        </p:nvSpPr>
        <p:spPr bwMode="auto">
          <a:xfrm>
            <a:off x="457200" y="277813"/>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8"/>
          <p:cNvSpPr>
            <a:spLocks noGrp="1" noChangeArrowheads="1"/>
          </p:cNvSpPr>
          <p:nvPr>
            <p:ph type="body" idx="1"/>
          </p:nvPr>
        </p:nvSpPr>
        <p:spPr bwMode="auto">
          <a:xfrm>
            <a:off x="457200" y="1600200"/>
            <a:ext cx="8229600" cy="4530725"/>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619" name="Rectangle 43"/>
          <p:cNvSpPr>
            <a:spLocks noChangeArrowheads="1"/>
          </p:cNvSpPr>
          <p:nvPr/>
        </p:nvSpPr>
        <p:spPr bwMode="auto">
          <a:xfrm>
            <a:off x="0" y="6742113"/>
            <a:ext cx="9144000" cy="115887"/>
          </a:xfrm>
          <a:prstGeom prst="rect">
            <a:avLst/>
          </a:prstGeom>
          <a:gradFill rotWithShape="1">
            <a:gsLst>
              <a:gs pos="0">
                <a:srgbClr val="6A9AC1"/>
              </a:gs>
              <a:gs pos="100000">
                <a:srgbClr val="6A9AC1">
                  <a:gamma/>
                  <a:shade val="46275"/>
                  <a:invGamma/>
                </a:srgbClr>
              </a:gs>
            </a:gsLst>
            <a:lin ang="5400000" scaled="1"/>
          </a:gradFill>
          <a:ln w="9525">
            <a:noFill/>
            <a:miter lim="800000"/>
            <a:headEnd/>
            <a:tailEnd/>
          </a:ln>
          <a:effectLst/>
        </p:spPr>
        <p:txBody>
          <a:bodyPr wrap="none" anchor="ctr"/>
          <a:lstStyle/>
          <a:p>
            <a:endParaRPr lang="en-US"/>
          </a:p>
        </p:txBody>
      </p:sp>
      <p:sp>
        <p:nvSpPr>
          <p:cNvPr id="24620" name="Rectangle 44"/>
          <p:cNvSpPr>
            <a:spLocks noGrp="1" noChangeArrowheads="1"/>
          </p:cNvSpPr>
          <p:nvPr>
            <p:ph type="dt" sz="half" idx="2"/>
          </p:nvPr>
        </p:nvSpPr>
        <p:spPr bwMode="auto">
          <a:xfrm>
            <a:off x="-9525" y="63817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900">
                <a:solidFill>
                  <a:schemeClr val="bg1"/>
                </a:solidFill>
                <a:latin typeface="Arial" charset="0"/>
              </a:defRPr>
            </a:lvl1pPr>
          </a:lstStyle>
          <a:p>
            <a:fld id="{C3C1101F-B107-4E10-AC80-AA82E76D3765}" type="datetime3">
              <a:rPr lang="en-US" smtClean="0"/>
              <a:t>6 February 2025</a:t>
            </a:fld>
            <a:endParaRPr lang="en-GB"/>
          </a:p>
        </p:txBody>
      </p:sp>
      <p:sp>
        <p:nvSpPr>
          <p:cNvPr id="24621" name="Rectangle 45"/>
          <p:cNvSpPr>
            <a:spLocks noGrp="1" noChangeArrowheads="1"/>
          </p:cNvSpPr>
          <p:nvPr>
            <p:ph type="ftr" sz="quarter" idx="3"/>
          </p:nvPr>
        </p:nvSpPr>
        <p:spPr bwMode="auto">
          <a:xfrm>
            <a:off x="3124200" y="6381750"/>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900">
                <a:solidFill>
                  <a:schemeClr val="bg1"/>
                </a:solidFill>
                <a:latin typeface="Arial" charset="0"/>
              </a:defRPr>
            </a:lvl1pPr>
          </a:lstStyle>
          <a:p>
            <a:r>
              <a:rPr lang="en-GB"/>
              <a:t> © LMS SEGi education group</a:t>
            </a:r>
          </a:p>
        </p:txBody>
      </p:sp>
      <p:sp>
        <p:nvSpPr>
          <p:cNvPr id="24622" name="Rectangle 46"/>
          <p:cNvSpPr>
            <a:spLocks noGrp="1" noChangeArrowheads="1"/>
          </p:cNvSpPr>
          <p:nvPr>
            <p:ph type="sldNum" sz="quarter" idx="4"/>
          </p:nvPr>
        </p:nvSpPr>
        <p:spPr bwMode="auto">
          <a:xfrm>
            <a:off x="6975475" y="6554788"/>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900">
                <a:solidFill>
                  <a:schemeClr val="bg1"/>
                </a:solidFill>
                <a:latin typeface="Arial" charset="0"/>
              </a:defRPr>
            </a:lvl1pPr>
          </a:lstStyle>
          <a:p>
            <a:fld id="{CC13ADC4-536D-428E-8667-0275BB2B031C}" type="slidenum">
              <a:rPr lang="en-GB" smtClean="0"/>
              <a:pPr/>
              <a:t>‹#›</a:t>
            </a:fld>
            <a:endParaRPr lang="en-GB"/>
          </a:p>
        </p:txBody>
      </p:sp>
      <p:sp>
        <p:nvSpPr>
          <p:cNvPr id="1032" name="PowerPlusWaterMarkObject3"/>
          <p:cNvSpPr>
            <a:spLocks noChangeArrowheads="1" noChangeShapeType="1" noTextEdit="1"/>
          </p:cNvSpPr>
          <p:nvPr/>
        </p:nvSpPr>
        <p:spPr bwMode="auto">
          <a:xfrm rot="5400000">
            <a:off x="-2008188" y="3168651"/>
            <a:ext cx="4352925" cy="552450"/>
          </a:xfrm>
          <a:prstGeom prst="rect">
            <a:avLst/>
          </a:prstGeom>
        </p:spPr>
        <p:txBody>
          <a:bodyPr wrap="none" fromWordArt="1">
            <a:prstTxWarp prst="textPlain">
              <a:avLst>
                <a:gd name="adj" fmla="val 50000"/>
              </a:avLst>
            </a:prstTxWarp>
          </a:bodyPr>
          <a:lstStyle/>
          <a:p>
            <a:pPr algn="ctr"/>
            <a:r>
              <a:rPr lang="en-US" sz="3600" kern="10">
                <a:ln w="9525">
                  <a:noFill/>
                  <a:round/>
                  <a:headEnd/>
                  <a:tailEnd/>
                </a:ln>
                <a:solidFill>
                  <a:srgbClr val="99CCFF">
                    <a:alpha val="20000"/>
                  </a:srgbClr>
                </a:solidFill>
                <a:latin typeface="Tahoma"/>
                <a:cs typeface="Tahoma"/>
              </a:rPr>
              <a:t>SEGi education group</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fontAlgn="base" hangingPunct="1">
        <a:spcBef>
          <a:spcPct val="0"/>
        </a:spcBef>
        <a:spcAft>
          <a:spcPct val="0"/>
        </a:spcAft>
        <a:defRPr sz="3200" b="1">
          <a:solidFill>
            <a:schemeClr val="bg1"/>
          </a:solidFill>
          <a:latin typeface="+mj-lt"/>
          <a:ea typeface="+mj-ea"/>
          <a:cs typeface="+mj-cs"/>
        </a:defRPr>
      </a:lvl1pPr>
      <a:lvl2pPr algn="l" rtl="0" eaLnBrk="1" fontAlgn="base" hangingPunct="1">
        <a:spcBef>
          <a:spcPct val="0"/>
        </a:spcBef>
        <a:spcAft>
          <a:spcPct val="0"/>
        </a:spcAft>
        <a:defRPr sz="3200" b="1">
          <a:solidFill>
            <a:schemeClr val="bg1"/>
          </a:solidFill>
          <a:latin typeface="Arial" charset="0"/>
        </a:defRPr>
      </a:lvl2pPr>
      <a:lvl3pPr algn="l" rtl="0" eaLnBrk="1" fontAlgn="base" hangingPunct="1">
        <a:spcBef>
          <a:spcPct val="0"/>
        </a:spcBef>
        <a:spcAft>
          <a:spcPct val="0"/>
        </a:spcAft>
        <a:defRPr sz="3200" b="1">
          <a:solidFill>
            <a:schemeClr val="bg1"/>
          </a:solidFill>
          <a:latin typeface="Arial" charset="0"/>
        </a:defRPr>
      </a:lvl3pPr>
      <a:lvl4pPr algn="l" rtl="0" eaLnBrk="1" fontAlgn="base" hangingPunct="1">
        <a:spcBef>
          <a:spcPct val="0"/>
        </a:spcBef>
        <a:spcAft>
          <a:spcPct val="0"/>
        </a:spcAft>
        <a:defRPr sz="3200" b="1">
          <a:solidFill>
            <a:schemeClr val="bg1"/>
          </a:solidFill>
          <a:latin typeface="Arial" charset="0"/>
        </a:defRPr>
      </a:lvl4pPr>
      <a:lvl5pPr algn="l" rtl="0" eaLnBrk="1" fontAlgn="base" hangingPunct="1">
        <a:spcBef>
          <a:spcPct val="0"/>
        </a:spcBef>
        <a:spcAft>
          <a:spcPct val="0"/>
        </a:spcAft>
        <a:defRPr sz="3200" b="1">
          <a:solidFill>
            <a:schemeClr val="bg1"/>
          </a:solidFill>
          <a:latin typeface="Arial" charset="0"/>
        </a:defRPr>
      </a:lvl5pPr>
      <a:lvl6pPr marL="457200" algn="l" rtl="0" eaLnBrk="1" fontAlgn="base" hangingPunct="1">
        <a:spcBef>
          <a:spcPct val="0"/>
        </a:spcBef>
        <a:spcAft>
          <a:spcPct val="0"/>
        </a:spcAft>
        <a:defRPr sz="3200" b="1">
          <a:solidFill>
            <a:schemeClr val="bg1"/>
          </a:solidFill>
          <a:latin typeface="Arial" charset="0"/>
        </a:defRPr>
      </a:lvl6pPr>
      <a:lvl7pPr marL="914400" algn="l" rtl="0" eaLnBrk="1" fontAlgn="base" hangingPunct="1">
        <a:spcBef>
          <a:spcPct val="0"/>
        </a:spcBef>
        <a:spcAft>
          <a:spcPct val="0"/>
        </a:spcAft>
        <a:defRPr sz="3200" b="1">
          <a:solidFill>
            <a:schemeClr val="bg1"/>
          </a:solidFill>
          <a:latin typeface="Arial" charset="0"/>
        </a:defRPr>
      </a:lvl7pPr>
      <a:lvl8pPr marL="1371600" algn="l" rtl="0" eaLnBrk="1" fontAlgn="base" hangingPunct="1">
        <a:spcBef>
          <a:spcPct val="0"/>
        </a:spcBef>
        <a:spcAft>
          <a:spcPct val="0"/>
        </a:spcAft>
        <a:defRPr sz="3200" b="1">
          <a:solidFill>
            <a:schemeClr val="bg1"/>
          </a:solidFill>
          <a:latin typeface="Arial" charset="0"/>
        </a:defRPr>
      </a:lvl8pPr>
      <a:lvl9pPr marL="1828800" algn="l" rtl="0" eaLnBrk="1" fontAlgn="base" hangingPunct="1">
        <a:spcBef>
          <a:spcPct val="0"/>
        </a:spcBef>
        <a:spcAft>
          <a:spcPct val="0"/>
        </a:spcAft>
        <a:defRPr sz="3200" b="1">
          <a:solidFill>
            <a:schemeClr val="bg1"/>
          </a:solidFill>
          <a:latin typeface="Arial" charset="0"/>
        </a:defRPr>
      </a:lvl9pPr>
    </p:titleStyle>
    <p:bodyStyle>
      <a:lvl1pPr marL="342900" indent="-342900" algn="l" rtl="0" eaLnBrk="1" fontAlgn="base" hangingPunct="1">
        <a:spcBef>
          <a:spcPct val="20000"/>
        </a:spcBef>
        <a:spcAft>
          <a:spcPct val="0"/>
        </a:spcAft>
        <a:buClr>
          <a:schemeClr val="tx1"/>
        </a:buClr>
        <a:buSzPct val="65000"/>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SzPct val="65000"/>
        <a:buChar char="•"/>
        <a:defRPr sz="2800">
          <a:solidFill>
            <a:schemeClr val="tx1"/>
          </a:solidFill>
          <a:latin typeface="+mn-lt"/>
        </a:defRPr>
      </a:lvl2pPr>
      <a:lvl3pPr marL="1143000" indent="-228600" algn="l" rtl="0" eaLnBrk="1" fontAlgn="base" hangingPunct="1">
        <a:spcBef>
          <a:spcPct val="20000"/>
        </a:spcBef>
        <a:spcAft>
          <a:spcPct val="0"/>
        </a:spcAft>
        <a:buClr>
          <a:schemeClr val="tx1"/>
        </a:buClr>
        <a:buSzPct val="65000"/>
        <a:buChar char="•"/>
        <a:defRPr sz="2400">
          <a:solidFill>
            <a:schemeClr val="tx1"/>
          </a:solidFill>
          <a:latin typeface="+mn-lt"/>
        </a:defRPr>
      </a:lvl3pPr>
      <a:lvl4pPr marL="1600200" indent="-228600" algn="l" rtl="0" eaLnBrk="1" fontAlgn="base" hangingPunct="1">
        <a:spcBef>
          <a:spcPct val="20000"/>
        </a:spcBef>
        <a:spcAft>
          <a:spcPct val="0"/>
        </a:spcAft>
        <a:buClr>
          <a:schemeClr val="tx1"/>
        </a:buClr>
        <a:buSzPct val="65000"/>
        <a:buChar char="•"/>
        <a:defRPr sz="2000">
          <a:solidFill>
            <a:schemeClr val="tx1"/>
          </a:solidFill>
          <a:latin typeface="+mn-lt"/>
        </a:defRPr>
      </a:lvl4pPr>
      <a:lvl5pPr marL="2057400" indent="-228600" algn="l" rtl="0" eaLnBrk="1" fontAlgn="base" hangingPunct="1">
        <a:spcBef>
          <a:spcPct val="20000"/>
        </a:spcBef>
        <a:spcAft>
          <a:spcPct val="0"/>
        </a:spcAft>
        <a:buClr>
          <a:schemeClr val="tx1"/>
        </a:buClr>
        <a:buSzPct val="65000"/>
        <a:buChar char="•"/>
        <a:defRPr sz="2000">
          <a:solidFill>
            <a:schemeClr val="tx1"/>
          </a:solidFill>
          <a:latin typeface="+mn-lt"/>
        </a:defRPr>
      </a:lvl5pPr>
      <a:lvl6pPr marL="2514600" indent="-228600" algn="l" rtl="0" eaLnBrk="1" fontAlgn="base" hangingPunct="1">
        <a:spcBef>
          <a:spcPct val="20000"/>
        </a:spcBef>
        <a:spcAft>
          <a:spcPct val="0"/>
        </a:spcAft>
        <a:buClr>
          <a:schemeClr val="tx1"/>
        </a:buClr>
        <a:buSzPct val="65000"/>
        <a:buChar char="•"/>
        <a:defRPr sz="2000">
          <a:solidFill>
            <a:schemeClr val="tx1"/>
          </a:solidFill>
          <a:latin typeface="+mn-lt"/>
        </a:defRPr>
      </a:lvl6pPr>
      <a:lvl7pPr marL="2971800" indent="-228600" algn="l" rtl="0" eaLnBrk="1" fontAlgn="base" hangingPunct="1">
        <a:spcBef>
          <a:spcPct val="20000"/>
        </a:spcBef>
        <a:spcAft>
          <a:spcPct val="0"/>
        </a:spcAft>
        <a:buClr>
          <a:schemeClr val="tx1"/>
        </a:buClr>
        <a:buSzPct val="65000"/>
        <a:buChar char="•"/>
        <a:defRPr sz="2000">
          <a:solidFill>
            <a:schemeClr val="tx1"/>
          </a:solidFill>
          <a:latin typeface="+mn-lt"/>
        </a:defRPr>
      </a:lvl7pPr>
      <a:lvl8pPr marL="3429000" indent="-228600" algn="l" rtl="0" eaLnBrk="1" fontAlgn="base" hangingPunct="1">
        <a:spcBef>
          <a:spcPct val="20000"/>
        </a:spcBef>
        <a:spcAft>
          <a:spcPct val="0"/>
        </a:spcAft>
        <a:buClr>
          <a:schemeClr val="tx1"/>
        </a:buClr>
        <a:buSzPct val="65000"/>
        <a:buChar char="•"/>
        <a:defRPr sz="2000">
          <a:solidFill>
            <a:schemeClr val="tx1"/>
          </a:solidFill>
          <a:latin typeface="+mn-lt"/>
        </a:defRPr>
      </a:lvl8pPr>
      <a:lvl9pPr marL="3886200" indent="-228600" algn="l" rtl="0" eaLnBrk="1" fontAlgn="base" hangingPunct="1">
        <a:spcBef>
          <a:spcPct val="20000"/>
        </a:spcBef>
        <a:spcAft>
          <a:spcPct val="0"/>
        </a:spcAft>
        <a:buClr>
          <a:schemeClr val="tx1"/>
        </a:buClr>
        <a:buSzPct val="6500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6A9AC1"/>
        </a:solidFill>
        <a:effectLst/>
      </p:bgPr>
    </p:bg>
    <p:spTree>
      <p:nvGrpSpPr>
        <p:cNvPr id="1" name=""/>
        <p:cNvGrpSpPr/>
        <p:nvPr/>
      </p:nvGrpSpPr>
      <p:grpSpPr>
        <a:xfrm>
          <a:off x="0" y="0"/>
          <a:ext cx="0" cy="0"/>
          <a:chOff x="0" y="0"/>
          <a:chExt cx="0" cy="0"/>
        </a:xfrm>
      </p:grpSpPr>
      <p:sp>
        <p:nvSpPr>
          <p:cNvPr id="1026" name="Rectangle 37"/>
          <p:cNvSpPr>
            <a:spLocks noGrp="1" noChangeArrowheads="1"/>
          </p:cNvSpPr>
          <p:nvPr>
            <p:ph type="title"/>
          </p:nvPr>
        </p:nvSpPr>
        <p:spPr bwMode="auto">
          <a:xfrm>
            <a:off x="457200" y="277813"/>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8"/>
          <p:cNvSpPr>
            <a:spLocks noGrp="1" noChangeArrowheads="1"/>
          </p:cNvSpPr>
          <p:nvPr>
            <p:ph type="body" idx="1"/>
          </p:nvPr>
        </p:nvSpPr>
        <p:spPr bwMode="auto">
          <a:xfrm>
            <a:off x="457200" y="1600200"/>
            <a:ext cx="8229600" cy="4530725"/>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619" name="Rectangle 43"/>
          <p:cNvSpPr>
            <a:spLocks noChangeArrowheads="1"/>
          </p:cNvSpPr>
          <p:nvPr/>
        </p:nvSpPr>
        <p:spPr bwMode="auto">
          <a:xfrm>
            <a:off x="0" y="6742113"/>
            <a:ext cx="9144000" cy="115887"/>
          </a:xfrm>
          <a:prstGeom prst="rect">
            <a:avLst/>
          </a:prstGeom>
          <a:gradFill rotWithShape="1">
            <a:gsLst>
              <a:gs pos="0">
                <a:srgbClr val="6A9AC1"/>
              </a:gs>
              <a:gs pos="100000">
                <a:srgbClr val="6A9AC1">
                  <a:gamma/>
                  <a:shade val="46275"/>
                  <a:invGamma/>
                </a:srgbClr>
              </a:gs>
            </a:gsLst>
            <a:lin ang="5400000" scaled="1"/>
          </a:gradFill>
          <a:ln w="9525">
            <a:noFill/>
            <a:miter lim="800000"/>
            <a:headEnd/>
            <a:tailEnd/>
          </a:ln>
          <a:effectLst/>
        </p:spPr>
        <p:txBody>
          <a:bodyPr wrap="none" anchor="ctr"/>
          <a:lstStyle/>
          <a:p>
            <a:endParaRPr lang="en-US"/>
          </a:p>
        </p:txBody>
      </p:sp>
      <p:sp>
        <p:nvSpPr>
          <p:cNvPr id="24620" name="Rectangle 44"/>
          <p:cNvSpPr>
            <a:spLocks noGrp="1" noChangeArrowheads="1"/>
          </p:cNvSpPr>
          <p:nvPr>
            <p:ph type="dt" sz="half" idx="2"/>
          </p:nvPr>
        </p:nvSpPr>
        <p:spPr bwMode="auto">
          <a:xfrm>
            <a:off x="-9525" y="63817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900">
                <a:solidFill>
                  <a:schemeClr val="bg1"/>
                </a:solidFill>
                <a:latin typeface="Arial" charset="0"/>
              </a:defRPr>
            </a:lvl1pPr>
          </a:lstStyle>
          <a:p>
            <a:fld id="{F8A3D21E-B272-4760-8CF2-D27844F8B883}" type="datetime3">
              <a:rPr lang="en-US" smtClean="0"/>
              <a:t>6 February 2025</a:t>
            </a:fld>
            <a:endParaRPr lang="en-GB"/>
          </a:p>
        </p:txBody>
      </p:sp>
      <p:sp>
        <p:nvSpPr>
          <p:cNvPr id="24621" name="Rectangle 45"/>
          <p:cNvSpPr>
            <a:spLocks noGrp="1" noChangeArrowheads="1"/>
          </p:cNvSpPr>
          <p:nvPr>
            <p:ph type="ftr" sz="quarter" idx="3"/>
          </p:nvPr>
        </p:nvSpPr>
        <p:spPr bwMode="auto">
          <a:xfrm>
            <a:off x="3124200" y="6381750"/>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900">
                <a:solidFill>
                  <a:schemeClr val="bg1"/>
                </a:solidFill>
                <a:latin typeface="Arial" charset="0"/>
              </a:defRPr>
            </a:lvl1pPr>
          </a:lstStyle>
          <a:p>
            <a:r>
              <a:rPr lang="en-GB"/>
              <a:t> © LMS SEGi education group</a:t>
            </a:r>
          </a:p>
        </p:txBody>
      </p:sp>
      <p:sp>
        <p:nvSpPr>
          <p:cNvPr id="24622" name="Rectangle 46"/>
          <p:cNvSpPr>
            <a:spLocks noGrp="1" noChangeArrowheads="1"/>
          </p:cNvSpPr>
          <p:nvPr>
            <p:ph type="sldNum" sz="quarter" idx="4"/>
          </p:nvPr>
        </p:nvSpPr>
        <p:spPr bwMode="auto">
          <a:xfrm>
            <a:off x="6975475" y="6554788"/>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900">
                <a:solidFill>
                  <a:schemeClr val="bg1"/>
                </a:solidFill>
                <a:latin typeface="Arial" charset="0"/>
              </a:defRPr>
            </a:lvl1pPr>
          </a:lstStyle>
          <a:p>
            <a:fld id="{CC13ADC4-536D-428E-8667-0275BB2B031C}" type="slidenum">
              <a:rPr lang="en-GB" smtClean="0"/>
              <a:pPr/>
              <a:t>‹#›</a:t>
            </a:fld>
            <a:endParaRPr lang="en-GB"/>
          </a:p>
        </p:txBody>
      </p:sp>
      <p:sp>
        <p:nvSpPr>
          <p:cNvPr id="1032" name="PowerPlusWaterMarkObject3"/>
          <p:cNvSpPr>
            <a:spLocks noChangeArrowheads="1" noChangeShapeType="1" noTextEdit="1"/>
          </p:cNvSpPr>
          <p:nvPr/>
        </p:nvSpPr>
        <p:spPr bwMode="auto">
          <a:xfrm rot="5400000">
            <a:off x="-2008188" y="3168651"/>
            <a:ext cx="4352925" cy="552450"/>
          </a:xfrm>
          <a:prstGeom prst="rect">
            <a:avLst/>
          </a:prstGeom>
        </p:spPr>
        <p:txBody>
          <a:bodyPr wrap="none" fromWordArt="1">
            <a:prstTxWarp prst="textPlain">
              <a:avLst>
                <a:gd name="adj" fmla="val 50000"/>
              </a:avLst>
            </a:prstTxWarp>
          </a:bodyPr>
          <a:lstStyle/>
          <a:p>
            <a:pPr algn="ctr"/>
            <a:r>
              <a:rPr lang="en-US" sz="3600" kern="10">
                <a:ln w="9525">
                  <a:noFill/>
                  <a:round/>
                  <a:headEnd/>
                  <a:tailEnd/>
                </a:ln>
                <a:solidFill>
                  <a:srgbClr val="99CCFF">
                    <a:alpha val="20000"/>
                  </a:srgbClr>
                </a:solidFill>
                <a:latin typeface="Tahoma"/>
                <a:cs typeface="Tahoma"/>
              </a:rPr>
              <a:t>SEGi education group</a:t>
            </a: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1" fontAlgn="base" hangingPunct="1">
        <a:spcBef>
          <a:spcPct val="0"/>
        </a:spcBef>
        <a:spcAft>
          <a:spcPct val="0"/>
        </a:spcAft>
        <a:defRPr sz="3200" b="1">
          <a:solidFill>
            <a:schemeClr val="bg1"/>
          </a:solidFill>
          <a:latin typeface="+mj-lt"/>
          <a:ea typeface="+mj-ea"/>
          <a:cs typeface="+mj-cs"/>
        </a:defRPr>
      </a:lvl1pPr>
      <a:lvl2pPr algn="l" rtl="0" eaLnBrk="1" fontAlgn="base" hangingPunct="1">
        <a:spcBef>
          <a:spcPct val="0"/>
        </a:spcBef>
        <a:spcAft>
          <a:spcPct val="0"/>
        </a:spcAft>
        <a:defRPr sz="3200" b="1">
          <a:solidFill>
            <a:schemeClr val="bg1"/>
          </a:solidFill>
          <a:latin typeface="Arial" charset="0"/>
        </a:defRPr>
      </a:lvl2pPr>
      <a:lvl3pPr algn="l" rtl="0" eaLnBrk="1" fontAlgn="base" hangingPunct="1">
        <a:spcBef>
          <a:spcPct val="0"/>
        </a:spcBef>
        <a:spcAft>
          <a:spcPct val="0"/>
        </a:spcAft>
        <a:defRPr sz="3200" b="1">
          <a:solidFill>
            <a:schemeClr val="bg1"/>
          </a:solidFill>
          <a:latin typeface="Arial" charset="0"/>
        </a:defRPr>
      </a:lvl3pPr>
      <a:lvl4pPr algn="l" rtl="0" eaLnBrk="1" fontAlgn="base" hangingPunct="1">
        <a:spcBef>
          <a:spcPct val="0"/>
        </a:spcBef>
        <a:spcAft>
          <a:spcPct val="0"/>
        </a:spcAft>
        <a:defRPr sz="3200" b="1">
          <a:solidFill>
            <a:schemeClr val="bg1"/>
          </a:solidFill>
          <a:latin typeface="Arial" charset="0"/>
        </a:defRPr>
      </a:lvl4pPr>
      <a:lvl5pPr algn="l" rtl="0" eaLnBrk="1" fontAlgn="base" hangingPunct="1">
        <a:spcBef>
          <a:spcPct val="0"/>
        </a:spcBef>
        <a:spcAft>
          <a:spcPct val="0"/>
        </a:spcAft>
        <a:defRPr sz="3200" b="1">
          <a:solidFill>
            <a:schemeClr val="bg1"/>
          </a:solidFill>
          <a:latin typeface="Arial" charset="0"/>
        </a:defRPr>
      </a:lvl5pPr>
      <a:lvl6pPr marL="457200" algn="l" rtl="0" eaLnBrk="1" fontAlgn="base" hangingPunct="1">
        <a:spcBef>
          <a:spcPct val="0"/>
        </a:spcBef>
        <a:spcAft>
          <a:spcPct val="0"/>
        </a:spcAft>
        <a:defRPr sz="3200" b="1">
          <a:solidFill>
            <a:schemeClr val="bg1"/>
          </a:solidFill>
          <a:latin typeface="Arial" charset="0"/>
        </a:defRPr>
      </a:lvl6pPr>
      <a:lvl7pPr marL="914400" algn="l" rtl="0" eaLnBrk="1" fontAlgn="base" hangingPunct="1">
        <a:spcBef>
          <a:spcPct val="0"/>
        </a:spcBef>
        <a:spcAft>
          <a:spcPct val="0"/>
        </a:spcAft>
        <a:defRPr sz="3200" b="1">
          <a:solidFill>
            <a:schemeClr val="bg1"/>
          </a:solidFill>
          <a:latin typeface="Arial" charset="0"/>
        </a:defRPr>
      </a:lvl7pPr>
      <a:lvl8pPr marL="1371600" algn="l" rtl="0" eaLnBrk="1" fontAlgn="base" hangingPunct="1">
        <a:spcBef>
          <a:spcPct val="0"/>
        </a:spcBef>
        <a:spcAft>
          <a:spcPct val="0"/>
        </a:spcAft>
        <a:defRPr sz="3200" b="1">
          <a:solidFill>
            <a:schemeClr val="bg1"/>
          </a:solidFill>
          <a:latin typeface="Arial" charset="0"/>
        </a:defRPr>
      </a:lvl8pPr>
      <a:lvl9pPr marL="1828800" algn="l" rtl="0" eaLnBrk="1" fontAlgn="base" hangingPunct="1">
        <a:spcBef>
          <a:spcPct val="0"/>
        </a:spcBef>
        <a:spcAft>
          <a:spcPct val="0"/>
        </a:spcAft>
        <a:defRPr sz="3200" b="1">
          <a:solidFill>
            <a:schemeClr val="bg1"/>
          </a:solidFill>
          <a:latin typeface="Arial" charset="0"/>
        </a:defRPr>
      </a:lvl9pPr>
    </p:titleStyle>
    <p:bodyStyle>
      <a:lvl1pPr marL="342900" indent="-342900" algn="l" rtl="0" eaLnBrk="1" fontAlgn="base" hangingPunct="1">
        <a:spcBef>
          <a:spcPct val="20000"/>
        </a:spcBef>
        <a:spcAft>
          <a:spcPct val="0"/>
        </a:spcAft>
        <a:buClr>
          <a:schemeClr val="tx1"/>
        </a:buClr>
        <a:buSzPct val="65000"/>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SzPct val="65000"/>
        <a:buChar char="•"/>
        <a:defRPr sz="2800">
          <a:solidFill>
            <a:schemeClr val="tx1"/>
          </a:solidFill>
          <a:latin typeface="+mn-lt"/>
        </a:defRPr>
      </a:lvl2pPr>
      <a:lvl3pPr marL="1143000" indent="-228600" algn="l" rtl="0" eaLnBrk="1" fontAlgn="base" hangingPunct="1">
        <a:spcBef>
          <a:spcPct val="20000"/>
        </a:spcBef>
        <a:spcAft>
          <a:spcPct val="0"/>
        </a:spcAft>
        <a:buClr>
          <a:schemeClr val="tx1"/>
        </a:buClr>
        <a:buSzPct val="65000"/>
        <a:buChar char="•"/>
        <a:defRPr sz="2400">
          <a:solidFill>
            <a:schemeClr val="tx1"/>
          </a:solidFill>
          <a:latin typeface="+mn-lt"/>
        </a:defRPr>
      </a:lvl3pPr>
      <a:lvl4pPr marL="1600200" indent="-228600" algn="l" rtl="0" eaLnBrk="1" fontAlgn="base" hangingPunct="1">
        <a:spcBef>
          <a:spcPct val="20000"/>
        </a:spcBef>
        <a:spcAft>
          <a:spcPct val="0"/>
        </a:spcAft>
        <a:buClr>
          <a:schemeClr val="tx1"/>
        </a:buClr>
        <a:buSzPct val="65000"/>
        <a:buChar char="•"/>
        <a:defRPr sz="2000">
          <a:solidFill>
            <a:schemeClr val="tx1"/>
          </a:solidFill>
          <a:latin typeface="+mn-lt"/>
        </a:defRPr>
      </a:lvl4pPr>
      <a:lvl5pPr marL="2057400" indent="-228600" algn="l" rtl="0" eaLnBrk="1" fontAlgn="base" hangingPunct="1">
        <a:spcBef>
          <a:spcPct val="20000"/>
        </a:spcBef>
        <a:spcAft>
          <a:spcPct val="0"/>
        </a:spcAft>
        <a:buClr>
          <a:schemeClr val="tx1"/>
        </a:buClr>
        <a:buSzPct val="65000"/>
        <a:buChar char="•"/>
        <a:defRPr sz="2000">
          <a:solidFill>
            <a:schemeClr val="tx1"/>
          </a:solidFill>
          <a:latin typeface="+mn-lt"/>
        </a:defRPr>
      </a:lvl5pPr>
      <a:lvl6pPr marL="2514600" indent="-228600" algn="l" rtl="0" eaLnBrk="1" fontAlgn="base" hangingPunct="1">
        <a:spcBef>
          <a:spcPct val="20000"/>
        </a:spcBef>
        <a:spcAft>
          <a:spcPct val="0"/>
        </a:spcAft>
        <a:buClr>
          <a:schemeClr val="tx1"/>
        </a:buClr>
        <a:buSzPct val="65000"/>
        <a:buChar char="•"/>
        <a:defRPr sz="2000">
          <a:solidFill>
            <a:schemeClr val="tx1"/>
          </a:solidFill>
          <a:latin typeface="+mn-lt"/>
        </a:defRPr>
      </a:lvl6pPr>
      <a:lvl7pPr marL="2971800" indent="-228600" algn="l" rtl="0" eaLnBrk="1" fontAlgn="base" hangingPunct="1">
        <a:spcBef>
          <a:spcPct val="20000"/>
        </a:spcBef>
        <a:spcAft>
          <a:spcPct val="0"/>
        </a:spcAft>
        <a:buClr>
          <a:schemeClr val="tx1"/>
        </a:buClr>
        <a:buSzPct val="65000"/>
        <a:buChar char="•"/>
        <a:defRPr sz="2000">
          <a:solidFill>
            <a:schemeClr val="tx1"/>
          </a:solidFill>
          <a:latin typeface="+mn-lt"/>
        </a:defRPr>
      </a:lvl7pPr>
      <a:lvl8pPr marL="3429000" indent="-228600" algn="l" rtl="0" eaLnBrk="1" fontAlgn="base" hangingPunct="1">
        <a:spcBef>
          <a:spcPct val="20000"/>
        </a:spcBef>
        <a:spcAft>
          <a:spcPct val="0"/>
        </a:spcAft>
        <a:buClr>
          <a:schemeClr val="tx1"/>
        </a:buClr>
        <a:buSzPct val="65000"/>
        <a:buChar char="•"/>
        <a:defRPr sz="2000">
          <a:solidFill>
            <a:schemeClr val="tx1"/>
          </a:solidFill>
          <a:latin typeface="+mn-lt"/>
        </a:defRPr>
      </a:lvl8pPr>
      <a:lvl9pPr marL="3886200" indent="-228600" algn="l" rtl="0" eaLnBrk="1" fontAlgn="base" hangingPunct="1">
        <a:spcBef>
          <a:spcPct val="20000"/>
        </a:spcBef>
        <a:spcAft>
          <a:spcPct val="0"/>
        </a:spcAft>
        <a:buClr>
          <a:schemeClr val="tx1"/>
        </a:buClr>
        <a:buSzPct val="6500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1"/>
            <a:ext cx="7772400"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2142068"/>
            <a:ext cx="7772400"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523712" y="5870576"/>
            <a:ext cx="1212173"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F8AEC43-8657-44C3-8791-EF26D7C60F41}" type="datetime3">
              <a:rPr lang="en-US" smtClean="0"/>
              <a:t>6 February 2025</a:t>
            </a:fld>
            <a:endParaRPr lang="en-GB"/>
          </a:p>
        </p:txBody>
      </p:sp>
      <p:sp>
        <p:nvSpPr>
          <p:cNvPr id="5" name="Footer Placeholder 4"/>
          <p:cNvSpPr>
            <a:spLocks noGrp="1"/>
          </p:cNvSpPr>
          <p:nvPr>
            <p:ph type="ftr" sz="quarter" idx="3"/>
          </p:nvPr>
        </p:nvSpPr>
        <p:spPr>
          <a:xfrm>
            <a:off x="457200" y="5870576"/>
            <a:ext cx="5990311"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GB"/>
              <a:t> © LMS SEGi education group</a:t>
            </a:r>
          </a:p>
        </p:txBody>
      </p:sp>
      <p:sp>
        <p:nvSpPr>
          <p:cNvPr id="6" name="Slide Number Placeholder 5"/>
          <p:cNvSpPr>
            <a:spLocks noGrp="1"/>
          </p:cNvSpPr>
          <p:nvPr>
            <p:ph type="sldNum" sz="quarter" idx="4"/>
          </p:nvPr>
        </p:nvSpPr>
        <p:spPr>
          <a:xfrm>
            <a:off x="7812085" y="5870576"/>
            <a:ext cx="417516"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C13ADC4-536D-428E-8667-0275BB2B031C}" type="slidenum">
              <a:rPr lang="en-GB" smtClean="0"/>
              <a:pPr/>
              <a:t>‹#›</a:t>
            </a:fld>
            <a:endParaRPr lang="en-GB"/>
          </a:p>
        </p:txBody>
      </p:sp>
    </p:spTree>
    <p:extLst>
      <p:ext uri="{BB962C8B-B14F-4D97-AF65-F5344CB8AC3E}">
        <p14:creationId xmlns:p14="http://schemas.microsoft.com/office/powerpoint/2010/main" val="383558566"/>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hf hdr="0" ftr="0" dt="0"/>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3.xml"/><Relationship Id="rId5" Type="http://schemas.openxmlformats.org/officeDocument/2006/relationships/image" Target="../media/image7.png"/><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4.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4.xml"/><Relationship Id="rId4" Type="http://schemas.openxmlformats.org/officeDocument/2006/relationships/image" Target="../media/image21.jp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g"/><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24.xml"/><Relationship Id="rId4" Type="http://schemas.openxmlformats.org/officeDocument/2006/relationships/image" Target="../media/image26.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24.xml"/><Relationship Id="rId5" Type="http://schemas.openxmlformats.org/officeDocument/2006/relationships/image" Target="../media/image36.png"/><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jpeg"/><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pic>
        <p:nvPicPr>
          <p:cNvPr id="8" name="Picture 7" descr="Computer script on a screen">
            <a:extLst>
              <a:ext uri="{FF2B5EF4-FFF2-40B4-BE49-F238E27FC236}">
                <a16:creationId xmlns:a16="http://schemas.microsoft.com/office/drawing/2014/main" id="{B87F36E4-A0AD-F5F7-BC2A-D08F96281449}"/>
              </a:ext>
            </a:extLst>
          </p:cNvPr>
          <p:cNvPicPr>
            <a:picLocks noChangeAspect="1"/>
          </p:cNvPicPr>
          <p:nvPr/>
        </p:nvPicPr>
        <p:blipFill rotWithShape="1">
          <a:blip r:embed="rId4"/>
          <a:srcRect r="10999" b="-1"/>
          <a:stretch/>
        </p:blipFill>
        <p:spPr>
          <a:xfrm>
            <a:off x="20" y="10"/>
            <a:ext cx="9143980" cy="6857990"/>
          </a:xfrm>
          <a:prstGeom prst="rect">
            <a:avLst/>
          </a:prstGeom>
        </p:spPr>
      </p:pic>
      <p:pic>
        <p:nvPicPr>
          <p:cNvPr id="10" name="Picture 12">
            <a:extLst>
              <a:ext uri="{FF2B5EF4-FFF2-40B4-BE49-F238E27FC236}">
                <a16:creationId xmlns:a16="http://schemas.microsoft.com/office/drawing/2014/main" id="{F28C5E77-0080-4457-B42A-3E5420A7C8D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9141618" cy="6856214"/>
          </a:xfrm>
          <a:prstGeom prst="rect">
            <a:avLst/>
          </a:prstGeom>
        </p:spPr>
      </p:pic>
      <p:sp>
        <p:nvSpPr>
          <p:cNvPr id="11" name="Rectangle 14">
            <a:extLst>
              <a:ext uri="{FF2B5EF4-FFF2-40B4-BE49-F238E27FC236}">
                <a16:creationId xmlns:a16="http://schemas.microsoft.com/office/drawing/2014/main" id="{DE6F2CF7-0423-4CC7-90FD-1FEBA0CA5B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284684" y="2125133"/>
            <a:ext cx="6552009" cy="2607734"/>
          </a:xfrm>
          <a:prstGeom prst="rect">
            <a:avLst/>
          </a:prstGeom>
          <a:solidFill>
            <a:schemeClr val="bg1">
              <a:alpha val="70000"/>
            </a:schemeClr>
          </a:solid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solidFill>
                <a:schemeClr val="tx1"/>
              </a:solidFill>
            </a:endParaRPr>
          </a:p>
        </p:txBody>
      </p:sp>
      <p:sp>
        <p:nvSpPr>
          <p:cNvPr id="2" name="Title 1"/>
          <p:cNvSpPr>
            <a:spLocks noGrp="1"/>
          </p:cNvSpPr>
          <p:nvPr>
            <p:ph type="ctrTitle"/>
          </p:nvPr>
        </p:nvSpPr>
        <p:spPr>
          <a:xfrm>
            <a:off x="1442243" y="2298700"/>
            <a:ext cx="6260307" cy="1161705"/>
          </a:xfrm>
        </p:spPr>
        <p:txBody>
          <a:bodyPr>
            <a:normAutofit/>
          </a:bodyPr>
          <a:lstStyle/>
          <a:p>
            <a:pPr algn="ctr">
              <a:lnSpc>
                <a:spcPct val="90000"/>
              </a:lnSpc>
            </a:pPr>
            <a:r>
              <a:rPr lang="en-GB" sz="3400" b="1" dirty="0"/>
              <a:t>WEB  AND MOBILE </a:t>
            </a:r>
            <a:br>
              <a:rPr lang="en-GB" sz="3400" b="1" dirty="0"/>
            </a:br>
            <a:r>
              <a:rPr lang="en-GB" sz="3400" b="1" dirty="0"/>
              <a:t>DEVELOPMENT</a:t>
            </a:r>
          </a:p>
        </p:txBody>
      </p:sp>
      <p:sp>
        <p:nvSpPr>
          <p:cNvPr id="3" name="Subtitle 2"/>
          <p:cNvSpPr>
            <a:spLocks noGrp="1"/>
          </p:cNvSpPr>
          <p:nvPr>
            <p:ph type="subTitle" idx="1"/>
          </p:nvPr>
        </p:nvSpPr>
        <p:spPr>
          <a:xfrm>
            <a:off x="1437480" y="3663479"/>
            <a:ext cx="6266657" cy="491081"/>
          </a:xfrm>
        </p:spPr>
        <p:txBody>
          <a:bodyPr>
            <a:noAutofit/>
          </a:bodyPr>
          <a:lstStyle/>
          <a:p>
            <a:pPr algn="ctr">
              <a:lnSpc>
                <a:spcPct val="90000"/>
              </a:lnSpc>
            </a:pPr>
            <a:r>
              <a:rPr lang="en-GB" sz="2400" b="1" dirty="0">
                <a:solidFill>
                  <a:srgbClr val="FFC000"/>
                </a:solidFill>
              </a:rPr>
              <a:t>INTRODUCTION TO WEB AND Mobile DEVELOPMENT</a:t>
            </a:r>
            <a:endParaRPr lang="en-GB" sz="2400" dirty="0">
              <a:solidFill>
                <a:srgbClr val="FFC000"/>
              </a:solidFill>
            </a:endParaRPr>
          </a:p>
        </p:txBody>
      </p:sp>
      <p:sp>
        <p:nvSpPr>
          <p:cNvPr id="5" name="Slide Number Placeholder 4"/>
          <p:cNvSpPr>
            <a:spLocks noGrp="1"/>
          </p:cNvSpPr>
          <p:nvPr>
            <p:ph type="sldNum" sz="quarter" idx="12"/>
          </p:nvPr>
        </p:nvSpPr>
        <p:spPr>
          <a:xfrm>
            <a:off x="7423318" y="5870575"/>
            <a:ext cx="413375" cy="377825"/>
          </a:xfrm>
        </p:spPr>
        <p:txBody>
          <a:bodyPr>
            <a:normAutofit/>
          </a:bodyPr>
          <a:lstStyle/>
          <a:p>
            <a:pPr>
              <a:spcAft>
                <a:spcPts val="600"/>
              </a:spcAft>
            </a:pPr>
            <a:fld id="{CC13ADC4-536D-428E-8667-0275BB2B031C}" type="slidenum">
              <a:rPr lang="en-GB" smtClean="0"/>
              <a:pPr>
                <a:spcAft>
                  <a:spcPts val="600"/>
                </a:spcAft>
              </a:pPr>
              <a:t>1</a:t>
            </a:fld>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BC18C-80BA-4A93-B5B6-2BDE7E9295CA}"/>
              </a:ext>
            </a:extLst>
          </p:cNvPr>
          <p:cNvSpPr>
            <a:spLocks noGrp="1"/>
          </p:cNvSpPr>
          <p:nvPr>
            <p:ph type="title"/>
          </p:nvPr>
        </p:nvSpPr>
        <p:spPr>
          <a:xfrm>
            <a:off x="0" y="2420888"/>
            <a:ext cx="9116652" cy="1456267"/>
          </a:xfrm>
        </p:spPr>
        <p:txBody>
          <a:bodyPr/>
          <a:lstStyle/>
          <a:p>
            <a:pPr algn="ctr"/>
            <a:r>
              <a:rPr lang="en-US" b="1" dirty="0"/>
              <a:t>INTRODUCTION TO WEB DEVELOPMENT</a:t>
            </a:r>
            <a:endParaRPr lang="en-MY" b="1" dirty="0"/>
          </a:p>
        </p:txBody>
      </p:sp>
      <p:sp>
        <p:nvSpPr>
          <p:cNvPr id="4" name="Slide Number Placeholder 3">
            <a:extLst>
              <a:ext uri="{FF2B5EF4-FFF2-40B4-BE49-F238E27FC236}">
                <a16:creationId xmlns:a16="http://schemas.microsoft.com/office/drawing/2014/main" id="{56E1839C-FA5B-4987-9F9E-620030E83197}"/>
              </a:ext>
            </a:extLst>
          </p:cNvPr>
          <p:cNvSpPr>
            <a:spLocks noGrp="1"/>
          </p:cNvSpPr>
          <p:nvPr>
            <p:ph type="sldNum" sz="quarter" idx="12"/>
          </p:nvPr>
        </p:nvSpPr>
        <p:spPr/>
        <p:txBody>
          <a:bodyPr/>
          <a:lstStyle/>
          <a:p>
            <a:fld id="{CC13ADC4-536D-428E-8667-0275BB2B031C}" type="slidenum">
              <a:rPr lang="en-GB" smtClean="0"/>
              <a:pPr/>
              <a:t>2</a:t>
            </a:fld>
            <a:endParaRPr lang="en-GB"/>
          </a:p>
        </p:txBody>
      </p:sp>
    </p:spTree>
    <p:extLst>
      <p:ext uri="{BB962C8B-B14F-4D97-AF65-F5344CB8AC3E}">
        <p14:creationId xmlns:p14="http://schemas.microsoft.com/office/powerpoint/2010/main" val="2380550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2"/>
          <p:cNvSpPr>
            <a:spLocks noGrp="1" noChangeArrowheads="1"/>
          </p:cNvSpPr>
          <p:nvPr>
            <p:ph type="title"/>
          </p:nvPr>
        </p:nvSpPr>
        <p:spPr>
          <a:xfrm>
            <a:off x="348343" y="702809"/>
            <a:ext cx="8229600" cy="1143000"/>
          </a:xfrm>
        </p:spPr>
        <p:txBody>
          <a:bodyPr/>
          <a:lstStyle/>
          <a:p>
            <a:pPr marL="609600" indent="-609600" algn="ctr"/>
            <a:r>
              <a:rPr lang="en-GB" b="1" dirty="0">
                <a:ea typeface="宋体"/>
              </a:rPr>
              <a:t>The Concept of Web</a:t>
            </a:r>
            <a:endParaRPr lang="en-US" b="1" dirty="0"/>
          </a:p>
        </p:txBody>
      </p:sp>
      <p:sp>
        <p:nvSpPr>
          <p:cNvPr id="11270" name="Rectangle 3"/>
          <p:cNvSpPr>
            <a:spLocks noGrp="1" noChangeArrowheads="1"/>
          </p:cNvSpPr>
          <p:nvPr>
            <p:ph idx="1"/>
          </p:nvPr>
        </p:nvSpPr>
        <p:spPr>
          <a:xfrm>
            <a:off x="446314" y="1484784"/>
            <a:ext cx="8131629" cy="4866350"/>
          </a:xfrm>
        </p:spPr>
        <p:txBody>
          <a:bodyPr>
            <a:normAutofit/>
          </a:bodyPr>
          <a:lstStyle/>
          <a:p>
            <a:pPr algn="just"/>
            <a:r>
              <a:rPr lang="en-US" sz="2400" dirty="0"/>
              <a:t>The </a:t>
            </a:r>
            <a:r>
              <a:rPr lang="en-US" sz="2400" b="1" dirty="0">
                <a:solidFill>
                  <a:srgbClr val="FFC000"/>
                </a:solidFill>
              </a:rPr>
              <a:t>Web</a:t>
            </a:r>
            <a:r>
              <a:rPr lang="en-US" sz="2400" dirty="0">
                <a:solidFill>
                  <a:srgbClr val="0070C0"/>
                </a:solidFill>
              </a:rPr>
              <a:t> </a:t>
            </a:r>
            <a:r>
              <a:rPr lang="en-US" sz="2400" dirty="0"/>
              <a:t>at the infrastructure level, is an engineered space created via formally specified languages and protocol. </a:t>
            </a:r>
          </a:p>
          <a:p>
            <a:pPr algn="just"/>
            <a:endParaRPr lang="en-US" sz="2400" dirty="0">
              <a:solidFill>
                <a:srgbClr val="0070C0"/>
              </a:solidFill>
            </a:endParaRPr>
          </a:p>
          <a:p>
            <a:pPr algn="just"/>
            <a:r>
              <a:rPr lang="en-US" sz="2400" dirty="0"/>
              <a:t>A </a:t>
            </a:r>
            <a:r>
              <a:rPr lang="en-US" sz="2400" b="1" dirty="0">
                <a:solidFill>
                  <a:srgbClr val="FFC000"/>
                </a:solidFill>
              </a:rPr>
              <a:t>Web</a:t>
            </a:r>
            <a:r>
              <a:rPr lang="en-US" sz="2400" dirty="0">
                <a:solidFill>
                  <a:srgbClr val="FFC000"/>
                </a:solidFill>
              </a:rPr>
              <a:t> </a:t>
            </a:r>
            <a:r>
              <a:rPr lang="en-US" sz="2400" b="1" dirty="0">
                <a:solidFill>
                  <a:srgbClr val="FFC000"/>
                </a:solidFill>
              </a:rPr>
              <a:t>application</a:t>
            </a:r>
            <a:r>
              <a:rPr lang="en-US" sz="2400" dirty="0">
                <a:solidFill>
                  <a:srgbClr val="FFC000"/>
                </a:solidFill>
              </a:rPr>
              <a:t> </a:t>
            </a:r>
            <a:r>
              <a:rPr lang="en-US" sz="2400" dirty="0"/>
              <a:t>is a software system based on technologies and standards of the World Wide Web Consortium (W3C) that provide Web specific resources such as content and services through a user interface, the </a:t>
            </a:r>
            <a:r>
              <a:rPr lang="en-US" sz="2400" b="1" dirty="0">
                <a:solidFill>
                  <a:srgbClr val="FFC000"/>
                </a:solidFill>
              </a:rPr>
              <a:t>Web browser. </a:t>
            </a:r>
          </a:p>
          <a:p>
            <a:pPr algn="just"/>
            <a:endParaRPr lang="en-US" sz="2400" b="1" dirty="0"/>
          </a:p>
          <a:p>
            <a:pPr algn="just"/>
            <a:endParaRPr lang="en-US" sz="2400" b="1" dirty="0"/>
          </a:p>
        </p:txBody>
      </p:sp>
      <p:sp>
        <p:nvSpPr>
          <p:cNvPr id="6" name="Slide Number Placeholder 5"/>
          <p:cNvSpPr>
            <a:spLocks noGrp="1"/>
          </p:cNvSpPr>
          <p:nvPr>
            <p:ph type="sldNum" sz="quarter" idx="12"/>
          </p:nvPr>
        </p:nvSpPr>
        <p:spPr/>
        <p:txBody>
          <a:bodyPr/>
          <a:lstStyle/>
          <a:p>
            <a:pPr>
              <a:defRPr/>
            </a:pPr>
            <a:fld id="{F4200CDB-3E51-4967-AE7C-74D96373F6F9}" type="slidenum">
              <a:rPr lang="en-US"/>
              <a:pPr>
                <a:defRPr/>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08675-374C-4B44-A735-3B774B7C726E}"/>
              </a:ext>
            </a:extLst>
          </p:cNvPr>
          <p:cNvSpPr>
            <a:spLocks noGrp="1"/>
          </p:cNvSpPr>
          <p:nvPr>
            <p:ph type="title"/>
          </p:nvPr>
        </p:nvSpPr>
        <p:spPr>
          <a:xfrm>
            <a:off x="402771" y="502155"/>
            <a:ext cx="8146869" cy="956531"/>
          </a:xfrm>
        </p:spPr>
        <p:txBody>
          <a:bodyPr/>
          <a:lstStyle/>
          <a:p>
            <a:pPr algn="ctr"/>
            <a:r>
              <a:rPr lang="en-US" b="1" dirty="0">
                <a:cs typeface="Arial"/>
              </a:rPr>
              <a:t>The History</a:t>
            </a:r>
            <a:endParaRPr lang="en-US" b="1" dirty="0"/>
          </a:p>
        </p:txBody>
      </p:sp>
      <p:sp>
        <p:nvSpPr>
          <p:cNvPr id="3" name="Content Placeholder 2">
            <a:extLst>
              <a:ext uri="{FF2B5EF4-FFF2-40B4-BE49-F238E27FC236}">
                <a16:creationId xmlns:a16="http://schemas.microsoft.com/office/drawing/2014/main" id="{EA2DB4ED-F64D-46FD-B3D7-9A8B0D1D1BF6}"/>
              </a:ext>
            </a:extLst>
          </p:cNvPr>
          <p:cNvSpPr>
            <a:spLocks noGrp="1"/>
          </p:cNvSpPr>
          <p:nvPr>
            <p:ph idx="1"/>
          </p:nvPr>
        </p:nvSpPr>
        <p:spPr>
          <a:xfrm>
            <a:off x="402771" y="1654629"/>
            <a:ext cx="8146869" cy="4701216"/>
          </a:xfrm>
        </p:spPr>
        <p:txBody>
          <a:bodyPr>
            <a:noAutofit/>
          </a:bodyPr>
          <a:lstStyle/>
          <a:p>
            <a:pPr marL="0" indent="0">
              <a:lnSpc>
                <a:spcPct val="100000"/>
              </a:lnSpc>
              <a:buNone/>
            </a:pPr>
            <a:r>
              <a:rPr lang="en-US" sz="2400" b="1" dirty="0">
                <a:solidFill>
                  <a:srgbClr val="FFC000"/>
                </a:solidFill>
                <a:ea typeface="+mn-lt"/>
                <a:cs typeface="+mn-lt"/>
              </a:rPr>
              <a:t>Web 1.0</a:t>
            </a:r>
          </a:p>
          <a:p>
            <a:pPr marL="533400" indent="-533400" algn="just">
              <a:lnSpc>
                <a:spcPct val="100000"/>
              </a:lnSpc>
            </a:pPr>
            <a:r>
              <a:rPr lang="en-US" sz="2400" dirty="0">
                <a:ea typeface="+mn-lt"/>
                <a:cs typeface="+mn-lt"/>
              </a:rPr>
              <a:t>The original Internet is known as Web 1.0. Back in the early 1990s, websites were built using </a:t>
            </a:r>
            <a:r>
              <a:rPr lang="en-US" sz="2400" b="1" dirty="0">
                <a:solidFill>
                  <a:srgbClr val="FFC000"/>
                </a:solidFill>
                <a:ea typeface="+mn-lt"/>
                <a:cs typeface="+mn-lt"/>
              </a:rPr>
              <a:t>static HTML pages </a:t>
            </a:r>
            <a:r>
              <a:rPr lang="en-US" sz="2400" dirty="0">
                <a:ea typeface="+mn-lt"/>
                <a:cs typeface="+mn-lt"/>
              </a:rPr>
              <a:t>that only had the ability to display information</a:t>
            </a:r>
          </a:p>
          <a:p>
            <a:pPr marL="533400" indent="-533400" algn="just">
              <a:lnSpc>
                <a:spcPct val="100000"/>
              </a:lnSpc>
            </a:pPr>
            <a:r>
              <a:rPr lang="en-US" sz="2400" dirty="0"/>
              <a:t>Its use was limited to publishing corporate information, developing marketing and sales plans and transactions with customers. </a:t>
            </a:r>
          </a:p>
          <a:p>
            <a:pPr marL="533400" indent="-533400" algn="just">
              <a:lnSpc>
                <a:spcPct val="100000"/>
              </a:lnSpc>
            </a:pPr>
            <a:endParaRPr lang="en-US" sz="2400" dirty="0"/>
          </a:p>
          <a:p>
            <a:pPr marL="533400" indent="-533400" algn="just">
              <a:lnSpc>
                <a:spcPct val="100000"/>
              </a:lnSpc>
            </a:pPr>
            <a:endParaRPr lang="en-US" sz="2400" dirty="0"/>
          </a:p>
        </p:txBody>
      </p:sp>
      <p:sp>
        <p:nvSpPr>
          <p:cNvPr id="5" name="Slide Number Placeholder 4">
            <a:extLst>
              <a:ext uri="{FF2B5EF4-FFF2-40B4-BE49-F238E27FC236}">
                <a16:creationId xmlns:a16="http://schemas.microsoft.com/office/drawing/2014/main" id="{C0FA6D15-48D4-4E21-8910-F3E420D7440B}"/>
              </a:ext>
            </a:extLst>
          </p:cNvPr>
          <p:cNvSpPr>
            <a:spLocks noGrp="1"/>
          </p:cNvSpPr>
          <p:nvPr>
            <p:ph type="sldNum" sz="quarter" idx="12"/>
          </p:nvPr>
        </p:nvSpPr>
        <p:spPr/>
        <p:txBody>
          <a:bodyPr/>
          <a:lstStyle/>
          <a:p>
            <a:pPr>
              <a:defRPr/>
            </a:pPr>
            <a:fld id="{62D1B362-2A7A-418C-956F-A01C9B14294F}" type="slidenum">
              <a:rPr lang="en-US" smtClean="0"/>
              <a:pPr>
                <a:defRPr/>
              </a:pPr>
              <a:t>4</a:t>
            </a:fld>
            <a:endParaRPr lang="en-US"/>
          </a:p>
        </p:txBody>
      </p:sp>
    </p:spTree>
    <p:extLst>
      <p:ext uri="{BB962C8B-B14F-4D97-AF65-F5344CB8AC3E}">
        <p14:creationId xmlns:p14="http://schemas.microsoft.com/office/powerpoint/2010/main" val="3275935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2DB4ED-F64D-46FD-B3D7-9A8B0D1D1BF6}"/>
              </a:ext>
            </a:extLst>
          </p:cNvPr>
          <p:cNvSpPr>
            <a:spLocks noGrp="1"/>
          </p:cNvSpPr>
          <p:nvPr>
            <p:ph idx="1"/>
          </p:nvPr>
        </p:nvSpPr>
        <p:spPr>
          <a:xfrm>
            <a:off x="424543" y="609599"/>
            <a:ext cx="8125097" cy="5746246"/>
          </a:xfrm>
        </p:spPr>
        <p:txBody>
          <a:bodyPr>
            <a:normAutofit/>
          </a:bodyPr>
          <a:lstStyle/>
          <a:p>
            <a:pPr marL="0" indent="0">
              <a:buNone/>
            </a:pPr>
            <a:r>
              <a:rPr lang="en-US" sz="2400" b="1" dirty="0">
                <a:solidFill>
                  <a:srgbClr val="FFC000"/>
                </a:solidFill>
                <a:ea typeface="+mn-lt"/>
                <a:cs typeface="+mn-lt"/>
              </a:rPr>
              <a:t>Web 2.0</a:t>
            </a:r>
          </a:p>
          <a:p>
            <a:pPr marL="533400" indent="-533400" algn="just"/>
            <a:r>
              <a:rPr lang="en-US" sz="2400" dirty="0">
                <a:ea typeface="+mn-lt"/>
                <a:cs typeface="+mn-lt"/>
              </a:rPr>
              <a:t>With Web 2.0, users were able to interact with websites through the use of databases, server-side processing, forms, and social media. </a:t>
            </a:r>
          </a:p>
          <a:p>
            <a:pPr marL="533400" indent="-533400" algn="just"/>
            <a:r>
              <a:rPr lang="en-US" sz="2400" dirty="0">
                <a:ea typeface="+mn-lt"/>
                <a:cs typeface="+mn-lt"/>
              </a:rPr>
              <a:t>This brought forth a change from a static to a more </a:t>
            </a:r>
            <a:r>
              <a:rPr lang="en-US" sz="2400" b="1" dirty="0">
                <a:solidFill>
                  <a:srgbClr val="FFC000"/>
                </a:solidFill>
                <a:ea typeface="+mn-lt"/>
                <a:cs typeface="+mn-lt"/>
              </a:rPr>
              <a:t>dynamic web </a:t>
            </a:r>
            <a:endParaRPr lang="en-US" sz="2400" dirty="0">
              <a:solidFill>
                <a:srgbClr val="FFC000"/>
              </a:solidFill>
              <a:ea typeface="+mn-lt"/>
              <a:cs typeface="+mn-lt"/>
            </a:endParaRPr>
          </a:p>
          <a:p>
            <a:pPr marL="533400" indent="-533400" algn="just"/>
            <a:r>
              <a:rPr lang="en-US" sz="2400" dirty="0"/>
              <a:t>Examples are Web applications, social network services, video hosting services, wikis, and blogs.</a:t>
            </a:r>
            <a:r>
              <a:rPr lang="en-US" sz="2400" dirty="0">
                <a:ea typeface="+mn-lt"/>
                <a:cs typeface="+mn-lt"/>
              </a:rPr>
              <a:t> </a:t>
            </a:r>
            <a:endParaRPr lang="en-US" sz="2400" dirty="0"/>
          </a:p>
          <a:p>
            <a:endParaRPr lang="en-US" sz="2400" dirty="0"/>
          </a:p>
        </p:txBody>
      </p:sp>
      <p:sp>
        <p:nvSpPr>
          <p:cNvPr id="5" name="Slide Number Placeholder 4">
            <a:extLst>
              <a:ext uri="{FF2B5EF4-FFF2-40B4-BE49-F238E27FC236}">
                <a16:creationId xmlns:a16="http://schemas.microsoft.com/office/drawing/2014/main" id="{C0FA6D15-48D4-4E21-8910-F3E420D7440B}"/>
              </a:ext>
            </a:extLst>
          </p:cNvPr>
          <p:cNvSpPr>
            <a:spLocks noGrp="1"/>
          </p:cNvSpPr>
          <p:nvPr>
            <p:ph type="sldNum" sz="quarter" idx="12"/>
          </p:nvPr>
        </p:nvSpPr>
        <p:spPr/>
        <p:txBody>
          <a:bodyPr/>
          <a:lstStyle/>
          <a:p>
            <a:pPr>
              <a:defRPr/>
            </a:pPr>
            <a:fld id="{62D1B362-2A7A-418C-956F-A01C9B14294F}" type="slidenum">
              <a:rPr lang="en-US" smtClean="0"/>
              <a:pPr>
                <a:defRPr/>
              </a:pPr>
              <a:t>5</a:t>
            </a:fld>
            <a:endParaRPr lang="en-US"/>
          </a:p>
        </p:txBody>
      </p:sp>
    </p:spTree>
    <p:extLst>
      <p:ext uri="{BB962C8B-B14F-4D97-AF65-F5344CB8AC3E}">
        <p14:creationId xmlns:p14="http://schemas.microsoft.com/office/powerpoint/2010/main" val="4231763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2DB4ED-F64D-46FD-B3D7-9A8B0D1D1BF6}"/>
              </a:ext>
            </a:extLst>
          </p:cNvPr>
          <p:cNvSpPr>
            <a:spLocks noGrp="1"/>
          </p:cNvSpPr>
          <p:nvPr>
            <p:ph idx="1"/>
          </p:nvPr>
        </p:nvSpPr>
        <p:spPr>
          <a:xfrm>
            <a:off x="402771" y="476672"/>
            <a:ext cx="8146869" cy="5879173"/>
          </a:xfrm>
        </p:spPr>
        <p:txBody>
          <a:bodyPr>
            <a:normAutofit/>
          </a:bodyPr>
          <a:lstStyle/>
          <a:p>
            <a:pPr marL="0" indent="0" algn="just">
              <a:buNone/>
            </a:pPr>
            <a:r>
              <a:rPr lang="en-US" sz="2400" b="1" dirty="0">
                <a:solidFill>
                  <a:srgbClr val="FFC000"/>
                </a:solidFill>
                <a:ea typeface="+mn-lt"/>
                <a:cs typeface="+mn-lt"/>
              </a:rPr>
              <a:t>Web 3.0</a:t>
            </a:r>
          </a:p>
          <a:p>
            <a:pPr marL="533400" indent="-533400" algn="just"/>
            <a:r>
              <a:rPr lang="en-US" sz="2400" dirty="0">
                <a:ea typeface="+mn-lt"/>
                <a:cs typeface="+mn-lt"/>
              </a:rPr>
              <a:t>Web 3.0 is the generation of Internet technology that heavily relies on the use of </a:t>
            </a:r>
            <a:r>
              <a:rPr lang="en-US" sz="2400" b="1" dirty="0">
                <a:solidFill>
                  <a:srgbClr val="FFC000"/>
                </a:solidFill>
                <a:ea typeface="+mn-lt"/>
                <a:cs typeface="+mn-lt"/>
              </a:rPr>
              <a:t>machine learning and artificial intelligence (AI).</a:t>
            </a:r>
            <a:endParaRPr lang="en-US" sz="2400" dirty="0">
              <a:solidFill>
                <a:srgbClr val="FFC000"/>
              </a:solidFill>
              <a:ea typeface="+mn-lt"/>
              <a:cs typeface="+mn-lt"/>
            </a:endParaRPr>
          </a:p>
          <a:p>
            <a:pPr marL="533400" indent="-533400" algn="just"/>
            <a:r>
              <a:rPr lang="en-US" sz="2400" dirty="0">
                <a:ea typeface="+mn-lt"/>
                <a:cs typeface="+mn-lt"/>
              </a:rPr>
              <a:t>It aims to create more open, connected, and intelligent websites and web applications, which focus on using a machine-based understanding of data.</a:t>
            </a:r>
          </a:p>
          <a:p>
            <a:pPr marL="0" indent="0" algn="just">
              <a:buNone/>
            </a:pPr>
            <a:r>
              <a:rPr lang="en-US" sz="2400" b="1" dirty="0">
                <a:solidFill>
                  <a:srgbClr val="FFC000"/>
                </a:solidFill>
                <a:ea typeface="+mn-lt"/>
                <a:cs typeface="+mn-lt"/>
              </a:rPr>
              <a:t>Web 4.0</a:t>
            </a:r>
          </a:p>
          <a:p>
            <a:pPr marL="533400" indent="-533400" algn="just"/>
            <a:r>
              <a:rPr lang="en-US" sz="2400" dirty="0">
                <a:ea typeface="+mn-lt"/>
                <a:cs typeface="+mn-lt"/>
              </a:rPr>
              <a:t>The Web 4.0 is an alternate version of what we already have. Web needed to adapt to its </a:t>
            </a:r>
            <a:r>
              <a:rPr lang="en-US" sz="2400" b="1" dirty="0">
                <a:solidFill>
                  <a:srgbClr val="FFC000"/>
                </a:solidFill>
                <a:ea typeface="+mn-lt"/>
                <a:cs typeface="+mn-lt"/>
              </a:rPr>
              <a:t>mobile surroundings. </a:t>
            </a:r>
            <a:endParaRPr lang="en-US" sz="2400" dirty="0">
              <a:solidFill>
                <a:srgbClr val="FFC000"/>
              </a:solidFill>
              <a:ea typeface="+mn-lt"/>
              <a:cs typeface="+mn-lt"/>
            </a:endParaRPr>
          </a:p>
          <a:p>
            <a:pPr marL="533400" indent="-533400" algn="just"/>
            <a:r>
              <a:rPr lang="en-US" sz="2400" dirty="0">
                <a:ea typeface="+mn-lt"/>
                <a:cs typeface="+mn-lt"/>
              </a:rPr>
              <a:t>Web 4.0 connects all devices in the real and virtual world in real-time.</a:t>
            </a:r>
            <a:endParaRPr lang="en-US" sz="2400" dirty="0"/>
          </a:p>
        </p:txBody>
      </p:sp>
      <p:sp>
        <p:nvSpPr>
          <p:cNvPr id="5" name="Slide Number Placeholder 4">
            <a:extLst>
              <a:ext uri="{FF2B5EF4-FFF2-40B4-BE49-F238E27FC236}">
                <a16:creationId xmlns:a16="http://schemas.microsoft.com/office/drawing/2014/main" id="{C0FA6D15-48D4-4E21-8910-F3E420D7440B}"/>
              </a:ext>
            </a:extLst>
          </p:cNvPr>
          <p:cNvSpPr>
            <a:spLocks noGrp="1"/>
          </p:cNvSpPr>
          <p:nvPr>
            <p:ph type="sldNum" sz="quarter" idx="12"/>
          </p:nvPr>
        </p:nvSpPr>
        <p:spPr/>
        <p:txBody>
          <a:bodyPr/>
          <a:lstStyle/>
          <a:p>
            <a:pPr>
              <a:defRPr/>
            </a:pPr>
            <a:fld id="{62D1B362-2A7A-418C-956F-A01C9B14294F}" type="slidenum">
              <a:rPr lang="en-US" smtClean="0"/>
              <a:pPr>
                <a:defRPr/>
              </a:pPr>
              <a:t>6</a:t>
            </a:fld>
            <a:endParaRPr lang="en-US"/>
          </a:p>
        </p:txBody>
      </p:sp>
    </p:spTree>
    <p:extLst>
      <p:ext uri="{BB962C8B-B14F-4D97-AF65-F5344CB8AC3E}">
        <p14:creationId xmlns:p14="http://schemas.microsoft.com/office/powerpoint/2010/main" val="36690526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2DB4ED-F64D-46FD-B3D7-9A8B0D1D1BF6}"/>
              </a:ext>
            </a:extLst>
          </p:cNvPr>
          <p:cNvSpPr>
            <a:spLocks noGrp="1"/>
          </p:cNvSpPr>
          <p:nvPr>
            <p:ph idx="1"/>
          </p:nvPr>
        </p:nvSpPr>
        <p:spPr>
          <a:xfrm>
            <a:off x="402771" y="260648"/>
            <a:ext cx="8146869" cy="6095197"/>
          </a:xfrm>
        </p:spPr>
        <p:txBody>
          <a:bodyPr/>
          <a:lstStyle/>
          <a:p>
            <a:pPr marL="0" indent="0">
              <a:buNone/>
            </a:pPr>
            <a:r>
              <a:rPr lang="en-US" sz="2800" b="1" dirty="0">
                <a:solidFill>
                  <a:srgbClr val="FFC000"/>
                </a:solidFill>
                <a:ea typeface="+mn-lt"/>
                <a:cs typeface="+mn-lt"/>
              </a:rPr>
              <a:t>Web 5.0</a:t>
            </a:r>
          </a:p>
          <a:p>
            <a:pPr marL="533400" indent="-533400" algn="just"/>
            <a:r>
              <a:rPr lang="en-US" sz="2400" dirty="0">
                <a:ea typeface="+mn-lt"/>
                <a:cs typeface="+mn-lt"/>
              </a:rPr>
              <a:t>The Web 5.0 will be about the emotional interaction between humans and computers. </a:t>
            </a:r>
          </a:p>
          <a:p>
            <a:pPr marL="533400" indent="-533400" algn="just"/>
            <a:r>
              <a:rPr lang="en-US" sz="2400" dirty="0">
                <a:ea typeface="+mn-lt"/>
                <a:cs typeface="+mn-lt"/>
              </a:rPr>
              <a:t>The interaction will become a daily habit for a lot of people based on neuro-technology – </a:t>
            </a:r>
            <a:r>
              <a:rPr lang="en-US" sz="2400" b="1" dirty="0">
                <a:solidFill>
                  <a:srgbClr val="FFC000"/>
                </a:solidFill>
                <a:ea typeface="+mn-lt"/>
                <a:cs typeface="+mn-lt"/>
              </a:rPr>
              <a:t>emotional web.</a:t>
            </a:r>
            <a:endParaRPr lang="en-US" sz="2400" b="1" dirty="0">
              <a:solidFill>
                <a:srgbClr val="FFC000"/>
              </a:solidFill>
            </a:endParaRPr>
          </a:p>
          <a:p>
            <a:endParaRPr lang="en-US" dirty="0">
              <a:cs typeface="Arial"/>
            </a:endParaRPr>
          </a:p>
        </p:txBody>
      </p:sp>
      <p:sp>
        <p:nvSpPr>
          <p:cNvPr id="5" name="Slide Number Placeholder 4">
            <a:extLst>
              <a:ext uri="{FF2B5EF4-FFF2-40B4-BE49-F238E27FC236}">
                <a16:creationId xmlns:a16="http://schemas.microsoft.com/office/drawing/2014/main" id="{C0FA6D15-48D4-4E21-8910-F3E420D7440B}"/>
              </a:ext>
            </a:extLst>
          </p:cNvPr>
          <p:cNvSpPr>
            <a:spLocks noGrp="1"/>
          </p:cNvSpPr>
          <p:nvPr>
            <p:ph type="sldNum" sz="quarter" idx="12"/>
          </p:nvPr>
        </p:nvSpPr>
        <p:spPr/>
        <p:txBody>
          <a:bodyPr/>
          <a:lstStyle/>
          <a:p>
            <a:pPr>
              <a:defRPr/>
            </a:pPr>
            <a:fld id="{62D1B362-2A7A-418C-956F-A01C9B14294F}" type="slidenum">
              <a:rPr lang="en-US" smtClean="0"/>
              <a:pPr>
                <a:defRPr/>
              </a:pPr>
              <a:t>7</a:t>
            </a:fld>
            <a:endParaRPr lang="en-US"/>
          </a:p>
        </p:txBody>
      </p:sp>
    </p:spTree>
    <p:extLst>
      <p:ext uri="{BB962C8B-B14F-4D97-AF65-F5344CB8AC3E}">
        <p14:creationId xmlns:p14="http://schemas.microsoft.com/office/powerpoint/2010/main" val="2494277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7E46B-BD48-40CD-8594-22BB78C7AC09}"/>
              </a:ext>
            </a:extLst>
          </p:cNvPr>
          <p:cNvSpPr>
            <a:spLocks noGrp="1"/>
          </p:cNvSpPr>
          <p:nvPr>
            <p:ph type="title"/>
          </p:nvPr>
        </p:nvSpPr>
        <p:spPr>
          <a:xfrm>
            <a:off x="198616" y="315341"/>
            <a:ext cx="8837880" cy="1293028"/>
          </a:xfrm>
        </p:spPr>
        <p:txBody>
          <a:bodyPr/>
          <a:lstStyle/>
          <a:p>
            <a:pPr algn="ctr"/>
            <a:r>
              <a:rPr lang="en-US" b="1" dirty="0">
                <a:solidFill>
                  <a:srgbClr val="FFC000"/>
                </a:solidFill>
                <a:cs typeface="Arial"/>
              </a:rPr>
              <a:t>Static vs. Dynamic Website</a:t>
            </a:r>
            <a:endParaRPr lang="en-US" b="1" dirty="0">
              <a:solidFill>
                <a:srgbClr val="FFC000"/>
              </a:solidFill>
            </a:endParaRPr>
          </a:p>
        </p:txBody>
      </p:sp>
      <p:sp>
        <p:nvSpPr>
          <p:cNvPr id="3" name="Content Placeholder 2">
            <a:extLst>
              <a:ext uri="{FF2B5EF4-FFF2-40B4-BE49-F238E27FC236}">
                <a16:creationId xmlns:a16="http://schemas.microsoft.com/office/drawing/2014/main" id="{6BE6A71A-1997-42D3-BD6E-E22F51DEFB08}"/>
              </a:ext>
            </a:extLst>
          </p:cNvPr>
          <p:cNvSpPr>
            <a:spLocks noGrp="1"/>
          </p:cNvSpPr>
          <p:nvPr>
            <p:ph idx="1"/>
          </p:nvPr>
        </p:nvSpPr>
        <p:spPr>
          <a:xfrm>
            <a:off x="414915" y="1529140"/>
            <a:ext cx="8114211" cy="4367005"/>
          </a:xfrm>
        </p:spPr>
        <p:txBody>
          <a:bodyPr>
            <a:normAutofit/>
          </a:bodyPr>
          <a:lstStyle/>
          <a:p>
            <a:pPr marL="533400" indent="-533400" algn="just">
              <a:lnSpc>
                <a:spcPct val="100000"/>
              </a:lnSpc>
            </a:pPr>
            <a:r>
              <a:rPr lang="en-US" sz="2400" b="1" dirty="0">
                <a:solidFill>
                  <a:srgbClr val="FFC000"/>
                </a:solidFill>
                <a:ea typeface="+mn-lt"/>
                <a:cs typeface="+mn-lt"/>
              </a:rPr>
              <a:t>Static websites</a:t>
            </a:r>
            <a:r>
              <a:rPr lang="en-US" sz="2400" dirty="0">
                <a:solidFill>
                  <a:srgbClr val="FFC000"/>
                </a:solidFill>
                <a:ea typeface="+mn-lt"/>
                <a:cs typeface="+mn-lt"/>
              </a:rPr>
              <a:t> </a:t>
            </a:r>
            <a:r>
              <a:rPr lang="en-US" sz="2400" dirty="0">
                <a:ea typeface="+mn-lt"/>
                <a:cs typeface="+mn-lt"/>
              </a:rPr>
              <a:t>are ones that are fixed and display the same content for every user, usually written exclusively in HTML. </a:t>
            </a:r>
          </a:p>
          <a:p>
            <a:pPr marL="533400" indent="-533400" algn="just">
              <a:lnSpc>
                <a:spcPct val="100000"/>
              </a:lnSpc>
            </a:pPr>
            <a:r>
              <a:rPr lang="en-US" sz="2400" dirty="0">
                <a:ea typeface="+mn-lt"/>
                <a:cs typeface="+mn-lt"/>
              </a:rPr>
              <a:t>Meanwhile, a </a:t>
            </a:r>
            <a:r>
              <a:rPr lang="en-US" sz="2400" b="1" dirty="0">
                <a:solidFill>
                  <a:srgbClr val="FFC000"/>
                </a:solidFill>
                <a:ea typeface="+mn-lt"/>
                <a:cs typeface="+mn-lt"/>
              </a:rPr>
              <a:t>dynamic website</a:t>
            </a:r>
            <a:r>
              <a:rPr lang="en-US" sz="2400" dirty="0">
                <a:solidFill>
                  <a:srgbClr val="FFC000"/>
                </a:solidFill>
                <a:ea typeface="+mn-lt"/>
                <a:cs typeface="+mn-lt"/>
              </a:rPr>
              <a:t> </a:t>
            </a:r>
            <a:r>
              <a:rPr lang="en-US" sz="2400" dirty="0">
                <a:ea typeface="+mn-lt"/>
                <a:cs typeface="+mn-lt"/>
              </a:rPr>
              <a:t>is one that can display different content and provide user interaction, by making use of advanced programming and databases in addition to HTML.</a:t>
            </a:r>
          </a:p>
          <a:p>
            <a:pPr marL="533400" indent="-533400" algn="just">
              <a:lnSpc>
                <a:spcPct val="100000"/>
              </a:lnSpc>
            </a:pPr>
            <a:endParaRPr lang="en-US" sz="2400" dirty="0">
              <a:cs typeface="Arial"/>
            </a:endParaRPr>
          </a:p>
        </p:txBody>
      </p:sp>
      <p:sp>
        <p:nvSpPr>
          <p:cNvPr id="5" name="Slide Number Placeholder 4">
            <a:extLst>
              <a:ext uri="{FF2B5EF4-FFF2-40B4-BE49-F238E27FC236}">
                <a16:creationId xmlns:a16="http://schemas.microsoft.com/office/drawing/2014/main" id="{FED10CC9-ED75-4203-8A71-A770D56792C3}"/>
              </a:ext>
            </a:extLst>
          </p:cNvPr>
          <p:cNvSpPr>
            <a:spLocks noGrp="1"/>
          </p:cNvSpPr>
          <p:nvPr>
            <p:ph type="sldNum" sz="quarter" idx="12"/>
          </p:nvPr>
        </p:nvSpPr>
        <p:spPr/>
        <p:txBody>
          <a:bodyPr/>
          <a:lstStyle/>
          <a:p>
            <a:pPr>
              <a:defRPr/>
            </a:pPr>
            <a:fld id="{62D1B362-2A7A-418C-956F-A01C9B14294F}" type="slidenum">
              <a:rPr lang="en-US" smtClean="0"/>
              <a:pPr>
                <a:defRPr/>
              </a:pPr>
              <a:t>8</a:t>
            </a:fld>
            <a:endParaRPr lang="en-US"/>
          </a:p>
        </p:txBody>
      </p:sp>
    </p:spTree>
    <p:extLst>
      <p:ext uri="{BB962C8B-B14F-4D97-AF65-F5344CB8AC3E}">
        <p14:creationId xmlns:p14="http://schemas.microsoft.com/office/powerpoint/2010/main" val="1012325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descr="A picture containing graphical user interface&#10;&#10;Description automatically generated">
            <a:extLst>
              <a:ext uri="{FF2B5EF4-FFF2-40B4-BE49-F238E27FC236}">
                <a16:creationId xmlns:a16="http://schemas.microsoft.com/office/drawing/2014/main" id="{2CED5B9D-558D-476C-9AE1-0EB61F42242A}"/>
              </a:ext>
            </a:extLst>
          </p:cNvPr>
          <p:cNvPicPr>
            <a:picLocks noGrp="1" noChangeAspect="1"/>
          </p:cNvPicPr>
          <p:nvPr>
            <p:ph idx="1"/>
          </p:nvPr>
        </p:nvPicPr>
        <p:blipFill>
          <a:blip r:embed="rId2"/>
          <a:stretch>
            <a:fillRect/>
          </a:stretch>
        </p:blipFill>
        <p:spPr>
          <a:xfrm>
            <a:off x="445103" y="1203324"/>
            <a:ext cx="8303380" cy="5055962"/>
          </a:xfrm>
        </p:spPr>
      </p:pic>
      <p:sp>
        <p:nvSpPr>
          <p:cNvPr id="5" name="Slide Number Placeholder 4">
            <a:extLst>
              <a:ext uri="{FF2B5EF4-FFF2-40B4-BE49-F238E27FC236}">
                <a16:creationId xmlns:a16="http://schemas.microsoft.com/office/drawing/2014/main" id="{9757A274-4179-4E72-A14D-0C7EFB0775CA}"/>
              </a:ext>
            </a:extLst>
          </p:cNvPr>
          <p:cNvSpPr>
            <a:spLocks noGrp="1"/>
          </p:cNvSpPr>
          <p:nvPr>
            <p:ph type="sldNum" sz="quarter" idx="12"/>
          </p:nvPr>
        </p:nvSpPr>
        <p:spPr/>
        <p:txBody>
          <a:bodyPr/>
          <a:lstStyle/>
          <a:p>
            <a:pPr>
              <a:defRPr/>
            </a:pPr>
            <a:fld id="{62D1B362-2A7A-418C-956F-A01C9B14294F}" type="slidenum">
              <a:rPr lang="en-US" smtClean="0"/>
              <a:pPr>
                <a:defRPr/>
              </a:pPr>
              <a:t>9</a:t>
            </a:fld>
            <a:endParaRPr lang="en-US"/>
          </a:p>
        </p:txBody>
      </p:sp>
    </p:spTree>
    <p:extLst>
      <p:ext uri="{BB962C8B-B14F-4D97-AF65-F5344CB8AC3E}">
        <p14:creationId xmlns:p14="http://schemas.microsoft.com/office/powerpoint/2010/main" val="3581380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descr="Table&#10;&#10;Description automatically generated">
            <a:extLst>
              <a:ext uri="{FF2B5EF4-FFF2-40B4-BE49-F238E27FC236}">
                <a16:creationId xmlns:a16="http://schemas.microsoft.com/office/drawing/2014/main" id="{DBDFC50A-0A7B-4763-944E-D327550E800E}"/>
              </a:ext>
            </a:extLst>
          </p:cNvPr>
          <p:cNvPicPr>
            <a:picLocks noGrp="1" noChangeAspect="1"/>
          </p:cNvPicPr>
          <p:nvPr>
            <p:ph idx="1"/>
          </p:nvPr>
        </p:nvPicPr>
        <p:blipFill>
          <a:blip r:embed="rId2"/>
          <a:stretch>
            <a:fillRect/>
          </a:stretch>
        </p:blipFill>
        <p:spPr>
          <a:xfrm>
            <a:off x="301288" y="1415143"/>
            <a:ext cx="8541423" cy="4611007"/>
          </a:xfrm>
        </p:spPr>
      </p:pic>
      <p:sp>
        <p:nvSpPr>
          <p:cNvPr id="5" name="Slide Number Placeholder 4">
            <a:extLst>
              <a:ext uri="{FF2B5EF4-FFF2-40B4-BE49-F238E27FC236}">
                <a16:creationId xmlns:a16="http://schemas.microsoft.com/office/drawing/2014/main" id="{7A3787C8-EE80-4EB8-A19F-5463DE47CEBA}"/>
              </a:ext>
            </a:extLst>
          </p:cNvPr>
          <p:cNvSpPr>
            <a:spLocks noGrp="1"/>
          </p:cNvSpPr>
          <p:nvPr>
            <p:ph type="sldNum" sz="quarter" idx="12"/>
          </p:nvPr>
        </p:nvSpPr>
        <p:spPr/>
        <p:txBody>
          <a:bodyPr/>
          <a:lstStyle/>
          <a:p>
            <a:pPr>
              <a:defRPr/>
            </a:pPr>
            <a:fld id="{62D1B362-2A7A-418C-956F-A01C9B14294F}" type="slidenum">
              <a:rPr lang="en-US" smtClean="0"/>
              <a:pPr>
                <a:defRPr/>
              </a:pPr>
              <a:t>10</a:t>
            </a:fld>
            <a:endParaRPr lang="en-US"/>
          </a:p>
        </p:txBody>
      </p:sp>
    </p:spTree>
    <p:extLst>
      <p:ext uri="{BB962C8B-B14F-4D97-AF65-F5344CB8AC3E}">
        <p14:creationId xmlns:p14="http://schemas.microsoft.com/office/powerpoint/2010/main" val="3459974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C8C2E7-6E81-4063-BE39-46AF58AD7A30}"/>
              </a:ext>
            </a:extLst>
          </p:cNvPr>
          <p:cNvSpPr>
            <a:spLocks noGrp="1"/>
          </p:cNvSpPr>
          <p:nvPr>
            <p:ph idx="1"/>
          </p:nvPr>
        </p:nvSpPr>
        <p:spPr>
          <a:xfrm>
            <a:off x="402771" y="609599"/>
            <a:ext cx="8146869" cy="5746247"/>
          </a:xfrm>
        </p:spPr>
        <p:txBody>
          <a:bodyPr>
            <a:normAutofit/>
          </a:bodyPr>
          <a:lstStyle/>
          <a:p>
            <a:pPr marL="533400" indent="-533400" algn="just"/>
            <a:r>
              <a:rPr lang="en-US" sz="2400" dirty="0">
                <a:ea typeface="+mn-lt"/>
                <a:cs typeface="+mn-lt"/>
              </a:rPr>
              <a:t>In a web development, involves:</a:t>
            </a:r>
          </a:p>
          <a:p>
            <a:pPr marL="892175" lvl="1" indent="-434975" algn="just">
              <a:buFont typeface="Wingdings" panose="05000000000000000000" pitchFamily="2" charset="2"/>
              <a:buChar char="Ø"/>
            </a:pPr>
            <a:r>
              <a:rPr lang="en-US" sz="2400" dirty="0">
                <a:ea typeface="+mn-lt"/>
                <a:cs typeface="+mn-lt"/>
              </a:rPr>
              <a:t>programming in software development</a:t>
            </a:r>
          </a:p>
          <a:p>
            <a:pPr marL="892175" lvl="1" indent="-434975" algn="just">
              <a:buFont typeface="Wingdings" panose="05000000000000000000" pitchFamily="2" charset="2"/>
              <a:buChar char="Ø"/>
            </a:pPr>
            <a:r>
              <a:rPr lang="en-US" sz="2400" dirty="0">
                <a:ea typeface="+mn-lt"/>
                <a:cs typeface="+mn-lt"/>
              </a:rPr>
              <a:t>web business</a:t>
            </a:r>
          </a:p>
          <a:p>
            <a:pPr marL="892175" lvl="1" indent="-434975" algn="just">
              <a:buFont typeface="Wingdings" panose="05000000000000000000" pitchFamily="2" charset="2"/>
              <a:buChar char="Ø"/>
            </a:pPr>
            <a:r>
              <a:rPr lang="en-US" sz="2400" dirty="0">
                <a:ea typeface="+mn-lt"/>
                <a:cs typeface="+mn-lt"/>
              </a:rPr>
              <a:t>web server and network administration</a:t>
            </a:r>
          </a:p>
          <a:p>
            <a:pPr marL="892175" lvl="1" indent="-434975" algn="just">
              <a:buFont typeface="Wingdings" panose="05000000000000000000" pitchFamily="2" charset="2"/>
              <a:buChar char="Ø"/>
            </a:pPr>
            <a:r>
              <a:rPr lang="en-US" sz="2400" dirty="0">
                <a:ea typeface="+mn-lt"/>
                <a:cs typeface="+mn-lt"/>
              </a:rPr>
              <a:t>hosting graphics and design</a:t>
            </a:r>
          </a:p>
          <a:p>
            <a:pPr marL="892175" lvl="1" indent="-434975" algn="just">
              <a:buFont typeface="Wingdings" panose="05000000000000000000" pitchFamily="2" charset="2"/>
              <a:buChar char="Ø"/>
            </a:pPr>
            <a:r>
              <a:rPr lang="en-US" sz="2400" dirty="0">
                <a:ea typeface="+mn-lt"/>
                <a:cs typeface="+mn-lt"/>
              </a:rPr>
              <a:t>the development and administration of DB</a:t>
            </a:r>
          </a:p>
          <a:p>
            <a:pPr marL="892175" lvl="1" indent="-434975" algn="just">
              <a:buFont typeface="Wingdings" panose="05000000000000000000" pitchFamily="2" charset="2"/>
              <a:buChar char="Ø"/>
            </a:pPr>
            <a:r>
              <a:rPr lang="en-US" sz="2400" dirty="0">
                <a:ea typeface="+mn-lt"/>
                <a:cs typeface="+mn-lt"/>
              </a:rPr>
              <a:t>construction of interfaces</a:t>
            </a:r>
          </a:p>
          <a:p>
            <a:pPr marL="892175" lvl="1" indent="-434975" algn="just">
              <a:buFont typeface="Wingdings" panose="05000000000000000000" pitchFamily="2" charset="2"/>
              <a:buChar char="Ø"/>
            </a:pPr>
            <a:r>
              <a:rPr lang="en-US" sz="2400" dirty="0">
                <a:ea typeface="+mn-lt"/>
                <a:cs typeface="+mn-lt"/>
              </a:rPr>
              <a:t>project management and quality assurance</a:t>
            </a:r>
          </a:p>
          <a:p>
            <a:pPr marL="892175" lvl="1" indent="-434975" algn="just">
              <a:buFont typeface="Wingdings" panose="05000000000000000000" pitchFamily="2" charset="2"/>
              <a:buChar char="Ø"/>
            </a:pPr>
            <a:r>
              <a:rPr lang="en-US" sz="2400" dirty="0">
                <a:ea typeface="+mn-lt"/>
                <a:cs typeface="+mn-lt"/>
              </a:rPr>
              <a:t>search engine optimization</a:t>
            </a:r>
          </a:p>
          <a:p>
            <a:pPr marL="892175" lvl="1" indent="-434975" algn="just">
              <a:buFont typeface="Wingdings" panose="05000000000000000000" pitchFamily="2" charset="2"/>
              <a:buChar char="Ø"/>
            </a:pPr>
            <a:r>
              <a:rPr lang="en-US" sz="2400" dirty="0">
                <a:ea typeface="+mn-lt"/>
                <a:cs typeface="+mn-lt"/>
              </a:rPr>
              <a:t>The maintenance of data in content management system</a:t>
            </a:r>
            <a:endParaRPr lang="en-US" sz="2400" dirty="0">
              <a:cs typeface="Arial"/>
            </a:endParaRPr>
          </a:p>
          <a:p>
            <a:endParaRPr lang="en-US" dirty="0"/>
          </a:p>
        </p:txBody>
      </p:sp>
      <p:sp>
        <p:nvSpPr>
          <p:cNvPr id="5" name="Slide Number Placeholder 4">
            <a:extLst>
              <a:ext uri="{FF2B5EF4-FFF2-40B4-BE49-F238E27FC236}">
                <a16:creationId xmlns:a16="http://schemas.microsoft.com/office/drawing/2014/main" id="{B8A84274-AA56-4853-9B53-8C9F76F1C31D}"/>
              </a:ext>
            </a:extLst>
          </p:cNvPr>
          <p:cNvSpPr>
            <a:spLocks noGrp="1"/>
          </p:cNvSpPr>
          <p:nvPr>
            <p:ph type="sldNum" sz="quarter" idx="12"/>
          </p:nvPr>
        </p:nvSpPr>
        <p:spPr/>
        <p:txBody>
          <a:bodyPr/>
          <a:lstStyle/>
          <a:p>
            <a:pPr>
              <a:defRPr/>
            </a:pPr>
            <a:fld id="{62D1B362-2A7A-418C-956F-A01C9B14294F}" type="slidenum">
              <a:rPr lang="en-US" smtClean="0"/>
              <a:pPr>
                <a:defRPr/>
              </a:pPr>
              <a:t>11</a:t>
            </a:fld>
            <a:endParaRPr lang="en-US"/>
          </a:p>
        </p:txBody>
      </p:sp>
    </p:spTree>
    <p:extLst>
      <p:ext uri="{BB962C8B-B14F-4D97-AF65-F5344CB8AC3E}">
        <p14:creationId xmlns:p14="http://schemas.microsoft.com/office/powerpoint/2010/main" val="2328089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C8C2E7-6E81-4063-BE39-46AF58AD7A30}"/>
              </a:ext>
            </a:extLst>
          </p:cNvPr>
          <p:cNvSpPr>
            <a:spLocks noGrp="1"/>
          </p:cNvSpPr>
          <p:nvPr>
            <p:ph idx="1"/>
          </p:nvPr>
        </p:nvSpPr>
        <p:spPr>
          <a:xfrm>
            <a:off x="446314" y="188640"/>
            <a:ext cx="8103326" cy="6167205"/>
          </a:xfrm>
        </p:spPr>
        <p:txBody>
          <a:bodyPr>
            <a:normAutofit/>
          </a:bodyPr>
          <a:lstStyle/>
          <a:p>
            <a:pPr marL="533400" indent="-533400" algn="just"/>
            <a:r>
              <a:rPr lang="en-US" sz="2400" dirty="0">
                <a:ea typeface="+mn-lt"/>
                <a:cs typeface="+mn-lt"/>
              </a:rPr>
              <a:t>Programming for a web project may be accomplished using the following:</a:t>
            </a:r>
          </a:p>
          <a:p>
            <a:pPr marL="892175" lvl="1" indent="-358775" algn="just">
              <a:buClr>
                <a:srgbClr val="000000"/>
              </a:buClr>
              <a:buFont typeface="Wingdings" panose="05000000000000000000" pitchFamily="2" charset="2"/>
              <a:buChar char="Ø"/>
            </a:pPr>
            <a:r>
              <a:rPr lang="en-US" sz="2400" dirty="0">
                <a:ea typeface="+mn-lt"/>
                <a:cs typeface="+mn-lt"/>
              </a:rPr>
              <a:t>one or more </a:t>
            </a:r>
            <a:r>
              <a:rPr lang="en-US" sz="2400" b="1" dirty="0">
                <a:solidFill>
                  <a:srgbClr val="6A9AC1"/>
                </a:solidFill>
                <a:ea typeface="+mn-lt"/>
                <a:cs typeface="+mn-lt"/>
              </a:rPr>
              <a:t>markup language</a:t>
            </a:r>
            <a:r>
              <a:rPr lang="en-US" sz="2400" dirty="0">
                <a:solidFill>
                  <a:srgbClr val="6A9AC1"/>
                </a:solidFill>
                <a:ea typeface="+mn-lt"/>
                <a:cs typeface="+mn-lt"/>
              </a:rPr>
              <a:t> </a:t>
            </a:r>
            <a:r>
              <a:rPr lang="en-US" sz="2400" dirty="0">
                <a:ea typeface="+mn-lt"/>
                <a:cs typeface="+mn-lt"/>
              </a:rPr>
              <a:t>(such as HTML or XML)</a:t>
            </a:r>
          </a:p>
          <a:p>
            <a:pPr marL="892175" lvl="1" indent="-358775" algn="just">
              <a:buClr>
                <a:srgbClr val="000000"/>
              </a:buClr>
              <a:buFont typeface="Wingdings" panose="05000000000000000000" pitchFamily="2" charset="2"/>
              <a:buChar char="Ø"/>
            </a:pPr>
            <a:r>
              <a:rPr lang="en-US" sz="2400" b="1" dirty="0">
                <a:solidFill>
                  <a:srgbClr val="6A9AC1"/>
                </a:solidFill>
                <a:ea typeface="+mn-lt"/>
                <a:cs typeface="+mn-lt"/>
              </a:rPr>
              <a:t>scripting languages</a:t>
            </a:r>
            <a:r>
              <a:rPr lang="en-US" sz="2400" dirty="0">
                <a:solidFill>
                  <a:srgbClr val="6A9AC1"/>
                </a:solidFill>
                <a:ea typeface="+mn-lt"/>
                <a:cs typeface="+mn-lt"/>
              </a:rPr>
              <a:t> </a:t>
            </a:r>
            <a:r>
              <a:rPr lang="en-US" sz="2400" dirty="0">
                <a:ea typeface="+mn-lt"/>
                <a:cs typeface="+mn-lt"/>
              </a:rPr>
              <a:t>(e.g., </a:t>
            </a:r>
            <a:r>
              <a:rPr lang="en-US" sz="2400" dirty="0" err="1">
                <a:ea typeface="+mn-lt"/>
                <a:cs typeface="+mn-lt"/>
              </a:rPr>
              <a:t>Javascripts</a:t>
            </a:r>
            <a:r>
              <a:rPr lang="en-US" sz="2400" dirty="0">
                <a:ea typeface="+mn-lt"/>
                <a:cs typeface="+mn-lt"/>
              </a:rPr>
              <a:t>, Perl, PHP) or complex programming languages (e.g., programming C, C++, C# or Java).</a:t>
            </a:r>
          </a:p>
          <a:p>
            <a:pPr lvl="1" algn="just"/>
            <a:endParaRPr lang="en-US" sz="2400" dirty="0"/>
          </a:p>
          <a:p>
            <a:pPr marL="533400" indent="-533400" algn="just"/>
            <a:r>
              <a:rPr lang="en-US" sz="2400" dirty="0">
                <a:ea typeface="+mn-lt"/>
                <a:cs typeface="+mn-lt"/>
              </a:rPr>
              <a:t>When hosting a web project, the primary objectives include the provision of the necessary hardware and software infrastructure, and an assurance that the highest possible levels of availability and reliability are offered. </a:t>
            </a:r>
            <a:endParaRPr lang="en-US" sz="2400" dirty="0">
              <a:cs typeface="Arial"/>
            </a:endParaRPr>
          </a:p>
        </p:txBody>
      </p:sp>
      <p:sp>
        <p:nvSpPr>
          <p:cNvPr id="5" name="Slide Number Placeholder 4">
            <a:extLst>
              <a:ext uri="{FF2B5EF4-FFF2-40B4-BE49-F238E27FC236}">
                <a16:creationId xmlns:a16="http://schemas.microsoft.com/office/drawing/2014/main" id="{B8A84274-AA56-4853-9B53-8C9F76F1C31D}"/>
              </a:ext>
            </a:extLst>
          </p:cNvPr>
          <p:cNvSpPr>
            <a:spLocks noGrp="1"/>
          </p:cNvSpPr>
          <p:nvPr>
            <p:ph type="sldNum" sz="quarter" idx="12"/>
          </p:nvPr>
        </p:nvSpPr>
        <p:spPr/>
        <p:txBody>
          <a:bodyPr/>
          <a:lstStyle/>
          <a:p>
            <a:pPr>
              <a:defRPr/>
            </a:pPr>
            <a:fld id="{62D1B362-2A7A-418C-956F-A01C9B14294F}" type="slidenum">
              <a:rPr lang="en-US" smtClean="0"/>
              <a:pPr>
                <a:defRPr/>
              </a:pPr>
              <a:t>12</a:t>
            </a:fld>
            <a:endParaRPr lang="en-US"/>
          </a:p>
        </p:txBody>
      </p:sp>
    </p:spTree>
    <p:extLst>
      <p:ext uri="{BB962C8B-B14F-4D97-AF65-F5344CB8AC3E}">
        <p14:creationId xmlns:p14="http://schemas.microsoft.com/office/powerpoint/2010/main" val="2404179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BC18C-80BA-4A93-B5B6-2BDE7E9295CA}"/>
              </a:ext>
            </a:extLst>
          </p:cNvPr>
          <p:cNvSpPr>
            <a:spLocks noGrp="1"/>
          </p:cNvSpPr>
          <p:nvPr>
            <p:ph type="title"/>
          </p:nvPr>
        </p:nvSpPr>
        <p:spPr>
          <a:xfrm>
            <a:off x="1344252" y="2420888"/>
            <a:ext cx="7772400" cy="1456267"/>
          </a:xfrm>
        </p:spPr>
        <p:txBody>
          <a:bodyPr/>
          <a:lstStyle/>
          <a:p>
            <a:r>
              <a:rPr lang="en-US" dirty="0"/>
              <a:t>INTRODUCTION TO MOBILE APPLICATION</a:t>
            </a:r>
            <a:endParaRPr lang="en-MY" dirty="0"/>
          </a:p>
        </p:txBody>
      </p:sp>
      <p:sp>
        <p:nvSpPr>
          <p:cNvPr id="4" name="Slide Number Placeholder 3">
            <a:extLst>
              <a:ext uri="{FF2B5EF4-FFF2-40B4-BE49-F238E27FC236}">
                <a16:creationId xmlns:a16="http://schemas.microsoft.com/office/drawing/2014/main" id="{56E1839C-FA5B-4987-9F9E-620030E83197}"/>
              </a:ext>
            </a:extLst>
          </p:cNvPr>
          <p:cNvSpPr>
            <a:spLocks noGrp="1"/>
          </p:cNvSpPr>
          <p:nvPr>
            <p:ph type="sldNum" sz="quarter" idx="12"/>
          </p:nvPr>
        </p:nvSpPr>
        <p:spPr/>
        <p:txBody>
          <a:bodyPr/>
          <a:lstStyle/>
          <a:p>
            <a:fld id="{CC13ADC4-536D-428E-8667-0275BB2B031C}" type="slidenum">
              <a:rPr lang="en-GB" smtClean="0"/>
              <a:pPr/>
              <a:t>13</a:t>
            </a:fld>
            <a:endParaRPr lang="en-GB"/>
          </a:p>
        </p:txBody>
      </p:sp>
    </p:spTree>
    <p:extLst>
      <p:ext uri="{BB962C8B-B14F-4D97-AF65-F5344CB8AC3E}">
        <p14:creationId xmlns:p14="http://schemas.microsoft.com/office/powerpoint/2010/main" val="2569435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Mobile device with apps">
            <a:extLst>
              <a:ext uri="{FF2B5EF4-FFF2-40B4-BE49-F238E27FC236}">
                <a16:creationId xmlns:a16="http://schemas.microsoft.com/office/drawing/2014/main" id="{79EA74DF-E79D-67A8-1AAF-A99D09356173}"/>
              </a:ext>
            </a:extLst>
          </p:cNvPr>
          <p:cNvPicPr>
            <a:picLocks noChangeAspect="1"/>
          </p:cNvPicPr>
          <p:nvPr/>
        </p:nvPicPr>
        <p:blipFill rotWithShape="1">
          <a:blip r:embed="rId3"/>
          <a:srcRect l="55526" r="15955"/>
          <a:stretch/>
        </p:blipFill>
        <p:spPr>
          <a:xfrm>
            <a:off x="20" y="975"/>
            <a:ext cx="3476986" cy="6858000"/>
          </a:xfrm>
          <a:prstGeom prst="rect">
            <a:avLst/>
          </a:prstGeom>
        </p:spPr>
      </p:pic>
      <p:sp>
        <p:nvSpPr>
          <p:cNvPr id="3" name="Content Placeholder 2"/>
          <p:cNvSpPr>
            <a:spLocks noGrp="1"/>
          </p:cNvSpPr>
          <p:nvPr>
            <p:ph idx="1"/>
          </p:nvPr>
        </p:nvSpPr>
        <p:spPr>
          <a:xfrm>
            <a:off x="3716593" y="620688"/>
            <a:ext cx="4944806" cy="5603131"/>
          </a:xfrm>
        </p:spPr>
        <p:txBody>
          <a:bodyPr>
            <a:normAutofit/>
          </a:bodyPr>
          <a:lstStyle/>
          <a:p>
            <a:pPr algn="just"/>
            <a:r>
              <a:rPr lang="en-US" sz="2400" b="1" dirty="0"/>
              <a:t>Mobile Computing</a:t>
            </a:r>
            <a:r>
              <a:rPr lang="en-US" sz="2400" dirty="0"/>
              <a:t>: associated with the </a:t>
            </a:r>
            <a:r>
              <a:rPr lang="en-US" sz="2400" b="1" dirty="0">
                <a:solidFill>
                  <a:srgbClr val="FFC000"/>
                </a:solidFill>
              </a:rPr>
              <a:t>mobility</a:t>
            </a:r>
            <a:r>
              <a:rPr lang="en-US" sz="2400" b="1" dirty="0"/>
              <a:t> of </a:t>
            </a:r>
            <a:r>
              <a:rPr lang="en-US" sz="2400" b="1" dirty="0">
                <a:solidFill>
                  <a:srgbClr val="FFC000"/>
                </a:solidFill>
              </a:rPr>
              <a:t>hardware</a:t>
            </a:r>
            <a:r>
              <a:rPr lang="en-US" sz="2400" b="1" dirty="0"/>
              <a:t>, </a:t>
            </a:r>
            <a:r>
              <a:rPr lang="en-US" sz="2400" b="1" dirty="0">
                <a:solidFill>
                  <a:srgbClr val="FFC000"/>
                </a:solidFill>
              </a:rPr>
              <a:t>data</a:t>
            </a:r>
            <a:r>
              <a:rPr lang="en-US" sz="2400" b="1" dirty="0"/>
              <a:t> and </a:t>
            </a:r>
            <a:r>
              <a:rPr lang="en-US" sz="2400" b="1" dirty="0">
                <a:solidFill>
                  <a:srgbClr val="FFC000"/>
                </a:solidFill>
              </a:rPr>
              <a:t>software</a:t>
            </a:r>
            <a:r>
              <a:rPr lang="en-US" sz="2400" b="1" dirty="0"/>
              <a:t> in computer applications.</a:t>
            </a:r>
          </a:p>
          <a:p>
            <a:pPr marL="0" indent="0" algn="just">
              <a:buNone/>
            </a:pPr>
            <a:endParaRPr lang="en-US" sz="2400" b="1" dirty="0"/>
          </a:p>
          <a:p>
            <a:pPr algn="just"/>
            <a:r>
              <a:rPr lang="en-US" sz="2400" dirty="0"/>
              <a:t>Using mobile computing, user will be able to </a:t>
            </a:r>
            <a:r>
              <a:rPr lang="en-US" sz="2400" b="1" dirty="0">
                <a:solidFill>
                  <a:srgbClr val="FFC000"/>
                </a:solidFill>
              </a:rPr>
              <a:t>access</a:t>
            </a:r>
            <a:r>
              <a:rPr lang="en-US" sz="2400" dirty="0"/>
              <a:t> data, information or other logical objects from any device in any network while on the move.</a:t>
            </a:r>
          </a:p>
          <a:p>
            <a:pPr algn="just"/>
            <a:endParaRPr lang="en-GB" sz="2400" dirty="0"/>
          </a:p>
          <a:p>
            <a:pPr algn="just"/>
            <a:r>
              <a:rPr lang="en-GB" sz="2400" dirty="0"/>
              <a:t>The user able to </a:t>
            </a:r>
            <a:r>
              <a:rPr lang="en-GB" sz="2400" b="1" dirty="0">
                <a:solidFill>
                  <a:srgbClr val="FFC000"/>
                </a:solidFill>
              </a:rPr>
              <a:t>perform</a:t>
            </a:r>
            <a:r>
              <a:rPr lang="en-GB" sz="2400" b="1" dirty="0"/>
              <a:t> </a:t>
            </a:r>
            <a:r>
              <a:rPr lang="en-GB" sz="2400" dirty="0"/>
              <a:t>a task from anywhere using  a computing devices</a:t>
            </a:r>
          </a:p>
        </p:txBody>
      </p:sp>
      <p:sp>
        <p:nvSpPr>
          <p:cNvPr id="5" name="Slide Number Placeholder 4"/>
          <p:cNvSpPr>
            <a:spLocks noGrp="1"/>
          </p:cNvSpPr>
          <p:nvPr>
            <p:ph type="sldNum" sz="quarter" idx="12"/>
          </p:nvPr>
        </p:nvSpPr>
        <p:spPr>
          <a:xfrm>
            <a:off x="8222187" y="6391687"/>
            <a:ext cx="413376" cy="377825"/>
          </a:xfrm>
        </p:spPr>
        <p:txBody>
          <a:bodyPr>
            <a:normAutofit/>
          </a:bodyPr>
          <a:lstStyle/>
          <a:p>
            <a:pPr>
              <a:spcAft>
                <a:spcPts val="600"/>
              </a:spcAft>
            </a:pPr>
            <a:fld id="{CC13ADC4-536D-428E-8667-0275BB2B031C}" type="slidenum">
              <a:rPr lang="en-GB" smtClean="0"/>
              <a:pPr>
                <a:spcAft>
                  <a:spcPts val="600"/>
                </a:spcAft>
              </a:pPr>
              <a:t>14</a:t>
            </a:fld>
            <a:endParaRPr lang="en-GB"/>
          </a:p>
        </p:txBody>
      </p:sp>
      <p:sp>
        <p:nvSpPr>
          <p:cNvPr id="2" name="Title 1"/>
          <p:cNvSpPr>
            <a:spLocks noGrp="1"/>
          </p:cNvSpPr>
          <p:nvPr>
            <p:ph type="title"/>
          </p:nvPr>
        </p:nvSpPr>
        <p:spPr>
          <a:xfrm>
            <a:off x="107504" y="32229"/>
            <a:ext cx="3369502" cy="1612490"/>
          </a:xfrm>
        </p:spPr>
        <p:txBody>
          <a:bodyPr>
            <a:normAutofit/>
          </a:bodyPr>
          <a:lstStyle/>
          <a:p>
            <a:pPr algn="ctr"/>
            <a:r>
              <a:rPr lang="en-US" b="1" dirty="0"/>
              <a:t>INTRODUCTION TO MOBILE DEVELOPMENT</a:t>
            </a:r>
            <a:endParaRPr lang="en-GB" b="1" dirty="0"/>
          </a:p>
        </p:txBody>
      </p:sp>
    </p:spTree>
    <p:extLst>
      <p:ext uri="{BB962C8B-B14F-4D97-AF65-F5344CB8AC3E}">
        <p14:creationId xmlns:p14="http://schemas.microsoft.com/office/powerpoint/2010/main" val="2884907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350" y="643466"/>
            <a:ext cx="2513648" cy="4995333"/>
          </a:xfrm>
        </p:spPr>
        <p:txBody>
          <a:bodyPr>
            <a:normAutofit/>
          </a:bodyPr>
          <a:lstStyle/>
          <a:p>
            <a:pPr algn="ctr"/>
            <a:r>
              <a:rPr lang="en-US" dirty="0">
                <a:solidFill>
                  <a:srgbClr val="FFFFFF"/>
                </a:solidFill>
              </a:rPr>
              <a:t>DEFINITION</a:t>
            </a:r>
          </a:p>
        </p:txBody>
      </p:sp>
      <p:sp>
        <p:nvSpPr>
          <p:cNvPr id="6" name="Slide Number Placeholder 5"/>
          <p:cNvSpPr>
            <a:spLocks noGrp="1"/>
          </p:cNvSpPr>
          <p:nvPr>
            <p:ph type="sldNum" sz="quarter" idx="12"/>
          </p:nvPr>
        </p:nvSpPr>
        <p:spPr>
          <a:xfrm>
            <a:off x="471974" y="5870575"/>
            <a:ext cx="413375" cy="377825"/>
          </a:xfrm>
        </p:spPr>
        <p:txBody>
          <a:bodyPr>
            <a:normAutofit/>
          </a:bodyPr>
          <a:lstStyle/>
          <a:p>
            <a:pPr algn="l">
              <a:spcAft>
                <a:spcPts val="600"/>
              </a:spcAft>
            </a:pPr>
            <a:fld id="{CC13ADC4-536D-428E-8667-0275BB2B031C}" type="slidenum">
              <a:rPr lang="en-GB">
                <a:solidFill>
                  <a:schemeClr val="bg2"/>
                </a:solidFill>
              </a:rPr>
              <a:pPr algn="l">
                <a:spcAft>
                  <a:spcPts val="600"/>
                </a:spcAft>
              </a:pPr>
              <a:t>15</a:t>
            </a:fld>
            <a:endParaRPr lang="en-GB">
              <a:solidFill>
                <a:schemeClr val="bg2"/>
              </a:solidFill>
            </a:endParaRPr>
          </a:p>
        </p:txBody>
      </p:sp>
      <p:graphicFrame>
        <p:nvGraphicFramePr>
          <p:cNvPr id="8" name="Content Placeholder 2">
            <a:extLst>
              <a:ext uri="{FF2B5EF4-FFF2-40B4-BE49-F238E27FC236}">
                <a16:creationId xmlns:a16="http://schemas.microsoft.com/office/drawing/2014/main" id="{77C51962-E1F8-FACE-4375-5327078C7122}"/>
              </a:ext>
            </a:extLst>
          </p:cNvPr>
          <p:cNvGraphicFramePr>
            <a:graphicFrameLocks noGrp="1"/>
          </p:cNvGraphicFramePr>
          <p:nvPr>
            <p:ph idx="1"/>
          </p:nvPr>
        </p:nvGraphicFramePr>
        <p:xfrm>
          <a:off x="3896407" y="295758"/>
          <a:ext cx="5068081" cy="62646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17556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7504" y="826822"/>
            <a:ext cx="8928992" cy="5204356"/>
          </a:xfrm>
        </p:spPr>
      </p:pic>
      <p:sp>
        <p:nvSpPr>
          <p:cNvPr id="6" name="Slide Number Placeholder 5"/>
          <p:cNvSpPr>
            <a:spLocks noGrp="1"/>
          </p:cNvSpPr>
          <p:nvPr>
            <p:ph type="sldNum" sz="quarter" idx="12"/>
          </p:nvPr>
        </p:nvSpPr>
        <p:spPr/>
        <p:txBody>
          <a:bodyPr/>
          <a:lstStyle/>
          <a:p>
            <a:fld id="{CC13ADC4-536D-428E-8667-0275BB2B031C}" type="slidenum">
              <a:rPr lang="en-GB" smtClean="0"/>
              <a:pPr/>
              <a:t>16</a:t>
            </a:fld>
            <a:endParaRPr lang="en-GB"/>
          </a:p>
        </p:txBody>
      </p:sp>
    </p:spTree>
    <p:extLst>
      <p:ext uri="{BB962C8B-B14F-4D97-AF65-F5344CB8AC3E}">
        <p14:creationId xmlns:p14="http://schemas.microsoft.com/office/powerpoint/2010/main" val="958179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MY"/>
          </a:p>
        </p:txBody>
      </p:sp>
      <p:pic>
        <p:nvPicPr>
          <p:cNvPr id="9"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6094" y="643530"/>
            <a:ext cx="5616624" cy="4687969"/>
          </a:xfrm>
        </p:spPr>
      </p:pic>
      <p:sp>
        <p:nvSpPr>
          <p:cNvPr id="6" name="Slide Number Placeholder 5"/>
          <p:cNvSpPr>
            <a:spLocks noGrp="1"/>
          </p:cNvSpPr>
          <p:nvPr>
            <p:ph type="sldNum" sz="quarter" idx="12"/>
          </p:nvPr>
        </p:nvSpPr>
        <p:spPr/>
        <p:txBody>
          <a:bodyPr/>
          <a:lstStyle/>
          <a:p>
            <a:fld id="{CC13ADC4-536D-428E-8667-0275BB2B031C}" type="slidenum">
              <a:rPr lang="en-GB" smtClean="0"/>
              <a:pPr/>
              <a:t>17</a:t>
            </a:fld>
            <a:endParaRPr lang="en-GB"/>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6096" y="4567840"/>
            <a:ext cx="3430724" cy="1846742"/>
          </a:xfrm>
          <a:prstGeom prst="rect">
            <a:avLst/>
          </a:prstGeom>
        </p:spPr>
      </p:pic>
    </p:spTree>
    <p:extLst>
      <p:ext uri="{BB962C8B-B14F-4D97-AF65-F5344CB8AC3E}">
        <p14:creationId xmlns:p14="http://schemas.microsoft.com/office/powerpoint/2010/main" val="218131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350" y="1719807"/>
            <a:ext cx="2744542" cy="3418387"/>
          </a:xfrm>
        </p:spPr>
        <p:txBody>
          <a:bodyPr>
            <a:normAutofit/>
          </a:bodyPr>
          <a:lstStyle/>
          <a:p>
            <a:pPr algn="r"/>
            <a:r>
              <a:rPr lang="en-GB" b="1" dirty="0"/>
              <a:t>DIFFERENT NAMES IN DIFFERENT CONTEXTS</a:t>
            </a:r>
            <a:endParaRPr lang="en-US" b="1" dirty="0"/>
          </a:p>
        </p:txBody>
      </p:sp>
      <p:sp>
        <p:nvSpPr>
          <p:cNvPr id="3" name="Content Placeholder 2"/>
          <p:cNvSpPr>
            <a:spLocks noGrp="1"/>
          </p:cNvSpPr>
          <p:nvPr>
            <p:ph idx="1"/>
          </p:nvPr>
        </p:nvSpPr>
        <p:spPr>
          <a:xfrm>
            <a:off x="3741494" y="404664"/>
            <a:ext cx="5222993" cy="6120679"/>
          </a:xfrm>
        </p:spPr>
        <p:txBody>
          <a:bodyPr>
            <a:noAutofit/>
          </a:bodyPr>
          <a:lstStyle/>
          <a:p>
            <a:pPr>
              <a:lnSpc>
                <a:spcPct val="90000"/>
              </a:lnSpc>
            </a:pPr>
            <a:r>
              <a:rPr lang="en-US" sz="2400" dirty="0">
                <a:latin typeface="Arial" charset="0"/>
              </a:rPr>
              <a:t>Many other names/overlapping computing paradigms:</a:t>
            </a:r>
          </a:p>
          <a:p>
            <a:pPr lvl="1">
              <a:lnSpc>
                <a:spcPct val="90000"/>
              </a:lnSpc>
            </a:pPr>
            <a:r>
              <a:rPr lang="en-US" sz="2400" dirty="0">
                <a:latin typeface="Arial" charset="0"/>
              </a:rPr>
              <a:t>Pervasive Computing</a:t>
            </a:r>
          </a:p>
          <a:p>
            <a:pPr lvl="1">
              <a:lnSpc>
                <a:spcPct val="90000"/>
              </a:lnSpc>
            </a:pPr>
            <a:r>
              <a:rPr lang="en-US" sz="2400" dirty="0">
                <a:latin typeface="Arial" charset="0"/>
              </a:rPr>
              <a:t>Ubiquitous Computing</a:t>
            </a:r>
          </a:p>
          <a:p>
            <a:pPr lvl="1">
              <a:lnSpc>
                <a:spcPct val="90000"/>
              </a:lnSpc>
            </a:pPr>
            <a:r>
              <a:rPr lang="en-US" sz="2400" dirty="0">
                <a:latin typeface="Arial" charset="0"/>
              </a:rPr>
              <a:t>Nomadic Computing</a:t>
            </a:r>
          </a:p>
          <a:p>
            <a:pPr lvl="1">
              <a:lnSpc>
                <a:spcPct val="90000"/>
              </a:lnSpc>
            </a:pPr>
            <a:r>
              <a:rPr lang="en-US" sz="2400" dirty="0">
                <a:latin typeface="Arial" charset="0"/>
              </a:rPr>
              <a:t>Internet of Things (IoT)</a:t>
            </a:r>
          </a:p>
          <a:p>
            <a:pPr lvl="1">
              <a:lnSpc>
                <a:spcPct val="90000"/>
              </a:lnSpc>
            </a:pPr>
            <a:r>
              <a:rPr lang="en-US" sz="2400" dirty="0">
                <a:latin typeface="Arial" charset="0"/>
              </a:rPr>
              <a:t>Wireless Systems</a:t>
            </a:r>
          </a:p>
          <a:p>
            <a:pPr lvl="1">
              <a:lnSpc>
                <a:spcPct val="90000"/>
              </a:lnSpc>
            </a:pPr>
            <a:r>
              <a:rPr lang="en-US" sz="2400" dirty="0">
                <a:latin typeface="Arial" charset="0"/>
              </a:rPr>
              <a:t>Embedded Computing</a:t>
            </a:r>
          </a:p>
          <a:p>
            <a:pPr lvl="1">
              <a:lnSpc>
                <a:spcPct val="90000"/>
              </a:lnSpc>
            </a:pPr>
            <a:r>
              <a:rPr lang="en-US" sz="2400" dirty="0">
                <a:latin typeface="Arial" charset="0"/>
              </a:rPr>
              <a:t>Wireless Sensor Networks</a:t>
            </a:r>
          </a:p>
          <a:p>
            <a:pPr lvl="1">
              <a:lnSpc>
                <a:spcPct val="90000"/>
              </a:lnSpc>
            </a:pPr>
            <a:r>
              <a:rPr lang="en-US" sz="2400" dirty="0">
                <a:latin typeface="Arial" charset="0"/>
              </a:rPr>
              <a:t>Mesh Networks</a:t>
            </a:r>
          </a:p>
          <a:p>
            <a:pPr lvl="1">
              <a:lnSpc>
                <a:spcPct val="90000"/>
              </a:lnSpc>
            </a:pPr>
            <a:r>
              <a:rPr lang="en-US" sz="2400" dirty="0">
                <a:latin typeface="Arial" charset="0"/>
              </a:rPr>
              <a:t>….</a:t>
            </a:r>
          </a:p>
        </p:txBody>
      </p:sp>
      <p:sp>
        <p:nvSpPr>
          <p:cNvPr id="4" name="Slide Number Placeholder 3">
            <a:extLst>
              <a:ext uri="{FF2B5EF4-FFF2-40B4-BE49-F238E27FC236}">
                <a16:creationId xmlns:a16="http://schemas.microsoft.com/office/drawing/2014/main" id="{0F474C16-C277-4C3E-93BC-071D67C5D5DE}"/>
              </a:ext>
            </a:extLst>
          </p:cNvPr>
          <p:cNvSpPr>
            <a:spLocks noGrp="1"/>
          </p:cNvSpPr>
          <p:nvPr>
            <p:ph type="sldNum" sz="quarter" idx="12"/>
          </p:nvPr>
        </p:nvSpPr>
        <p:spPr>
          <a:xfrm>
            <a:off x="8216276" y="5260182"/>
            <a:ext cx="413375" cy="283369"/>
          </a:xfrm>
        </p:spPr>
        <p:txBody>
          <a:bodyPr>
            <a:normAutofit/>
          </a:bodyPr>
          <a:lstStyle/>
          <a:p>
            <a:pPr>
              <a:spcAft>
                <a:spcPts val="600"/>
              </a:spcAft>
            </a:pPr>
            <a:fld id="{CC13ADC4-536D-428E-8667-0275BB2B031C}" type="slidenum">
              <a:rPr lang="en-GB" smtClean="0"/>
              <a:pPr>
                <a:spcAft>
                  <a:spcPts val="600"/>
                </a:spcAft>
              </a:pPr>
              <a:t>18</a:t>
            </a:fld>
            <a:endParaRPr lang="en-GB"/>
          </a:p>
        </p:txBody>
      </p:sp>
    </p:spTree>
    <p:extLst>
      <p:ext uri="{BB962C8B-B14F-4D97-AF65-F5344CB8AC3E}">
        <p14:creationId xmlns:p14="http://schemas.microsoft.com/office/powerpoint/2010/main" val="33375799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b="1" dirty="0"/>
              <a:t>DIFFERENT NAMES IN DIFFERENT CONTEXTS</a:t>
            </a:r>
          </a:p>
        </p:txBody>
      </p:sp>
      <p:sp>
        <p:nvSpPr>
          <p:cNvPr id="3" name="Content Placeholder 2"/>
          <p:cNvSpPr>
            <a:spLocks noGrp="1"/>
          </p:cNvSpPr>
          <p:nvPr>
            <p:ph idx="1"/>
          </p:nvPr>
        </p:nvSpPr>
        <p:spPr>
          <a:xfrm>
            <a:off x="457200" y="1600200"/>
            <a:ext cx="8229600" cy="4781128"/>
          </a:xfrm>
        </p:spPr>
        <p:txBody>
          <a:bodyPr>
            <a:noAutofit/>
          </a:bodyPr>
          <a:lstStyle/>
          <a:p>
            <a:pPr algn="just"/>
            <a:r>
              <a:rPr lang="en-GB" sz="2400" b="1" dirty="0">
                <a:solidFill>
                  <a:srgbClr val="FFC000"/>
                </a:solidFill>
              </a:rPr>
              <a:t>Pervasive computing </a:t>
            </a:r>
            <a:r>
              <a:rPr lang="en-GB" sz="2400" dirty="0" err="1"/>
              <a:t>i</a:t>
            </a:r>
            <a:r>
              <a:rPr lang="en-US" sz="2400" dirty="0"/>
              <a:t>s the growing trend of embedding computational capability into everyday objects to perform useful tasks.</a:t>
            </a:r>
          </a:p>
          <a:p>
            <a:pPr marL="0" indent="0" algn="just">
              <a:buNone/>
            </a:pPr>
            <a:endParaRPr lang="en-US" sz="2400" dirty="0"/>
          </a:p>
          <a:p>
            <a:pPr algn="just"/>
            <a:r>
              <a:rPr lang="en-US" sz="2400" dirty="0"/>
              <a:t>It can occur with any device, at any time, in any place and in any data format across any network, including laptops, notebooks, smartphones, tablets, wearable devices, lighting systems, appliances and sensors, and so on.</a:t>
            </a:r>
          </a:p>
        </p:txBody>
      </p:sp>
      <p:sp>
        <p:nvSpPr>
          <p:cNvPr id="5" name="Slide Number Placeholder 4"/>
          <p:cNvSpPr>
            <a:spLocks noGrp="1"/>
          </p:cNvSpPr>
          <p:nvPr>
            <p:ph type="sldNum" sz="quarter" idx="12"/>
          </p:nvPr>
        </p:nvSpPr>
        <p:spPr/>
        <p:txBody>
          <a:bodyPr/>
          <a:lstStyle/>
          <a:p>
            <a:fld id="{CC13ADC4-536D-428E-8667-0275BB2B031C}" type="slidenum">
              <a:rPr lang="en-GB" smtClean="0"/>
              <a:pPr/>
              <a:t>19</a:t>
            </a:fld>
            <a:endParaRPr lang="en-GB"/>
          </a:p>
        </p:txBody>
      </p:sp>
    </p:spTree>
    <p:extLst>
      <p:ext uri="{BB962C8B-B14F-4D97-AF65-F5344CB8AC3E}">
        <p14:creationId xmlns:p14="http://schemas.microsoft.com/office/powerpoint/2010/main" val="2737545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DIFFERENT NAMES IN DIFFERENT CONTEXTS</a:t>
            </a:r>
            <a:endParaRPr lang="en-US" b="1" dirty="0"/>
          </a:p>
        </p:txBody>
      </p:sp>
      <p:sp>
        <p:nvSpPr>
          <p:cNvPr id="3" name="Content Placeholder 2"/>
          <p:cNvSpPr>
            <a:spLocks noGrp="1"/>
          </p:cNvSpPr>
          <p:nvPr>
            <p:ph idx="1"/>
          </p:nvPr>
        </p:nvSpPr>
        <p:spPr>
          <a:xfrm>
            <a:off x="467544" y="1628801"/>
            <a:ext cx="8229600" cy="4104456"/>
          </a:xfrm>
        </p:spPr>
        <p:txBody>
          <a:bodyPr/>
          <a:lstStyle/>
          <a:p>
            <a:r>
              <a:rPr lang="en-US" sz="2400" b="1" dirty="0">
                <a:solidFill>
                  <a:srgbClr val="FFC000"/>
                </a:solidFill>
              </a:rPr>
              <a:t>Wearable Computer: </a:t>
            </a:r>
            <a:r>
              <a:rPr lang="en-US" sz="2400" dirty="0"/>
              <a:t>can be worn by humans like a hat, shoe, or clothes.</a:t>
            </a:r>
          </a:p>
          <a:p>
            <a:endParaRPr lang="en-US" sz="2400" dirty="0"/>
          </a:p>
          <a:p>
            <a:r>
              <a:rPr lang="en-US" sz="2400" dirty="0"/>
              <a:t>Always on, operational while on the move, hands free, equips with sensors. Some are implanted in human body and integrated with human nervous system</a:t>
            </a:r>
          </a:p>
        </p:txBody>
      </p:sp>
      <p:sp>
        <p:nvSpPr>
          <p:cNvPr id="6" name="Slide Number Placeholder 5"/>
          <p:cNvSpPr>
            <a:spLocks noGrp="1"/>
          </p:cNvSpPr>
          <p:nvPr>
            <p:ph type="sldNum" sz="quarter" idx="12"/>
          </p:nvPr>
        </p:nvSpPr>
        <p:spPr/>
        <p:txBody>
          <a:bodyPr/>
          <a:lstStyle/>
          <a:p>
            <a:fld id="{CC13ADC4-536D-428E-8667-0275BB2B031C}" type="slidenum">
              <a:rPr lang="en-GB" smtClean="0"/>
              <a:pPr/>
              <a:t>20</a:t>
            </a:fld>
            <a:endParaRPr lang="en-GB"/>
          </a:p>
        </p:txBody>
      </p:sp>
    </p:spTree>
    <p:extLst>
      <p:ext uri="{BB962C8B-B14F-4D97-AF65-F5344CB8AC3E}">
        <p14:creationId xmlns:p14="http://schemas.microsoft.com/office/powerpoint/2010/main" val="17863516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170145"/>
            <a:ext cx="8229600" cy="1400861"/>
          </a:xfrm>
        </p:spPr>
        <p:txBody>
          <a:bodyPr/>
          <a:lstStyle/>
          <a:p>
            <a:r>
              <a:rPr lang="en-US" sz="2000" b="0" dirty="0"/>
              <a:t>The wearable computers are used like wearable accessories like shoes, clothes etc.. by human beings. A person can wear it provided these computers have extra attributes than conventional mobile computers. </a:t>
            </a:r>
          </a:p>
        </p:txBody>
      </p:sp>
      <p:pic>
        <p:nvPicPr>
          <p:cNvPr id="7" name="Content Placeholder 6" descr="wearable-computer.jpg"/>
          <p:cNvPicPr>
            <a:picLocks noGrp="1" noChangeAspect="1"/>
          </p:cNvPicPr>
          <p:nvPr>
            <p:ph idx="1"/>
          </p:nvPr>
        </p:nvPicPr>
        <p:blipFill>
          <a:blip r:embed="rId2">
            <a:extLst>
              <a:ext uri="{28A0092B-C50C-407E-A947-70E740481C1C}">
                <a14:useLocalDpi xmlns:a14="http://schemas.microsoft.com/office/drawing/2010/main" val="0"/>
              </a:ext>
            </a:extLst>
          </a:blip>
          <a:srcRect t="5371" b="5371"/>
          <a:stretch>
            <a:fillRect/>
          </a:stretch>
        </p:blipFill>
        <p:spPr>
          <a:xfrm>
            <a:off x="323850" y="188913"/>
            <a:ext cx="2952006" cy="2770613"/>
          </a:xfrm>
        </p:spPr>
      </p:pic>
      <p:sp>
        <p:nvSpPr>
          <p:cNvPr id="6" name="Slide Number Placeholder 5"/>
          <p:cNvSpPr>
            <a:spLocks noGrp="1"/>
          </p:cNvSpPr>
          <p:nvPr>
            <p:ph type="sldNum" sz="quarter" idx="12"/>
          </p:nvPr>
        </p:nvSpPr>
        <p:spPr/>
        <p:txBody>
          <a:bodyPr/>
          <a:lstStyle/>
          <a:p>
            <a:fld id="{CC13ADC4-536D-428E-8667-0275BB2B031C}" type="slidenum">
              <a:rPr lang="en-GB" smtClean="0"/>
              <a:pPr/>
              <a:t>21</a:t>
            </a:fld>
            <a:endParaRPr lang="en-GB"/>
          </a:p>
        </p:txBody>
      </p:sp>
      <p:pic>
        <p:nvPicPr>
          <p:cNvPr id="8" name="Picture 7" descr="bringoogleglass.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4084" y="188913"/>
            <a:ext cx="4153024" cy="2766450"/>
          </a:xfrm>
          <a:prstGeom prst="rect">
            <a:avLst/>
          </a:prstGeom>
        </p:spPr>
      </p:pic>
      <p:pic>
        <p:nvPicPr>
          <p:cNvPr id="9" name="Picture 8" descr="Unknown.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05801" y="2755238"/>
            <a:ext cx="4063351" cy="1918519"/>
          </a:xfrm>
          <a:prstGeom prst="rect">
            <a:avLst/>
          </a:prstGeom>
        </p:spPr>
      </p:pic>
      <p:pic>
        <p:nvPicPr>
          <p:cNvPr id="10" name="Picture 9" descr="T4200552-Wearable_computer,_handheld_keyboard-SPL.jpg"/>
          <p:cNvPicPr>
            <a:picLocks noChangeAspect="1"/>
          </p:cNvPicPr>
          <p:nvPr/>
        </p:nvPicPr>
        <p:blipFill>
          <a:blip r:embed="rId5"/>
          <a:srcRect b="6548"/>
          <a:stretch>
            <a:fillRect/>
          </a:stretch>
        </p:blipFill>
        <p:spPr>
          <a:xfrm>
            <a:off x="2379808" y="326407"/>
            <a:ext cx="3376271" cy="2526530"/>
          </a:xfrm>
          <a:prstGeom prst="rect">
            <a:avLst/>
          </a:prstGeom>
        </p:spPr>
      </p:pic>
      <p:pic>
        <p:nvPicPr>
          <p:cNvPr id="11" name="Picture 10" descr="imagesCAMPYD2T.jpg"/>
          <p:cNvPicPr>
            <a:picLocks noChangeAspect="1"/>
          </p:cNvPicPr>
          <p:nvPr/>
        </p:nvPicPr>
        <p:blipFill>
          <a:blip r:embed="rId6"/>
          <a:srcRect b="7216"/>
          <a:stretch>
            <a:fillRect/>
          </a:stretch>
        </p:blipFill>
        <p:spPr>
          <a:xfrm>
            <a:off x="991981" y="2497347"/>
            <a:ext cx="3363995" cy="2337928"/>
          </a:xfrm>
          <a:prstGeom prst="rect">
            <a:avLst/>
          </a:prstGeom>
        </p:spPr>
      </p:pic>
    </p:spTree>
    <p:extLst>
      <p:ext uri="{BB962C8B-B14F-4D97-AF65-F5344CB8AC3E}">
        <p14:creationId xmlns:p14="http://schemas.microsoft.com/office/powerpoint/2010/main" val="2682933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b="1" dirty="0"/>
              <a:t>DIFFERENT NAMES IN DIFFERENT CONTEXTS</a:t>
            </a:r>
          </a:p>
        </p:txBody>
      </p:sp>
      <p:sp>
        <p:nvSpPr>
          <p:cNvPr id="3" name="Content Placeholder 2"/>
          <p:cNvSpPr>
            <a:spLocks noGrp="1"/>
          </p:cNvSpPr>
          <p:nvPr>
            <p:ph idx="1"/>
          </p:nvPr>
        </p:nvSpPr>
        <p:spPr>
          <a:xfrm>
            <a:off x="457200" y="2209885"/>
            <a:ext cx="8229600" cy="4315459"/>
          </a:xfrm>
        </p:spPr>
        <p:txBody>
          <a:bodyPr>
            <a:noAutofit/>
          </a:bodyPr>
          <a:lstStyle/>
          <a:p>
            <a:pPr algn="just"/>
            <a:r>
              <a:rPr lang="en-GB" sz="2400" b="1" dirty="0">
                <a:solidFill>
                  <a:srgbClr val="FFC000"/>
                </a:solidFill>
              </a:rPr>
              <a:t>Ubiquitous computing</a:t>
            </a:r>
            <a:r>
              <a:rPr lang="en-GB" sz="2400" dirty="0"/>
              <a:t>: </a:t>
            </a:r>
            <a:r>
              <a:rPr lang="en-US" sz="2400" dirty="0"/>
              <a:t>is a concept where computing is made to appear anytime and everywhere using small internet connected and inexpensive computers to help with everyday functions.</a:t>
            </a:r>
          </a:p>
          <a:p>
            <a:pPr algn="just"/>
            <a:endParaRPr lang="en-US" sz="2400" dirty="0"/>
          </a:p>
          <a:p>
            <a:r>
              <a:rPr lang="en-US" sz="2400" dirty="0"/>
              <a:t>It focuses on learning by </a:t>
            </a:r>
            <a:r>
              <a:rPr lang="en-US" sz="2400" b="1" dirty="0">
                <a:solidFill>
                  <a:srgbClr val="FFC000"/>
                </a:solidFill>
              </a:rPr>
              <a:t>removing the complexity </a:t>
            </a:r>
            <a:r>
              <a:rPr lang="en-US" sz="2400" dirty="0"/>
              <a:t>of computing and </a:t>
            </a:r>
            <a:r>
              <a:rPr lang="en-US" sz="2400" b="1" dirty="0">
                <a:solidFill>
                  <a:srgbClr val="FFC000"/>
                </a:solidFill>
              </a:rPr>
              <a:t>increases efficiency </a:t>
            </a:r>
            <a:r>
              <a:rPr lang="en-US" sz="2400" dirty="0"/>
              <a:t>while using computing for different daily activities.</a:t>
            </a:r>
          </a:p>
          <a:p>
            <a:endParaRPr lang="en-US" sz="2400" dirty="0"/>
          </a:p>
          <a:p>
            <a:r>
              <a:rPr lang="en-US" sz="2400" dirty="0"/>
              <a:t>Ubiquitous computing is also known as </a:t>
            </a:r>
            <a:r>
              <a:rPr lang="en-US" sz="2400" b="1" dirty="0">
                <a:solidFill>
                  <a:srgbClr val="FFC000"/>
                </a:solidFill>
              </a:rPr>
              <a:t>pervasive computing, </a:t>
            </a:r>
            <a:r>
              <a:rPr lang="en-US" sz="2400" b="1" dirty="0" err="1">
                <a:solidFill>
                  <a:srgbClr val="FFC000"/>
                </a:solidFill>
              </a:rPr>
              <a:t>everyware</a:t>
            </a:r>
            <a:r>
              <a:rPr lang="en-US" sz="2400" b="1" dirty="0">
                <a:solidFill>
                  <a:srgbClr val="FFC000"/>
                </a:solidFill>
              </a:rPr>
              <a:t> and ambient intelligence.</a:t>
            </a:r>
            <a:endParaRPr lang="en-US" sz="2400" dirty="0">
              <a:solidFill>
                <a:srgbClr val="FFC000"/>
              </a:solidFill>
            </a:endParaRPr>
          </a:p>
          <a:p>
            <a:pPr algn="just"/>
            <a:endParaRPr lang="en-US" sz="2400" dirty="0"/>
          </a:p>
        </p:txBody>
      </p:sp>
      <p:sp>
        <p:nvSpPr>
          <p:cNvPr id="5" name="Slide Number Placeholder 4"/>
          <p:cNvSpPr>
            <a:spLocks noGrp="1"/>
          </p:cNvSpPr>
          <p:nvPr>
            <p:ph type="sldNum" sz="quarter" idx="12"/>
          </p:nvPr>
        </p:nvSpPr>
        <p:spPr/>
        <p:txBody>
          <a:bodyPr/>
          <a:lstStyle/>
          <a:p>
            <a:fld id="{CC13ADC4-536D-428E-8667-0275BB2B031C}" type="slidenum">
              <a:rPr lang="en-GB" smtClean="0"/>
              <a:pPr/>
              <a:t>22</a:t>
            </a:fld>
            <a:endParaRPr lang="en-GB"/>
          </a:p>
        </p:txBody>
      </p:sp>
    </p:spTree>
    <p:extLst>
      <p:ext uri="{BB962C8B-B14F-4D97-AF65-F5344CB8AC3E}">
        <p14:creationId xmlns:p14="http://schemas.microsoft.com/office/powerpoint/2010/main" val="1000704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DIFFERENT NAMES IN DIFFERENT CONTEXTS</a:t>
            </a:r>
            <a:endParaRPr lang="en-US" b="1" dirty="0"/>
          </a:p>
        </p:txBody>
      </p:sp>
      <p:sp>
        <p:nvSpPr>
          <p:cNvPr id="3" name="Content Placeholder 2"/>
          <p:cNvSpPr>
            <a:spLocks noGrp="1"/>
          </p:cNvSpPr>
          <p:nvPr>
            <p:ph idx="1"/>
          </p:nvPr>
        </p:nvSpPr>
        <p:spPr>
          <a:xfrm>
            <a:off x="457200" y="1772816"/>
            <a:ext cx="8229600" cy="4248471"/>
          </a:xfrm>
        </p:spPr>
        <p:txBody>
          <a:bodyPr/>
          <a:lstStyle/>
          <a:p>
            <a:r>
              <a:rPr lang="en-GB" sz="2400" dirty="0"/>
              <a:t>Three types of ubiquitous system devices includes:</a:t>
            </a:r>
          </a:p>
          <a:p>
            <a:pPr lvl="1"/>
            <a:r>
              <a:rPr lang="en-US" sz="2400" b="1" dirty="0">
                <a:solidFill>
                  <a:srgbClr val="FFC000"/>
                </a:solidFill>
              </a:rPr>
              <a:t>Tabs</a:t>
            </a:r>
            <a:r>
              <a:rPr lang="en-US" sz="2400" b="1" dirty="0">
                <a:solidFill>
                  <a:srgbClr val="0070C0"/>
                </a:solidFill>
              </a:rPr>
              <a:t>:  </a:t>
            </a:r>
            <a:r>
              <a:rPr lang="en-US" sz="2400" dirty="0"/>
              <a:t>wearable centimeter-sized devices, e.g. smartphones, smart cards</a:t>
            </a:r>
          </a:p>
          <a:p>
            <a:pPr lvl="1"/>
            <a:r>
              <a:rPr lang="en-US" sz="2400" b="1" dirty="0">
                <a:solidFill>
                  <a:srgbClr val="FFC000"/>
                </a:solidFill>
              </a:rPr>
              <a:t>Pads</a:t>
            </a:r>
            <a:r>
              <a:rPr lang="en-US" sz="2400" b="1" dirty="0">
                <a:solidFill>
                  <a:srgbClr val="0070C0"/>
                </a:solidFill>
              </a:rPr>
              <a:t>: </a:t>
            </a:r>
            <a:r>
              <a:rPr lang="en-US" sz="2400" dirty="0"/>
              <a:t>hand-held devices, laptops</a:t>
            </a:r>
          </a:p>
          <a:p>
            <a:pPr lvl="1"/>
            <a:r>
              <a:rPr lang="en-US" sz="2400" b="1" dirty="0">
                <a:solidFill>
                  <a:srgbClr val="FFC000"/>
                </a:solidFill>
              </a:rPr>
              <a:t>Boards</a:t>
            </a:r>
            <a:r>
              <a:rPr lang="en-US" sz="2400" b="1" dirty="0">
                <a:solidFill>
                  <a:srgbClr val="0070C0"/>
                </a:solidFill>
              </a:rPr>
              <a:t>: </a:t>
            </a:r>
            <a:r>
              <a:rPr lang="en-US" sz="2400" dirty="0"/>
              <a:t>meter-sized interactive display devices, e.g. surface computer, smart boards.</a:t>
            </a:r>
          </a:p>
          <a:p>
            <a:endParaRPr lang="en-US" sz="2400" dirty="0"/>
          </a:p>
        </p:txBody>
      </p:sp>
      <p:sp>
        <p:nvSpPr>
          <p:cNvPr id="6" name="Slide Number Placeholder 5"/>
          <p:cNvSpPr>
            <a:spLocks noGrp="1"/>
          </p:cNvSpPr>
          <p:nvPr>
            <p:ph type="sldNum" sz="quarter" idx="12"/>
          </p:nvPr>
        </p:nvSpPr>
        <p:spPr/>
        <p:txBody>
          <a:bodyPr/>
          <a:lstStyle/>
          <a:p>
            <a:fld id="{CC13ADC4-536D-428E-8667-0275BB2B031C}" type="slidenum">
              <a:rPr lang="en-GB" smtClean="0"/>
              <a:pPr/>
              <a:t>23</a:t>
            </a:fld>
            <a:endParaRPr lang="en-GB"/>
          </a:p>
        </p:txBody>
      </p:sp>
    </p:spTree>
    <p:extLst>
      <p:ext uri="{BB962C8B-B14F-4D97-AF65-F5344CB8AC3E}">
        <p14:creationId xmlns:p14="http://schemas.microsoft.com/office/powerpoint/2010/main" val="21677869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990599"/>
            <a:ext cx="4000349" cy="1075268"/>
          </a:xfrm>
        </p:spPr>
        <p:txBody>
          <a:bodyPr>
            <a:normAutofit/>
          </a:bodyPr>
          <a:lstStyle/>
          <a:p>
            <a:pPr algn="ctr">
              <a:lnSpc>
                <a:spcPct val="90000"/>
              </a:lnSpc>
            </a:pPr>
            <a:r>
              <a:rPr lang="en-US" b="1" dirty="0">
                <a:solidFill>
                  <a:srgbClr val="FFC000"/>
                </a:solidFill>
              </a:rPr>
              <a:t>Tabs</a:t>
            </a:r>
          </a:p>
        </p:txBody>
      </p:sp>
      <p:sp>
        <p:nvSpPr>
          <p:cNvPr id="14" name="Content Placeholder 13">
            <a:extLst>
              <a:ext uri="{FF2B5EF4-FFF2-40B4-BE49-F238E27FC236}">
                <a16:creationId xmlns:a16="http://schemas.microsoft.com/office/drawing/2014/main" id="{693AC7D1-A599-1CE3-3CF4-B1044F71FC7E}"/>
              </a:ext>
            </a:extLst>
          </p:cNvPr>
          <p:cNvSpPr>
            <a:spLocks noGrp="1"/>
          </p:cNvSpPr>
          <p:nvPr>
            <p:ph idx="1"/>
          </p:nvPr>
        </p:nvSpPr>
        <p:spPr>
          <a:xfrm>
            <a:off x="488939" y="2187927"/>
            <a:ext cx="3593502" cy="1328209"/>
          </a:xfrm>
        </p:spPr>
        <p:txBody>
          <a:bodyPr>
            <a:normAutofit/>
          </a:bodyPr>
          <a:lstStyle/>
          <a:p>
            <a:r>
              <a:rPr lang="en-US" sz="2400" dirty="0"/>
              <a:t>Wearable centimeter-sized devices</a:t>
            </a:r>
          </a:p>
        </p:txBody>
      </p:sp>
      <p:pic>
        <p:nvPicPr>
          <p:cNvPr id="10" name="Picture 9" descr="smartphones_rect.jpg"/>
          <p:cNvPicPr>
            <a:picLocks noChangeAspect="1"/>
          </p:cNvPicPr>
          <p:nvPr/>
        </p:nvPicPr>
        <p:blipFill rotWithShape="1">
          <a:blip r:embed="rId2" cstate="print">
            <a:extLst>
              <a:ext uri="{28A0092B-C50C-407E-A947-70E740481C1C}">
                <a14:useLocalDpi xmlns:a14="http://schemas.microsoft.com/office/drawing/2010/main" val="0"/>
              </a:ext>
            </a:extLst>
          </a:blip>
          <a:srcRect t="5538" r="-2" b="231"/>
          <a:stretch/>
        </p:blipFill>
        <p:spPr>
          <a:xfrm>
            <a:off x="4131105" y="446582"/>
            <a:ext cx="4666241" cy="2934987"/>
          </a:xfrm>
          <a:custGeom>
            <a:avLst/>
            <a:gdLst/>
            <a:ahLst/>
            <a:cxnLst/>
            <a:rect l="l" t="t" r="r" b="b"/>
            <a:pathLst>
              <a:path w="4936645" h="2328800">
                <a:moveTo>
                  <a:pt x="210266" y="0"/>
                </a:moveTo>
                <a:lnTo>
                  <a:pt x="4726379" y="0"/>
                </a:lnTo>
                <a:cubicBezTo>
                  <a:pt x="4842506" y="0"/>
                  <a:pt x="4936645" y="94139"/>
                  <a:pt x="4936645" y="210266"/>
                </a:cubicBezTo>
                <a:lnTo>
                  <a:pt x="4936645" y="2328800"/>
                </a:lnTo>
                <a:lnTo>
                  <a:pt x="0" y="2328800"/>
                </a:lnTo>
                <a:lnTo>
                  <a:pt x="0" y="210266"/>
                </a:lnTo>
                <a:cubicBezTo>
                  <a:pt x="0" y="94139"/>
                  <a:pt x="94139" y="0"/>
                  <a:pt x="210266" y="0"/>
                </a:cubicBezTo>
                <a:close/>
              </a:path>
            </a:pathLst>
          </a:custGeom>
          <a:ln w="50800" cap="sq" cmpd="dbl">
            <a:noFill/>
            <a:miter lim="800000"/>
          </a:ln>
          <a:effectLst/>
        </p:spPr>
      </p:pic>
      <p:pic>
        <p:nvPicPr>
          <p:cNvPr id="7" name="Content Placeholder 6" descr="5_1329523205_BV_1396510689.jpg"/>
          <p:cNvPicPr>
            <a:picLocks noChangeAspect="1"/>
          </p:cNvPicPr>
          <p:nvPr/>
        </p:nvPicPr>
        <p:blipFill rotWithShape="1">
          <a:blip r:embed="rId3">
            <a:extLst>
              <a:ext uri="{28A0092B-C50C-407E-A947-70E740481C1C}">
                <a14:useLocalDpi xmlns:a14="http://schemas.microsoft.com/office/drawing/2010/main" val="0"/>
              </a:ext>
            </a:extLst>
          </a:blip>
          <a:srcRect l="12196" r="25865" b="2"/>
          <a:stretch/>
        </p:blipFill>
        <p:spPr>
          <a:xfrm>
            <a:off x="4107853" y="3470276"/>
            <a:ext cx="2261815" cy="2925059"/>
          </a:xfrm>
          <a:custGeom>
            <a:avLst/>
            <a:gdLst/>
            <a:ahLst/>
            <a:cxnLst/>
            <a:rect l="l" t="t" r="r" b="b"/>
            <a:pathLst>
              <a:path w="2392885" h="2320923">
                <a:moveTo>
                  <a:pt x="0" y="0"/>
                </a:moveTo>
                <a:lnTo>
                  <a:pt x="2392885" y="0"/>
                </a:lnTo>
                <a:lnTo>
                  <a:pt x="2392885" y="2320923"/>
                </a:lnTo>
                <a:lnTo>
                  <a:pt x="210266" y="2320923"/>
                </a:lnTo>
                <a:cubicBezTo>
                  <a:pt x="94139" y="2320923"/>
                  <a:pt x="0" y="2226784"/>
                  <a:pt x="0" y="2110657"/>
                </a:cubicBezTo>
                <a:close/>
              </a:path>
            </a:pathLst>
          </a:custGeom>
          <a:ln w="50800" cap="sq" cmpd="dbl">
            <a:noFill/>
            <a:miter lim="800000"/>
          </a:ln>
          <a:effectLst/>
        </p:spPr>
      </p:pic>
      <p:pic>
        <p:nvPicPr>
          <p:cNvPr id="8" name="Picture 7" descr="images.jpg"/>
          <p:cNvPicPr>
            <a:picLocks noChangeAspect="1"/>
          </p:cNvPicPr>
          <p:nvPr/>
        </p:nvPicPr>
        <p:blipFill rotWithShape="1">
          <a:blip r:embed="rId4">
            <a:extLst>
              <a:ext uri="{28A0092B-C50C-407E-A947-70E740481C1C}">
                <a14:useLocalDpi xmlns:a14="http://schemas.microsoft.com/office/drawing/2010/main" val="0"/>
              </a:ext>
            </a:extLst>
          </a:blip>
          <a:srcRect l="31570" r="8846" b="1"/>
          <a:stretch/>
        </p:blipFill>
        <p:spPr>
          <a:xfrm>
            <a:off x="6535532" y="3486358"/>
            <a:ext cx="2261814" cy="2925060"/>
          </a:xfrm>
          <a:custGeom>
            <a:avLst/>
            <a:gdLst/>
            <a:ahLst/>
            <a:cxnLst/>
            <a:rect l="l" t="t" r="r" b="b"/>
            <a:pathLst>
              <a:path w="2392884" h="2320923">
                <a:moveTo>
                  <a:pt x="0" y="0"/>
                </a:moveTo>
                <a:lnTo>
                  <a:pt x="2392884" y="0"/>
                </a:lnTo>
                <a:lnTo>
                  <a:pt x="2392884" y="2110657"/>
                </a:lnTo>
                <a:cubicBezTo>
                  <a:pt x="2392884" y="2226784"/>
                  <a:pt x="2298745" y="2320923"/>
                  <a:pt x="2182618" y="2320923"/>
                </a:cubicBezTo>
                <a:lnTo>
                  <a:pt x="0" y="2320923"/>
                </a:lnTo>
                <a:close/>
              </a:path>
            </a:pathLst>
          </a:custGeom>
          <a:ln w="50800" cap="sq" cmpd="dbl">
            <a:noFill/>
            <a:miter lim="800000"/>
          </a:ln>
          <a:effectLst/>
        </p:spPr>
      </p:pic>
      <p:sp>
        <p:nvSpPr>
          <p:cNvPr id="6" name="Slide Number Placeholder 5"/>
          <p:cNvSpPr>
            <a:spLocks noGrp="1"/>
          </p:cNvSpPr>
          <p:nvPr>
            <p:ph type="sldNum" sz="quarter" idx="12"/>
          </p:nvPr>
        </p:nvSpPr>
        <p:spPr>
          <a:xfrm>
            <a:off x="7591943" y="5870575"/>
            <a:ext cx="520977" cy="415281"/>
          </a:xfrm>
        </p:spPr>
        <p:txBody>
          <a:bodyPr>
            <a:normAutofit/>
          </a:bodyPr>
          <a:lstStyle/>
          <a:p>
            <a:pPr>
              <a:spcAft>
                <a:spcPts val="600"/>
              </a:spcAft>
            </a:pPr>
            <a:fld id="{CC13ADC4-536D-428E-8667-0275BB2B031C}" type="slidenum">
              <a:rPr lang="en-GB" smtClean="0"/>
              <a:pPr>
                <a:spcAft>
                  <a:spcPts val="600"/>
                </a:spcAft>
              </a:pPr>
              <a:t>24</a:t>
            </a:fld>
            <a:endParaRPr lang="en-GB"/>
          </a:p>
        </p:txBody>
      </p:sp>
    </p:spTree>
    <p:extLst>
      <p:ext uri="{BB962C8B-B14F-4D97-AF65-F5344CB8AC3E}">
        <p14:creationId xmlns:p14="http://schemas.microsoft.com/office/powerpoint/2010/main" val="5214957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7772400" cy="1456267"/>
          </a:xfrm>
        </p:spPr>
        <p:txBody>
          <a:bodyPr/>
          <a:lstStyle/>
          <a:p>
            <a:r>
              <a:rPr lang="en-US" i="1" dirty="0"/>
              <a:t>Pads</a:t>
            </a:r>
            <a:r>
              <a:rPr lang="en-US" dirty="0"/>
              <a:t>: hand-held devices</a:t>
            </a:r>
          </a:p>
        </p:txBody>
      </p:sp>
      <p:pic>
        <p:nvPicPr>
          <p:cNvPr id="9" name="Content Placeholder 8" descr="macbookair_4.jpg"/>
          <p:cNvPicPr>
            <a:picLocks noGrp="1" noChangeAspect="1"/>
          </p:cNvPicPr>
          <p:nvPr>
            <p:ph idx="1"/>
          </p:nvPr>
        </p:nvPicPr>
        <p:blipFill>
          <a:blip r:embed="rId2">
            <a:extLst>
              <a:ext uri="{28A0092B-C50C-407E-A947-70E740481C1C}">
                <a14:useLocalDpi xmlns:a14="http://schemas.microsoft.com/office/drawing/2010/main" val="0"/>
              </a:ext>
            </a:extLst>
          </a:blip>
          <a:srcRect l="12259" r="12259"/>
          <a:stretch>
            <a:fillRect/>
          </a:stretch>
        </p:blipFill>
        <p:spPr>
          <a:xfrm>
            <a:off x="251520" y="1412776"/>
            <a:ext cx="3600401" cy="2548880"/>
          </a:xfrm>
        </p:spPr>
      </p:pic>
      <p:sp>
        <p:nvSpPr>
          <p:cNvPr id="6" name="Slide Number Placeholder 5"/>
          <p:cNvSpPr>
            <a:spLocks noGrp="1"/>
          </p:cNvSpPr>
          <p:nvPr>
            <p:ph type="sldNum" sz="quarter" idx="12"/>
          </p:nvPr>
        </p:nvSpPr>
        <p:spPr/>
        <p:txBody>
          <a:bodyPr/>
          <a:lstStyle/>
          <a:p>
            <a:fld id="{CC13ADC4-536D-428E-8667-0275BB2B031C}" type="slidenum">
              <a:rPr lang="en-GB" smtClean="0"/>
              <a:pPr/>
              <a:t>25</a:t>
            </a:fld>
            <a:endParaRPr lang="en-GB"/>
          </a:p>
        </p:txBody>
      </p:sp>
      <p:pic>
        <p:nvPicPr>
          <p:cNvPr id="10" name="Picture 9" descr="Before-Apple.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03583" y="1412776"/>
            <a:ext cx="5209635" cy="5184576"/>
          </a:xfrm>
          <a:prstGeom prst="rect">
            <a:avLst/>
          </a:prstGeom>
        </p:spPr>
      </p:pic>
    </p:spTree>
    <p:extLst>
      <p:ext uri="{BB962C8B-B14F-4D97-AF65-F5344CB8AC3E}">
        <p14:creationId xmlns:p14="http://schemas.microsoft.com/office/powerpoint/2010/main" val="31740629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350" y="609600"/>
            <a:ext cx="3511405" cy="1456267"/>
          </a:xfrm>
        </p:spPr>
        <p:txBody>
          <a:bodyPr>
            <a:normAutofit/>
          </a:bodyPr>
          <a:lstStyle/>
          <a:p>
            <a:pPr algn="ctr"/>
            <a:r>
              <a:rPr lang="en-US" b="1" dirty="0">
                <a:solidFill>
                  <a:srgbClr val="FFC000"/>
                </a:solidFill>
              </a:rPr>
              <a:t>Boards</a:t>
            </a:r>
          </a:p>
        </p:txBody>
      </p:sp>
      <p:sp>
        <p:nvSpPr>
          <p:cNvPr id="14" name="Content Placeholder 13">
            <a:extLst>
              <a:ext uri="{FF2B5EF4-FFF2-40B4-BE49-F238E27FC236}">
                <a16:creationId xmlns:a16="http://schemas.microsoft.com/office/drawing/2014/main" id="{70F2526C-7591-E4ED-77DE-1BCE8255F2A0}"/>
              </a:ext>
            </a:extLst>
          </p:cNvPr>
          <p:cNvSpPr>
            <a:spLocks noGrp="1"/>
          </p:cNvSpPr>
          <p:nvPr>
            <p:ph idx="1"/>
          </p:nvPr>
        </p:nvSpPr>
        <p:spPr>
          <a:xfrm>
            <a:off x="514350" y="2142067"/>
            <a:ext cx="3511405" cy="1322169"/>
          </a:xfrm>
        </p:spPr>
        <p:txBody>
          <a:bodyPr>
            <a:normAutofit/>
          </a:bodyPr>
          <a:lstStyle/>
          <a:p>
            <a:r>
              <a:rPr lang="en-US" sz="2400" dirty="0"/>
              <a:t>meter-sized interactive display devices</a:t>
            </a:r>
            <a:endParaRPr lang="en-US" dirty="0"/>
          </a:p>
        </p:txBody>
      </p:sp>
      <p:pic>
        <p:nvPicPr>
          <p:cNvPr id="10" name="Picture 9" descr="surface-computing-in-films.jpg"/>
          <p:cNvPicPr>
            <a:picLocks noChangeAspect="1"/>
          </p:cNvPicPr>
          <p:nvPr/>
        </p:nvPicPr>
        <p:blipFill rotWithShape="1">
          <a:blip r:embed="rId2">
            <a:extLst>
              <a:ext uri="{28A0092B-C50C-407E-A947-70E740481C1C}">
                <a14:useLocalDpi xmlns:a14="http://schemas.microsoft.com/office/drawing/2010/main" val="0"/>
              </a:ext>
            </a:extLst>
          </a:blip>
          <a:srcRect l="20437" r="47688" b="1"/>
          <a:stretch/>
        </p:blipFill>
        <p:spPr>
          <a:xfrm>
            <a:off x="4469493" y="2806240"/>
            <a:ext cx="2176904" cy="2902537"/>
          </a:xfrm>
          <a:custGeom>
            <a:avLst/>
            <a:gdLst/>
            <a:ahLst/>
            <a:cxnLst/>
            <a:rect l="l" t="t" r="r" b="b"/>
            <a:pathLst>
              <a:path w="2851962" h="2851962">
                <a:moveTo>
                  <a:pt x="1425981" y="0"/>
                </a:moveTo>
                <a:cubicBezTo>
                  <a:pt x="2213529" y="0"/>
                  <a:pt x="2851962" y="638433"/>
                  <a:pt x="2851962" y="1425981"/>
                </a:cubicBezTo>
                <a:cubicBezTo>
                  <a:pt x="2851962" y="2213529"/>
                  <a:pt x="2213529" y="2851962"/>
                  <a:pt x="1425981" y="2851962"/>
                </a:cubicBezTo>
                <a:cubicBezTo>
                  <a:pt x="638433" y="2851962"/>
                  <a:pt x="0" y="2213529"/>
                  <a:pt x="0" y="1425981"/>
                </a:cubicBezTo>
                <a:cubicBezTo>
                  <a:pt x="0" y="638433"/>
                  <a:pt x="638433" y="0"/>
                  <a:pt x="1425981" y="0"/>
                </a:cubicBezTo>
                <a:close/>
              </a:path>
            </a:pathLst>
          </a:custGeom>
        </p:spPr>
      </p:pic>
      <p:pic>
        <p:nvPicPr>
          <p:cNvPr id="8" name="Picture 7" descr="Interactive_whiteboard_at_CeBIT_2007.jpg"/>
          <p:cNvPicPr>
            <a:picLocks noChangeAspect="1"/>
          </p:cNvPicPr>
          <p:nvPr/>
        </p:nvPicPr>
        <p:blipFill rotWithShape="1">
          <a:blip r:embed="rId3">
            <a:extLst>
              <a:ext uri="{28A0092B-C50C-407E-A947-70E740481C1C}">
                <a14:useLocalDpi xmlns:a14="http://schemas.microsoft.com/office/drawing/2010/main" val="0"/>
              </a:ext>
            </a:extLst>
          </a:blip>
          <a:srcRect l="32540" r="-4" b="-4"/>
          <a:stretch/>
        </p:blipFill>
        <p:spPr>
          <a:xfrm>
            <a:off x="6041691" y="-3863"/>
            <a:ext cx="3099565" cy="3445946"/>
          </a:xfrm>
          <a:custGeom>
            <a:avLst/>
            <a:gdLst/>
            <a:ahLst/>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pic>
        <p:nvPicPr>
          <p:cNvPr id="9" name="Content Placeholder 8" descr="470_micro2,0.jpg"/>
          <p:cNvPicPr>
            <a:picLocks noChangeAspect="1"/>
          </p:cNvPicPr>
          <p:nvPr/>
        </p:nvPicPr>
        <p:blipFill rotWithShape="1">
          <a:blip r:embed="rId4">
            <a:extLst>
              <a:ext uri="{28A0092B-C50C-407E-A947-70E740481C1C}">
                <a14:useLocalDpi xmlns:a14="http://schemas.microsoft.com/office/drawing/2010/main" val="0"/>
              </a:ext>
            </a:extLst>
          </a:blip>
          <a:srcRect l="28370" r="7585" b="-1"/>
          <a:stretch/>
        </p:blipFill>
        <p:spPr>
          <a:xfrm>
            <a:off x="6666099" y="4144246"/>
            <a:ext cx="2477225" cy="2717299"/>
          </a:xfrm>
          <a:custGeom>
            <a:avLst/>
            <a:gdLst/>
            <a:ahLst/>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sp>
        <p:nvSpPr>
          <p:cNvPr id="6" name="Slide Number Placeholder 5"/>
          <p:cNvSpPr>
            <a:spLocks noGrp="1"/>
          </p:cNvSpPr>
          <p:nvPr>
            <p:ph type="sldNum" sz="quarter" idx="12"/>
          </p:nvPr>
        </p:nvSpPr>
        <p:spPr>
          <a:xfrm>
            <a:off x="7699545" y="5870575"/>
            <a:ext cx="413375" cy="377825"/>
          </a:xfrm>
        </p:spPr>
        <p:txBody>
          <a:bodyPr>
            <a:normAutofit/>
          </a:bodyPr>
          <a:lstStyle/>
          <a:p>
            <a:pPr>
              <a:spcAft>
                <a:spcPts val="600"/>
              </a:spcAft>
            </a:pPr>
            <a:fld id="{CC13ADC4-536D-428E-8667-0275BB2B031C}" type="slidenum">
              <a:rPr lang="en-GB" smtClean="0"/>
              <a:pPr>
                <a:spcAft>
                  <a:spcPts val="600"/>
                </a:spcAft>
              </a:pPr>
              <a:t>26</a:t>
            </a:fld>
            <a:endParaRPr lang="en-GB"/>
          </a:p>
        </p:txBody>
      </p:sp>
    </p:spTree>
    <p:extLst>
      <p:ext uri="{BB962C8B-B14F-4D97-AF65-F5344CB8AC3E}">
        <p14:creationId xmlns:p14="http://schemas.microsoft.com/office/powerpoint/2010/main" val="9052410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b="1" dirty="0"/>
              <a:t>DIFFERENT NAMES IN DIFFERENT CONTEXTS</a:t>
            </a:r>
          </a:p>
        </p:txBody>
      </p:sp>
      <p:sp>
        <p:nvSpPr>
          <p:cNvPr id="3" name="Content Placeholder 2"/>
          <p:cNvSpPr>
            <a:spLocks noGrp="1"/>
          </p:cNvSpPr>
          <p:nvPr>
            <p:ph idx="1"/>
          </p:nvPr>
        </p:nvSpPr>
        <p:spPr>
          <a:xfrm>
            <a:off x="457200" y="1988840"/>
            <a:ext cx="8229600" cy="4392488"/>
          </a:xfrm>
        </p:spPr>
        <p:txBody>
          <a:bodyPr>
            <a:noAutofit/>
          </a:bodyPr>
          <a:lstStyle/>
          <a:p>
            <a:pPr algn="just"/>
            <a:r>
              <a:rPr lang="en-GB" sz="2400" b="1" dirty="0">
                <a:solidFill>
                  <a:srgbClr val="FFC000"/>
                </a:solidFill>
              </a:rPr>
              <a:t>Nomadic Computing</a:t>
            </a:r>
            <a:r>
              <a:rPr lang="en-GB" sz="2400" dirty="0">
                <a:solidFill>
                  <a:srgbClr val="FFC000"/>
                </a:solidFill>
              </a:rPr>
              <a:t>: </a:t>
            </a:r>
            <a:r>
              <a:rPr lang="en-GB" sz="2400" dirty="0"/>
              <a:t>the computing environment is nomadic and moves along with the mobile user.</a:t>
            </a:r>
          </a:p>
          <a:p>
            <a:pPr algn="just"/>
            <a:endParaRPr lang="en-GB" sz="2400" dirty="0"/>
          </a:p>
          <a:p>
            <a:pPr marL="342900" lvl="1" indent="-342900" algn="just"/>
            <a:r>
              <a:rPr lang="en-US" sz="2400" kern="1200" dirty="0"/>
              <a:t>A nomad refers to community of people who live in different locations, moving from one place to another</a:t>
            </a:r>
          </a:p>
          <a:p>
            <a:pPr marL="342900" lvl="1" indent="-342900" algn="just"/>
            <a:endParaRPr lang="en-US" sz="2400" dirty="0"/>
          </a:p>
          <a:p>
            <a:pPr marL="342900" lvl="1" indent="-342900" algn="just"/>
            <a:r>
              <a:rPr lang="en-US" sz="2400" dirty="0"/>
              <a:t>The example of users carrying laptop with wireless access are engaged in nomadic computing</a:t>
            </a:r>
          </a:p>
          <a:p>
            <a:pPr algn="just"/>
            <a:endParaRPr lang="en-GB" sz="2400" dirty="0"/>
          </a:p>
          <a:p>
            <a:pPr algn="just"/>
            <a:endParaRPr lang="en-GB" sz="2400" dirty="0"/>
          </a:p>
        </p:txBody>
      </p:sp>
      <p:sp>
        <p:nvSpPr>
          <p:cNvPr id="5" name="Slide Number Placeholder 4"/>
          <p:cNvSpPr>
            <a:spLocks noGrp="1"/>
          </p:cNvSpPr>
          <p:nvPr>
            <p:ph type="sldNum" sz="quarter" idx="12"/>
          </p:nvPr>
        </p:nvSpPr>
        <p:spPr/>
        <p:txBody>
          <a:bodyPr/>
          <a:lstStyle/>
          <a:p>
            <a:fld id="{CC13ADC4-536D-428E-8667-0275BB2B031C}" type="slidenum">
              <a:rPr lang="en-GB" smtClean="0"/>
              <a:pPr/>
              <a:t>27</a:t>
            </a:fld>
            <a:endParaRPr lang="en-GB"/>
          </a:p>
        </p:txBody>
      </p:sp>
    </p:spTree>
    <p:extLst>
      <p:ext uri="{BB962C8B-B14F-4D97-AF65-F5344CB8AC3E}">
        <p14:creationId xmlns:p14="http://schemas.microsoft.com/office/powerpoint/2010/main" val="25715638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b="1" dirty="0"/>
              <a:t>DIFFERENT NAMES IN DIFFERENT CONTEXTS</a:t>
            </a:r>
          </a:p>
        </p:txBody>
      </p:sp>
      <p:sp>
        <p:nvSpPr>
          <p:cNvPr id="3" name="Content Placeholder 2"/>
          <p:cNvSpPr>
            <a:spLocks noGrp="1"/>
          </p:cNvSpPr>
          <p:nvPr>
            <p:ph idx="1"/>
          </p:nvPr>
        </p:nvSpPr>
        <p:spPr>
          <a:xfrm>
            <a:off x="457200" y="1600200"/>
            <a:ext cx="8229600" cy="4781128"/>
          </a:xfrm>
        </p:spPr>
        <p:txBody>
          <a:bodyPr>
            <a:noAutofit/>
          </a:bodyPr>
          <a:lstStyle/>
          <a:p>
            <a:pPr algn="just"/>
            <a:r>
              <a:rPr lang="en-GB" sz="2400" b="1" dirty="0">
                <a:solidFill>
                  <a:srgbClr val="FFC000"/>
                </a:solidFill>
              </a:rPr>
              <a:t>Internet of Things (</a:t>
            </a:r>
            <a:r>
              <a:rPr lang="en-GB" sz="2400" b="1" dirty="0" err="1">
                <a:solidFill>
                  <a:srgbClr val="FFC000"/>
                </a:solidFill>
              </a:rPr>
              <a:t>IoTs</a:t>
            </a:r>
            <a:r>
              <a:rPr lang="en-GB" sz="2400" b="1" dirty="0">
                <a:solidFill>
                  <a:srgbClr val="FFC000"/>
                </a:solidFill>
              </a:rPr>
              <a:t>)</a:t>
            </a:r>
            <a:r>
              <a:rPr lang="en-GB" sz="2400" dirty="0">
                <a:solidFill>
                  <a:srgbClr val="FFC000"/>
                </a:solidFill>
              </a:rPr>
              <a:t>: </a:t>
            </a:r>
            <a:r>
              <a:rPr lang="en-US" sz="2400" dirty="0"/>
              <a:t>is an environment of humans, objects, or things, where everyone has assigned with a unique identity and has the ability to transfer the data over a network without any human to human and machine to human involvement.</a:t>
            </a:r>
          </a:p>
          <a:p>
            <a:pPr algn="just"/>
            <a:endParaRPr lang="en-US" sz="2400" dirty="0"/>
          </a:p>
          <a:p>
            <a:pPr algn="just"/>
            <a:r>
              <a:rPr lang="en-US" sz="2400" dirty="0"/>
              <a:t>Examples: connected security systems, thermostats, cars, electronic appliances, lights in household and commercial environments, alarm clocks, speaker systems, vending machines and more.  </a:t>
            </a:r>
            <a:endParaRPr lang="en-GB" sz="2400" dirty="0"/>
          </a:p>
        </p:txBody>
      </p:sp>
      <p:sp>
        <p:nvSpPr>
          <p:cNvPr id="5" name="Slide Number Placeholder 4"/>
          <p:cNvSpPr>
            <a:spLocks noGrp="1"/>
          </p:cNvSpPr>
          <p:nvPr>
            <p:ph type="sldNum" sz="quarter" idx="12"/>
          </p:nvPr>
        </p:nvSpPr>
        <p:spPr/>
        <p:txBody>
          <a:bodyPr/>
          <a:lstStyle/>
          <a:p>
            <a:fld id="{CC13ADC4-536D-428E-8667-0275BB2B031C}" type="slidenum">
              <a:rPr lang="en-GB" smtClean="0"/>
              <a:pPr/>
              <a:t>28</a:t>
            </a:fld>
            <a:endParaRPr lang="en-GB"/>
          </a:p>
        </p:txBody>
      </p:sp>
    </p:spTree>
    <p:extLst>
      <p:ext uri="{BB962C8B-B14F-4D97-AF65-F5344CB8AC3E}">
        <p14:creationId xmlns:p14="http://schemas.microsoft.com/office/powerpoint/2010/main" val="15322034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2"/>
            <a:ext cx="7772400" cy="868324"/>
          </a:xfrm>
        </p:spPr>
        <p:txBody>
          <a:bodyPr/>
          <a:lstStyle/>
          <a:p>
            <a:pPr algn="r"/>
            <a:r>
              <a:rPr lang="en-GB" b="1" dirty="0"/>
              <a:t>DIFFERENT NAMES IN DIFFERENT CONTEXTS</a:t>
            </a:r>
            <a:endParaRPr lang="en-US" b="1" dirty="0"/>
          </a:p>
        </p:txBody>
      </p:sp>
      <p:sp>
        <p:nvSpPr>
          <p:cNvPr id="6" name="Slide Number Placeholder 5"/>
          <p:cNvSpPr>
            <a:spLocks noGrp="1"/>
          </p:cNvSpPr>
          <p:nvPr>
            <p:ph type="sldNum" sz="quarter" idx="12"/>
          </p:nvPr>
        </p:nvSpPr>
        <p:spPr/>
        <p:txBody>
          <a:bodyPr/>
          <a:lstStyle/>
          <a:p>
            <a:fld id="{CC13ADC4-536D-428E-8667-0275BB2B031C}" type="slidenum">
              <a:rPr lang="en-GB" smtClean="0"/>
              <a:pPr/>
              <a:t>29</a:t>
            </a:fld>
            <a:endParaRPr lang="en-GB"/>
          </a:p>
        </p:txBody>
      </p:sp>
      <p:pic>
        <p:nvPicPr>
          <p:cNvPr id="1028" name="Picture 4" descr="Image result for internet of thing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08" y="1700808"/>
            <a:ext cx="9151808" cy="4846713"/>
          </a:xfrm>
          <a:prstGeom prst="rect">
            <a:avLst/>
          </a:prstGeom>
          <a:solidFill>
            <a:schemeClr val="tx1"/>
          </a:solidFill>
        </p:spPr>
      </p:pic>
    </p:spTree>
    <p:extLst>
      <p:ext uri="{BB962C8B-B14F-4D97-AF65-F5344CB8AC3E}">
        <p14:creationId xmlns:p14="http://schemas.microsoft.com/office/powerpoint/2010/main" val="13517876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63028"/>
            <a:ext cx="7772400" cy="1456267"/>
          </a:xfrm>
        </p:spPr>
        <p:txBody>
          <a:bodyPr/>
          <a:lstStyle/>
          <a:p>
            <a:pPr algn="ctr"/>
            <a:r>
              <a:rPr lang="en-GB" b="1" dirty="0"/>
              <a:t>DIFFERENT NAMES IN DIFFERENT CONTEXTS</a:t>
            </a:r>
            <a:endParaRPr lang="en-US" b="1" dirty="0"/>
          </a:p>
        </p:txBody>
      </p:sp>
      <p:sp>
        <p:nvSpPr>
          <p:cNvPr id="3" name="Content Placeholder 2"/>
          <p:cNvSpPr>
            <a:spLocks noGrp="1"/>
          </p:cNvSpPr>
          <p:nvPr>
            <p:ph idx="1"/>
          </p:nvPr>
        </p:nvSpPr>
        <p:spPr>
          <a:xfrm>
            <a:off x="251520" y="1636836"/>
            <a:ext cx="8712968" cy="4744914"/>
          </a:xfrm>
        </p:spPr>
        <p:txBody>
          <a:bodyPr/>
          <a:lstStyle/>
          <a:p>
            <a:r>
              <a:rPr lang="en-US" sz="2400" b="1">
                <a:solidFill>
                  <a:srgbClr val="0070C0"/>
                </a:solidFill>
              </a:rPr>
              <a:t>Home Automation</a:t>
            </a:r>
            <a:endParaRPr lang="en-US" sz="2400" dirty="0"/>
          </a:p>
        </p:txBody>
      </p:sp>
      <p:sp>
        <p:nvSpPr>
          <p:cNvPr id="6" name="Slide Number Placeholder 5"/>
          <p:cNvSpPr>
            <a:spLocks noGrp="1"/>
          </p:cNvSpPr>
          <p:nvPr>
            <p:ph type="sldNum" sz="quarter" idx="12"/>
          </p:nvPr>
        </p:nvSpPr>
        <p:spPr/>
        <p:txBody>
          <a:bodyPr/>
          <a:lstStyle/>
          <a:p>
            <a:fld id="{CC13ADC4-536D-428E-8667-0275BB2B031C}" type="slidenum">
              <a:rPr lang="en-GB" smtClean="0"/>
              <a:pPr/>
              <a:t>30</a:t>
            </a:fld>
            <a:endParaRPr lang="en-GB"/>
          </a:p>
        </p:txBody>
      </p:sp>
      <p:pic>
        <p:nvPicPr>
          <p:cNvPr id="2052" name="Picture 4"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819295"/>
            <a:ext cx="8229600" cy="4611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40840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6385" y="290322"/>
            <a:ext cx="4944806" cy="1612490"/>
          </a:xfrm>
        </p:spPr>
        <p:txBody>
          <a:bodyPr>
            <a:normAutofit/>
          </a:bodyPr>
          <a:lstStyle/>
          <a:p>
            <a:r>
              <a:rPr lang="en-US" dirty="0"/>
              <a:t>What problems are associated with mobile computers? 	</a:t>
            </a:r>
          </a:p>
        </p:txBody>
      </p:sp>
      <p:pic>
        <p:nvPicPr>
          <p:cNvPr id="8" name="Picture 7" descr="Wi-Fi logo art">
            <a:extLst>
              <a:ext uri="{FF2B5EF4-FFF2-40B4-BE49-F238E27FC236}">
                <a16:creationId xmlns:a16="http://schemas.microsoft.com/office/drawing/2014/main" id="{93458930-70F6-D7F2-C13C-894E706DDD2A}"/>
              </a:ext>
            </a:extLst>
          </p:cNvPr>
          <p:cNvPicPr>
            <a:picLocks noChangeAspect="1"/>
          </p:cNvPicPr>
          <p:nvPr/>
        </p:nvPicPr>
        <p:blipFill rotWithShape="1">
          <a:blip r:embed="rId2"/>
          <a:srcRect l="32912" r="31598" b="1"/>
          <a:stretch/>
        </p:blipFill>
        <p:spPr>
          <a:xfrm>
            <a:off x="20" y="975"/>
            <a:ext cx="3476986" cy="6858000"/>
          </a:xfrm>
          <a:prstGeom prst="rect">
            <a:avLst/>
          </a:prstGeom>
        </p:spPr>
      </p:pic>
      <p:sp>
        <p:nvSpPr>
          <p:cNvPr id="3" name="Content Placeholder 2"/>
          <p:cNvSpPr>
            <a:spLocks noGrp="1"/>
          </p:cNvSpPr>
          <p:nvPr>
            <p:ph idx="1"/>
          </p:nvPr>
        </p:nvSpPr>
        <p:spPr>
          <a:xfrm>
            <a:off x="3716592" y="1902812"/>
            <a:ext cx="5184393" cy="4694539"/>
          </a:xfrm>
        </p:spPr>
        <p:txBody>
          <a:bodyPr>
            <a:normAutofit lnSpcReduction="10000"/>
          </a:bodyPr>
          <a:lstStyle/>
          <a:p>
            <a:pPr>
              <a:lnSpc>
                <a:spcPct val="90000"/>
              </a:lnSpc>
            </a:pPr>
            <a:r>
              <a:rPr lang="en-US" sz="2000" dirty="0"/>
              <a:t>In wireless communication the </a:t>
            </a:r>
            <a:r>
              <a:rPr lang="en-US" sz="2000" b="1" dirty="0">
                <a:solidFill>
                  <a:srgbClr val="FFC000"/>
                </a:solidFill>
              </a:rPr>
              <a:t>surrounding environment interacts with the signal, </a:t>
            </a:r>
            <a:r>
              <a:rPr lang="en-US" sz="2000" dirty="0"/>
              <a:t>blocking signal paths and introducing more noise than in wired networks. This results in that wireless networks are more likely affected by disconnection, have lower bandwidth. </a:t>
            </a:r>
          </a:p>
          <a:p>
            <a:pPr>
              <a:lnSpc>
                <a:spcPct val="90000"/>
              </a:lnSpc>
            </a:pPr>
            <a:endParaRPr lang="en-US" sz="2000" dirty="0"/>
          </a:p>
          <a:p>
            <a:pPr>
              <a:lnSpc>
                <a:spcPct val="90000"/>
              </a:lnSpc>
            </a:pPr>
            <a:r>
              <a:rPr lang="en-US" sz="2000" dirty="0"/>
              <a:t>Manufactures make </a:t>
            </a:r>
            <a:r>
              <a:rPr lang="en-US" sz="2000" b="1" dirty="0"/>
              <a:t>hand-held, portable computers small and light </a:t>
            </a:r>
            <a:r>
              <a:rPr lang="en-US" sz="2000" dirty="0"/>
              <a:t>so they are possible to carry around. </a:t>
            </a:r>
            <a:r>
              <a:rPr lang="en-US" sz="2000" b="1" dirty="0">
                <a:solidFill>
                  <a:srgbClr val="FFC000"/>
                </a:solidFill>
              </a:rPr>
              <a:t>Batteries </a:t>
            </a:r>
            <a:r>
              <a:rPr lang="en-US" sz="2000" dirty="0"/>
              <a:t>are the largest single source to weight in a portable computer. Reducing battery weight reduces the power as well, and users have to recharge frequently, carry spare batteries, or use their mobile computers less.</a:t>
            </a:r>
          </a:p>
        </p:txBody>
      </p:sp>
      <p:sp>
        <p:nvSpPr>
          <p:cNvPr id="6" name="Slide Number Placeholder 5"/>
          <p:cNvSpPr>
            <a:spLocks noGrp="1"/>
          </p:cNvSpPr>
          <p:nvPr>
            <p:ph type="sldNum" sz="quarter" idx="12"/>
          </p:nvPr>
        </p:nvSpPr>
        <p:spPr>
          <a:xfrm>
            <a:off x="8222187" y="6391687"/>
            <a:ext cx="413376" cy="377825"/>
          </a:xfrm>
        </p:spPr>
        <p:txBody>
          <a:bodyPr>
            <a:normAutofit/>
          </a:bodyPr>
          <a:lstStyle/>
          <a:p>
            <a:pPr>
              <a:spcAft>
                <a:spcPts val="600"/>
              </a:spcAft>
            </a:pPr>
            <a:fld id="{CC13ADC4-536D-428E-8667-0275BB2B031C}" type="slidenum">
              <a:rPr lang="en-GB" smtClean="0"/>
              <a:pPr>
                <a:spcAft>
                  <a:spcPts val="600"/>
                </a:spcAft>
              </a:pPr>
              <a:t>31</a:t>
            </a:fld>
            <a:endParaRPr lang="en-GB"/>
          </a:p>
        </p:txBody>
      </p:sp>
    </p:spTree>
    <p:extLst>
      <p:ext uri="{BB962C8B-B14F-4D97-AF65-F5344CB8AC3E}">
        <p14:creationId xmlns:p14="http://schemas.microsoft.com/office/powerpoint/2010/main" val="9694495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ubrik 1"/>
          <p:cNvSpPr>
            <a:spLocks noGrp="1"/>
          </p:cNvSpPr>
          <p:nvPr>
            <p:ph type="title"/>
          </p:nvPr>
        </p:nvSpPr>
        <p:spPr>
          <a:xfrm>
            <a:off x="3730698" y="260648"/>
            <a:ext cx="4944806" cy="1612490"/>
          </a:xfrm>
        </p:spPr>
        <p:txBody>
          <a:bodyPr>
            <a:normAutofit/>
          </a:bodyPr>
          <a:lstStyle/>
          <a:p>
            <a:r>
              <a:rPr lang="sv-SE" b="1" dirty="0"/>
              <a:t>Mobile Computing: issues</a:t>
            </a:r>
          </a:p>
        </p:txBody>
      </p:sp>
      <p:pic>
        <p:nvPicPr>
          <p:cNvPr id="5125" name="Picture 5124" descr="Rubber bands connected attached to nails">
            <a:extLst>
              <a:ext uri="{FF2B5EF4-FFF2-40B4-BE49-F238E27FC236}">
                <a16:creationId xmlns:a16="http://schemas.microsoft.com/office/drawing/2014/main" id="{B8172B02-FFC0-D18F-F70B-8DEED9D24387}"/>
              </a:ext>
            </a:extLst>
          </p:cNvPr>
          <p:cNvPicPr>
            <a:picLocks noChangeAspect="1"/>
          </p:cNvPicPr>
          <p:nvPr/>
        </p:nvPicPr>
        <p:blipFill rotWithShape="1">
          <a:blip r:embed="rId3"/>
          <a:srcRect l="43211" r="22947" b="-2"/>
          <a:stretch/>
        </p:blipFill>
        <p:spPr>
          <a:xfrm>
            <a:off x="20" y="975"/>
            <a:ext cx="3476986" cy="6858000"/>
          </a:xfrm>
          <a:prstGeom prst="rect">
            <a:avLst/>
          </a:prstGeom>
        </p:spPr>
      </p:pic>
      <p:sp>
        <p:nvSpPr>
          <p:cNvPr id="5123" name="Platshållare för innehåll 2"/>
          <p:cNvSpPr>
            <a:spLocks noGrp="1"/>
          </p:cNvSpPr>
          <p:nvPr>
            <p:ph idx="1"/>
          </p:nvPr>
        </p:nvSpPr>
        <p:spPr>
          <a:xfrm>
            <a:off x="3716593" y="1988840"/>
            <a:ext cx="4944806" cy="5387107"/>
          </a:xfrm>
        </p:spPr>
        <p:txBody>
          <a:bodyPr>
            <a:normAutofit lnSpcReduction="10000"/>
          </a:bodyPr>
          <a:lstStyle/>
          <a:p>
            <a:r>
              <a:rPr lang="sv-SE" sz="2400" b="1" dirty="0">
                <a:solidFill>
                  <a:srgbClr val="FFC000"/>
                </a:solidFill>
              </a:rPr>
              <a:t>Continuous connectivity</a:t>
            </a:r>
          </a:p>
          <a:p>
            <a:pPr marL="0" indent="0">
              <a:buNone/>
            </a:pPr>
            <a:r>
              <a:rPr lang="sv-SE" sz="2100" dirty="0"/>
              <a:t>How to stay connected when moving between networks  or when external factors such as weather or environment  interfere with signal reception, or nodes  are removed? </a:t>
            </a:r>
            <a:endParaRPr lang="sv-SE" sz="2100" b="1" dirty="0"/>
          </a:p>
          <a:p>
            <a:pPr marL="0" indent="0">
              <a:buNone/>
            </a:pPr>
            <a:endParaRPr lang="sv-SE" sz="2100" b="1" dirty="0"/>
          </a:p>
          <a:p>
            <a:r>
              <a:rPr lang="sv-SE" sz="2100" b="1" dirty="0">
                <a:solidFill>
                  <a:srgbClr val="FFC000"/>
                </a:solidFill>
              </a:rPr>
              <a:t>Wireless communication </a:t>
            </a:r>
            <a:r>
              <a:rPr lang="en-US" sz="2100" b="1" dirty="0">
                <a:solidFill>
                  <a:srgbClr val="FFC000"/>
                </a:solidFill>
              </a:rPr>
              <a:t>without</a:t>
            </a:r>
            <a:r>
              <a:rPr lang="sv-SE" sz="2100" b="1" dirty="0">
                <a:solidFill>
                  <a:srgbClr val="FFC000"/>
                </a:solidFill>
              </a:rPr>
              <a:t> infrastructure</a:t>
            </a:r>
          </a:p>
          <a:p>
            <a:pPr marL="0" indent="0">
              <a:buFont typeface="Arial" panose="020B0604020202020204" pitchFamily="34" charset="0"/>
              <a:buNone/>
            </a:pPr>
            <a:r>
              <a:rPr lang="sv-SE" sz="2100" dirty="0"/>
              <a:t>Different networks use different infrastructures and standards to structure its inhabitant devices. As an outsider enters, it might be hard to find, recognize and interact with other devices in the network. </a:t>
            </a:r>
          </a:p>
          <a:p>
            <a:pPr>
              <a:lnSpc>
                <a:spcPct val="90000"/>
              </a:lnSpc>
            </a:pPr>
            <a:endParaRPr lang="sv-SE" sz="1500" b="1" dirty="0"/>
          </a:p>
          <a:p>
            <a:pPr>
              <a:lnSpc>
                <a:spcPct val="90000"/>
              </a:lnSpc>
            </a:pPr>
            <a:endParaRPr lang="sv-SE" sz="1500" b="1" dirty="0"/>
          </a:p>
          <a:p>
            <a:pPr>
              <a:lnSpc>
                <a:spcPct val="90000"/>
              </a:lnSpc>
            </a:pPr>
            <a:endParaRPr lang="sv-SE" sz="1500" dirty="0"/>
          </a:p>
          <a:p>
            <a:pPr>
              <a:lnSpc>
                <a:spcPct val="90000"/>
              </a:lnSpc>
            </a:pPr>
            <a:endParaRPr lang="sv-SE" sz="1500" dirty="0"/>
          </a:p>
        </p:txBody>
      </p:sp>
      <p:sp>
        <p:nvSpPr>
          <p:cNvPr id="2" name="Slide Number Placeholder 1">
            <a:extLst>
              <a:ext uri="{FF2B5EF4-FFF2-40B4-BE49-F238E27FC236}">
                <a16:creationId xmlns:a16="http://schemas.microsoft.com/office/drawing/2014/main" id="{AA4AB496-081D-4E31-9B6E-46899EECC17E}"/>
              </a:ext>
            </a:extLst>
          </p:cNvPr>
          <p:cNvSpPr>
            <a:spLocks noGrp="1"/>
          </p:cNvSpPr>
          <p:nvPr>
            <p:ph type="sldNum" sz="quarter" idx="12"/>
          </p:nvPr>
        </p:nvSpPr>
        <p:spPr>
          <a:xfrm>
            <a:off x="8222187" y="6391687"/>
            <a:ext cx="413376" cy="377825"/>
          </a:xfrm>
        </p:spPr>
        <p:txBody>
          <a:bodyPr>
            <a:normAutofit/>
          </a:bodyPr>
          <a:lstStyle/>
          <a:p>
            <a:pPr>
              <a:spcAft>
                <a:spcPts val="600"/>
              </a:spcAft>
            </a:pPr>
            <a:fld id="{CC13ADC4-536D-428E-8667-0275BB2B031C}" type="slidenum">
              <a:rPr lang="en-GB" smtClean="0"/>
              <a:pPr>
                <a:spcAft>
                  <a:spcPts val="600"/>
                </a:spcAft>
              </a:pPr>
              <a:t>32</a:t>
            </a:fld>
            <a:endParaRPr lang="en-GB"/>
          </a:p>
        </p:txBody>
      </p:sp>
    </p:spTree>
    <p:extLst>
      <p:ext uri="{BB962C8B-B14F-4D97-AF65-F5344CB8AC3E}">
        <p14:creationId xmlns:p14="http://schemas.microsoft.com/office/powerpoint/2010/main" val="40062620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ubrik 1"/>
          <p:cNvSpPr>
            <a:spLocks noGrp="1"/>
          </p:cNvSpPr>
          <p:nvPr>
            <p:ph type="title"/>
          </p:nvPr>
        </p:nvSpPr>
        <p:spPr>
          <a:xfrm>
            <a:off x="3716592" y="260648"/>
            <a:ext cx="4944806" cy="1612490"/>
          </a:xfrm>
        </p:spPr>
        <p:txBody>
          <a:bodyPr>
            <a:normAutofit/>
          </a:bodyPr>
          <a:lstStyle/>
          <a:p>
            <a:r>
              <a:rPr lang="sv-SE" b="1" dirty="0"/>
              <a:t>Mobile Computing: issues</a:t>
            </a:r>
          </a:p>
        </p:txBody>
      </p:sp>
      <p:pic>
        <p:nvPicPr>
          <p:cNvPr id="5125" name="Picture 5124" descr="Mobile device with apps">
            <a:extLst>
              <a:ext uri="{FF2B5EF4-FFF2-40B4-BE49-F238E27FC236}">
                <a16:creationId xmlns:a16="http://schemas.microsoft.com/office/drawing/2014/main" id="{678BCB34-5128-F9B0-1674-2734001AFA20}"/>
              </a:ext>
            </a:extLst>
          </p:cNvPr>
          <p:cNvPicPr>
            <a:picLocks noChangeAspect="1"/>
          </p:cNvPicPr>
          <p:nvPr/>
        </p:nvPicPr>
        <p:blipFill rotWithShape="1">
          <a:blip r:embed="rId3"/>
          <a:srcRect l="55526" r="15955"/>
          <a:stretch/>
        </p:blipFill>
        <p:spPr>
          <a:xfrm>
            <a:off x="20" y="975"/>
            <a:ext cx="3476986" cy="6858000"/>
          </a:xfrm>
          <a:prstGeom prst="rect">
            <a:avLst/>
          </a:prstGeom>
        </p:spPr>
      </p:pic>
      <p:sp>
        <p:nvSpPr>
          <p:cNvPr id="5123" name="Platshållare för innehåll 2"/>
          <p:cNvSpPr>
            <a:spLocks noGrp="1"/>
          </p:cNvSpPr>
          <p:nvPr>
            <p:ph idx="1"/>
          </p:nvPr>
        </p:nvSpPr>
        <p:spPr>
          <a:xfrm>
            <a:off x="3716592" y="1484784"/>
            <a:ext cx="5184393" cy="5112568"/>
          </a:xfrm>
        </p:spPr>
        <p:txBody>
          <a:bodyPr>
            <a:normAutofit fontScale="92500" lnSpcReduction="10000"/>
          </a:bodyPr>
          <a:lstStyle/>
          <a:p>
            <a:pPr algn="just">
              <a:lnSpc>
                <a:spcPct val="90000"/>
              </a:lnSpc>
            </a:pPr>
            <a:r>
              <a:rPr lang="sv-SE" sz="2400" b="1" dirty="0">
                <a:solidFill>
                  <a:srgbClr val="FFC000"/>
                </a:solidFill>
              </a:rPr>
              <a:t>Location awareness</a:t>
            </a:r>
          </a:p>
          <a:p>
            <a:pPr marL="0" indent="0" algn="just">
              <a:lnSpc>
                <a:spcPct val="90000"/>
              </a:lnSpc>
              <a:buNone/>
            </a:pPr>
            <a:r>
              <a:rPr lang="sv-SE" sz="2400" dirty="0"/>
              <a:t>The range, cost and maintaining the connection is important. With and increased number of nodes, there will be a higher pressure on the network, causing negative effects on it’s bandwith.</a:t>
            </a:r>
            <a:endParaRPr lang="sv-SE" sz="2400" b="1" dirty="0">
              <a:solidFill>
                <a:srgbClr val="FFC000"/>
              </a:solidFill>
            </a:endParaRPr>
          </a:p>
          <a:p>
            <a:pPr algn="just">
              <a:lnSpc>
                <a:spcPct val="90000"/>
              </a:lnSpc>
            </a:pPr>
            <a:r>
              <a:rPr lang="sv-SE" sz="2400" b="1" dirty="0">
                <a:solidFill>
                  <a:srgbClr val="FFC000"/>
                </a:solidFill>
              </a:rPr>
              <a:t>Resource discovery</a:t>
            </a:r>
          </a:p>
          <a:p>
            <a:pPr marL="0" indent="0" algn="just">
              <a:lnSpc>
                <a:spcPct val="90000"/>
              </a:lnSpc>
              <a:buNone/>
            </a:pPr>
            <a:r>
              <a:rPr lang="sv-SE" sz="2400" dirty="0"/>
              <a:t>Resource constraints: Both mobile and devices in a smart space need to be small which makes battery time decrease.  </a:t>
            </a:r>
          </a:p>
          <a:p>
            <a:pPr algn="just"/>
            <a:r>
              <a:rPr lang="sv-SE" sz="2400" b="1" dirty="0">
                <a:solidFill>
                  <a:srgbClr val="FFC000"/>
                </a:solidFill>
              </a:rPr>
              <a:t>Security</a:t>
            </a:r>
          </a:p>
          <a:p>
            <a:pPr marL="0" indent="0" algn="just">
              <a:buNone/>
            </a:pPr>
            <a:r>
              <a:rPr lang="sv-SE" sz="2400" dirty="0"/>
              <a:t>Privacy is a major issue for users who may distrust systems because of their sensing abilities. Users might not always be aware of being sensed. </a:t>
            </a:r>
          </a:p>
          <a:p>
            <a:pPr marL="0" indent="0">
              <a:lnSpc>
                <a:spcPct val="90000"/>
              </a:lnSpc>
              <a:buNone/>
            </a:pPr>
            <a:endParaRPr lang="sv-SE" sz="1600" dirty="0"/>
          </a:p>
        </p:txBody>
      </p:sp>
      <p:sp>
        <p:nvSpPr>
          <p:cNvPr id="2" name="Slide Number Placeholder 1">
            <a:extLst>
              <a:ext uri="{FF2B5EF4-FFF2-40B4-BE49-F238E27FC236}">
                <a16:creationId xmlns:a16="http://schemas.microsoft.com/office/drawing/2014/main" id="{9632BE15-0C6A-41B9-BFEB-2431E2B85D3F}"/>
              </a:ext>
            </a:extLst>
          </p:cNvPr>
          <p:cNvSpPr>
            <a:spLocks noGrp="1"/>
          </p:cNvSpPr>
          <p:nvPr>
            <p:ph type="sldNum" sz="quarter" idx="12"/>
          </p:nvPr>
        </p:nvSpPr>
        <p:spPr>
          <a:xfrm>
            <a:off x="8222187" y="6391687"/>
            <a:ext cx="413376" cy="377825"/>
          </a:xfrm>
        </p:spPr>
        <p:txBody>
          <a:bodyPr>
            <a:normAutofit/>
          </a:bodyPr>
          <a:lstStyle/>
          <a:p>
            <a:pPr>
              <a:spcAft>
                <a:spcPts val="600"/>
              </a:spcAft>
            </a:pPr>
            <a:fld id="{CC13ADC4-536D-428E-8667-0275BB2B031C}" type="slidenum">
              <a:rPr lang="en-GB" smtClean="0"/>
              <a:pPr>
                <a:spcAft>
                  <a:spcPts val="600"/>
                </a:spcAft>
              </a:pPr>
              <a:t>33</a:t>
            </a:fld>
            <a:endParaRPr lang="en-GB"/>
          </a:p>
        </p:txBody>
      </p:sp>
    </p:spTree>
    <p:extLst>
      <p:ext uri="{BB962C8B-B14F-4D97-AF65-F5344CB8AC3E}">
        <p14:creationId xmlns:p14="http://schemas.microsoft.com/office/powerpoint/2010/main" val="23690879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Different Types of Mobile Application</a:t>
            </a:r>
          </a:p>
        </p:txBody>
      </p:sp>
      <p:sp>
        <p:nvSpPr>
          <p:cNvPr id="3" name="Content Placeholder 2"/>
          <p:cNvSpPr>
            <a:spLocks noGrp="1"/>
          </p:cNvSpPr>
          <p:nvPr>
            <p:ph idx="1"/>
          </p:nvPr>
        </p:nvSpPr>
        <p:spPr>
          <a:xfrm>
            <a:off x="457200" y="2065868"/>
            <a:ext cx="8229600" cy="3307348"/>
          </a:xfrm>
        </p:spPr>
        <p:txBody>
          <a:bodyPr>
            <a:normAutofit/>
          </a:bodyPr>
          <a:lstStyle/>
          <a:p>
            <a:pPr marL="1252538" lvl="1" indent="-795338">
              <a:buFont typeface="Wingdings" panose="05000000000000000000" pitchFamily="2" charset="2"/>
              <a:buChar char="v"/>
            </a:pPr>
            <a:r>
              <a:rPr lang="en-US" sz="2800" b="1" dirty="0">
                <a:solidFill>
                  <a:srgbClr val="FFC000"/>
                </a:solidFill>
              </a:rPr>
              <a:t>Native mobile apps</a:t>
            </a:r>
          </a:p>
          <a:p>
            <a:pPr marL="1252538" lvl="1" indent="-795338">
              <a:buFont typeface="Wingdings" panose="05000000000000000000" pitchFamily="2" charset="2"/>
              <a:buChar char="v"/>
            </a:pPr>
            <a:r>
              <a:rPr lang="en-US" sz="2800" b="1" dirty="0">
                <a:solidFill>
                  <a:srgbClr val="FFC000"/>
                </a:solidFill>
              </a:rPr>
              <a:t>Cross-platform apps</a:t>
            </a:r>
          </a:p>
          <a:p>
            <a:pPr marL="1252538" lvl="1" indent="-795338">
              <a:buFont typeface="Wingdings" panose="05000000000000000000" pitchFamily="2" charset="2"/>
              <a:buChar char="v"/>
            </a:pPr>
            <a:r>
              <a:rPr lang="en-US" sz="2800" b="1" dirty="0">
                <a:solidFill>
                  <a:srgbClr val="FFC000"/>
                </a:solidFill>
              </a:rPr>
              <a:t>Hybrid apps</a:t>
            </a:r>
          </a:p>
          <a:p>
            <a:pPr marL="1252538" lvl="1" indent="-795338">
              <a:buFont typeface="Wingdings" panose="05000000000000000000" pitchFamily="2" charset="2"/>
              <a:buChar char="v"/>
            </a:pPr>
            <a:r>
              <a:rPr lang="en-US" sz="2800" b="1" dirty="0">
                <a:solidFill>
                  <a:srgbClr val="FFC000"/>
                </a:solidFill>
              </a:rPr>
              <a:t>Web apps</a:t>
            </a:r>
            <a:endParaRPr lang="en-US" sz="2800" dirty="0">
              <a:solidFill>
                <a:srgbClr val="FFC000"/>
              </a:solidFill>
            </a:endParaRPr>
          </a:p>
        </p:txBody>
      </p:sp>
      <p:sp>
        <p:nvSpPr>
          <p:cNvPr id="6" name="Slide Number Placeholder 5"/>
          <p:cNvSpPr>
            <a:spLocks noGrp="1"/>
          </p:cNvSpPr>
          <p:nvPr>
            <p:ph type="sldNum" sz="quarter" idx="12"/>
          </p:nvPr>
        </p:nvSpPr>
        <p:spPr/>
        <p:txBody>
          <a:bodyPr/>
          <a:lstStyle/>
          <a:p>
            <a:fld id="{2CF92F4A-FC3C-4C13-A76F-34129D2ABBA1}" type="slidenum">
              <a:rPr lang="en-GB" smtClean="0"/>
              <a:pPr/>
              <a:t>34</a:t>
            </a:fld>
            <a:endParaRPr lang="en-GB"/>
          </a:p>
        </p:txBody>
      </p:sp>
    </p:spTree>
    <p:extLst>
      <p:ext uri="{BB962C8B-B14F-4D97-AF65-F5344CB8AC3E}">
        <p14:creationId xmlns:p14="http://schemas.microsoft.com/office/powerpoint/2010/main" val="3630890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414725"/>
            <a:ext cx="7772400" cy="1456267"/>
          </a:xfrm>
        </p:spPr>
        <p:txBody>
          <a:bodyPr>
            <a:normAutofit/>
          </a:bodyPr>
          <a:lstStyle/>
          <a:p>
            <a:r>
              <a:rPr lang="en-US" sz="3200" b="1" dirty="0"/>
              <a:t>Native Mobile Apps</a:t>
            </a:r>
          </a:p>
        </p:txBody>
      </p:sp>
      <p:sp>
        <p:nvSpPr>
          <p:cNvPr id="3" name="Content Placeholder 2"/>
          <p:cNvSpPr>
            <a:spLocks noGrp="1"/>
          </p:cNvSpPr>
          <p:nvPr>
            <p:ph idx="1"/>
          </p:nvPr>
        </p:nvSpPr>
        <p:spPr>
          <a:xfrm>
            <a:off x="457200" y="1600200"/>
            <a:ext cx="8435280" cy="4781128"/>
          </a:xfrm>
        </p:spPr>
        <p:txBody>
          <a:bodyPr>
            <a:normAutofit/>
          </a:bodyPr>
          <a:lstStyle/>
          <a:p>
            <a:r>
              <a:rPr lang="en-US" sz="2800" b="1" dirty="0">
                <a:solidFill>
                  <a:srgbClr val="FFC000"/>
                </a:solidFill>
              </a:rPr>
              <a:t>Native mobile apps </a:t>
            </a:r>
            <a:r>
              <a:rPr lang="en-US" sz="2800" dirty="0"/>
              <a:t>are written in a language that’s natively supported by the device OS vendor </a:t>
            </a:r>
          </a:p>
          <a:p>
            <a:pPr marL="0" indent="0">
              <a:buNone/>
            </a:pPr>
            <a:r>
              <a:rPr lang="en-US" sz="2800" dirty="0"/>
              <a:t>    – iOS / Android</a:t>
            </a:r>
          </a:p>
          <a:p>
            <a:pPr marL="0" indent="0">
              <a:buNone/>
            </a:pPr>
            <a:endParaRPr lang="en-US" sz="2800" dirty="0"/>
          </a:p>
          <a:p>
            <a:r>
              <a:rPr lang="en-US" sz="2800" dirty="0"/>
              <a:t>They use the development tools and </a:t>
            </a:r>
          </a:p>
          <a:p>
            <a:pPr marL="0" indent="0">
              <a:buNone/>
            </a:pPr>
            <a:r>
              <a:rPr lang="en-US" sz="2800" dirty="0"/>
              <a:t>    language that the respective platform </a:t>
            </a:r>
          </a:p>
          <a:p>
            <a:pPr marL="0" indent="0">
              <a:buNone/>
            </a:pPr>
            <a:r>
              <a:rPr lang="en-US" sz="2800" dirty="0"/>
              <a:t>    supports </a:t>
            </a:r>
            <a:r>
              <a:rPr lang="en-US" sz="2800" b="1" dirty="0">
                <a:solidFill>
                  <a:srgbClr val="FFC000"/>
                </a:solidFill>
              </a:rPr>
              <a:t>(Android – Java/Kotlin, </a:t>
            </a:r>
          </a:p>
          <a:p>
            <a:pPr marL="0" indent="0">
              <a:buNone/>
            </a:pPr>
            <a:r>
              <a:rPr lang="en-US" sz="2800" b="1" dirty="0">
                <a:solidFill>
                  <a:srgbClr val="FFC000"/>
                </a:solidFill>
              </a:rPr>
              <a:t>    iOS – Swift/Objective-C). </a:t>
            </a:r>
          </a:p>
        </p:txBody>
      </p:sp>
      <p:sp>
        <p:nvSpPr>
          <p:cNvPr id="6" name="Slide Number Placeholder 5"/>
          <p:cNvSpPr>
            <a:spLocks noGrp="1"/>
          </p:cNvSpPr>
          <p:nvPr>
            <p:ph type="sldNum" sz="quarter" idx="12"/>
          </p:nvPr>
        </p:nvSpPr>
        <p:spPr/>
        <p:txBody>
          <a:bodyPr/>
          <a:lstStyle/>
          <a:p>
            <a:fld id="{2CF92F4A-FC3C-4C13-A76F-34129D2ABBA1}" type="slidenum">
              <a:rPr lang="en-GB" smtClean="0"/>
              <a:pPr/>
              <a:t>35</a:t>
            </a:fld>
            <a:endParaRPr lang="en-GB"/>
          </a:p>
        </p:txBody>
      </p:sp>
      <p:pic>
        <p:nvPicPr>
          <p:cNvPr id="5122" name="Picture 2" descr="Native 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8715" y="3429000"/>
            <a:ext cx="1483179" cy="27211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14967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749" y="332656"/>
            <a:ext cx="7772400" cy="1456267"/>
          </a:xfrm>
        </p:spPr>
        <p:txBody>
          <a:bodyPr>
            <a:normAutofit/>
          </a:bodyPr>
          <a:lstStyle/>
          <a:p>
            <a:r>
              <a:rPr lang="en-US" sz="3200" b="1" dirty="0"/>
              <a:t>Native Mobile Apps</a:t>
            </a:r>
          </a:p>
        </p:txBody>
      </p:sp>
      <p:sp>
        <p:nvSpPr>
          <p:cNvPr id="3" name="Content Placeholder 2"/>
          <p:cNvSpPr>
            <a:spLocks noGrp="1"/>
          </p:cNvSpPr>
          <p:nvPr>
            <p:ph idx="1"/>
          </p:nvPr>
        </p:nvSpPr>
        <p:spPr>
          <a:xfrm>
            <a:off x="457200" y="1600200"/>
            <a:ext cx="8229600" cy="4781128"/>
          </a:xfrm>
        </p:spPr>
        <p:txBody>
          <a:bodyPr>
            <a:normAutofit/>
          </a:bodyPr>
          <a:lstStyle/>
          <a:p>
            <a:pPr algn="just"/>
            <a:r>
              <a:rPr lang="en-US" sz="2800" dirty="0"/>
              <a:t>Native apps acquire all possible advantages of the device and the operating system’s features. </a:t>
            </a:r>
          </a:p>
          <a:p>
            <a:pPr algn="just"/>
            <a:endParaRPr lang="en-US" sz="2800" dirty="0"/>
          </a:p>
          <a:p>
            <a:pPr algn="just"/>
            <a:r>
              <a:rPr lang="en-US" sz="2800" dirty="0"/>
              <a:t>The apps leverage </a:t>
            </a:r>
            <a:r>
              <a:rPr lang="en-US" sz="2800" b="1" dirty="0">
                <a:solidFill>
                  <a:srgbClr val="FFC000"/>
                </a:solidFill>
              </a:rPr>
              <a:t>direct access to the hardware of the devices </a:t>
            </a:r>
            <a:r>
              <a:rPr lang="en-US" sz="2800" dirty="0"/>
              <a:t>such as GPS, camera, microphone, contacts, offline access, sensors, and many more. </a:t>
            </a:r>
          </a:p>
          <a:p>
            <a:pPr algn="just"/>
            <a:endParaRPr lang="en-US" sz="2800" dirty="0"/>
          </a:p>
          <a:p>
            <a:pPr algn="just"/>
            <a:r>
              <a:rPr lang="en-US" sz="2800" dirty="0"/>
              <a:t>Native apps boast of </a:t>
            </a:r>
            <a:r>
              <a:rPr lang="en-US" sz="2800" b="1" dirty="0">
                <a:solidFill>
                  <a:srgbClr val="FFC000"/>
                </a:solidFill>
              </a:rPr>
              <a:t>fast performance </a:t>
            </a:r>
            <a:r>
              <a:rPr lang="en-US" sz="2800" dirty="0"/>
              <a:t>and a </a:t>
            </a:r>
            <a:r>
              <a:rPr lang="en-US" sz="2800" b="1" dirty="0">
                <a:solidFill>
                  <a:srgbClr val="FFC000"/>
                </a:solidFill>
              </a:rPr>
              <a:t>high degree of reliability </a:t>
            </a:r>
            <a:r>
              <a:rPr lang="en-US" sz="2800" dirty="0"/>
              <a:t>for </a:t>
            </a:r>
            <a:r>
              <a:rPr lang="en-US" sz="2800" b="1" dirty="0">
                <a:solidFill>
                  <a:srgbClr val="FFC000"/>
                </a:solidFill>
              </a:rPr>
              <a:t>great user experience</a:t>
            </a:r>
            <a:r>
              <a:rPr lang="en-US" sz="2800" dirty="0"/>
              <a:t>.</a:t>
            </a:r>
          </a:p>
        </p:txBody>
      </p:sp>
      <p:sp>
        <p:nvSpPr>
          <p:cNvPr id="6" name="Slide Number Placeholder 5"/>
          <p:cNvSpPr>
            <a:spLocks noGrp="1"/>
          </p:cNvSpPr>
          <p:nvPr>
            <p:ph type="sldNum" sz="quarter" idx="12"/>
          </p:nvPr>
        </p:nvSpPr>
        <p:spPr/>
        <p:txBody>
          <a:bodyPr/>
          <a:lstStyle/>
          <a:p>
            <a:fld id="{2CF92F4A-FC3C-4C13-A76F-34129D2ABBA1}" type="slidenum">
              <a:rPr lang="en-GB" smtClean="0"/>
              <a:pPr/>
              <a:t>36</a:t>
            </a:fld>
            <a:endParaRPr lang="en-GB"/>
          </a:p>
        </p:txBody>
      </p:sp>
    </p:spTree>
    <p:extLst>
      <p:ext uri="{BB962C8B-B14F-4D97-AF65-F5344CB8AC3E}">
        <p14:creationId xmlns:p14="http://schemas.microsoft.com/office/powerpoint/2010/main" val="38948238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404664"/>
            <a:ext cx="7772400" cy="1456267"/>
          </a:xfrm>
        </p:spPr>
        <p:txBody>
          <a:bodyPr>
            <a:normAutofit/>
          </a:bodyPr>
          <a:lstStyle/>
          <a:p>
            <a:r>
              <a:rPr lang="en-US" sz="3200" b="1" dirty="0"/>
              <a:t>Native Mobile Apps</a:t>
            </a:r>
          </a:p>
        </p:txBody>
      </p:sp>
      <p:sp>
        <p:nvSpPr>
          <p:cNvPr id="3" name="Content Placeholder 2"/>
          <p:cNvSpPr>
            <a:spLocks noGrp="1"/>
          </p:cNvSpPr>
          <p:nvPr>
            <p:ph idx="1"/>
          </p:nvPr>
        </p:nvSpPr>
        <p:spPr>
          <a:xfrm>
            <a:off x="457200" y="1772816"/>
            <a:ext cx="8291264" cy="4680520"/>
          </a:xfrm>
        </p:spPr>
        <p:txBody>
          <a:bodyPr>
            <a:normAutofit lnSpcReduction="10000"/>
          </a:bodyPr>
          <a:lstStyle/>
          <a:p>
            <a:pPr algn="just"/>
            <a:r>
              <a:rPr lang="en-US" sz="2800" dirty="0"/>
              <a:t>However, native apps are </a:t>
            </a:r>
            <a:r>
              <a:rPr lang="en-US" sz="2800" b="1" dirty="0">
                <a:solidFill>
                  <a:srgbClr val="FFC000"/>
                </a:solidFill>
              </a:rPr>
              <a:t>expensive to develop </a:t>
            </a:r>
            <a:r>
              <a:rPr lang="en-US" sz="2800" dirty="0"/>
              <a:t>as they are designed for only one type of OS.</a:t>
            </a:r>
          </a:p>
          <a:p>
            <a:pPr algn="just"/>
            <a:endParaRPr lang="en-US" sz="2800" dirty="0"/>
          </a:p>
          <a:p>
            <a:pPr algn="just"/>
            <a:r>
              <a:rPr lang="en-US" sz="2800" dirty="0"/>
              <a:t>To run the app on multiple platforms, it requires developing and maintain an app for each platform </a:t>
            </a:r>
            <a:r>
              <a:rPr lang="en-US" sz="2800" b="1" dirty="0">
                <a:solidFill>
                  <a:srgbClr val="FFC000"/>
                </a:solidFill>
              </a:rPr>
              <a:t>separately.</a:t>
            </a:r>
          </a:p>
          <a:p>
            <a:pPr algn="just"/>
            <a:endParaRPr lang="en-US" sz="2800" dirty="0"/>
          </a:p>
          <a:p>
            <a:pPr algn="just"/>
            <a:r>
              <a:rPr lang="en-US" sz="2800" dirty="0"/>
              <a:t>But native apps are a future-proof investment. They are </a:t>
            </a:r>
            <a:r>
              <a:rPr lang="en-US" sz="2800" b="1" dirty="0">
                <a:solidFill>
                  <a:srgbClr val="FFC000"/>
                </a:solidFill>
              </a:rPr>
              <a:t>secured, user-friendly, and faster </a:t>
            </a:r>
            <a:r>
              <a:rPr lang="en-US" sz="2800" dirty="0"/>
              <a:t>than other apps. </a:t>
            </a:r>
            <a:endParaRPr lang="en-US" sz="1600" dirty="0"/>
          </a:p>
        </p:txBody>
      </p:sp>
      <p:sp>
        <p:nvSpPr>
          <p:cNvPr id="6" name="Slide Number Placeholder 5"/>
          <p:cNvSpPr>
            <a:spLocks noGrp="1"/>
          </p:cNvSpPr>
          <p:nvPr>
            <p:ph type="sldNum" sz="quarter" idx="12"/>
          </p:nvPr>
        </p:nvSpPr>
        <p:spPr/>
        <p:txBody>
          <a:bodyPr/>
          <a:lstStyle/>
          <a:p>
            <a:fld id="{2CF92F4A-FC3C-4C13-A76F-34129D2ABBA1}" type="slidenum">
              <a:rPr lang="en-GB" smtClean="0"/>
              <a:pPr/>
              <a:t>37</a:t>
            </a:fld>
            <a:endParaRPr lang="en-GB"/>
          </a:p>
        </p:txBody>
      </p:sp>
    </p:spTree>
    <p:extLst>
      <p:ext uri="{BB962C8B-B14F-4D97-AF65-F5344CB8AC3E}">
        <p14:creationId xmlns:p14="http://schemas.microsoft.com/office/powerpoint/2010/main" val="23290157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7772400" cy="1456267"/>
          </a:xfrm>
        </p:spPr>
        <p:txBody>
          <a:bodyPr>
            <a:normAutofit/>
          </a:bodyPr>
          <a:lstStyle/>
          <a:p>
            <a:r>
              <a:rPr lang="en-US" sz="3200" b="1" dirty="0"/>
              <a:t>Native Mobile Apps</a:t>
            </a:r>
          </a:p>
        </p:txBody>
      </p:sp>
      <p:sp>
        <p:nvSpPr>
          <p:cNvPr id="3" name="Content Placeholder 2"/>
          <p:cNvSpPr>
            <a:spLocks noGrp="1"/>
          </p:cNvSpPr>
          <p:nvPr>
            <p:ph idx="1"/>
          </p:nvPr>
        </p:nvSpPr>
        <p:spPr>
          <a:xfrm>
            <a:off x="457200" y="1484784"/>
            <a:ext cx="8229600" cy="4896544"/>
          </a:xfrm>
        </p:spPr>
        <p:txBody>
          <a:bodyPr>
            <a:normAutofit/>
          </a:bodyPr>
          <a:lstStyle/>
          <a:p>
            <a:r>
              <a:rPr lang="en-US" sz="2800" b="1" dirty="0">
                <a:solidFill>
                  <a:srgbClr val="FFC000"/>
                </a:solidFill>
              </a:rPr>
              <a:t>Advantages:</a:t>
            </a:r>
          </a:p>
          <a:p>
            <a:pPr lvl="1"/>
            <a:r>
              <a:rPr lang="en-US" sz="2800" dirty="0"/>
              <a:t>Natives are </a:t>
            </a:r>
            <a:r>
              <a:rPr lang="en-US" sz="2800" b="1" dirty="0">
                <a:solidFill>
                  <a:srgbClr val="FFC000"/>
                </a:solidFill>
              </a:rPr>
              <a:t>very fast.</a:t>
            </a:r>
          </a:p>
          <a:p>
            <a:pPr lvl="1"/>
            <a:r>
              <a:rPr lang="en-US" sz="2800" dirty="0"/>
              <a:t>Easily distributed in </a:t>
            </a:r>
            <a:r>
              <a:rPr lang="en-US" sz="2800" b="1" dirty="0">
                <a:solidFill>
                  <a:srgbClr val="FFC000"/>
                </a:solidFill>
              </a:rPr>
              <a:t>Google and Apple app stores.</a:t>
            </a:r>
          </a:p>
          <a:p>
            <a:pPr lvl="1"/>
            <a:r>
              <a:rPr lang="en-US" sz="2800" dirty="0"/>
              <a:t>More </a:t>
            </a:r>
            <a:r>
              <a:rPr lang="en-US" sz="2800" b="1" dirty="0">
                <a:solidFill>
                  <a:srgbClr val="FFC000"/>
                </a:solidFill>
              </a:rPr>
              <a:t>interactive</a:t>
            </a:r>
            <a:r>
              <a:rPr lang="en-US" sz="2800" dirty="0"/>
              <a:t> and </a:t>
            </a:r>
            <a:r>
              <a:rPr lang="en-US" sz="2800" b="1" dirty="0">
                <a:solidFill>
                  <a:srgbClr val="FFC000"/>
                </a:solidFill>
              </a:rPr>
              <a:t>intuitive.</a:t>
            </a:r>
          </a:p>
          <a:p>
            <a:pPr lvl="1"/>
            <a:r>
              <a:rPr lang="en-US" sz="2800" dirty="0"/>
              <a:t>Easily interact with any </a:t>
            </a:r>
            <a:r>
              <a:rPr lang="en-US" sz="2800" b="1" dirty="0">
                <a:solidFill>
                  <a:srgbClr val="FFC000"/>
                </a:solidFill>
              </a:rPr>
              <a:t>feature</a:t>
            </a:r>
            <a:r>
              <a:rPr lang="en-US" sz="2800" dirty="0"/>
              <a:t> of the phone.</a:t>
            </a:r>
          </a:p>
          <a:p>
            <a:pPr lvl="1"/>
            <a:r>
              <a:rPr lang="en-US" sz="2800" dirty="0"/>
              <a:t>Lesser </a:t>
            </a:r>
            <a:r>
              <a:rPr lang="en-US" sz="2800" b="1" dirty="0">
                <a:solidFill>
                  <a:srgbClr val="FFC000"/>
                </a:solidFill>
              </a:rPr>
              <a:t>compatibility issues </a:t>
            </a:r>
            <a:r>
              <a:rPr lang="en-US" sz="2800" dirty="0"/>
              <a:t>and faster to</a:t>
            </a:r>
            <a:r>
              <a:rPr lang="en-US" sz="2800" b="1" dirty="0">
                <a:solidFill>
                  <a:srgbClr val="FFC000"/>
                </a:solidFill>
              </a:rPr>
              <a:t> configure</a:t>
            </a:r>
            <a:r>
              <a:rPr lang="en-US" sz="2800" dirty="0"/>
              <a:t>.</a:t>
            </a:r>
          </a:p>
        </p:txBody>
      </p:sp>
      <p:sp>
        <p:nvSpPr>
          <p:cNvPr id="6" name="Slide Number Placeholder 5"/>
          <p:cNvSpPr>
            <a:spLocks noGrp="1"/>
          </p:cNvSpPr>
          <p:nvPr>
            <p:ph type="sldNum" sz="quarter" idx="12"/>
          </p:nvPr>
        </p:nvSpPr>
        <p:spPr/>
        <p:txBody>
          <a:bodyPr/>
          <a:lstStyle/>
          <a:p>
            <a:fld id="{2CF92F4A-FC3C-4C13-A76F-34129D2ABBA1}" type="slidenum">
              <a:rPr lang="en-GB" smtClean="0"/>
              <a:pPr/>
              <a:t>38</a:t>
            </a:fld>
            <a:endParaRPr lang="en-GB"/>
          </a:p>
        </p:txBody>
      </p:sp>
      <p:pic>
        <p:nvPicPr>
          <p:cNvPr id="1026" name="Picture 2" descr="Available On The App Store PNG Image | Transparent PNG Free Download on  Seek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08104" y="332656"/>
            <a:ext cx="3322712" cy="2398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84778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7772400" cy="1456267"/>
          </a:xfrm>
        </p:spPr>
        <p:txBody>
          <a:bodyPr>
            <a:normAutofit/>
          </a:bodyPr>
          <a:lstStyle/>
          <a:p>
            <a:r>
              <a:rPr lang="en-US" sz="3200" b="1" dirty="0"/>
              <a:t>Native Mobile Apps</a:t>
            </a:r>
          </a:p>
        </p:txBody>
      </p:sp>
      <p:sp>
        <p:nvSpPr>
          <p:cNvPr id="3" name="Content Placeholder 2"/>
          <p:cNvSpPr>
            <a:spLocks noGrp="1"/>
          </p:cNvSpPr>
          <p:nvPr>
            <p:ph idx="1"/>
          </p:nvPr>
        </p:nvSpPr>
        <p:spPr>
          <a:xfrm>
            <a:off x="457200" y="1600200"/>
            <a:ext cx="8229600" cy="4781128"/>
          </a:xfrm>
        </p:spPr>
        <p:txBody>
          <a:bodyPr>
            <a:normAutofit/>
          </a:bodyPr>
          <a:lstStyle/>
          <a:p>
            <a:r>
              <a:rPr lang="en-US" sz="2800" b="1" dirty="0">
                <a:solidFill>
                  <a:srgbClr val="FFC000"/>
                </a:solidFill>
              </a:rPr>
              <a:t>Disadvantages:</a:t>
            </a:r>
          </a:p>
          <a:p>
            <a:pPr lvl="1"/>
            <a:r>
              <a:rPr lang="en-US" sz="2800" dirty="0"/>
              <a:t>Built for a </a:t>
            </a:r>
            <a:r>
              <a:rPr lang="en-US" sz="2800" b="1" dirty="0">
                <a:solidFill>
                  <a:srgbClr val="FFC000"/>
                </a:solidFill>
              </a:rPr>
              <a:t>single platform </a:t>
            </a:r>
            <a:r>
              <a:rPr lang="en-US" sz="2800" dirty="0"/>
              <a:t>– </a:t>
            </a:r>
            <a:r>
              <a:rPr lang="en-US" sz="2800" b="1" dirty="0">
                <a:solidFill>
                  <a:srgbClr val="FFC000"/>
                </a:solidFill>
              </a:rPr>
              <a:t>time consuming</a:t>
            </a:r>
          </a:p>
          <a:p>
            <a:pPr lvl="1"/>
            <a:r>
              <a:rPr lang="en-US" sz="2800" dirty="0"/>
              <a:t>Hard to learn the language to build the apps –  </a:t>
            </a:r>
            <a:r>
              <a:rPr lang="en-US" sz="2800" b="1" dirty="0">
                <a:solidFill>
                  <a:srgbClr val="FFC000"/>
                </a:solidFill>
              </a:rPr>
              <a:t>Swift </a:t>
            </a:r>
            <a:r>
              <a:rPr lang="en-US" sz="2800" dirty="0"/>
              <a:t>or </a:t>
            </a:r>
            <a:r>
              <a:rPr lang="en-US" sz="2800" b="1" dirty="0">
                <a:solidFill>
                  <a:srgbClr val="FFC000"/>
                </a:solidFill>
              </a:rPr>
              <a:t>Java</a:t>
            </a:r>
            <a:r>
              <a:rPr lang="en-US" sz="2800" dirty="0"/>
              <a:t> </a:t>
            </a:r>
          </a:p>
          <a:p>
            <a:pPr lvl="1"/>
            <a:r>
              <a:rPr lang="en-US" sz="2800" dirty="0"/>
              <a:t>Requires </a:t>
            </a:r>
            <a:r>
              <a:rPr lang="en-US" sz="2800" b="1" dirty="0">
                <a:solidFill>
                  <a:srgbClr val="FFC000"/>
                </a:solidFill>
              </a:rPr>
              <a:t>separate codebase </a:t>
            </a:r>
            <a:r>
              <a:rPr lang="en-US" sz="2800" dirty="0"/>
              <a:t>to add new features.</a:t>
            </a:r>
          </a:p>
          <a:p>
            <a:pPr lvl="1"/>
            <a:r>
              <a:rPr lang="en-US" sz="2800" b="1" dirty="0">
                <a:solidFill>
                  <a:srgbClr val="FFC000"/>
                </a:solidFill>
              </a:rPr>
              <a:t>Expensive</a:t>
            </a:r>
            <a:r>
              <a:rPr lang="en-US" sz="2800" dirty="0"/>
              <a:t> to develop and hard to maintain.</a:t>
            </a:r>
          </a:p>
          <a:p>
            <a:endParaRPr lang="en-US" sz="2800" dirty="0"/>
          </a:p>
        </p:txBody>
      </p:sp>
      <p:sp>
        <p:nvSpPr>
          <p:cNvPr id="6" name="Slide Number Placeholder 5"/>
          <p:cNvSpPr>
            <a:spLocks noGrp="1"/>
          </p:cNvSpPr>
          <p:nvPr>
            <p:ph type="sldNum" sz="quarter" idx="12"/>
          </p:nvPr>
        </p:nvSpPr>
        <p:spPr/>
        <p:txBody>
          <a:bodyPr/>
          <a:lstStyle/>
          <a:p>
            <a:fld id="{2CF92F4A-FC3C-4C13-A76F-34129D2ABBA1}" type="slidenum">
              <a:rPr lang="en-GB" smtClean="0"/>
              <a:pPr/>
              <a:t>39</a:t>
            </a:fld>
            <a:endParaRPr lang="en-GB"/>
          </a:p>
        </p:txBody>
      </p:sp>
    </p:spTree>
    <p:extLst>
      <p:ext uri="{BB962C8B-B14F-4D97-AF65-F5344CB8AC3E}">
        <p14:creationId xmlns:p14="http://schemas.microsoft.com/office/powerpoint/2010/main" val="32729871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380134"/>
            <a:ext cx="7772400" cy="1456267"/>
          </a:xfrm>
        </p:spPr>
        <p:txBody>
          <a:bodyPr>
            <a:normAutofit/>
          </a:bodyPr>
          <a:lstStyle/>
          <a:p>
            <a:r>
              <a:rPr lang="en-US" sz="3200" b="1" dirty="0"/>
              <a:t>Native Mobile Apps</a:t>
            </a:r>
            <a:endParaRPr lang="en-MY" sz="3200" b="1" dirty="0"/>
          </a:p>
        </p:txBody>
      </p:sp>
      <p:sp>
        <p:nvSpPr>
          <p:cNvPr id="3" name="Content Placeholder 2"/>
          <p:cNvSpPr>
            <a:spLocks noGrp="1"/>
          </p:cNvSpPr>
          <p:nvPr>
            <p:ph idx="1"/>
          </p:nvPr>
        </p:nvSpPr>
        <p:spPr>
          <a:xfrm>
            <a:off x="363612" y="1877100"/>
            <a:ext cx="8240836" cy="1551900"/>
          </a:xfrm>
        </p:spPr>
        <p:txBody>
          <a:bodyPr>
            <a:normAutofit fontScale="92500" lnSpcReduction="20000"/>
          </a:bodyPr>
          <a:lstStyle/>
          <a:p>
            <a:pPr algn="just"/>
            <a:r>
              <a:rPr lang="en-MY" sz="2800" b="1" dirty="0">
                <a:solidFill>
                  <a:srgbClr val="FFC000"/>
                </a:solidFill>
              </a:rPr>
              <a:t>Example of apps:</a:t>
            </a:r>
          </a:p>
          <a:p>
            <a:pPr lvl="1" algn="just"/>
            <a:r>
              <a:rPr lang="en-MY" sz="2800" dirty="0"/>
              <a:t>Google Map, WhatsApp, Facebook, Netflix, Gmail, YouTube, Twitter, almost all games, and any pre-set apps</a:t>
            </a:r>
          </a:p>
        </p:txBody>
      </p:sp>
      <p:sp>
        <p:nvSpPr>
          <p:cNvPr id="4" name="Slide Number Placeholder 3"/>
          <p:cNvSpPr>
            <a:spLocks noGrp="1"/>
          </p:cNvSpPr>
          <p:nvPr>
            <p:ph type="sldNum" sz="quarter" idx="12"/>
          </p:nvPr>
        </p:nvSpPr>
        <p:spPr/>
        <p:txBody>
          <a:bodyPr/>
          <a:lstStyle/>
          <a:p>
            <a:fld id="{CC13ADC4-536D-428E-8667-0275BB2B031C}" type="slidenum">
              <a:rPr lang="en-GB" smtClean="0"/>
              <a:pPr/>
              <a:t>40</a:t>
            </a:fld>
            <a:endParaRPr lang="en-GB"/>
          </a:p>
        </p:txBody>
      </p:sp>
      <p:pic>
        <p:nvPicPr>
          <p:cNvPr id="2060" name="Picture 12" descr="These Apps and Games Have Spent the Most Time at No. 1 on Google Pla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437112"/>
            <a:ext cx="2933005" cy="227129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Facebook apps dominate social media landscape - Mobile World Liv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33005" y="5146406"/>
            <a:ext cx="2215058" cy="1594961"/>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https://susampinfotech.com/wp-content/uploads/2019/12/03_Images-300x20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9329" y="3645025"/>
            <a:ext cx="4334672" cy="3124094"/>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Native app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33005" y="4437113"/>
            <a:ext cx="2217192" cy="7092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59655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3142" y="411361"/>
            <a:ext cx="7772400" cy="1456267"/>
          </a:xfrm>
        </p:spPr>
        <p:txBody>
          <a:bodyPr>
            <a:normAutofit/>
          </a:bodyPr>
          <a:lstStyle/>
          <a:p>
            <a:r>
              <a:rPr lang="en-US" sz="3200" b="1" dirty="0"/>
              <a:t>Native Mobile Apps</a:t>
            </a:r>
            <a:endParaRPr lang="en-MY" sz="3200" b="1" dirty="0"/>
          </a:p>
        </p:txBody>
      </p:sp>
      <p:sp>
        <p:nvSpPr>
          <p:cNvPr id="3" name="Content Placeholder 2"/>
          <p:cNvSpPr>
            <a:spLocks noGrp="1"/>
          </p:cNvSpPr>
          <p:nvPr>
            <p:ph idx="1"/>
          </p:nvPr>
        </p:nvSpPr>
        <p:spPr>
          <a:xfrm>
            <a:off x="539552" y="1867628"/>
            <a:ext cx="8435280" cy="2398585"/>
          </a:xfrm>
        </p:spPr>
        <p:txBody>
          <a:bodyPr>
            <a:normAutofit/>
          </a:bodyPr>
          <a:lstStyle/>
          <a:p>
            <a:r>
              <a:rPr lang="en-MY" sz="3000" dirty="0"/>
              <a:t>Tools to develop:</a:t>
            </a:r>
          </a:p>
          <a:p>
            <a:pPr lvl="1"/>
            <a:r>
              <a:rPr lang="en-MY" sz="3000" b="1" dirty="0">
                <a:solidFill>
                  <a:srgbClr val="FFC000"/>
                </a:solidFill>
              </a:rPr>
              <a:t>iOS</a:t>
            </a:r>
            <a:r>
              <a:rPr lang="en-MY" sz="3000" dirty="0"/>
              <a:t> – XCode, App Code, Atom</a:t>
            </a:r>
          </a:p>
          <a:p>
            <a:pPr lvl="1"/>
            <a:r>
              <a:rPr lang="en-MY" sz="3000" b="1" dirty="0">
                <a:solidFill>
                  <a:srgbClr val="FFC000"/>
                </a:solidFill>
              </a:rPr>
              <a:t>Android </a:t>
            </a:r>
            <a:r>
              <a:rPr lang="en-MY" sz="3000" dirty="0"/>
              <a:t>- Android Studio, Android IDE, IntelliJ IDEA</a:t>
            </a:r>
          </a:p>
          <a:p>
            <a:pPr marL="457200" lvl="1" indent="0">
              <a:buNone/>
            </a:pPr>
            <a:endParaRPr lang="en-MY" sz="2000" dirty="0"/>
          </a:p>
        </p:txBody>
      </p:sp>
      <p:sp>
        <p:nvSpPr>
          <p:cNvPr id="4" name="Slide Number Placeholder 3"/>
          <p:cNvSpPr>
            <a:spLocks noGrp="1"/>
          </p:cNvSpPr>
          <p:nvPr>
            <p:ph type="sldNum" sz="quarter" idx="12"/>
          </p:nvPr>
        </p:nvSpPr>
        <p:spPr/>
        <p:txBody>
          <a:bodyPr/>
          <a:lstStyle/>
          <a:p>
            <a:fld id="{CC13ADC4-536D-428E-8667-0275BB2B031C}" type="slidenum">
              <a:rPr lang="en-GB" smtClean="0"/>
              <a:pPr/>
              <a:t>41</a:t>
            </a:fld>
            <a:endParaRPr lang="en-GB"/>
          </a:p>
        </p:txBody>
      </p:sp>
      <p:pic>
        <p:nvPicPr>
          <p:cNvPr id="3074" name="Picture 2" descr="Xcode | macOS Icon Galle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0336" y="4106982"/>
            <a:ext cx="2778008" cy="24384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ndroid Studio on Beha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2698" y="4106982"/>
            <a:ext cx="3848100" cy="2438400"/>
          </a:xfrm>
          <a:prstGeom prst="rect">
            <a:avLst/>
          </a:prstGeom>
          <a:solidFill>
            <a:schemeClr val="tx1"/>
          </a:solidFill>
        </p:spPr>
      </p:pic>
    </p:spTree>
    <p:extLst>
      <p:ext uri="{BB962C8B-B14F-4D97-AF65-F5344CB8AC3E}">
        <p14:creationId xmlns:p14="http://schemas.microsoft.com/office/powerpoint/2010/main" val="36911304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323245"/>
            <a:ext cx="7772400" cy="1456267"/>
          </a:xfrm>
        </p:spPr>
        <p:txBody>
          <a:bodyPr>
            <a:normAutofit/>
          </a:bodyPr>
          <a:lstStyle/>
          <a:p>
            <a:r>
              <a:rPr lang="en-US" sz="3200" b="1" dirty="0"/>
              <a:t>Native Mobile Apps</a:t>
            </a:r>
          </a:p>
        </p:txBody>
      </p:sp>
      <p:sp>
        <p:nvSpPr>
          <p:cNvPr id="3" name="Content Placeholder 2"/>
          <p:cNvSpPr>
            <a:spLocks noGrp="1"/>
          </p:cNvSpPr>
          <p:nvPr>
            <p:ph idx="1"/>
          </p:nvPr>
        </p:nvSpPr>
        <p:spPr>
          <a:xfrm>
            <a:off x="457200" y="1420813"/>
            <a:ext cx="8229600" cy="5133975"/>
          </a:xfrm>
        </p:spPr>
        <p:txBody>
          <a:bodyPr>
            <a:normAutofit fontScale="92500" lnSpcReduction="20000"/>
          </a:bodyPr>
          <a:lstStyle/>
          <a:p>
            <a:pPr marL="0" indent="0">
              <a:buNone/>
            </a:pPr>
            <a:r>
              <a:rPr lang="en-US" sz="2800" dirty="0"/>
              <a:t>Programming languages for </a:t>
            </a:r>
            <a:r>
              <a:rPr lang="en-US" sz="2800" b="1" dirty="0">
                <a:solidFill>
                  <a:srgbClr val="FFC000"/>
                </a:solidFill>
              </a:rPr>
              <a:t>Android native apps</a:t>
            </a:r>
            <a:r>
              <a:rPr lang="en-US" sz="2800" dirty="0"/>
              <a:t>:</a:t>
            </a:r>
          </a:p>
          <a:p>
            <a:pPr marL="0" indent="0">
              <a:buNone/>
            </a:pPr>
            <a:r>
              <a:rPr lang="en-US" sz="2800" b="1" dirty="0">
                <a:solidFill>
                  <a:srgbClr val="FFC000"/>
                </a:solidFill>
              </a:rPr>
              <a:t>Java</a:t>
            </a:r>
          </a:p>
          <a:p>
            <a:r>
              <a:rPr lang="en-US" sz="2800" dirty="0"/>
              <a:t>One of the most popular and preferred </a:t>
            </a:r>
          </a:p>
          <a:p>
            <a:pPr marL="0" indent="0">
              <a:buNone/>
            </a:pPr>
            <a:r>
              <a:rPr lang="en-US" sz="2800" dirty="0"/>
              <a:t>    languages among Android app developers.</a:t>
            </a:r>
          </a:p>
          <a:p>
            <a:endParaRPr lang="en-US" sz="2800" dirty="0"/>
          </a:p>
          <a:p>
            <a:pPr marL="0" indent="0">
              <a:buNone/>
            </a:pPr>
            <a:r>
              <a:rPr lang="en-US" sz="2800" b="1" dirty="0">
                <a:solidFill>
                  <a:srgbClr val="FFC000"/>
                </a:solidFill>
              </a:rPr>
              <a:t>Kotlin</a:t>
            </a:r>
          </a:p>
          <a:p>
            <a:r>
              <a:rPr lang="en-US" sz="2800" dirty="0"/>
              <a:t>Kotlin is a new object-oriented first-class </a:t>
            </a:r>
          </a:p>
          <a:p>
            <a:pPr marL="0" indent="0">
              <a:buNone/>
            </a:pPr>
            <a:r>
              <a:rPr lang="en-US" sz="2800" dirty="0"/>
              <a:t>    programming language like Java.</a:t>
            </a:r>
          </a:p>
          <a:p>
            <a:r>
              <a:rPr lang="en-US" sz="2800" dirty="0"/>
              <a:t>It is comparatively clean and has multiple </a:t>
            </a:r>
          </a:p>
          <a:p>
            <a:pPr marL="0" indent="0">
              <a:buNone/>
            </a:pPr>
            <a:r>
              <a:rPr lang="en-US" sz="2800" dirty="0"/>
              <a:t>    advanced features - supports almost all the </a:t>
            </a:r>
          </a:p>
          <a:p>
            <a:pPr marL="0" indent="0">
              <a:buNone/>
            </a:pPr>
            <a:r>
              <a:rPr lang="en-US" sz="2800" dirty="0"/>
              <a:t>    IDEs including Android Studio and SDK toolkit.</a:t>
            </a:r>
          </a:p>
        </p:txBody>
      </p:sp>
      <p:sp>
        <p:nvSpPr>
          <p:cNvPr id="6" name="Slide Number Placeholder 5"/>
          <p:cNvSpPr>
            <a:spLocks noGrp="1"/>
          </p:cNvSpPr>
          <p:nvPr>
            <p:ph type="sldNum" sz="quarter" idx="12"/>
          </p:nvPr>
        </p:nvSpPr>
        <p:spPr/>
        <p:txBody>
          <a:bodyPr/>
          <a:lstStyle/>
          <a:p>
            <a:fld id="{2CF92F4A-FC3C-4C13-A76F-34129D2ABBA1}" type="slidenum">
              <a:rPr lang="en-GB" smtClean="0"/>
              <a:pPr/>
              <a:t>42</a:t>
            </a:fld>
            <a:endParaRPr lang="en-GB"/>
          </a:p>
        </p:txBody>
      </p:sp>
      <p:pic>
        <p:nvPicPr>
          <p:cNvPr id="1026" name="Picture 2" descr="jav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5476" y="1988840"/>
            <a:ext cx="1516438" cy="151643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kotl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5769" y="4365104"/>
            <a:ext cx="1296144" cy="1296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5674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50982"/>
            <a:ext cx="7772400" cy="1456267"/>
          </a:xfrm>
        </p:spPr>
        <p:txBody>
          <a:bodyPr>
            <a:normAutofit/>
          </a:bodyPr>
          <a:lstStyle/>
          <a:p>
            <a:r>
              <a:rPr lang="en-US" sz="3200" b="1" dirty="0"/>
              <a:t>Native Mobile Apps</a:t>
            </a:r>
            <a:endParaRPr lang="en-MY" sz="3200" b="1" dirty="0"/>
          </a:p>
        </p:txBody>
      </p:sp>
      <p:sp>
        <p:nvSpPr>
          <p:cNvPr id="3" name="Content Placeholder 2"/>
          <p:cNvSpPr>
            <a:spLocks noGrp="1"/>
          </p:cNvSpPr>
          <p:nvPr>
            <p:ph idx="1"/>
          </p:nvPr>
        </p:nvSpPr>
        <p:spPr>
          <a:xfrm>
            <a:off x="457200" y="1420814"/>
            <a:ext cx="8363272" cy="5133974"/>
          </a:xfrm>
        </p:spPr>
        <p:txBody>
          <a:bodyPr>
            <a:normAutofit fontScale="92500" lnSpcReduction="20000"/>
          </a:bodyPr>
          <a:lstStyle/>
          <a:p>
            <a:pPr marL="0" indent="0">
              <a:buNone/>
            </a:pPr>
            <a:r>
              <a:rPr lang="en-US" sz="2800" dirty="0"/>
              <a:t>Programming languages for </a:t>
            </a:r>
            <a:r>
              <a:rPr lang="en-US" sz="2800" b="1" dirty="0">
                <a:solidFill>
                  <a:srgbClr val="FFC000"/>
                </a:solidFill>
              </a:rPr>
              <a:t>iOS native apps:</a:t>
            </a:r>
          </a:p>
          <a:p>
            <a:pPr marL="0" indent="0">
              <a:buNone/>
            </a:pPr>
            <a:r>
              <a:rPr lang="en-US" sz="2800" b="1" dirty="0">
                <a:solidFill>
                  <a:srgbClr val="FFC000"/>
                </a:solidFill>
              </a:rPr>
              <a:t>Swift</a:t>
            </a:r>
          </a:p>
          <a:p>
            <a:r>
              <a:rPr lang="en-US" sz="2800" dirty="0"/>
              <a:t>Swift is the latest and primary language used in the </a:t>
            </a:r>
          </a:p>
          <a:p>
            <a:pPr marL="0" indent="0">
              <a:buNone/>
            </a:pPr>
            <a:r>
              <a:rPr lang="en-US" sz="2800" dirty="0"/>
              <a:t>    development of iOS and OS X, thus </a:t>
            </a:r>
          </a:p>
          <a:p>
            <a:pPr marL="0" indent="0">
              <a:buNone/>
            </a:pPr>
            <a:r>
              <a:rPr lang="en-US" sz="2800" dirty="0"/>
              <a:t>    replacing Objective-C to an extent. </a:t>
            </a:r>
          </a:p>
          <a:p>
            <a:pPr marL="0" indent="0">
              <a:buNone/>
            </a:pPr>
            <a:endParaRPr lang="en-US" sz="2800" dirty="0"/>
          </a:p>
          <a:p>
            <a:pPr marL="0" indent="0">
              <a:buNone/>
            </a:pPr>
            <a:r>
              <a:rPr lang="en-US" sz="2800" b="1" dirty="0">
                <a:solidFill>
                  <a:srgbClr val="FFC000"/>
                </a:solidFill>
              </a:rPr>
              <a:t>Objective-C</a:t>
            </a:r>
          </a:p>
          <a:p>
            <a:r>
              <a:rPr lang="en-US" sz="2800" dirty="0"/>
              <a:t>A derivative of the programming language C</a:t>
            </a:r>
          </a:p>
          <a:p>
            <a:r>
              <a:rPr lang="en-US" sz="2800" dirty="0"/>
              <a:t>It is the core programming language to</a:t>
            </a:r>
          </a:p>
          <a:p>
            <a:pPr marL="0" indent="0">
              <a:buNone/>
            </a:pPr>
            <a:r>
              <a:rPr lang="en-US" sz="2800" dirty="0"/>
              <a:t>    develop iOS and OS X before Swift, but </a:t>
            </a:r>
          </a:p>
          <a:p>
            <a:pPr marL="0" indent="0">
              <a:buNone/>
            </a:pPr>
            <a:r>
              <a:rPr lang="en-US" sz="2800" dirty="0"/>
              <a:t>    has still maintained its popularity among developers. </a:t>
            </a:r>
          </a:p>
          <a:p>
            <a:pPr marL="0" indent="0">
              <a:buNone/>
            </a:pPr>
            <a:endParaRPr lang="en-US" sz="2800" dirty="0"/>
          </a:p>
        </p:txBody>
      </p:sp>
      <p:sp>
        <p:nvSpPr>
          <p:cNvPr id="4" name="Slide Number Placeholder 3"/>
          <p:cNvSpPr>
            <a:spLocks noGrp="1"/>
          </p:cNvSpPr>
          <p:nvPr>
            <p:ph type="sldNum" sz="quarter" idx="12"/>
          </p:nvPr>
        </p:nvSpPr>
        <p:spPr/>
        <p:txBody>
          <a:bodyPr/>
          <a:lstStyle/>
          <a:p>
            <a:fld id="{CC13ADC4-536D-428E-8667-0275BB2B031C}" type="slidenum">
              <a:rPr lang="en-GB" smtClean="0"/>
              <a:pPr/>
              <a:t>43</a:t>
            </a:fld>
            <a:endParaRPr lang="en-GB"/>
          </a:p>
        </p:txBody>
      </p:sp>
      <p:pic>
        <p:nvPicPr>
          <p:cNvPr id="5" name="Picture 2" descr="swif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2958" y="2528723"/>
            <a:ext cx="1539974" cy="153997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obj-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6296" y="4437112"/>
            <a:ext cx="1271575" cy="1271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04957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Cross-platform Apps Development</a:t>
            </a:r>
          </a:p>
        </p:txBody>
      </p:sp>
      <p:sp>
        <p:nvSpPr>
          <p:cNvPr id="3" name="Content Placeholder 2"/>
          <p:cNvSpPr>
            <a:spLocks noGrp="1"/>
          </p:cNvSpPr>
          <p:nvPr>
            <p:ph idx="1"/>
          </p:nvPr>
        </p:nvSpPr>
        <p:spPr>
          <a:xfrm>
            <a:off x="457200" y="2065867"/>
            <a:ext cx="8363272" cy="3220677"/>
          </a:xfrm>
        </p:spPr>
        <p:txBody>
          <a:bodyPr>
            <a:normAutofit/>
          </a:bodyPr>
          <a:lstStyle/>
          <a:p>
            <a:r>
              <a:rPr lang="en-US" sz="2800" b="1" dirty="0">
                <a:solidFill>
                  <a:srgbClr val="FFC000"/>
                </a:solidFill>
              </a:rPr>
              <a:t>Cross-platform mobile application development </a:t>
            </a:r>
            <a:r>
              <a:rPr lang="en-US" sz="2800" dirty="0"/>
              <a:t>is the process of developing an application with a single code base to run on multiple mobile platforms.</a:t>
            </a:r>
          </a:p>
          <a:p>
            <a:endParaRPr lang="en-US" sz="2800" dirty="0"/>
          </a:p>
          <a:p>
            <a:r>
              <a:rPr lang="en-US" sz="2800" dirty="0"/>
              <a:t>Like native apps, they live in an application store and can take advantage of many device features. </a:t>
            </a:r>
          </a:p>
          <a:p>
            <a:endParaRPr lang="en-US" sz="2800" dirty="0"/>
          </a:p>
        </p:txBody>
      </p:sp>
      <p:sp>
        <p:nvSpPr>
          <p:cNvPr id="6" name="Slide Number Placeholder 5"/>
          <p:cNvSpPr>
            <a:spLocks noGrp="1"/>
          </p:cNvSpPr>
          <p:nvPr>
            <p:ph type="sldNum" sz="quarter" idx="12"/>
          </p:nvPr>
        </p:nvSpPr>
        <p:spPr/>
        <p:txBody>
          <a:bodyPr/>
          <a:lstStyle/>
          <a:p>
            <a:fld id="{2CF92F4A-FC3C-4C13-A76F-34129D2ABBA1}" type="slidenum">
              <a:rPr lang="en-GB" smtClean="0"/>
              <a:pPr/>
              <a:t>44</a:t>
            </a:fld>
            <a:endParaRPr lang="en-GB"/>
          </a:p>
        </p:txBody>
      </p:sp>
      <p:pic>
        <p:nvPicPr>
          <p:cNvPr id="4100" name="Picture 4" descr="Using Cross-Platform Mobile Application Development: Pros and Con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15692" y="5157192"/>
            <a:ext cx="2978204" cy="1675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78427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157" y="58454"/>
            <a:ext cx="7772400" cy="1456267"/>
          </a:xfrm>
        </p:spPr>
        <p:txBody>
          <a:bodyPr>
            <a:normAutofit/>
          </a:bodyPr>
          <a:lstStyle/>
          <a:p>
            <a:r>
              <a:rPr lang="en-US" sz="3200" b="1" dirty="0"/>
              <a:t>Cross-platform Apps Development</a:t>
            </a:r>
          </a:p>
        </p:txBody>
      </p:sp>
      <p:sp>
        <p:nvSpPr>
          <p:cNvPr id="3" name="Content Placeholder 2"/>
          <p:cNvSpPr>
            <a:spLocks noGrp="1"/>
          </p:cNvSpPr>
          <p:nvPr>
            <p:ph idx="1"/>
          </p:nvPr>
        </p:nvSpPr>
        <p:spPr>
          <a:xfrm>
            <a:off x="457200" y="1420814"/>
            <a:ext cx="8229600" cy="5133974"/>
          </a:xfrm>
        </p:spPr>
        <p:txBody>
          <a:bodyPr>
            <a:normAutofit lnSpcReduction="10000"/>
          </a:bodyPr>
          <a:lstStyle/>
          <a:p>
            <a:r>
              <a:rPr lang="en-US" sz="2800" dirty="0"/>
              <a:t>It is the best approach for </a:t>
            </a:r>
            <a:r>
              <a:rPr lang="en-US" sz="2800" b="1" dirty="0">
                <a:solidFill>
                  <a:srgbClr val="FFC000"/>
                </a:solidFill>
              </a:rPr>
              <a:t>low-cost custom apps </a:t>
            </a:r>
            <a:r>
              <a:rPr lang="en-US" sz="2800" dirty="0"/>
              <a:t>with secure, stable, and easy to maintain and iterate features.</a:t>
            </a:r>
          </a:p>
          <a:p>
            <a:endParaRPr lang="en-US" sz="2800" dirty="0"/>
          </a:p>
          <a:p>
            <a:r>
              <a:rPr lang="en-US" sz="2800" dirty="0"/>
              <a:t>Many cross-platform app development frameworks help to achieve the native app-like feel and user experience.</a:t>
            </a:r>
          </a:p>
          <a:p>
            <a:endParaRPr lang="en-US" sz="2800" dirty="0"/>
          </a:p>
          <a:p>
            <a:r>
              <a:rPr lang="en-US" sz="2800" dirty="0"/>
              <a:t>If the company has a limited budget, but it requires a satisfactory app performance, so cross-platform is an ideal approach. </a:t>
            </a:r>
          </a:p>
        </p:txBody>
      </p:sp>
      <p:sp>
        <p:nvSpPr>
          <p:cNvPr id="6" name="Slide Number Placeholder 5"/>
          <p:cNvSpPr>
            <a:spLocks noGrp="1"/>
          </p:cNvSpPr>
          <p:nvPr>
            <p:ph type="sldNum" sz="quarter" idx="12"/>
          </p:nvPr>
        </p:nvSpPr>
        <p:spPr/>
        <p:txBody>
          <a:bodyPr/>
          <a:lstStyle/>
          <a:p>
            <a:fld id="{2CF92F4A-FC3C-4C13-A76F-34129D2ABBA1}" type="slidenum">
              <a:rPr lang="en-GB" smtClean="0"/>
              <a:pPr/>
              <a:t>45</a:t>
            </a:fld>
            <a:endParaRPr lang="en-GB"/>
          </a:p>
        </p:txBody>
      </p:sp>
    </p:spTree>
    <p:extLst>
      <p:ext uri="{BB962C8B-B14F-4D97-AF65-F5344CB8AC3E}">
        <p14:creationId xmlns:p14="http://schemas.microsoft.com/office/powerpoint/2010/main" val="37141628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Cross-platform Apps Development</a:t>
            </a:r>
            <a:endParaRPr lang="en-MY" sz="3200" b="1" dirty="0"/>
          </a:p>
        </p:txBody>
      </p:sp>
      <p:sp>
        <p:nvSpPr>
          <p:cNvPr id="3" name="Content Placeholder 2"/>
          <p:cNvSpPr>
            <a:spLocks noGrp="1"/>
          </p:cNvSpPr>
          <p:nvPr>
            <p:ph idx="1"/>
          </p:nvPr>
        </p:nvSpPr>
        <p:spPr>
          <a:xfrm>
            <a:off x="457200" y="1420814"/>
            <a:ext cx="8507288" cy="5133974"/>
          </a:xfrm>
        </p:spPr>
        <p:txBody>
          <a:bodyPr>
            <a:normAutofit/>
          </a:bodyPr>
          <a:lstStyle/>
          <a:p>
            <a:r>
              <a:rPr lang="en-US" sz="2800" dirty="0"/>
              <a:t>There is a wide range of cross-platform mobile app development technologies available that makes it easy for developers to conceptualize, develop, and launch a beautiful and functional application on multiple platforms simultaneously. </a:t>
            </a:r>
          </a:p>
          <a:p>
            <a:endParaRPr lang="en-US" sz="2800" dirty="0"/>
          </a:p>
          <a:p>
            <a:r>
              <a:rPr lang="en-US" sz="2800" dirty="0"/>
              <a:t>Some of the most popular cross-platform mobile technologies include </a:t>
            </a:r>
            <a:r>
              <a:rPr lang="en-US" sz="2800" b="1" dirty="0">
                <a:solidFill>
                  <a:srgbClr val="FFC000"/>
                </a:solidFill>
              </a:rPr>
              <a:t>Flutter, React Native, Xamarin, Ionic, etc. </a:t>
            </a:r>
          </a:p>
        </p:txBody>
      </p:sp>
      <p:sp>
        <p:nvSpPr>
          <p:cNvPr id="4" name="Slide Number Placeholder 3"/>
          <p:cNvSpPr>
            <a:spLocks noGrp="1"/>
          </p:cNvSpPr>
          <p:nvPr>
            <p:ph type="sldNum" sz="quarter" idx="12"/>
          </p:nvPr>
        </p:nvSpPr>
        <p:spPr/>
        <p:txBody>
          <a:bodyPr/>
          <a:lstStyle/>
          <a:p>
            <a:fld id="{CC13ADC4-536D-428E-8667-0275BB2B031C}" type="slidenum">
              <a:rPr lang="en-GB" smtClean="0"/>
              <a:pPr/>
              <a:t>46</a:t>
            </a:fld>
            <a:endParaRPr lang="en-GB"/>
          </a:p>
        </p:txBody>
      </p:sp>
    </p:spTree>
    <p:extLst>
      <p:ext uri="{BB962C8B-B14F-4D97-AF65-F5344CB8AC3E}">
        <p14:creationId xmlns:p14="http://schemas.microsoft.com/office/powerpoint/2010/main" val="11100810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3212"/>
            <a:ext cx="7772400" cy="1456267"/>
          </a:xfrm>
        </p:spPr>
        <p:txBody>
          <a:bodyPr>
            <a:normAutofit/>
          </a:bodyPr>
          <a:lstStyle/>
          <a:p>
            <a:r>
              <a:rPr lang="en-US" sz="3200" b="1" dirty="0"/>
              <a:t>Cross-platform Apps Development</a:t>
            </a:r>
          </a:p>
        </p:txBody>
      </p:sp>
      <p:sp>
        <p:nvSpPr>
          <p:cNvPr id="3" name="Content Placeholder 2"/>
          <p:cNvSpPr>
            <a:spLocks noGrp="1"/>
          </p:cNvSpPr>
          <p:nvPr>
            <p:ph idx="1"/>
          </p:nvPr>
        </p:nvSpPr>
        <p:spPr>
          <a:xfrm>
            <a:off x="457200" y="1600200"/>
            <a:ext cx="8229600" cy="4954588"/>
          </a:xfrm>
        </p:spPr>
        <p:txBody>
          <a:bodyPr>
            <a:normAutofit/>
          </a:bodyPr>
          <a:lstStyle/>
          <a:p>
            <a:r>
              <a:rPr lang="en-US" sz="2800" b="1" dirty="0"/>
              <a:t>Advantages</a:t>
            </a:r>
            <a:r>
              <a:rPr lang="en-US" sz="2800" dirty="0"/>
              <a:t>:</a:t>
            </a:r>
          </a:p>
          <a:p>
            <a:pPr lvl="1"/>
            <a:r>
              <a:rPr lang="en-US" sz="2800" b="1" dirty="0">
                <a:solidFill>
                  <a:srgbClr val="FFC000"/>
                </a:solidFill>
              </a:rPr>
              <a:t>Easy to build</a:t>
            </a:r>
          </a:p>
          <a:p>
            <a:pPr lvl="1"/>
            <a:r>
              <a:rPr lang="en-US" sz="2800" dirty="0"/>
              <a:t>Much </a:t>
            </a:r>
            <a:r>
              <a:rPr lang="en-US" sz="2800" b="1" dirty="0">
                <a:solidFill>
                  <a:srgbClr val="FFC000"/>
                </a:solidFill>
              </a:rPr>
              <a:t>cheaper </a:t>
            </a:r>
            <a:r>
              <a:rPr lang="en-US" sz="2800" dirty="0"/>
              <a:t>than a native app</a:t>
            </a:r>
          </a:p>
          <a:p>
            <a:pPr lvl="1"/>
            <a:r>
              <a:rPr lang="en-US" sz="2800" b="1" dirty="0">
                <a:solidFill>
                  <a:srgbClr val="FFC000"/>
                </a:solidFill>
              </a:rPr>
              <a:t>Single app </a:t>
            </a:r>
            <a:r>
              <a:rPr lang="en-US" sz="2800" dirty="0"/>
              <a:t>for all platforms</a:t>
            </a:r>
          </a:p>
          <a:p>
            <a:pPr lvl="1"/>
            <a:r>
              <a:rPr lang="en-US" sz="2800" dirty="0"/>
              <a:t>Able to access device </a:t>
            </a:r>
            <a:r>
              <a:rPr lang="en-US" sz="2800" b="1" dirty="0">
                <a:solidFill>
                  <a:srgbClr val="FFC000"/>
                </a:solidFill>
              </a:rPr>
              <a:t>features</a:t>
            </a:r>
            <a:r>
              <a:rPr lang="en-US" sz="2800" dirty="0"/>
              <a:t>/utilities via API</a:t>
            </a:r>
          </a:p>
          <a:p>
            <a:pPr lvl="1"/>
            <a:r>
              <a:rPr lang="en-US" sz="2800" b="1" dirty="0">
                <a:solidFill>
                  <a:srgbClr val="FFC000"/>
                </a:solidFill>
              </a:rPr>
              <a:t>Faster to develop </a:t>
            </a:r>
            <a:r>
              <a:rPr lang="en-US" sz="2800" dirty="0"/>
              <a:t>than native apps – quicker development time</a:t>
            </a:r>
          </a:p>
          <a:p>
            <a:endParaRPr lang="en-US" sz="2800" dirty="0"/>
          </a:p>
        </p:txBody>
      </p:sp>
      <p:sp>
        <p:nvSpPr>
          <p:cNvPr id="6" name="Slide Number Placeholder 5"/>
          <p:cNvSpPr>
            <a:spLocks noGrp="1"/>
          </p:cNvSpPr>
          <p:nvPr>
            <p:ph type="sldNum" sz="quarter" idx="12"/>
          </p:nvPr>
        </p:nvSpPr>
        <p:spPr/>
        <p:txBody>
          <a:bodyPr/>
          <a:lstStyle/>
          <a:p>
            <a:fld id="{2CF92F4A-FC3C-4C13-A76F-34129D2ABBA1}" type="slidenum">
              <a:rPr lang="en-GB" smtClean="0"/>
              <a:pPr/>
              <a:t>47</a:t>
            </a:fld>
            <a:endParaRPr lang="en-GB"/>
          </a:p>
        </p:txBody>
      </p:sp>
    </p:spTree>
    <p:extLst>
      <p:ext uri="{BB962C8B-B14F-4D97-AF65-F5344CB8AC3E}">
        <p14:creationId xmlns:p14="http://schemas.microsoft.com/office/powerpoint/2010/main" val="16303573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3212"/>
            <a:ext cx="7772400" cy="1456267"/>
          </a:xfrm>
        </p:spPr>
        <p:txBody>
          <a:bodyPr>
            <a:normAutofit/>
          </a:bodyPr>
          <a:lstStyle/>
          <a:p>
            <a:r>
              <a:rPr lang="en-US" sz="3200" b="1" dirty="0"/>
              <a:t>Cross-platform Apps Development</a:t>
            </a:r>
          </a:p>
        </p:txBody>
      </p:sp>
      <p:sp>
        <p:nvSpPr>
          <p:cNvPr id="3" name="Content Placeholder 2"/>
          <p:cNvSpPr>
            <a:spLocks noGrp="1"/>
          </p:cNvSpPr>
          <p:nvPr>
            <p:ph idx="1"/>
          </p:nvPr>
        </p:nvSpPr>
        <p:spPr>
          <a:xfrm>
            <a:off x="457200" y="1600200"/>
            <a:ext cx="8229600" cy="4954588"/>
          </a:xfrm>
        </p:spPr>
        <p:txBody>
          <a:bodyPr>
            <a:normAutofit/>
          </a:bodyPr>
          <a:lstStyle/>
          <a:p>
            <a:r>
              <a:rPr lang="en-US" sz="2800" b="1" dirty="0">
                <a:solidFill>
                  <a:schemeClr val="tx1">
                    <a:lumMod val="95000"/>
                  </a:schemeClr>
                </a:solidFill>
              </a:rPr>
              <a:t>Disadvantages</a:t>
            </a:r>
            <a:r>
              <a:rPr lang="en-US" sz="2800" dirty="0">
                <a:solidFill>
                  <a:schemeClr val="tx1">
                    <a:lumMod val="95000"/>
                  </a:schemeClr>
                </a:solidFill>
              </a:rPr>
              <a:t>:</a:t>
            </a:r>
          </a:p>
          <a:p>
            <a:pPr lvl="1"/>
            <a:r>
              <a:rPr lang="en-US" sz="2800" b="1" dirty="0">
                <a:solidFill>
                  <a:srgbClr val="FFC000"/>
                </a:solidFill>
              </a:rPr>
              <a:t>Poor performance </a:t>
            </a:r>
            <a:r>
              <a:rPr lang="en-US" sz="2800" dirty="0"/>
              <a:t>- slower than native apps</a:t>
            </a:r>
          </a:p>
          <a:p>
            <a:pPr lvl="1"/>
            <a:r>
              <a:rPr lang="en-US" sz="2800" b="1" dirty="0">
                <a:solidFill>
                  <a:srgbClr val="FFC000"/>
                </a:solidFill>
              </a:rPr>
              <a:t>Limited access </a:t>
            </a:r>
            <a:r>
              <a:rPr lang="en-US" sz="2800" dirty="0"/>
              <a:t>to features</a:t>
            </a:r>
          </a:p>
          <a:p>
            <a:pPr lvl="1"/>
            <a:r>
              <a:rPr lang="en-US" sz="2800" dirty="0"/>
              <a:t>Issue in frequent </a:t>
            </a:r>
            <a:r>
              <a:rPr lang="en-US" sz="2800" b="1" dirty="0">
                <a:solidFill>
                  <a:srgbClr val="FFC000"/>
                </a:solidFill>
              </a:rPr>
              <a:t>updates</a:t>
            </a:r>
          </a:p>
          <a:p>
            <a:pPr lvl="1"/>
            <a:r>
              <a:rPr lang="en-US" sz="2800" b="1" dirty="0">
                <a:solidFill>
                  <a:srgbClr val="FFC000"/>
                </a:solidFill>
              </a:rPr>
              <a:t>Less interactive </a:t>
            </a:r>
            <a:r>
              <a:rPr lang="en-US" sz="2800" dirty="0"/>
              <a:t>than native apps</a:t>
            </a:r>
          </a:p>
          <a:p>
            <a:pPr lvl="1"/>
            <a:r>
              <a:rPr lang="en-US" sz="2800" b="1" dirty="0">
                <a:solidFill>
                  <a:srgbClr val="FFC000"/>
                </a:solidFill>
              </a:rPr>
              <a:t>Rendering</a:t>
            </a:r>
            <a:r>
              <a:rPr lang="en-US" sz="2800" dirty="0"/>
              <a:t> time takes longer</a:t>
            </a:r>
          </a:p>
          <a:p>
            <a:endParaRPr lang="en-US" sz="2800" dirty="0"/>
          </a:p>
        </p:txBody>
      </p:sp>
      <p:sp>
        <p:nvSpPr>
          <p:cNvPr id="6" name="Slide Number Placeholder 5"/>
          <p:cNvSpPr>
            <a:spLocks noGrp="1"/>
          </p:cNvSpPr>
          <p:nvPr>
            <p:ph type="sldNum" sz="quarter" idx="12"/>
          </p:nvPr>
        </p:nvSpPr>
        <p:spPr/>
        <p:txBody>
          <a:bodyPr/>
          <a:lstStyle/>
          <a:p>
            <a:fld id="{2CF92F4A-FC3C-4C13-A76F-34129D2ABBA1}" type="slidenum">
              <a:rPr lang="en-GB" smtClean="0"/>
              <a:pPr/>
              <a:t>48</a:t>
            </a:fld>
            <a:endParaRPr lang="en-GB"/>
          </a:p>
        </p:txBody>
      </p:sp>
    </p:spTree>
    <p:extLst>
      <p:ext uri="{BB962C8B-B14F-4D97-AF65-F5344CB8AC3E}">
        <p14:creationId xmlns:p14="http://schemas.microsoft.com/office/powerpoint/2010/main" val="24946723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334474"/>
            <a:ext cx="7772400" cy="1539775"/>
          </a:xfrm>
        </p:spPr>
        <p:txBody>
          <a:bodyPr>
            <a:normAutofit/>
          </a:bodyPr>
          <a:lstStyle/>
          <a:p>
            <a:r>
              <a:rPr lang="en-US" sz="3200" b="1" dirty="0"/>
              <a:t>Cross-platform Apps Development</a:t>
            </a:r>
          </a:p>
        </p:txBody>
      </p:sp>
      <p:sp>
        <p:nvSpPr>
          <p:cNvPr id="3" name="Content Placeholder 2"/>
          <p:cNvSpPr>
            <a:spLocks noGrp="1"/>
          </p:cNvSpPr>
          <p:nvPr>
            <p:ph idx="1"/>
          </p:nvPr>
        </p:nvSpPr>
        <p:spPr>
          <a:xfrm>
            <a:off x="457200" y="1600200"/>
            <a:ext cx="8229600" cy="1828800"/>
          </a:xfrm>
        </p:spPr>
        <p:txBody>
          <a:bodyPr>
            <a:normAutofit/>
          </a:bodyPr>
          <a:lstStyle/>
          <a:p>
            <a:r>
              <a:rPr lang="en-US" sz="2800" dirty="0"/>
              <a:t>Example of apps:</a:t>
            </a:r>
          </a:p>
          <a:p>
            <a:pPr lvl="1"/>
            <a:r>
              <a:rPr lang="en-US" sz="2800" dirty="0"/>
              <a:t>Firefox, Chrome, OpenOffice, Adobe Reader, etc.</a:t>
            </a:r>
          </a:p>
          <a:p>
            <a:endParaRPr lang="en-US" sz="2800" dirty="0"/>
          </a:p>
        </p:txBody>
      </p:sp>
      <p:sp>
        <p:nvSpPr>
          <p:cNvPr id="6" name="Slide Number Placeholder 5"/>
          <p:cNvSpPr>
            <a:spLocks noGrp="1"/>
          </p:cNvSpPr>
          <p:nvPr>
            <p:ph type="sldNum" sz="quarter" idx="12"/>
          </p:nvPr>
        </p:nvSpPr>
        <p:spPr/>
        <p:txBody>
          <a:bodyPr/>
          <a:lstStyle/>
          <a:p>
            <a:fld id="{2CF92F4A-FC3C-4C13-A76F-34129D2ABBA1}" type="slidenum">
              <a:rPr lang="en-GB" smtClean="0"/>
              <a:pPr/>
              <a:t>49</a:t>
            </a:fld>
            <a:endParaRPr lang="en-GB"/>
          </a:p>
        </p:txBody>
      </p:sp>
      <p:pic>
        <p:nvPicPr>
          <p:cNvPr id="5124" name="Picture 4" descr="This iOS trick makes rearranging iPhone apps a snap | TechSp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095037"/>
            <a:ext cx="4716016" cy="3407380"/>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Cross platform App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9" y="3095037"/>
            <a:ext cx="4597053" cy="3407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10165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3780"/>
            <a:ext cx="7772400" cy="1456267"/>
          </a:xfrm>
        </p:spPr>
        <p:txBody>
          <a:bodyPr>
            <a:normAutofit/>
          </a:bodyPr>
          <a:lstStyle/>
          <a:p>
            <a:r>
              <a:rPr lang="en-US" sz="3200" b="1" dirty="0"/>
              <a:t>Cross-platform Apps Development</a:t>
            </a:r>
          </a:p>
        </p:txBody>
      </p:sp>
      <p:sp>
        <p:nvSpPr>
          <p:cNvPr id="3" name="Content Placeholder 2"/>
          <p:cNvSpPr>
            <a:spLocks noGrp="1"/>
          </p:cNvSpPr>
          <p:nvPr>
            <p:ph idx="1"/>
          </p:nvPr>
        </p:nvSpPr>
        <p:spPr>
          <a:xfrm>
            <a:off x="457200" y="1600199"/>
            <a:ext cx="8229600" cy="3556993"/>
          </a:xfrm>
        </p:spPr>
        <p:txBody>
          <a:bodyPr>
            <a:normAutofit/>
          </a:bodyPr>
          <a:lstStyle/>
          <a:p>
            <a:pPr marL="0" indent="0">
              <a:buNone/>
            </a:pPr>
            <a:r>
              <a:rPr lang="en-US" sz="2800" b="1" dirty="0">
                <a:solidFill>
                  <a:srgbClr val="FFC000"/>
                </a:solidFill>
              </a:rPr>
              <a:t>React Native</a:t>
            </a:r>
          </a:p>
          <a:p>
            <a:pPr algn="just"/>
            <a:r>
              <a:rPr lang="en-US" sz="2800" dirty="0"/>
              <a:t>React Native is an open-source mobile app development platform created by Facebook. </a:t>
            </a:r>
          </a:p>
          <a:p>
            <a:pPr algn="just"/>
            <a:r>
              <a:rPr lang="en-US" sz="2800" dirty="0"/>
              <a:t>The process of layout creation works the same way for mobile screens and web page layout. </a:t>
            </a:r>
          </a:p>
          <a:p>
            <a:pPr algn="just"/>
            <a:r>
              <a:rPr lang="en-US" sz="2800" dirty="0"/>
              <a:t>Interaction of components with each other is flexible and easy.</a:t>
            </a:r>
          </a:p>
        </p:txBody>
      </p:sp>
      <p:sp>
        <p:nvSpPr>
          <p:cNvPr id="6" name="Slide Number Placeholder 5"/>
          <p:cNvSpPr>
            <a:spLocks noGrp="1"/>
          </p:cNvSpPr>
          <p:nvPr>
            <p:ph type="sldNum" sz="quarter" idx="12"/>
          </p:nvPr>
        </p:nvSpPr>
        <p:spPr/>
        <p:txBody>
          <a:bodyPr/>
          <a:lstStyle/>
          <a:p>
            <a:fld id="{2CF92F4A-FC3C-4C13-A76F-34129D2ABBA1}" type="slidenum">
              <a:rPr lang="en-GB" smtClean="0"/>
              <a:pPr/>
              <a:t>50</a:t>
            </a:fld>
            <a:endParaRPr lang="en-GB"/>
          </a:p>
        </p:txBody>
      </p:sp>
      <p:pic>
        <p:nvPicPr>
          <p:cNvPr id="7174" name="Picture 6" descr="Advatages of different mobile technologies - React Nativ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6136" y="4965633"/>
            <a:ext cx="1745382" cy="14085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19271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636" y="164809"/>
            <a:ext cx="7772400" cy="1456267"/>
          </a:xfrm>
        </p:spPr>
        <p:txBody>
          <a:bodyPr>
            <a:normAutofit/>
          </a:bodyPr>
          <a:lstStyle/>
          <a:p>
            <a:r>
              <a:rPr lang="en-US" sz="3200" b="1" dirty="0"/>
              <a:t>Cross-platform Apps Development</a:t>
            </a:r>
          </a:p>
        </p:txBody>
      </p:sp>
      <p:sp>
        <p:nvSpPr>
          <p:cNvPr id="3" name="Content Placeholder 2"/>
          <p:cNvSpPr>
            <a:spLocks noGrp="1"/>
          </p:cNvSpPr>
          <p:nvPr>
            <p:ph idx="1"/>
          </p:nvPr>
        </p:nvSpPr>
        <p:spPr>
          <a:xfrm>
            <a:off x="457200" y="1600200"/>
            <a:ext cx="8229600" cy="4648201"/>
          </a:xfrm>
        </p:spPr>
        <p:txBody>
          <a:bodyPr>
            <a:normAutofit/>
          </a:bodyPr>
          <a:lstStyle/>
          <a:p>
            <a:pPr marL="0" indent="0">
              <a:buNone/>
            </a:pPr>
            <a:r>
              <a:rPr lang="en-US" sz="2800" b="1" dirty="0" err="1">
                <a:solidFill>
                  <a:srgbClr val="FFC000"/>
                </a:solidFill>
              </a:rPr>
              <a:t>Xamarin</a:t>
            </a:r>
            <a:endParaRPr lang="en-US" sz="2800" b="1" dirty="0">
              <a:solidFill>
                <a:srgbClr val="FFC000"/>
              </a:solidFill>
            </a:endParaRPr>
          </a:p>
          <a:p>
            <a:pPr algn="just"/>
            <a:r>
              <a:rPr lang="en-US" sz="2800" dirty="0" err="1"/>
              <a:t>Xamarin</a:t>
            </a:r>
            <a:r>
              <a:rPr lang="en-US" sz="2800" dirty="0"/>
              <a:t> is Microsoft's mobile app development platform to create Windows, iOS, and Android apps using a single .NET code. </a:t>
            </a:r>
          </a:p>
          <a:p>
            <a:pPr algn="just"/>
            <a:r>
              <a:rPr lang="en-US" sz="2800" dirty="0"/>
              <a:t>Xamarin uses a single language, C#, which enables developers to give their apps a native look and feel.</a:t>
            </a:r>
          </a:p>
          <a:p>
            <a:pPr algn="just"/>
            <a:r>
              <a:rPr lang="en-US" sz="2800" dirty="0"/>
              <a:t>Almost all elements of this simple tool are 100% compatible with any platform.</a:t>
            </a:r>
          </a:p>
          <a:p>
            <a:pPr marL="0" indent="0">
              <a:buNone/>
            </a:pPr>
            <a:endParaRPr lang="en-US" sz="2800" dirty="0"/>
          </a:p>
        </p:txBody>
      </p:sp>
      <p:sp>
        <p:nvSpPr>
          <p:cNvPr id="6" name="Slide Number Placeholder 5"/>
          <p:cNvSpPr>
            <a:spLocks noGrp="1"/>
          </p:cNvSpPr>
          <p:nvPr>
            <p:ph type="sldNum" sz="quarter" idx="12"/>
          </p:nvPr>
        </p:nvSpPr>
        <p:spPr/>
        <p:txBody>
          <a:bodyPr/>
          <a:lstStyle/>
          <a:p>
            <a:fld id="{2CF92F4A-FC3C-4C13-A76F-34129D2ABBA1}" type="slidenum">
              <a:rPr lang="en-GB" smtClean="0"/>
              <a:pPr/>
              <a:t>51</a:t>
            </a:fld>
            <a:endParaRPr lang="en-GB"/>
          </a:p>
        </p:txBody>
      </p:sp>
      <p:pic>
        <p:nvPicPr>
          <p:cNvPr id="9222" name="Picture 6" descr="Advatages of different mobile technologies - Xamar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6151" y="5745942"/>
            <a:ext cx="3535435" cy="808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39940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324088"/>
            <a:ext cx="7772400" cy="1456267"/>
          </a:xfrm>
        </p:spPr>
        <p:txBody>
          <a:bodyPr>
            <a:normAutofit/>
          </a:bodyPr>
          <a:lstStyle/>
          <a:p>
            <a:r>
              <a:rPr lang="en-US" sz="3200" b="1" dirty="0"/>
              <a:t>Cross-platform Apps Development</a:t>
            </a:r>
          </a:p>
        </p:txBody>
      </p:sp>
      <p:sp>
        <p:nvSpPr>
          <p:cNvPr id="3" name="Content Placeholder 2"/>
          <p:cNvSpPr>
            <a:spLocks noGrp="1"/>
          </p:cNvSpPr>
          <p:nvPr>
            <p:ph idx="1"/>
          </p:nvPr>
        </p:nvSpPr>
        <p:spPr>
          <a:xfrm>
            <a:off x="457200" y="1600200"/>
            <a:ext cx="8229600" cy="4270376"/>
          </a:xfrm>
        </p:spPr>
        <p:txBody>
          <a:bodyPr>
            <a:normAutofit lnSpcReduction="10000"/>
          </a:bodyPr>
          <a:lstStyle/>
          <a:p>
            <a:pPr marL="0" indent="0">
              <a:buNone/>
            </a:pPr>
            <a:r>
              <a:rPr lang="en-US" sz="2800" b="1" dirty="0">
                <a:solidFill>
                  <a:srgbClr val="FFC000"/>
                </a:solidFill>
              </a:rPr>
              <a:t>Flutter</a:t>
            </a:r>
          </a:p>
          <a:p>
            <a:r>
              <a:rPr lang="en-US" sz="2800" dirty="0"/>
              <a:t>This open-source framework was created by Google.</a:t>
            </a:r>
          </a:p>
          <a:p>
            <a:r>
              <a:rPr lang="en-US" sz="2800" dirty="0"/>
              <a:t>Flutter capable to deliver high performance across iOS, Android, Windows, macOS, and the Web using a single codebase.</a:t>
            </a:r>
          </a:p>
          <a:p>
            <a:r>
              <a:rPr lang="en-US" sz="2800" dirty="0"/>
              <a:t>It has a </a:t>
            </a:r>
            <a:r>
              <a:rPr lang="en-US" sz="2800" b="1" dirty="0">
                <a:solidFill>
                  <a:srgbClr val="FFC000"/>
                </a:solidFill>
              </a:rPr>
              <a:t>Hot Reloading </a:t>
            </a:r>
            <a:r>
              <a:rPr lang="en-US" sz="2800" dirty="0"/>
              <a:t>feature and a large set of ready-made widgets.</a:t>
            </a:r>
          </a:p>
          <a:p>
            <a:r>
              <a:rPr lang="en-US" sz="2800" dirty="0"/>
              <a:t>Compatible with different IDE’s including Android Studio (IntelliJ) and VS Code</a:t>
            </a:r>
          </a:p>
        </p:txBody>
      </p:sp>
      <p:sp>
        <p:nvSpPr>
          <p:cNvPr id="6" name="Slide Number Placeholder 5"/>
          <p:cNvSpPr>
            <a:spLocks noGrp="1"/>
          </p:cNvSpPr>
          <p:nvPr>
            <p:ph type="sldNum" sz="quarter" idx="12"/>
          </p:nvPr>
        </p:nvSpPr>
        <p:spPr/>
        <p:txBody>
          <a:bodyPr/>
          <a:lstStyle/>
          <a:p>
            <a:fld id="{2CF92F4A-FC3C-4C13-A76F-34129D2ABBA1}" type="slidenum">
              <a:rPr lang="en-GB" smtClean="0"/>
              <a:pPr/>
              <a:t>52</a:t>
            </a:fld>
            <a:endParaRPr lang="en-GB"/>
          </a:p>
        </p:txBody>
      </p:sp>
      <p:pic>
        <p:nvPicPr>
          <p:cNvPr id="8194" name="Picture 2" descr="Flutter Framework for Cross-Platform App Developmen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00192" y="5446713"/>
            <a:ext cx="2584461" cy="122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64847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3212"/>
            <a:ext cx="7772400" cy="1456267"/>
          </a:xfrm>
        </p:spPr>
        <p:txBody>
          <a:bodyPr>
            <a:normAutofit/>
          </a:bodyPr>
          <a:lstStyle/>
          <a:p>
            <a:r>
              <a:rPr lang="en-US" sz="3200" b="1" dirty="0"/>
              <a:t>Hybrid Apps Development</a:t>
            </a:r>
          </a:p>
        </p:txBody>
      </p:sp>
      <p:sp>
        <p:nvSpPr>
          <p:cNvPr id="3" name="Content Placeholder 2"/>
          <p:cNvSpPr>
            <a:spLocks noGrp="1"/>
          </p:cNvSpPr>
          <p:nvPr>
            <p:ph idx="1"/>
          </p:nvPr>
        </p:nvSpPr>
        <p:spPr>
          <a:xfrm>
            <a:off x="457200" y="1600200"/>
            <a:ext cx="8229600" cy="4954588"/>
          </a:xfrm>
        </p:spPr>
        <p:txBody>
          <a:bodyPr>
            <a:normAutofit/>
          </a:bodyPr>
          <a:lstStyle/>
          <a:p>
            <a:r>
              <a:rPr lang="en-US" sz="2800" dirty="0"/>
              <a:t>A </a:t>
            </a:r>
            <a:r>
              <a:rPr lang="en-US" sz="2800" b="1" dirty="0">
                <a:solidFill>
                  <a:srgbClr val="FFC000"/>
                </a:solidFill>
              </a:rPr>
              <a:t>hybrid app</a:t>
            </a:r>
            <a:r>
              <a:rPr lang="en-US" sz="2800" dirty="0">
                <a:solidFill>
                  <a:srgbClr val="FFC000"/>
                </a:solidFill>
              </a:rPr>
              <a:t> </a:t>
            </a:r>
            <a:r>
              <a:rPr lang="en-US" sz="2800" dirty="0"/>
              <a:t>is a type of application that </a:t>
            </a:r>
            <a:r>
              <a:rPr lang="en-US" sz="2800" b="1" dirty="0">
                <a:solidFill>
                  <a:srgbClr val="FFC000"/>
                </a:solidFill>
              </a:rPr>
              <a:t>combines</a:t>
            </a:r>
            <a:r>
              <a:rPr lang="en-US" sz="2800" dirty="0"/>
              <a:t> elements of both native apps and web apps. </a:t>
            </a:r>
          </a:p>
          <a:p>
            <a:endParaRPr lang="en-US" sz="2800" dirty="0"/>
          </a:p>
          <a:p>
            <a:r>
              <a:rPr lang="en-US" sz="2800" dirty="0"/>
              <a:t>It is built using web technologies like </a:t>
            </a:r>
            <a:r>
              <a:rPr lang="en-US" sz="2800" b="1" dirty="0">
                <a:solidFill>
                  <a:srgbClr val="FFC000"/>
                </a:solidFill>
              </a:rPr>
              <a:t>HTML, CSS</a:t>
            </a:r>
            <a:r>
              <a:rPr lang="en-US" sz="2800" dirty="0"/>
              <a:t>, and </a:t>
            </a:r>
            <a:r>
              <a:rPr lang="en-US" sz="2800" b="1" dirty="0">
                <a:solidFill>
                  <a:srgbClr val="FFC000"/>
                </a:solidFill>
              </a:rPr>
              <a:t>JavaScript</a:t>
            </a:r>
            <a:r>
              <a:rPr lang="en-US" sz="2800" dirty="0"/>
              <a:t> but is packaged inside a native app wrapper, allowing it to be installed and run on a mobile device just like a native app. </a:t>
            </a:r>
          </a:p>
          <a:p>
            <a:endParaRPr lang="en-US" sz="2800" dirty="0"/>
          </a:p>
          <a:p>
            <a:r>
              <a:rPr lang="en-US" sz="2800" dirty="0"/>
              <a:t>Tools like </a:t>
            </a:r>
            <a:r>
              <a:rPr lang="en-US" sz="2800" b="1" dirty="0">
                <a:solidFill>
                  <a:srgbClr val="FFC000"/>
                </a:solidFill>
              </a:rPr>
              <a:t>Apache Cordova</a:t>
            </a:r>
            <a:r>
              <a:rPr lang="en-US" sz="2800" dirty="0">
                <a:solidFill>
                  <a:srgbClr val="FFC000"/>
                </a:solidFill>
              </a:rPr>
              <a:t> </a:t>
            </a:r>
            <a:r>
              <a:rPr lang="en-US" sz="2800" dirty="0"/>
              <a:t>and </a:t>
            </a:r>
            <a:r>
              <a:rPr lang="en-US" sz="2800" b="1" dirty="0">
                <a:solidFill>
                  <a:srgbClr val="FFC000"/>
                </a:solidFill>
              </a:rPr>
              <a:t>Ionic</a:t>
            </a:r>
            <a:r>
              <a:rPr lang="en-US" sz="2800" dirty="0"/>
              <a:t> are commonly used to create this native wrapper</a:t>
            </a:r>
          </a:p>
        </p:txBody>
      </p:sp>
      <p:sp>
        <p:nvSpPr>
          <p:cNvPr id="6" name="Slide Number Placeholder 5"/>
          <p:cNvSpPr>
            <a:spLocks noGrp="1"/>
          </p:cNvSpPr>
          <p:nvPr>
            <p:ph type="sldNum" sz="quarter" idx="12"/>
          </p:nvPr>
        </p:nvSpPr>
        <p:spPr/>
        <p:txBody>
          <a:bodyPr/>
          <a:lstStyle/>
          <a:p>
            <a:fld id="{2CF92F4A-FC3C-4C13-A76F-34129D2ABBA1}" type="slidenum">
              <a:rPr lang="en-GB" smtClean="0"/>
              <a:pPr/>
              <a:t>53</a:t>
            </a:fld>
            <a:endParaRPr lang="en-GB"/>
          </a:p>
        </p:txBody>
      </p:sp>
    </p:spTree>
    <p:extLst>
      <p:ext uri="{BB962C8B-B14F-4D97-AF65-F5344CB8AC3E}">
        <p14:creationId xmlns:p14="http://schemas.microsoft.com/office/powerpoint/2010/main" val="24794615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37986"/>
            <a:ext cx="7772400" cy="1456267"/>
          </a:xfrm>
        </p:spPr>
        <p:txBody>
          <a:bodyPr>
            <a:normAutofit/>
          </a:bodyPr>
          <a:lstStyle/>
          <a:p>
            <a:r>
              <a:rPr lang="en-US" sz="3200" b="1" dirty="0"/>
              <a:t>Hybrid Apps Development</a:t>
            </a:r>
          </a:p>
        </p:txBody>
      </p:sp>
      <p:sp>
        <p:nvSpPr>
          <p:cNvPr id="3" name="Content Placeholder 2"/>
          <p:cNvSpPr>
            <a:spLocks noGrp="1"/>
          </p:cNvSpPr>
          <p:nvPr>
            <p:ph idx="1"/>
          </p:nvPr>
        </p:nvSpPr>
        <p:spPr>
          <a:xfrm>
            <a:off x="457200" y="1600200"/>
            <a:ext cx="8229600" cy="4954588"/>
          </a:xfrm>
        </p:spPr>
        <p:txBody>
          <a:bodyPr>
            <a:normAutofit/>
          </a:bodyPr>
          <a:lstStyle/>
          <a:p>
            <a:r>
              <a:rPr lang="en-US" sz="2800" dirty="0"/>
              <a:t>Hybrid apps are an attractive option for developers because they can use a </a:t>
            </a:r>
            <a:r>
              <a:rPr lang="en-US" sz="2800" b="1" dirty="0">
                <a:solidFill>
                  <a:srgbClr val="FFC000"/>
                </a:solidFill>
              </a:rPr>
              <a:t>single codebase </a:t>
            </a:r>
            <a:r>
              <a:rPr lang="en-US" sz="2800" dirty="0"/>
              <a:t>to create apps that work across multiple platforms, such as iOS and Android.</a:t>
            </a:r>
          </a:p>
          <a:p>
            <a:endParaRPr lang="en-US" sz="2800" dirty="0"/>
          </a:p>
          <a:p>
            <a:r>
              <a:rPr lang="en-US" sz="2800" dirty="0"/>
              <a:t>This </a:t>
            </a:r>
            <a:r>
              <a:rPr lang="en-US" sz="2800" b="1" dirty="0">
                <a:solidFill>
                  <a:srgbClr val="FFC000"/>
                </a:solidFill>
              </a:rPr>
              <a:t>saves time and resources </a:t>
            </a:r>
            <a:r>
              <a:rPr lang="en-US" sz="2800" dirty="0"/>
              <a:t>compared to building separate native apps for each platform.</a:t>
            </a:r>
          </a:p>
          <a:p>
            <a:endParaRPr lang="en-US" sz="2800" dirty="0"/>
          </a:p>
          <a:p>
            <a:r>
              <a:rPr lang="en-US" sz="2800" dirty="0"/>
              <a:t>The app is essentially a web app running inside a native app shell.</a:t>
            </a:r>
          </a:p>
        </p:txBody>
      </p:sp>
      <p:sp>
        <p:nvSpPr>
          <p:cNvPr id="6" name="Slide Number Placeholder 5"/>
          <p:cNvSpPr>
            <a:spLocks noGrp="1"/>
          </p:cNvSpPr>
          <p:nvPr>
            <p:ph type="sldNum" sz="quarter" idx="12"/>
          </p:nvPr>
        </p:nvSpPr>
        <p:spPr/>
        <p:txBody>
          <a:bodyPr/>
          <a:lstStyle/>
          <a:p>
            <a:fld id="{2CF92F4A-FC3C-4C13-A76F-34129D2ABBA1}" type="slidenum">
              <a:rPr lang="en-GB" smtClean="0"/>
              <a:pPr/>
              <a:t>54</a:t>
            </a:fld>
            <a:endParaRPr lang="en-GB"/>
          </a:p>
        </p:txBody>
      </p:sp>
    </p:spTree>
    <p:extLst>
      <p:ext uri="{BB962C8B-B14F-4D97-AF65-F5344CB8AC3E}">
        <p14:creationId xmlns:p14="http://schemas.microsoft.com/office/powerpoint/2010/main" val="9285216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37986"/>
            <a:ext cx="7772400" cy="1456267"/>
          </a:xfrm>
        </p:spPr>
        <p:txBody>
          <a:bodyPr>
            <a:normAutofit/>
          </a:bodyPr>
          <a:lstStyle/>
          <a:p>
            <a:r>
              <a:rPr lang="en-US" sz="3200" b="1" dirty="0"/>
              <a:t>Hybrid Apps Development</a:t>
            </a:r>
          </a:p>
        </p:txBody>
      </p:sp>
      <p:sp>
        <p:nvSpPr>
          <p:cNvPr id="3" name="Content Placeholder 2"/>
          <p:cNvSpPr>
            <a:spLocks noGrp="1"/>
          </p:cNvSpPr>
          <p:nvPr>
            <p:ph idx="1"/>
          </p:nvPr>
        </p:nvSpPr>
        <p:spPr>
          <a:xfrm>
            <a:off x="457200" y="1600200"/>
            <a:ext cx="8229600" cy="4954588"/>
          </a:xfrm>
        </p:spPr>
        <p:txBody>
          <a:bodyPr>
            <a:normAutofit/>
          </a:bodyPr>
          <a:lstStyle/>
          <a:p>
            <a:r>
              <a:rPr lang="en-US" sz="2800" dirty="0"/>
              <a:t>Hybrid apps can access certain native device features such as the camera, GPS, push notifications, and more through </a:t>
            </a:r>
            <a:r>
              <a:rPr lang="en-US" sz="2800" b="1" dirty="0">
                <a:solidFill>
                  <a:srgbClr val="FFC000"/>
                </a:solidFill>
              </a:rPr>
              <a:t>plugins</a:t>
            </a:r>
            <a:r>
              <a:rPr lang="en-US" sz="2800" dirty="0"/>
              <a:t> that act as a bridge between the web technologies and the device’s native APIs.</a:t>
            </a:r>
          </a:p>
          <a:p>
            <a:endParaRPr lang="en-US" sz="2800" dirty="0"/>
          </a:p>
          <a:p>
            <a:r>
              <a:rPr lang="en-US" sz="2800" b="1" dirty="0">
                <a:solidFill>
                  <a:srgbClr val="FFC000"/>
                </a:solidFill>
              </a:rPr>
              <a:t>Offline Support</a:t>
            </a:r>
            <a:r>
              <a:rPr lang="en-US" sz="2800" dirty="0"/>
              <a:t> - like native apps, hybrid apps can have offline capabilities, allowing them to store data locally and operate without an internet connection for certain tasks.</a:t>
            </a:r>
          </a:p>
        </p:txBody>
      </p:sp>
      <p:sp>
        <p:nvSpPr>
          <p:cNvPr id="6" name="Slide Number Placeholder 5"/>
          <p:cNvSpPr>
            <a:spLocks noGrp="1"/>
          </p:cNvSpPr>
          <p:nvPr>
            <p:ph type="sldNum" sz="quarter" idx="12"/>
          </p:nvPr>
        </p:nvSpPr>
        <p:spPr/>
        <p:txBody>
          <a:bodyPr/>
          <a:lstStyle/>
          <a:p>
            <a:fld id="{2CF92F4A-FC3C-4C13-A76F-34129D2ABBA1}" type="slidenum">
              <a:rPr lang="en-GB" smtClean="0"/>
              <a:pPr/>
              <a:t>55</a:t>
            </a:fld>
            <a:endParaRPr lang="en-GB"/>
          </a:p>
        </p:txBody>
      </p:sp>
    </p:spTree>
    <p:extLst>
      <p:ext uri="{BB962C8B-B14F-4D97-AF65-F5344CB8AC3E}">
        <p14:creationId xmlns:p14="http://schemas.microsoft.com/office/powerpoint/2010/main" val="14244857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37986"/>
            <a:ext cx="7772400" cy="1456267"/>
          </a:xfrm>
        </p:spPr>
        <p:txBody>
          <a:bodyPr>
            <a:normAutofit/>
          </a:bodyPr>
          <a:lstStyle/>
          <a:p>
            <a:r>
              <a:rPr lang="en-US" sz="3200" b="1" dirty="0"/>
              <a:t>Hybrid Apps Development</a:t>
            </a:r>
          </a:p>
        </p:txBody>
      </p:sp>
      <p:sp>
        <p:nvSpPr>
          <p:cNvPr id="3" name="Content Placeholder 2"/>
          <p:cNvSpPr>
            <a:spLocks noGrp="1"/>
          </p:cNvSpPr>
          <p:nvPr>
            <p:ph idx="1"/>
          </p:nvPr>
        </p:nvSpPr>
        <p:spPr>
          <a:xfrm>
            <a:off x="457200" y="1600200"/>
            <a:ext cx="8229600" cy="4954588"/>
          </a:xfrm>
        </p:spPr>
        <p:txBody>
          <a:bodyPr>
            <a:normAutofit fontScale="92500"/>
          </a:bodyPr>
          <a:lstStyle/>
          <a:p>
            <a:r>
              <a:rPr lang="en-US" sz="2800" dirty="0"/>
              <a:t>Several frameworks are available to build hybrid apps:</a:t>
            </a:r>
          </a:p>
          <a:p>
            <a:pPr lvl="1">
              <a:buFont typeface="Arial" panose="020B0604020202020204" pitchFamily="34" charset="0"/>
              <a:buChar char="•"/>
            </a:pPr>
            <a:r>
              <a:rPr lang="en-US" sz="2600" b="1" dirty="0">
                <a:solidFill>
                  <a:srgbClr val="FFC000"/>
                </a:solidFill>
              </a:rPr>
              <a:t>Apache Cordova</a:t>
            </a:r>
            <a:r>
              <a:rPr lang="en-US" sz="2600" dirty="0"/>
              <a:t>: One of the most popular frameworks for hybrid app development, it enables web developers to wrap their code in a native container to access native device features.</a:t>
            </a:r>
          </a:p>
          <a:p>
            <a:pPr lvl="1">
              <a:buFont typeface="Arial" panose="020B0604020202020204" pitchFamily="34" charset="0"/>
              <a:buChar char="•"/>
            </a:pPr>
            <a:r>
              <a:rPr lang="en-US" sz="2600" b="1" dirty="0">
                <a:solidFill>
                  <a:srgbClr val="FFC000"/>
                </a:solidFill>
              </a:rPr>
              <a:t>Ionic</a:t>
            </a:r>
            <a:r>
              <a:rPr lang="en-US" sz="2600" dirty="0"/>
              <a:t>: Built on top of Apache Cordova, Ionic provides a rich set of UI components and tools that make it easier to build hybrid apps with a more native-like user experience.</a:t>
            </a:r>
          </a:p>
          <a:p>
            <a:pPr lvl="1">
              <a:buFont typeface="Arial" panose="020B0604020202020204" pitchFamily="34" charset="0"/>
              <a:buChar char="•"/>
            </a:pPr>
            <a:r>
              <a:rPr lang="en-US" sz="2600" b="1" dirty="0">
                <a:solidFill>
                  <a:srgbClr val="FFC000"/>
                </a:solidFill>
              </a:rPr>
              <a:t>Framework7</a:t>
            </a:r>
            <a:r>
              <a:rPr lang="en-US" sz="2600" dirty="0"/>
              <a:t>: Another popular hybrid app framework, it provides native-style UI components and layouts for iOS and Android.</a:t>
            </a:r>
          </a:p>
        </p:txBody>
      </p:sp>
      <p:sp>
        <p:nvSpPr>
          <p:cNvPr id="6" name="Slide Number Placeholder 5"/>
          <p:cNvSpPr>
            <a:spLocks noGrp="1"/>
          </p:cNvSpPr>
          <p:nvPr>
            <p:ph type="sldNum" sz="quarter" idx="12"/>
          </p:nvPr>
        </p:nvSpPr>
        <p:spPr/>
        <p:txBody>
          <a:bodyPr/>
          <a:lstStyle/>
          <a:p>
            <a:fld id="{2CF92F4A-FC3C-4C13-A76F-34129D2ABBA1}" type="slidenum">
              <a:rPr lang="en-GB" smtClean="0"/>
              <a:pPr/>
              <a:t>56</a:t>
            </a:fld>
            <a:endParaRPr lang="en-GB"/>
          </a:p>
        </p:txBody>
      </p:sp>
    </p:spTree>
    <p:extLst>
      <p:ext uri="{BB962C8B-B14F-4D97-AF65-F5344CB8AC3E}">
        <p14:creationId xmlns:p14="http://schemas.microsoft.com/office/powerpoint/2010/main" val="24439907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800" y="177988"/>
            <a:ext cx="7772400" cy="1456267"/>
          </a:xfrm>
        </p:spPr>
        <p:txBody>
          <a:bodyPr>
            <a:normAutofit/>
          </a:bodyPr>
          <a:lstStyle/>
          <a:p>
            <a:r>
              <a:rPr lang="en-US" sz="3200" b="1" dirty="0"/>
              <a:t>Hybrid Apps Development</a:t>
            </a:r>
          </a:p>
        </p:txBody>
      </p:sp>
      <p:sp>
        <p:nvSpPr>
          <p:cNvPr id="3" name="Content Placeholder 2"/>
          <p:cNvSpPr>
            <a:spLocks noGrp="1"/>
          </p:cNvSpPr>
          <p:nvPr>
            <p:ph idx="1"/>
          </p:nvPr>
        </p:nvSpPr>
        <p:spPr>
          <a:xfrm>
            <a:off x="457200" y="1600200"/>
            <a:ext cx="8229600" cy="964704"/>
          </a:xfrm>
        </p:spPr>
        <p:txBody>
          <a:bodyPr/>
          <a:lstStyle/>
          <a:p>
            <a:r>
              <a:rPr lang="en-MY" sz="2400" dirty="0"/>
              <a:t>Example of apps: Instagram, Twitter, Uber, etc.</a:t>
            </a:r>
          </a:p>
        </p:txBody>
      </p:sp>
      <p:sp>
        <p:nvSpPr>
          <p:cNvPr id="6" name="Slide Number Placeholder 5"/>
          <p:cNvSpPr>
            <a:spLocks noGrp="1"/>
          </p:cNvSpPr>
          <p:nvPr>
            <p:ph type="sldNum" sz="quarter" idx="12"/>
          </p:nvPr>
        </p:nvSpPr>
        <p:spPr/>
        <p:txBody>
          <a:bodyPr/>
          <a:lstStyle/>
          <a:p>
            <a:fld id="{2CF92F4A-FC3C-4C13-A76F-34129D2ABBA1}" type="slidenum">
              <a:rPr lang="en-GB" smtClean="0"/>
              <a:pPr/>
              <a:t>57</a:t>
            </a:fld>
            <a:endParaRPr lang="en-GB"/>
          </a:p>
        </p:txBody>
      </p:sp>
      <p:pic>
        <p:nvPicPr>
          <p:cNvPr id="10242" name="Picture 2" descr="https://susampinfotech.com/wp-content/uploads/2019/12/04_Images-300x2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2564904"/>
            <a:ext cx="5472608" cy="3648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27241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800" y="177988"/>
            <a:ext cx="7772400" cy="1456267"/>
          </a:xfrm>
        </p:spPr>
        <p:txBody>
          <a:bodyPr>
            <a:normAutofit/>
          </a:bodyPr>
          <a:lstStyle/>
          <a:p>
            <a:r>
              <a:rPr lang="en-US" sz="3200" b="1" dirty="0"/>
              <a:t>Hybrid Apps Development</a:t>
            </a:r>
          </a:p>
        </p:txBody>
      </p:sp>
      <p:sp>
        <p:nvSpPr>
          <p:cNvPr id="3" name="Content Placeholder 2"/>
          <p:cNvSpPr>
            <a:spLocks noGrp="1"/>
          </p:cNvSpPr>
          <p:nvPr>
            <p:ph idx="1"/>
          </p:nvPr>
        </p:nvSpPr>
        <p:spPr>
          <a:xfrm>
            <a:off x="485800" y="1634255"/>
            <a:ext cx="8229600" cy="4775673"/>
          </a:xfrm>
        </p:spPr>
        <p:txBody>
          <a:bodyPr>
            <a:noAutofit/>
          </a:bodyPr>
          <a:lstStyle/>
          <a:p>
            <a:r>
              <a:rPr lang="en-US" sz="2400" dirty="0"/>
              <a:t>When to choose hybrid apps development? If…</a:t>
            </a:r>
          </a:p>
          <a:p>
            <a:endParaRPr lang="en-US" sz="2400" dirty="0"/>
          </a:p>
          <a:p>
            <a:pPr lvl="1"/>
            <a:r>
              <a:rPr lang="en-US" sz="2400" dirty="0"/>
              <a:t>there are limited time and resources and need to deploy across multiple platforms quickly.</a:t>
            </a:r>
          </a:p>
          <a:p>
            <a:pPr lvl="1"/>
            <a:endParaRPr lang="en-US" sz="2400" dirty="0"/>
          </a:p>
          <a:p>
            <a:pPr lvl="1"/>
            <a:r>
              <a:rPr lang="en-US" sz="2400" dirty="0"/>
              <a:t>the app does not require extensive native interactions, such as 3D graphics, advanced animations, or other highly performance-dependent features. </a:t>
            </a:r>
          </a:p>
          <a:p>
            <a:pPr lvl="1"/>
            <a:endParaRPr lang="en-US" sz="2400" dirty="0"/>
          </a:p>
          <a:p>
            <a:pPr lvl="1"/>
            <a:r>
              <a:rPr lang="en-US" sz="2400" dirty="0"/>
              <a:t>leverage existing web development expertise to create mobile apps. </a:t>
            </a:r>
            <a:endParaRPr lang="en-MY" sz="2400" dirty="0"/>
          </a:p>
        </p:txBody>
      </p:sp>
      <p:sp>
        <p:nvSpPr>
          <p:cNvPr id="6" name="Slide Number Placeholder 5"/>
          <p:cNvSpPr>
            <a:spLocks noGrp="1"/>
          </p:cNvSpPr>
          <p:nvPr>
            <p:ph type="sldNum" sz="quarter" idx="12"/>
          </p:nvPr>
        </p:nvSpPr>
        <p:spPr/>
        <p:txBody>
          <a:bodyPr/>
          <a:lstStyle/>
          <a:p>
            <a:fld id="{2CF92F4A-FC3C-4C13-A76F-34129D2ABBA1}" type="slidenum">
              <a:rPr lang="en-GB" smtClean="0"/>
              <a:pPr/>
              <a:t>58</a:t>
            </a:fld>
            <a:endParaRPr lang="en-GB"/>
          </a:p>
        </p:txBody>
      </p:sp>
    </p:spTree>
    <p:extLst>
      <p:ext uri="{BB962C8B-B14F-4D97-AF65-F5344CB8AC3E}">
        <p14:creationId xmlns:p14="http://schemas.microsoft.com/office/powerpoint/2010/main" val="20009626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829" y="299036"/>
            <a:ext cx="7772400" cy="1456267"/>
          </a:xfrm>
        </p:spPr>
        <p:txBody>
          <a:bodyPr>
            <a:normAutofit/>
          </a:bodyPr>
          <a:lstStyle/>
          <a:p>
            <a:r>
              <a:rPr lang="en-US" sz="3200" b="1" dirty="0"/>
              <a:t>Web Apps Development</a:t>
            </a:r>
          </a:p>
        </p:txBody>
      </p:sp>
      <p:sp>
        <p:nvSpPr>
          <p:cNvPr id="3" name="Content Placeholder 2"/>
          <p:cNvSpPr>
            <a:spLocks noGrp="1"/>
          </p:cNvSpPr>
          <p:nvPr>
            <p:ph idx="1"/>
          </p:nvPr>
        </p:nvSpPr>
        <p:spPr>
          <a:xfrm>
            <a:off x="457200" y="1600200"/>
            <a:ext cx="8229600" cy="4954588"/>
          </a:xfrm>
        </p:spPr>
        <p:txBody>
          <a:bodyPr>
            <a:normAutofit lnSpcReduction="10000"/>
          </a:bodyPr>
          <a:lstStyle/>
          <a:p>
            <a:r>
              <a:rPr lang="en-US" sz="2800" b="1" dirty="0">
                <a:solidFill>
                  <a:srgbClr val="FFC000"/>
                </a:solidFill>
              </a:rPr>
              <a:t>Web apps</a:t>
            </a:r>
            <a:r>
              <a:rPr lang="en-US" sz="2800" dirty="0">
                <a:solidFill>
                  <a:srgbClr val="FFC000"/>
                </a:solidFill>
              </a:rPr>
              <a:t> </a:t>
            </a:r>
            <a:r>
              <a:rPr lang="en-US" sz="2800" dirty="0"/>
              <a:t>are a </a:t>
            </a:r>
            <a:r>
              <a:rPr lang="en-US" sz="2800" b="1" dirty="0">
                <a:solidFill>
                  <a:srgbClr val="FFC000"/>
                </a:solidFill>
              </a:rPr>
              <a:t>lightweight</a:t>
            </a:r>
            <a:r>
              <a:rPr lang="en-US" sz="2800" dirty="0"/>
              <a:t> paradigm where you open a URL in your device’s browser, but they look and feel like a regular mobile app. These apps do not require to install on mobile devices and were run on web-hosted servers. </a:t>
            </a:r>
          </a:p>
          <a:p>
            <a:endParaRPr lang="en-US" sz="2800" dirty="0"/>
          </a:p>
          <a:p>
            <a:r>
              <a:rPr lang="en-US" sz="2800" dirty="0"/>
              <a:t>Mobile web apps typically use </a:t>
            </a:r>
            <a:r>
              <a:rPr lang="en-US" sz="2800" b="1" dirty="0">
                <a:solidFill>
                  <a:srgbClr val="FFC000"/>
                </a:solidFill>
              </a:rPr>
              <a:t>HTML, CSS, </a:t>
            </a:r>
            <a:r>
              <a:rPr lang="en-US" sz="2800" b="1" dirty="0" err="1">
                <a:solidFill>
                  <a:srgbClr val="FFC000"/>
                </a:solidFill>
              </a:rPr>
              <a:t>Javascript</a:t>
            </a:r>
            <a:r>
              <a:rPr lang="en-US" sz="2800" b="1" dirty="0">
                <a:solidFill>
                  <a:srgbClr val="FFC000"/>
                </a:solidFill>
              </a:rPr>
              <a:t>, </a:t>
            </a:r>
            <a:r>
              <a:rPr lang="en-US" sz="2800" b="1" dirty="0" err="1">
                <a:solidFill>
                  <a:srgbClr val="FFC000"/>
                </a:solidFill>
              </a:rPr>
              <a:t>JQuery</a:t>
            </a:r>
            <a:r>
              <a:rPr lang="en-US" sz="2800" b="1" dirty="0">
                <a:solidFill>
                  <a:srgbClr val="FFC000"/>
                </a:solidFill>
              </a:rPr>
              <a:t> </a:t>
            </a:r>
            <a:r>
              <a:rPr lang="en-US" sz="2800" dirty="0"/>
              <a:t>web technologies. </a:t>
            </a:r>
          </a:p>
          <a:p>
            <a:endParaRPr lang="en-US" sz="2800" dirty="0"/>
          </a:p>
          <a:p>
            <a:r>
              <a:rPr lang="en-US" sz="2800" dirty="0"/>
              <a:t>They </a:t>
            </a:r>
            <a:r>
              <a:rPr lang="en-US" sz="2800" b="1" dirty="0">
                <a:solidFill>
                  <a:srgbClr val="FFC000"/>
                </a:solidFill>
              </a:rPr>
              <a:t>cannot access all features of native device functionality </a:t>
            </a:r>
            <a:r>
              <a:rPr lang="en-US" sz="2800" dirty="0"/>
              <a:t>(camera, calendar, geolocation, etc.).</a:t>
            </a:r>
          </a:p>
        </p:txBody>
      </p:sp>
      <p:sp>
        <p:nvSpPr>
          <p:cNvPr id="6" name="Slide Number Placeholder 5"/>
          <p:cNvSpPr>
            <a:spLocks noGrp="1"/>
          </p:cNvSpPr>
          <p:nvPr>
            <p:ph type="sldNum" sz="quarter" idx="12"/>
          </p:nvPr>
        </p:nvSpPr>
        <p:spPr/>
        <p:txBody>
          <a:bodyPr/>
          <a:lstStyle/>
          <a:p>
            <a:fld id="{2CF92F4A-FC3C-4C13-A76F-34129D2ABBA1}" type="slidenum">
              <a:rPr lang="en-GB" smtClean="0"/>
              <a:pPr/>
              <a:t>59</a:t>
            </a:fld>
            <a:endParaRPr lang="en-GB"/>
          </a:p>
        </p:txBody>
      </p:sp>
    </p:spTree>
    <p:extLst>
      <p:ext uri="{BB962C8B-B14F-4D97-AF65-F5344CB8AC3E}">
        <p14:creationId xmlns:p14="http://schemas.microsoft.com/office/powerpoint/2010/main" val="17559255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8644" y="338665"/>
            <a:ext cx="7772400" cy="1456267"/>
          </a:xfrm>
        </p:spPr>
        <p:txBody>
          <a:bodyPr>
            <a:normAutofit/>
          </a:bodyPr>
          <a:lstStyle/>
          <a:p>
            <a:r>
              <a:rPr lang="en-US" sz="3200" b="1" dirty="0"/>
              <a:t>Web Apps Development</a:t>
            </a:r>
            <a:endParaRPr lang="en-MY" sz="3200" b="1" dirty="0"/>
          </a:p>
        </p:txBody>
      </p:sp>
      <p:sp>
        <p:nvSpPr>
          <p:cNvPr id="3" name="Content Placeholder 2"/>
          <p:cNvSpPr>
            <a:spLocks noGrp="1"/>
          </p:cNvSpPr>
          <p:nvPr>
            <p:ph idx="1"/>
          </p:nvPr>
        </p:nvSpPr>
        <p:spPr/>
        <p:txBody>
          <a:bodyPr>
            <a:normAutofit/>
          </a:bodyPr>
          <a:lstStyle/>
          <a:p>
            <a:pPr algn="just"/>
            <a:r>
              <a:rPr lang="en-US" sz="2800" dirty="0"/>
              <a:t>Adaptive web apps scale to </a:t>
            </a:r>
            <a:r>
              <a:rPr lang="en-US" sz="2800" b="1" dirty="0">
                <a:solidFill>
                  <a:srgbClr val="FFC000"/>
                </a:solidFill>
              </a:rPr>
              <a:t>fit the different screen sizes</a:t>
            </a:r>
            <a:r>
              <a:rPr lang="en-US" sz="2800" dirty="0"/>
              <a:t> of mobile devices. </a:t>
            </a:r>
          </a:p>
          <a:p>
            <a:pPr algn="just"/>
            <a:endParaRPr lang="en-US" sz="2800" dirty="0"/>
          </a:p>
          <a:p>
            <a:pPr algn="just"/>
            <a:r>
              <a:rPr lang="en-US" sz="2800" dirty="0"/>
              <a:t>Web apps are built using the most popular programming languages, but they can’t use hardware on mobile devices or be sold in any app stores.</a:t>
            </a:r>
          </a:p>
          <a:p>
            <a:pPr algn="just"/>
            <a:endParaRPr lang="en-MY" sz="2800" dirty="0"/>
          </a:p>
        </p:txBody>
      </p:sp>
      <p:sp>
        <p:nvSpPr>
          <p:cNvPr id="4" name="Slide Number Placeholder 3"/>
          <p:cNvSpPr>
            <a:spLocks noGrp="1"/>
          </p:cNvSpPr>
          <p:nvPr>
            <p:ph type="sldNum" sz="quarter" idx="12"/>
          </p:nvPr>
        </p:nvSpPr>
        <p:spPr/>
        <p:txBody>
          <a:bodyPr/>
          <a:lstStyle/>
          <a:p>
            <a:fld id="{CC13ADC4-536D-428E-8667-0275BB2B031C}" type="slidenum">
              <a:rPr lang="en-GB" smtClean="0"/>
              <a:pPr/>
              <a:t>60</a:t>
            </a:fld>
            <a:endParaRPr lang="en-GB"/>
          </a:p>
        </p:txBody>
      </p:sp>
    </p:spTree>
    <p:extLst>
      <p:ext uri="{BB962C8B-B14F-4D97-AF65-F5344CB8AC3E}">
        <p14:creationId xmlns:p14="http://schemas.microsoft.com/office/powerpoint/2010/main" val="94299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8665"/>
            <a:ext cx="7772400" cy="1456267"/>
          </a:xfrm>
        </p:spPr>
        <p:txBody>
          <a:bodyPr>
            <a:normAutofit/>
          </a:bodyPr>
          <a:lstStyle/>
          <a:p>
            <a:r>
              <a:rPr lang="en-US" sz="3200" b="1" dirty="0"/>
              <a:t>Web Apps Development</a:t>
            </a:r>
          </a:p>
        </p:txBody>
      </p:sp>
      <p:sp>
        <p:nvSpPr>
          <p:cNvPr id="3" name="Content Placeholder 2"/>
          <p:cNvSpPr>
            <a:spLocks noGrp="1"/>
          </p:cNvSpPr>
          <p:nvPr>
            <p:ph idx="1"/>
          </p:nvPr>
        </p:nvSpPr>
        <p:spPr>
          <a:xfrm>
            <a:off x="457200" y="1628800"/>
            <a:ext cx="8435280" cy="4890535"/>
          </a:xfrm>
        </p:spPr>
        <p:txBody>
          <a:bodyPr>
            <a:normAutofit/>
          </a:bodyPr>
          <a:lstStyle/>
          <a:p>
            <a:pPr algn="just"/>
            <a:r>
              <a:rPr lang="en-US" sz="2800" dirty="0"/>
              <a:t>Developers can use two website programming paradigms to create </a:t>
            </a:r>
            <a:r>
              <a:rPr lang="en-US" sz="2800" b="1" dirty="0">
                <a:solidFill>
                  <a:srgbClr val="FFC000"/>
                </a:solidFill>
              </a:rPr>
              <a:t>mobile web apps</a:t>
            </a:r>
            <a:r>
              <a:rPr lang="en-US" sz="2800" dirty="0">
                <a:solidFill>
                  <a:srgbClr val="FFC000"/>
                </a:solidFill>
              </a:rPr>
              <a:t>:</a:t>
            </a:r>
          </a:p>
          <a:p>
            <a:pPr algn="just"/>
            <a:endParaRPr lang="en-US" sz="2800" dirty="0">
              <a:solidFill>
                <a:srgbClr val="FFC000"/>
              </a:solidFill>
            </a:endParaRPr>
          </a:p>
          <a:p>
            <a:pPr lvl="1" algn="just"/>
            <a:r>
              <a:rPr lang="en-US" sz="2800" b="1" dirty="0">
                <a:solidFill>
                  <a:srgbClr val="FFC000"/>
                </a:solidFill>
              </a:rPr>
              <a:t>Responsive web programming</a:t>
            </a:r>
            <a:r>
              <a:rPr lang="en-US" sz="2800" dirty="0">
                <a:solidFill>
                  <a:srgbClr val="FFC000"/>
                </a:solidFill>
              </a:rPr>
              <a:t> </a:t>
            </a:r>
            <a:r>
              <a:rPr lang="en-US" sz="2800" dirty="0"/>
              <a:t>is a style of web site programming where the web site layout organizes itself to suit the device’s form factor. </a:t>
            </a:r>
          </a:p>
          <a:p>
            <a:pPr lvl="1" algn="just"/>
            <a:r>
              <a:rPr lang="en-US" sz="2800" dirty="0"/>
              <a:t>Instead of having to browse horizontally, the content </a:t>
            </a:r>
            <a:r>
              <a:rPr lang="en-US" sz="2800" b="1" dirty="0">
                <a:solidFill>
                  <a:srgbClr val="FFC000"/>
                </a:solidFill>
              </a:rPr>
              <a:t>snaps in place to fit the width of the device</a:t>
            </a:r>
            <a:r>
              <a:rPr lang="en-US" sz="2800" dirty="0"/>
              <a:t>. These web sites can also be used from a desktop</a:t>
            </a:r>
          </a:p>
        </p:txBody>
      </p:sp>
      <p:sp>
        <p:nvSpPr>
          <p:cNvPr id="6" name="Slide Number Placeholder 5"/>
          <p:cNvSpPr>
            <a:spLocks noGrp="1"/>
          </p:cNvSpPr>
          <p:nvPr>
            <p:ph type="sldNum" sz="quarter" idx="12"/>
          </p:nvPr>
        </p:nvSpPr>
        <p:spPr/>
        <p:txBody>
          <a:bodyPr/>
          <a:lstStyle/>
          <a:p>
            <a:fld id="{2CF92F4A-FC3C-4C13-A76F-34129D2ABBA1}" type="slidenum">
              <a:rPr lang="en-GB" smtClean="0"/>
              <a:pPr/>
              <a:t>61</a:t>
            </a:fld>
            <a:endParaRPr lang="en-GB"/>
          </a:p>
        </p:txBody>
      </p:sp>
    </p:spTree>
    <p:extLst>
      <p:ext uri="{BB962C8B-B14F-4D97-AF65-F5344CB8AC3E}">
        <p14:creationId xmlns:p14="http://schemas.microsoft.com/office/powerpoint/2010/main" val="28360088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8665"/>
            <a:ext cx="7772400" cy="1456267"/>
          </a:xfrm>
        </p:spPr>
        <p:txBody>
          <a:bodyPr>
            <a:normAutofit/>
          </a:bodyPr>
          <a:lstStyle/>
          <a:p>
            <a:r>
              <a:rPr lang="en-US" sz="3200" b="1" dirty="0"/>
              <a:t>Web Apps Development</a:t>
            </a:r>
          </a:p>
        </p:txBody>
      </p:sp>
      <p:sp>
        <p:nvSpPr>
          <p:cNvPr id="3" name="Content Placeholder 2"/>
          <p:cNvSpPr>
            <a:spLocks noGrp="1"/>
          </p:cNvSpPr>
          <p:nvPr>
            <p:ph idx="1"/>
          </p:nvPr>
        </p:nvSpPr>
        <p:spPr>
          <a:xfrm>
            <a:off x="457200" y="1794932"/>
            <a:ext cx="8291264" cy="4724403"/>
          </a:xfrm>
        </p:spPr>
        <p:txBody>
          <a:bodyPr>
            <a:normAutofit lnSpcReduction="10000"/>
          </a:bodyPr>
          <a:lstStyle/>
          <a:p>
            <a:pPr lvl="1" algn="just"/>
            <a:r>
              <a:rPr lang="en-US" sz="2800" b="1" dirty="0">
                <a:solidFill>
                  <a:srgbClr val="FFC000"/>
                </a:solidFill>
              </a:rPr>
              <a:t>Progressive web application (PWA) </a:t>
            </a:r>
            <a:r>
              <a:rPr lang="en-US" sz="2800" dirty="0"/>
              <a:t>are normal websites that appear like a traditional mobile app when navigated to from a browser on a mobile device. </a:t>
            </a:r>
          </a:p>
          <a:p>
            <a:pPr lvl="1" algn="just"/>
            <a:endParaRPr lang="en-US" sz="2800" dirty="0"/>
          </a:p>
          <a:p>
            <a:pPr lvl="1" algn="just"/>
            <a:r>
              <a:rPr lang="en-US" sz="2800" dirty="0"/>
              <a:t>They deliver an almost app-like experience. It has an ability to add a link to the Home screen (so that you get an </a:t>
            </a:r>
            <a:r>
              <a:rPr lang="en-US" sz="2800" b="1" dirty="0">
                <a:solidFill>
                  <a:srgbClr val="FFC000"/>
                </a:solidFill>
              </a:rPr>
              <a:t>app icon</a:t>
            </a:r>
            <a:r>
              <a:rPr lang="en-US" sz="2800" dirty="0"/>
              <a:t>), and they are also able to </a:t>
            </a:r>
            <a:r>
              <a:rPr lang="en-US" sz="2800" b="1" dirty="0">
                <a:solidFill>
                  <a:srgbClr val="FFC000"/>
                </a:solidFill>
              </a:rPr>
              <a:t>run offline </a:t>
            </a:r>
            <a:r>
              <a:rPr lang="en-US" sz="2800" dirty="0"/>
              <a:t>when not connected to the internet by </a:t>
            </a:r>
            <a:r>
              <a:rPr lang="en-US" sz="2800" b="1" dirty="0">
                <a:solidFill>
                  <a:srgbClr val="FFC000"/>
                </a:solidFill>
              </a:rPr>
              <a:t>caching the content locally </a:t>
            </a:r>
            <a:r>
              <a:rPr lang="en-US" sz="2800" dirty="0"/>
              <a:t>on the device.</a:t>
            </a:r>
          </a:p>
          <a:p>
            <a:pPr algn="just"/>
            <a:endParaRPr lang="en-US" sz="2800" dirty="0"/>
          </a:p>
        </p:txBody>
      </p:sp>
      <p:sp>
        <p:nvSpPr>
          <p:cNvPr id="6" name="Slide Number Placeholder 5"/>
          <p:cNvSpPr>
            <a:spLocks noGrp="1"/>
          </p:cNvSpPr>
          <p:nvPr>
            <p:ph type="sldNum" sz="quarter" idx="12"/>
          </p:nvPr>
        </p:nvSpPr>
        <p:spPr/>
        <p:txBody>
          <a:bodyPr/>
          <a:lstStyle/>
          <a:p>
            <a:fld id="{2CF92F4A-FC3C-4C13-A76F-34129D2ABBA1}" type="slidenum">
              <a:rPr lang="en-GB" smtClean="0"/>
              <a:pPr/>
              <a:t>62</a:t>
            </a:fld>
            <a:endParaRPr lang="en-GB"/>
          </a:p>
        </p:txBody>
      </p:sp>
    </p:spTree>
    <p:extLst>
      <p:ext uri="{BB962C8B-B14F-4D97-AF65-F5344CB8AC3E}">
        <p14:creationId xmlns:p14="http://schemas.microsoft.com/office/powerpoint/2010/main" val="35519329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3212"/>
            <a:ext cx="7772400" cy="1456267"/>
          </a:xfrm>
        </p:spPr>
        <p:txBody>
          <a:bodyPr>
            <a:normAutofit/>
          </a:bodyPr>
          <a:lstStyle/>
          <a:p>
            <a:r>
              <a:rPr lang="en-US" sz="3200" b="1" dirty="0"/>
              <a:t>Web Apps Development</a:t>
            </a:r>
          </a:p>
        </p:txBody>
      </p:sp>
      <p:sp>
        <p:nvSpPr>
          <p:cNvPr id="3" name="Content Placeholder 2"/>
          <p:cNvSpPr>
            <a:spLocks noGrp="1"/>
          </p:cNvSpPr>
          <p:nvPr>
            <p:ph idx="1"/>
          </p:nvPr>
        </p:nvSpPr>
        <p:spPr>
          <a:xfrm>
            <a:off x="457200" y="1600200"/>
            <a:ext cx="8229600" cy="4954588"/>
          </a:xfrm>
        </p:spPr>
        <p:txBody>
          <a:bodyPr>
            <a:normAutofit/>
          </a:bodyPr>
          <a:lstStyle/>
          <a:p>
            <a:r>
              <a:rPr lang="en-US" sz="2800" b="1" dirty="0">
                <a:solidFill>
                  <a:srgbClr val="FFC000"/>
                </a:solidFill>
              </a:rPr>
              <a:t>Advantages:</a:t>
            </a:r>
          </a:p>
          <a:p>
            <a:pPr lvl="1"/>
            <a:r>
              <a:rPr lang="en-US" sz="2800" dirty="0"/>
              <a:t>Reduced business cost.</a:t>
            </a:r>
          </a:p>
          <a:p>
            <a:pPr lvl="1"/>
            <a:r>
              <a:rPr lang="en-US" sz="2800" dirty="0"/>
              <a:t>No installation needed.</a:t>
            </a:r>
          </a:p>
          <a:p>
            <a:pPr lvl="1"/>
            <a:r>
              <a:rPr lang="en-US" sz="2800" dirty="0"/>
              <a:t>Better reach as it can be accessed from anywhere.</a:t>
            </a:r>
          </a:p>
          <a:p>
            <a:pPr lvl="1"/>
            <a:r>
              <a:rPr lang="en-US" sz="2800" dirty="0"/>
              <a:t>Always up-to-date.</a:t>
            </a:r>
            <a:br>
              <a:rPr lang="en-US" sz="2800" dirty="0"/>
            </a:br>
            <a:r>
              <a:rPr lang="en-US" sz="2800" dirty="0"/>
              <a:t> </a:t>
            </a:r>
          </a:p>
          <a:p>
            <a:pPr marL="0" indent="0">
              <a:buNone/>
            </a:pPr>
            <a:endParaRPr lang="en-US" sz="2800" dirty="0"/>
          </a:p>
        </p:txBody>
      </p:sp>
      <p:sp>
        <p:nvSpPr>
          <p:cNvPr id="6" name="Slide Number Placeholder 5"/>
          <p:cNvSpPr>
            <a:spLocks noGrp="1"/>
          </p:cNvSpPr>
          <p:nvPr>
            <p:ph type="sldNum" sz="quarter" idx="12"/>
          </p:nvPr>
        </p:nvSpPr>
        <p:spPr/>
        <p:txBody>
          <a:bodyPr/>
          <a:lstStyle/>
          <a:p>
            <a:fld id="{2CF92F4A-FC3C-4C13-A76F-34129D2ABBA1}" type="slidenum">
              <a:rPr lang="en-GB" smtClean="0"/>
              <a:pPr/>
              <a:t>63</a:t>
            </a:fld>
            <a:endParaRPr lang="en-GB"/>
          </a:p>
        </p:txBody>
      </p:sp>
    </p:spTree>
    <p:extLst>
      <p:ext uri="{BB962C8B-B14F-4D97-AF65-F5344CB8AC3E}">
        <p14:creationId xmlns:p14="http://schemas.microsoft.com/office/powerpoint/2010/main" val="17848003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7265"/>
            <a:ext cx="7772400" cy="1456267"/>
          </a:xfrm>
        </p:spPr>
        <p:txBody>
          <a:bodyPr>
            <a:normAutofit/>
          </a:bodyPr>
          <a:lstStyle/>
          <a:p>
            <a:r>
              <a:rPr lang="en-US" sz="3200" b="1" dirty="0"/>
              <a:t>Web Apps Development</a:t>
            </a:r>
          </a:p>
        </p:txBody>
      </p:sp>
      <p:sp>
        <p:nvSpPr>
          <p:cNvPr id="3" name="Content Placeholder 2"/>
          <p:cNvSpPr>
            <a:spLocks noGrp="1"/>
          </p:cNvSpPr>
          <p:nvPr>
            <p:ph idx="1"/>
          </p:nvPr>
        </p:nvSpPr>
        <p:spPr>
          <a:xfrm>
            <a:off x="457200" y="1600200"/>
            <a:ext cx="8229600" cy="4954588"/>
          </a:xfrm>
        </p:spPr>
        <p:txBody>
          <a:bodyPr>
            <a:normAutofit/>
          </a:bodyPr>
          <a:lstStyle/>
          <a:p>
            <a:r>
              <a:rPr lang="en-US" sz="2800" b="1" dirty="0">
                <a:solidFill>
                  <a:srgbClr val="FFC000"/>
                </a:solidFill>
              </a:rPr>
              <a:t>Disadvantages:</a:t>
            </a:r>
          </a:p>
          <a:p>
            <a:pPr lvl="1"/>
            <a:r>
              <a:rPr lang="en-US" sz="2800" dirty="0"/>
              <a:t>Dependent on internet speed.</a:t>
            </a:r>
          </a:p>
          <a:p>
            <a:pPr lvl="1"/>
            <a:r>
              <a:rPr lang="en-US" sz="2800" dirty="0"/>
              <a:t>Interface not that sophisticated.</a:t>
            </a:r>
          </a:p>
          <a:p>
            <a:pPr lvl="1"/>
            <a:r>
              <a:rPr lang="en-US" sz="2800" dirty="0"/>
              <a:t>Complex features can’t be used</a:t>
            </a:r>
          </a:p>
          <a:p>
            <a:pPr lvl="1"/>
            <a:r>
              <a:rPr lang="en-US" sz="2800" dirty="0"/>
              <a:t>Take a longer time to develop.</a:t>
            </a:r>
          </a:p>
          <a:p>
            <a:pPr lvl="1"/>
            <a:r>
              <a:rPr lang="en-US" sz="2800" dirty="0"/>
              <a:t>Security risk.</a:t>
            </a:r>
          </a:p>
          <a:p>
            <a:endParaRPr lang="en-US" sz="2800" dirty="0"/>
          </a:p>
        </p:txBody>
      </p:sp>
      <p:sp>
        <p:nvSpPr>
          <p:cNvPr id="6" name="Slide Number Placeholder 5"/>
          <p:cNvSpPr>
            <a:spLocks noGrp="1"/>
          </p:cNvSpPr>
          <p:nvPr>
            <p:ph type="sldNum" sz="quarter" idx="12"/>
          </p:nvPr>
        </p:nvSpPr>
        <p:spPr/>
        <p:txBody>
          <a:bodyPr/>
          <a:lstStyle/>
          <a:p>
            <a:fld id="{2CF92F4A-FC3C-4C13-A76F-34129D2ABBA1}" type="slidenum">
              <a:rPr lang="en-GB" smtClean="0"/>
              <a:pPr/>
              <a:t>64</a:t>
            </a:fld>
            <a:endParaRPr lang="en-GB"/>
          </a:p>
        </p:txBody>
      </p:sp>
    </p:spTree>
    <p:extLst>
      <p:ext uri="{BB962C8B-B14F-4D97-AF65-F5344CB8AC3E}">
        <p14:creationId xmlns:p14="http://schemas.microsoft.com/office/powerpoint/2010/main" val="13854919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4664"/>
            <a:ext cx="7772400" cy="1456267"/>
          </a:xfrm>
        </p:spPr>
        <p:txBody>
          <a:bodyPr>
            <a:normAutofit/>
          </a:bodyPr>
          <a:lstStyle/>
          <a:p>
            <a:r>
              <a:rPr lang="en-US" sz="3200" b="1" dirty="0"/>
              <a:t>Web Apps Development</a:t>
            </a:r>
          </a:p>
        </p:txBody>
      </p:sp>
      <p:sp>
        <p:nvSpPr>
          <p:cNvPr id="3" name="Content Placeholder 2"/>
          <p:cNvSpPr>
            <a:spLocks noGrp="1"/>
          </p:cNvSpPr>
          <p:nvPr>
            <p:ph idx="1"/>
          </p:nvPr>
        </p:nvSpPr>
        <p:spPr>
          <a:xfrm>
            <a:off x="457200" y="1600200"/>
            <a:ext cx="8229600" cy="1456267"/>
          </a:xfrm>
        </p:spPr>
        <p:txBody>
          <a:bodyPr>
            <a:normAutofit/>
          </a:bodyPr>
          <a:lstStyle/>
          <a:p>
            <a:r>
              <a:rPr lang="en-US" sz="2800" dirty="0"/>
              <a:t>Example of apps: Microsoft Office Online, Zoom, Dropbox, </a:t>
            </a:r>
            <a:r>
              <a:rPr lang="en-US" sz="2800" dirty="0" err="1"/>
              <a:t>Wordpress</a:t>
            </a:r>
            <a:r>
              <a:rPr lang="en-US" sz="2800" dirty="0"/>
              <a:t>, etc.</a:t>
            </a:r>
          </a:p>
          <a:p>
            <a:endParaRPr lang="en-US" sz="2800" dirty="0"/>
          </a:p>
        </p:txBody>
      </p:sp>
      <p:sp>
        <p:nvSpPr>
          <p:cNvPr id="6" name="Slide Number Placeholder 5"/>
          <p:cNvSpPr>
            <a:spLocks noGrp="1"/>
          </p:cNvSpPr>
          <p:nvPr>
            <p:ph type="sldNum" sz="quarter" idx="12"/>
          </p:nvPr>
        </p:nvSpPr>
        <p:spPr/>
        <p:txBody>
          <a:bodyPr/>
          <a:lstStyle/>
          <a:p>
            <a:fld id="{2CF92F4A-FC3C-4C13-A76F-34129D2ABBA1}" type="slidenum">
              <a:rPr lang="en-GB" smtClean="0"/>
              <a:pPr/>
              <a:t>65</a:t>
            </a:fld>
            <a:endParaRPr lang="en-GB"/>
          </a:p>
        </p:txBody>
      </p:sp>
      <p:pic>
        <p:nvPicPr>
          <p:cNvPr id="12290" name="Picture 2" descr="WebApp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2708920"/>
            <a:ext cx="5904656" cy="3936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16320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Choosing the best programming language for mobile app development</a:t>
            </a:r>
          </a:p>
        </p:txBody>
      </p:sp>
      <p:sp>
        <p:nvSpPr>
          <p:cNvPr id="3" name="Content Placeholder 2"/>
          <p:cNvSpPr>
            <a:spLocks noGrp="1"/>
          </p:cNvSpPr>
          <p:nvPr>
            <p:ph idx="1"/>
          </p:nvPr>
        </p:nvSpPr>
        <p:spPr>
          <a:xfrm>
            <a:off x="457200" y="2142068"/>
            <a:ext cx="8219256" cy="2727092"/>
          </a:xfrm>
        </p:spPr>
        <p:txBody>
          <a:bodyPr>
            <a:normAutofit/>
          </a:bodyPr>
          <a:lstStyle/>
          <a:p>
            <a:pPr algn="just"/>
            <a:r>
              <a:rPr lang="en-US" sz="2800" dirty="0"/>
              <a:t>When considering the programming languages, frameworks, and SDKs for mobile apps, need to consider the </a:t>
            </a:r>
            <a:r>
              <a:rPr lang="en-US" sz="2800" b="1" dirty="0">
                <a:solidFill>
                  <a:srgbClr val="FFC000"/>
                </a:solidFill>
              </a:rPr>
              <a:t>frontend (UI) development environment </a:t>
            </a:r>
            <a:r>
              <a:rPr lang="en-US" sz="2800" dirty="0"/>
              <a:t>but also be aware of the </a:t>
            </a:r>
            <a:r>
              <a:rPr lang="en-US" sz="2800" b="1" dirty="0">
                <a:solidFill>
                  <a:srgbClr val="FFC000"/>
                </a:solidFill>
              </a:rPr>
              <a:t>backend (server-side) development environment. </a:t>
            </a:r>
          </a:p>
        </p:txBody>
      </p:sp>
      <p:sp>
        <p:nvSpPr>
          <p:cNvPr id="6" name="Slide Number Placeholder 5"/>
          <p:cNvSpPr>
            <a:spLocks noGrp="1"/>
          </p:cNvSpPr>
          <p:nvPr>
            <p:ph type="sldNum" sz="quarter" idx="12"/>
          </p:nvPr>
        </p:nvSpPr>
        <p:spPr/>
        <p:txBody>
          <a:bodyPr/>
          <a:lstStyle/>
          <a:p>
            <a:fld id="{2CF92F4A-FC3C-4C13-A76F-34129D2ABBA1}" type="slidenum">
              <a:rPr lang="en-GB" smtClean="0"/>
              <a:pPr/>
              <a:t>66</a:t>
            </a:fld>
            <a:endParaRPr lang="en-GB"/>
          </a:p>
        </p:txBody>
      </p:sp>
    </p:spTree>
    <p:extLst>
      <p:ext uri="{BB962C8B-B14F-4D97-AF65-F5344CB8AC3E}">
        <p14:creationId xmlns:p14="http://schemas.microsoft.com/office/powerpoint/2010/main" val="34120577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1"/>
            <a:ext cx="8435280" cy="1456267"/>
          </a:xfrm>
        </p:spPr>
        <p:txBody>
          <a:bodyPr>
            <a:normAutofit/>
          </a:bodyPr>
          <a:lstStyle/>
          <a:p>
            <a:r>
              <a:rPr lang="en-MY" sz="3200" b="1" dirty="0"/>
              <a:t>Considerations when Developing AN Apps</a:t>
            </a:r>
          </a:p>
        </p:txBody>
      </p:sp>
      <p:sp>
        <p:nvSpPr>
          <p:cNvPr id="3" name="Content Placeholder 2"/>
          <p:cNvSpPr>
            <a:spLocks noGrp="1"/>
          </p:cNvSpPr>
          <p:nvPr>
            <p:ph idx="1"/>
          </p:nvPr>
        </p:nvSpPr>
        <p:spPr>
          <a:xfrm>
            <a:off x="457200" y="2142068"/>
            <a:ext cx="8075240" cy="4106331"/>
          </a:xfrm>
        </p:spPr>
        <p:txBody>
          <a:bodyPr>
            <a:normAutofit lnSpcReduction="10000"/>
          </a:bodyPr>
          <a:lstStyle/>
          <a:p>
            <a:pPr algn="just"/>
            <a:r>
              <a:rPr lang="en-US" sz="2800" dirty="0"/>
              <a:t>When it comes to developing mobile applications, we must consider the unique </a:t>
            </a:r>
            <a:r>
              <a:rPr lang="en-US" sz="2800" b="1" dirty="0">
                <a:solidFill>
                  <a:srgbClr val="FFC000"/>
                </a:solidFill>
              </a:rPr>
              <a:t>features and capabilities </a:t>
            </a:r>
            <a:r>
              <a:rPr lang="en-US" sz="2800" dirty="0"/>
              <a:t>of the platform.</a:t>
            </a:r>
          </a:p>
          <a:p>
            <a:pPr algn="just"/>
            <a:endParaRPr lang="en-US" sz="2800" dirty="0"/>
          </a:p>
          <a:p>
            <a:pPr algn="just"/>
            <a:r>
              <a:rPr lang="en-US" sz="2800" dirty="0"/>
              <a:t>Also, developer must cater to the different </a:t>
            </a:r>
            <a:r>
              <a:rPr lang="en-US" sz="2800" b="1" dirty="0">
                <a:solidFill>
                  <a:srgbClr val="FFC000"/>
                </a:solidFill>
              </a:rPr>
              <a:t>technical specifications </a:t>
            </a:r>
            <a:r>
              <a:rPr lang="en-US" sz="2800" dirty="0"/>
              <a:t>of the devices e.g., different screen sizes, different touch-screen gestures, varying levels of performance power, and different requirements that apply to the Google Play and iOS App Store.</a:t>
            </a:r>
          </a:p>
          <a:p>
            <a:pPr algn="just"/>
            <a:endParaRPr lang="en-MY" sz="2800" dirty="0"/>
          </a:p>
        </p:txBody>
      </p:sp>
      <p:sp>
        <p:nvSpPr>
          <p:cNvPr id="4" name="Slide Number Placeholder 3"/>
          <p:cNvSpPr>
            <a:spLocks noGrp="1"/>
          </p:cNvSpPr>
          <p:nvPr>
            <p:ph type="sldNum" sz="quarter" idx="12"/>
          </p:nvPr>
        </p:nvSpPr>
        <p:spPr/>
        <p:txBody>
          <a:bodyPr/>
          <a:lstStyle/>
          <a:p>
            <a:fld id="{CC13ADC4-536D-428E-8667-0275BB2B031C}" type="slidenum">
              <a:rPr lang="en-GB" smtClean="0"/>
              <a:pPr/>
              <a:t>67</a:t>
            </a:fld>
            <a:endParaRPr lang="en-GB"/>
          </a:p>
        </p:txBody>
      </p:sp>
    </p:spTree>
    <p:extLst>
      <p:ext uri="{BB962C8B-B14F-4D97-AF65-F5344CB8AC3E}">
        <p14:creationId xmlns:p14="http://schemas.microsoft.com/office/powerpoint/2010/main" val="689715360"/>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Theme1">
  <a:themeElements>
    <a:clrScheme name="Balance 12">
      <a:dk1>
        <a:srgbClr val="000000"/>
      </a:dk1>
      <a:lt1>
        <a:srgbClr val="FFFFFF"/>
      </a:lt1>
      <a:dk2>
        <a:srgbClr val="000000"/>
      </a:dk2>
      <a:lt2>
        <a:srgbClr val="CBCBCB"/>
      </a:lt2>
      <a:accent1>
        <a:srgbClr val="00CC66"/>
      </a:accent1>
      <a:accent2>
        <a:srgbClr val="0000CC"/>
      </a:accent2>
      <a:accent3>
        <a:srgbClr val="FFFFFF"/>
      </a:accent3>
      <a:accent4>
        <a:srgbClr val="000000"/>
      </a:accent4>
      <a:accent5>
        <a:srgbClr val="AAE2B8"/>
      </a:accent5>
      <a:accent6>
        <a:srgbClr val="0000B9"/>
      </a:accent6>
      <a:hlink>
        <a:srgbClr val="0000CC"/>
      </a:hlink>
      <a:folHlink>
        <a:srgbClr val="DDDDDD"/>
      </a:folHlink>
    </a:clrScheme>
    <a:fontScheme name="Balanc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alance 1">
        <a:dk1>
          <a:srgbClr val="663300"/>
        </a:dk1>
        <a:lt1>
          <a:srgbClr val="FFFFFF"/>
        </a:lt1>
        <a:dk2>
          <a:srgbClr val="996600"/>
        </a:dk2>
        <a:lt2>
          <a:srgbClr val="DBBD71"/>
        </a:lt2>
        <a:accent1>
          <a:srgbClr val="F8A500"/>
        </a:accent1>
        <a:accent2>
          <a:srgbClr val="808000"/>
        </a:accent2>
        <a:accent3>
          <a:srgbClr val="CAB8AA"/>
        </a:accent3>
        <a:accent4>
          <a:srgbClr val="DADADA"/>
        </a:accent4>
        <a:accent5>
          <a:srgbClr val="FBCFAA"/>
        </a:accent5>
        <a:accent6>
          <a:srgbClr val="737300"/>
        </a:accent6>
        <a:hlink>
          <a:srgbClr val="FFCC66"/>
        </a:hlink>
        <a:folHlink>
          <a:srgbClr val="CCA500"/>
        </a:folHlink>
      </a:clrScheme>
      <a:clrMap bg1="dk2" tx1="lt1" bg2="dk1" tx2="lt2" accent1="accent1" accent2="accent2" accent3="accent3" accent4="accent4" accent5="accent5" accent6="accent6" hlink="hlink" folHlink="folHlink"/>
    </a:extraClrScheme>
    <a:extraClrScheme>
      <a:clrScheme name="Balance 2">
        <a:dk1>
          <a:srgbClr val="660000"/>
        </a:dk1>
        <a:lt1>
          <a:srgbClr val="FFFFFF"/>
        </a:lt1>
        <a:dk2>
          <a:srgbClr val="800000"/>
        </a:dk2>
        <a:lt2>
          <a:srgbClr val="FFFFCC"/>
        </a:lt2>
        <a:accent1>
          <a:srgbClr val="CC6600"/>
        </a:accent1>
        <a:accent2>
          <a:srgbClr val="BE7960"/>
        </a:accent2>
        <a:accent3>
          <a:srgbClr val="C0AAAA"/>
        </a:accent3>
        <a:accent4>
          <a:srgbClr val="DADADA"/>
        </a:accent4>
        <a:accent5>
          <a:srgbClr val="E2B8AA"/>
        </a:accent5>
        <a:accent6>
          <a:srgbClr val="AC6D56"/>
        </a:accent6>
        <a:hlink>
          <a:srgbClr val="FFFF99"/>
        </a:hlink>
        <a:folHlink>
          <a:srgbClr val="E5B325"/>
        </a:folHlink>
      </a:clrScheme>
      <a:clrMap bg1="dk2" tx1="lt1" bg2="dk1" tx2="lt2" accent1="accent1" accent2="accent2" accent3="accent3" accent4="accent4" accent5="accent5" accent6="accent6" hlink="hlink" folHlink="folHlink"/>
    </a:extraClrScheme>
    <a:extraClrScheme>
      <a:clrScheme name="Balance 3">
        <a:dk1>
          <a:srgbClr val="003300"/>
        </a:dk1>
        <a:lt1>
          <a:srgbClr val="FFFFFF"/>
        </a:lt1>
        <a:dk2>
          <a:srgbClr val="4D6A2A"/>
        </a:dk2>
        <a:lt2>
          <a:srgbClr val="CCFF99"/>
        </a:lt2>
        <a:accent1>
          <a:srgbClr val="2EB62E"/>
        </a:accent1>
        <a:accent2>
          <a:srgbClr val="527C3A"/>
        </a:accent2>
        <a:accent3>
          <a:srgbClr val="B2B9AC"/>
        </a:accent3>
        <a:accent4>
          <a:srgbClr val="DADADA"/>
        </a:accent4>
        <a:accent5>
          <a:srgbClr val="ADD7AD"/>
        </a:accent5>
        <a:accent6>
          <a:srgbClr val="497034"/>
        </a:accent6>
        <a:hlink>
          <a:srgbClr val="DDD800"/>
        </a:hlink>
        <a:folHlink>
          <a:srgbClr val="009999"/>
        </a:folHlink>
      </a:clrScheme>
      <a:clrMap bg1="dk2" tx1="lt1" bg2="dk1" tx2="lt2" accent1="accent1" accent2="accent2" accent3="accent3" accent4="accent4" accent5="accent5" accent6="accent6" hlink="hlink" folHlink="folHlink"/>
    </a:extraClrScheme>
    <a:extraClrScheme>
      <a:clrScheme name="Balance 4">
        <a:dk1>
          <a:srgbClr val="005A58"/>
        </a:dk1>
        <a:lt1>
          <a:srgbClr val="FFFFFF"/>
        </a:lt1>
        <a:dk2>
          <a:srgbClr val="00716E"/>
        </a:dk2>
        <a:lt2>
          <a:srgbClr val="FFFF99"/>
        </a:lt2>
        <a:accent1>
          <a:srgbClr val="2DB3B0"/>
        </a:accent1>
        <a:accent2>
          <a:srgbClr val="6D6FC7"/>
        </a:accent2>
        <a:accent3>
          <a:srgbClr val="AABBBA"/>
        </a:accent3>
        <a:accent4>
          <a:srgbClr val="DADADA"/>
        </a:accent4>
        <a:accent5>
          <a:srgbClr val="ADD6D4"/>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alance 5">
        <a:dk1>
          <a:srgbClr val="003366"/>
        </a:dk1>
        <a:lt1>
          <a:srgbClr val="FFFFFF"/>
        </a:lt1>
        <a:dk2>
          <a:srgbClr val="2B5481"/>
        </a:dk2>
        <a:lt2>
          <a:srgbClr val="E5FFFF"/>
        </a:lt2>
        <a:accent1>
          <a:srgbClr val="336699"/>
        </a:accent1>
        <a:accent2>
          <a:srgbClr val="00B000"/>
        </a:accent2>
        <a:accent3>
          <a:srgbClr val="ACB3C1"/>
        </a:accent3>
        <a:accent4>
          <a:srgbClr val="DADADA"/>
        </a:accent4>
        <a:accent5>
          <a:srgbClr val="ADB8CA"/>
        </a:accent5>
        <a:accent6>
          <a:srgbClr val="009F00"/>
        </a:accent6>
        <a:hlink>
          <a:srgbClr val="00CCFF"/>
        </a:hlink>
        <a:folHlink>
          <a:srgbClr val="B5FFFB"/>
        </a:folHlink>
      </a:clrScheme>
      <a:clrMap bg1="dk2" tx1="lt1" bg2="dk1" tx2="lt2" accent1="accent1" accent2="accent2" accent3="accent3" accent4="accent4" accent5="accent5" accent6="accent6" hlink="hlink" folHlink="folHlink"/>
    </a:extraClrScheme>
    <a:extraClrScheme>
      <a:clrScheme name="Balance 6">
        <a:dk1>
          <a:srgbClr val="2F2D25"/>
        </a:dk1>
        <a:lt1>
          <a:srgbClr val="FFFFFF"/>
        </a:lt1>
        <a:dk2>
          <a:srgbClr val="656151"/>
        </a:dk2>
        <a:lt2>
          <a:srgbClr val="FFFFCC"/>
        </a:lt2>
        <a:accent1>
          <a:srgbClr val="818173"/>
        </a:accent1>
        <a:accent2>
          <a:srgbClr val="809EA8"/>
        </a:accent2>
        <a:accent3>
          <a:srgbClr val="B8B7B3"/>
        </a:accent3>
        <a:accent4>
          <a:srgbClr val="DADADA"/>
        </a:accent4>
        <a:accent5>
          <a:srgbClr val="C1C1BC"/>
        </a:accent5>
        <a:accent6>
          <a:srgbClr val="738F98"/>
        </a:accent6>
        <a:hlink>
          <a:srgbClr val="E2C86A"/>
        </a:hlink>
        <a:folHlink>
          <a:srgbClr val="B7B6A3"/>
        </a:folHlink>
      </a:clrScheme>
      <a:clrMap bg1="dk2" tx1="lt1" bg2="dk1" tx2="lt2" accent1="accent1" accent2="accent2" accent3="accent3" accent4="accent4" accent5="accent5" accent6="accent6" hlink="hlink" folHlink="folHlink"/>
    </a:extraClrScheme>
    <a:extraClrScheme>
      <a:clrScheme name="Balance 7">
        <a:dk1>
          <a:srgbClr val="B4AF80"/>
        </a:dk1>
        <a:lt1>
          <a:srgbClr val="FFFFFF"/>
        </a:lt1>
        <a:dk2>
          <a:srgbClr val="C8C6A2"/>
        </a:dk2>
        <a:lt2>
          <a:srgbClr val="827F4C"/>
        </a:lt2>
        <a:accent1>
          <a:srgbClr val="7C784E"/>
        </a:accent1>
        <a:accent2>
          <a:srgbClr val="A2A4AC"/>
        </a:accent2>
        <a:accent3>
          <a:srgbClr val="E0DFCE"/>
        </a:accent3>
        <a:accent4>
          <a:srgbClr val="DADADA"/>
        </a:accent4>
        <a:accent5>
          <a:srgbClr val="BFBEB2"/>
        </a:accent5>
        <a:accent6>
          <a:srgbClr val="92949B"/>
        </a:accent6>
        <a:hlink>
          <a:srgbClr val="33CCCC"/>
        </a:hlink>
        <a:folHlink>
          <a:srgbClr val="009999"/>
        </a:folHlink>
      </a:clrScheme>
      <a:clrMap bg1="dk2" tx1="lt1" bg2="dk1" tx2="lt2" accent1="accent1" accent2="accent2" accent3="accent3" accent4="accent4" accent5="accent5" accent6="accent6" hlink="hlink" folHlink="folHlink"/>
    </a:extraClrScheme>
    <a:extraClrScheme>
      <a:clrScheme name="Balance 8">
        <a:dk1>
          <a:srgbClr val="000000"/>
        </a:dk1>
        <a:lt1>
          <a:srgbClr val="DDDDDD"/>
        </a:lt1>
        <a:dk2>
          <a:srgbClr val="000000"/>
        </a:dk2>
        <a:lt2>
          <a:srgbClr val="B8B7D1"/>
        </a:lt2>
        <a:accent1>
          <a:srgbClr val="F1F0F4"/>
        </a:accent1>
        <a:accent2>
          <a:srgbClr val="C1BCFC"/>
        </a:accent2>
        <a:accent3>
          <a:srgbClr val="EBEBEB"/>
        </a:accent3>
        <a:accent4>
          <a:srgbClr val="000000"/>
        </a:accent4>
        <a:accent5>
          <a:srgbClr val="F7F6F8"/>
        </a:accent5>
        <a:accent6>
          <a:srgbClr val="AFAAE4"/>
        </a:accent6>
        <a:hlink>
          <a:srgbClr val="5454C6"/>
        </a:hlink>
        <a:folHlink>
          <a:srgbClr val="6A6F86"/>
        </a:folHlink>
      </a:clrScheme>
      <a:clrMap bg1="lt1" tx1="dk1" bg2="lt2" tx2="dk2" accent1="accent1" accent2="accent2" accent3="accent3" accent4="accent4" accent5="accent5" accent6="accent6" hlink="hlink" folHlink="folHlink"/>
    </a:extraClrScheme>
    <a:extraClrScheme>
      <a:clrScheme name="Balance 9">
        <a:dk1>
          <a:srgbClr val="000000"/>
        </a:dk1>
        <a:lt1>
          <a:srgbClr val="FFFFFF"/>
        </a:lt1>
        <a:dk2>
          <a:srgbClr val="00A29E"/>
        </a:dk2>
        <a:lt2>
          <a:srgbClr val="CBCBCB"/>
        </a:lt2>
        <a:accent1>
          <a:srgbClr val="E5E5FF"/>
        </a:accent1>
        <a:accent2>
          <a:srgbClr val="79CD6B"/>
        </a:accent2>
        <a:accent3>
          <a:srgbClr val="FFFFFF"/>
        </a:accent3>
        <a:accent4>
          <a:srgbClr val="000000"/>
        </a:accent4>
        <a:accent5>
          <a:srgbClr val="F0F0FF"/>
        </a:accent5>
        <a:accent6>
          <a:srgbClr val="6DBA60"/>
        </a:accent6>
        <a:hlink>
          <a:srgbClr val="4477DE"/>
        </a:hlink>
        <a:folHlink>
          <a:srgbClr val="65498F"/>
        </a:folHlink>
      </a:clrScheme>
      <a:clrMap bg1="lt1" tx1="dk1" bg2="lt2" tx2="dk2" accent1="accent1" accent2="accent2" accent3="accent3" accent4="accent4" accent5="accent5" accent6="accent6" hlink="hlink" folHlink="folHlink"/>
    </a:extraClrScheme>
    <a:extraClrScheme>
      <a:clrScheme name="Balance 10">
        <a:dk1>
          <a:srgbClr val="000000"/>
        </a:dk1>
        <a:lt1>
          <a:srgbClr val="FFFFFF"/>
        </a:lt1>
        <a:dk2>
          <a:srgbClr val="FFFFFF"/>
        </a:dk2>
        <a:lt2>
          <a:srgbClr val="CBCBCB"/>
        </a:lt2>
        <a:accent1>
          <a:srgbClr val="E5E5FF"/>
        </a:accent1>
        <a:accent2>
          <a:srgbClr val="0000CC"/>
        </a:accent2>
        <a:accent3>
          <a:srgbClr val="FFFFFF"/>
        </a:accent3>
        <a:accent4>
          <a:srgbClr val="000000"/>
        </a:accent4>
        <a:accent5>
          <a:srgbClr val="F0F0FF"/>
        </a:accent5>
        <a:accent6>
          <a:srgbClr val="0000B9"/>
        </a:accent6>
        <a:hlink>
          <a:srgbClr val="0000CC"/>
        </a:hlink>
        <a:folHlink>
          <a:srgbClr val="65498F"/>
        </a:folHlink>
      </a:clrScheme>
      <a:clrMap bg1="lt1" tx1="dk1" bg2="lt2" tx2="dk2" accent1="accent1" accent2="accent2" accent3="accent3" accent4="accent4" accent5="accent5" accent6="accent6" hlink="hlink" folHlink="folHlink"/>
    </a:extraClrScheme>
    <a:extraClrScheme>
      <a:clrScheme name="Balance 11">
        <a:dk1>
          <a:srgbClr val="000000"/>
        </a:dk1>
        <a:lt1>
          <a:srgbClr val="FFFFFF"/>
        </a:lt1>
        <a:dk2>
          <a:srgbClr val="000000"/>
        </a:dk2>
        <a:lt2>
          <a:srgbClr val="CBCBCB"/>
        </a:lt2>
        <a:accent1>
          <a:srgbClr val="00CC66"/>
        </a:accent1>
        <a:accent2>
          <a:srgbClr val="0000CC"/>
        </a:accent2>
        <a:accent3>
          <a:srgbClr val="FFFFFF"/>
        </a:accent3>
        <a:accent4>
          <a:srgbClr val="000000"/>
        </a:accent4>
        <a:accent5>
          <a:srgbClr val="AAE2B8"/>
        </a:accent5>
        <a:accent6>
          <a:srgbClr val="0000B9"/>
        </a:accent6>
        <a:hlink>
          <a:srgbClr val="0000CC"/>
        </a:hlink>
        <a:folHlink>
          <a:srgbClr val="65498F"/>
        </a:folHlink>
      </a:clrScheme>
      <a:clrMap bg1="lt1" tx1="dk1" bg2="lt2" tx2="dk2" accent1="accent1" accent2="accent2" accent3="accent3" accent4="accent4" accent5="accent5" accent6="accent6" hlink="hlink" folHlink="folHlink"/>
    </a:extraClrScheme>
    <a:extraClrScheme>
      <a:clrScheme name="Balance 12">
        <a:dk1>
          <a:srgbClr val="000000"/>
        </a:dk1>
        <a:lt1>
          <a:srgbClr val="FFFFFF"/>
        </a:lt1>
        <a:dk2>
          <a:srgbClr val="000000"/>
        </a:dk2>
        <a:lt2>
          <a:srgbClr val="CBCBCB"/>
        </a:lt2>
        <a:accent1>
          <a:srgbClr val="00CC66"/>
        </a:accent1>
        <a:accent2>
          <a:srgbClr val="0000CC"/>
        </a:accent2>
        <a:accent3>
          <a:srgbClr val="FFFFFF"/>
        </a:accent3>
        <a:accent4>
          <a:srgbClr val="000000"/>
        </a:accent4>
        <a:accent5>
          <a:srgbClr val="AAE2B8"/>
        </a:accent5>
        <a:accent6>
          <a:srgbClr val="0000B9"/>
        </a:accent6>
        <a:hlink>
          <a:srgbClr val="0000CC"/>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Balance">
  <a:themeElements>
    <a:clrScheme name="Balance 12">
      <a:dk1>
        <a:srgbClr val="000000"/>
      </a:dk1>
      <a:lt1>
        <a:srgbClr val="FFFFFF"/>
      </a:lt1>
      <a:dk2>
        <a:srgbClr val="000000"/>
      </a:dk2>
      <a:lt2>
        <a:srgbClr val="CBCBCB"/>
      </a:lt2>
      <a:accent1>
        <a:srgbClr val="00CC66"/>
      </a:accent1>
      <a:accent2>
        <a:srgbClr val="0000CC"/>
      </a:accent2>
      <a:accent3>
        <a:srgbClr val="FFFFFF"/>
      </a:accent3>
      <a:accent4>
        <a:srgbClr val="000000"/>
      </a:accent4>
      <a:accent5>
        <a:srgbClr val="AAE2B8"/>
      </a:accent5>
      <a:accent6>
        <a:srgbClr val="0000B9"/>
      </a:accent6>
      <a:hlink>
        <a:srgbClr val="0000CC"/>
      </a:hlink>
      <a:folHlink>
        <a:srgbClr val="DDDDDD"/>
      </a:folHlink>
    </a:clrScheme>
    <a:fontScheme name="Balanc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alance 1">
        <a:dk1>
          <a:srgbClr val="663300"/>
        </a:dk1>
        <a:lt1>
          <a:srgbClr val="FFFFFF"/>
        </a:lt1>
        <a:dk2>
          <a:srgbClr val="996600"/>
        </a:dk2>
        <a:lt2>
          <a:srgbClr val="DBBD71"/>
        </a:lt2>
        <a:accent1>
          <a:srgbClr val="F8A500"/>
        </a:accent1>
        <a:accent2>
          <a:srgbClr val="808000"/>
        </a:accent2>
        <a:accent3>
          <a:srgbClr val="CAB8AA"/>
        </a:accent3>
        <a:accent4>
          <a:srgbClr val="DADADA"/>
        </a:accent4>
        <a:accent5>
          <a:srgbClr val="FBCFAA"/>
        </a:accent5>
        <a:accent6>
          <a:srgbClr val="737300"/>
        </a:accent6>
        <a:hlink>
          <a:srgbClr val="FFCC66"/>
        </a:hlink>
        <a:folHlink>
          <a:srgbClr val="CCA500"/>
        </a:folHlink>
      </a:clrScheme>
      <a:clrMap bg1="dk2" tx1="lt1" bg2="dk1" tx2="lt2" accent1="accent1" accent2="accent2" accent3="accent3" accent4="accent4" accent5="accent5" accent6="accent6" hlink="hlink" folHlink="folHlink"/>
    </a:extraClrScheme>
    <a:extraClrScheme>
      <a:clrScheme name="Balance 2">
        <a:dk1>
          <a:srgbClr val="660000"/>
        </a:dk1>
        <a:lt1>
          <a:srgbClr val="FFFFFF"/>
        </a:lt1>
        <a:dk2>
          <a:srgbClr val="800000"/>
        </a:dk2>
        <a:lt2>
          <a:srgbClr val="FFFFCC"/>
        </a:lt2>
        <a:accent1>
          <a:srgbClr val="CC6600"/>
        </a:accent1>
        <a:accent2>
          <a:srgbClr val="BE7960"/>
        </a:accent2>
        <a:accent3>
          <a:srgbClr val="C0AAAA"/>
        </a:accent3>
        <a:accent4>
          <a:srgbClr val="DADADA"/>
        </a:accent4>
        <a:accent5>
          <a:srgbClr val="E2B8AA"/>
        </a:accent5>
        <a:accent6>
          <a:srgbClr val="AC6D56"/>
        </a:accent6>
        <a:hlink>
          <a:srgbClr val="FFFF99"/>
        </a:hlink>
        <a:folHlink>
          <a:srgbClr val="E5B325"/>
        </a:folHlink>
      </a:clrScheme>
      <a:clrMap bg1="dk2" tx1="lt1" bg2="dk1" tx2="lt2" accent1="accent1" accent2="accent2" accent3="accent3" accent4="accent4" accent5="accent5" accent6="accent6" hlink="hlink" folHlink="folHlink"/>
    </a:extraClrScheme>
    <a:extraClrScheme>
      <a:clrScheme name="Balance 3">
        <a:dk1>
          <a:srgbClr val="003300"/>
        </a:dk1>
        <a:lt1>
          <a:srgbClr val="FFFFFF"/>
        </a:lt1>
        <a:dk2>
          <a:srgbClr val="4D6A2A"/>
        </a:dk2>
        <a:lt2>
          <a:srgbClr val="CCFF99"/>
        </a:lt2>
        <a:accent1>
          <a:srgbClr val="2EB62E"/>
        </a:accent1>
        <a:accent2>
          <a:srgbClr val="527C3A"/>
        </a:accent2>
        <a:accent3>
          <a:srgbClr val="B2B9AC"/>
        </a:accent3>
        <a:accent4>
          <a:srgbClr val="DADADA"/>
        </a:accent4>
        <a:accent5>
          <a:srgbClr val="ADD7AD"/>
        </a:accent5>
        <a:accent6>
          <a:srgbClr val="497034"/>
        </a:accent6>
        <a:hlink>
          <a:srgbClr val="DDD800"/>
        </a:hlink>
        <a:folHlink>
          <a:srgbClr val="009999"/>
        </a:folHlink>
      </a:clrScheme>
      <a:clrMap bg1="dk2" tx1="lt1" bg2="dk1" tx2="lt2" accent1="accent1" accent2="accent2" accent3="accent3" accent4="accent4" accent5="accent5" accent6="accent6" hlink="hlink" folHlink="folHlink"/>
    </a:extraClrScheme>
    <a:extraClrScheme>
      <a:clrScheme name="Balance 4">
        <a:dk1>
          <a:srgbClr val="005A58"/>
        </a:dk1>
        <a:lt1>
          <a:srgbClr val="FFFFFF"/>
        </a:lt1>
        <a:dk2>
          <a:srgbClr val="00716E"/>
        </a:dk2>
        <a:lt2>
          <a:srgbClr val="FFFF99"/>
        </a:lt2>
        <a:accent1>
          <a:srgbClr val="2DB3B0"/>
        </a:accent1>
        <a:accent2>
          <a:srgbClr val="6D6FC7"/>
        </a:accent2>
        <a:accent3>
          <a:srgbClr val="AABBBA"/>
        </a:accent3>
        <a:accent4>
          <a:srgbClr val="DADADA"/>
        </a:accent4>
        <a:accent5>
          <a:srgbClr val="ADD6D4"/>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alance 5">
        <a:dk1>
          <a:srgbClr val="003366"/>
        </a:dk1>
        <a:lt1>
          <a:srgbClr val="FFFFFF"/>
        </a:lt1>
        <a:dk2>
          <a:srgbClr val="2B5481"/>
        </a:dk2>
        <a:lt2>
          <a:srgbClr val="E5FFFF"/>
        </a:lt2>
        <a:accent1>
          <a:srgbClr val="336699"/>
        </a:accent1>
        <a:accent2>
          <a:srgbClr val="00B000"/>
        </a:accent2>
        <a:accent3>
          <a:srgbClr val="ACB3C1"/>
        </a:accent3>
        <a:accent4>
          <a:srgbClr val="DADADA"/>
        </a:accent4>
        <a:accent5>
          <a:srgbClr val="ADB8CA"/>
        </a:accent5>
        <a:accent6>
          <a:srgbClr val="009F00"/>
        </a:accent6>
        <a:hlink>
          <a:srgbClr val="00CCFF"/>
        </a:hlink>
        <a:folHlink>
          <a:srgbClr val="B5FFFB"/>
        </a:folHlink>
      </a:clrScheme>
      <a:clrMap bg1="dk2" tx1="lt1" bg2="dk1" tx2="lt2" accent1="accent1" accent2="accent2" accent3="accent3" accent4="accent4" accent5="accent5" accent6="accent6" hlink="hlink" folHlink="folHlink"/>
    </a:extraClrScheme>
    <a:extraClrScheme>
      <a:clrScheme name="Balance 6">
        <a:dk1>
          <a:srgbClr val="2F2D25"/>
        </a:dk1>
        <a:lt1>
          <a:srgbClr val="FFFFFF"/>
        </a:lt1>
        <a:dk2>
          <a:srgbClr val="656151"/>
        </a:dk2>
        <a:lt2>
          <a:srgbClr val="FFFFCC"/>
        </a:lt2>
        <a:accent1>
          <a:srgbClr val="818173"/>
        </a:accent1>
        <a:accent2>
          <a:srgbClr val="809EA8"/>
        </a:accent2>
        <a:accent3>
          <a:srgbClr val="B8B7B3"/>
        </a:accent3>
        <a:accent4>
          <a:srgbClr val="DADADA"/>
        </a:accent4>
        <a:accent5>
          <a:srgbClr val="C1C1BC"/>
        </a:accent5>
        <a:accent6>
          <a:srgbClr val="738F98"/>
        </a:accent6>
        <a:hlink>
          <a:srgbClr val="E2C86A"/>
        </a:hlink>
        <a:folHlink>
          <a:srgbClr val="B7B6A3"/>
        </a:folHlink>
      </a:clrScheme>
      <a:clrMap bg1="dk2" tx1="lt1" bg2="dk1" tx2="lt2" accent1="accent1" accent2="accent2" accent3="accent3" accent4="accent4" accent5="accent5" accent6="accent6" hlink="hlink" folHlink="folHlink"/>
    </a:extraClrScheme>
    <a:extraClrScheme>
      <a:clrScheme name="Balance 7">
        <a:dk1>
          <a:srgbClr val="B4AF80"/>
        </a:dk1>
        <a:lt1>
          <a:srgbClr val="FFFFFF"/>
        </a:lt1>
        <a:dk2>
          <a:srgbClr val="C8C6A2"/>
        </a:dk2>
        <a:lt2>
          <a:srgbClr val="827F4C"/>
        </a:lt2>
        <a:accent1>
          <a:srgbClr val="7C784E"/>
        </a:accent1>
        <a:accent2>
          <a:srgbClr val="A2A4AC"/>
        </a:accent2>
        <a:accent3>
          <a:srgbClr val="E0DFCE"/>
        </a:accent3>
        <a:accent4>
          <a:srgbClr val="DADADA"/>
        </a:accent4>
        <a:accent5>
          <a:srgbClr val="BFBEB2"/>
        </a:accent5>
        <a:accent6>
          <a:srgbClr val="92949B"/>
        </a:accent6>
        <a:hlink>
          <a:srgbClr val="33CCCC"/>
        </a:hlink>
        <a:folHlink>
          <a:srgbClr val="009999"/>
        </a:folHlink>
      </a:clrScheme>
      <a:clrMap bg1="dk2" tx1="lt1" bg2="dk1" tx2="lt2" accent1="accent1" accent2="accent2" accent3="accent3" accent4="accent4" accent5="accent5" accent6="accent6" hlink="hlink" folHlink="folHlink"/>
    </a:extraClrScheme>
    <a:extraClrScheme>
      <a:clrScheme name="Balance 8">
        <a:dk1>
          <a:srgbClr val="000000"/>
        </a:dk1>
        <a:lt1>
          <a:srgbClr val="DDDDDD"/>
        </a:lt1>
        <a:dk2>
          <a:srgbClr val="000000"/>
        </a:dk2>
        <a:lt2>
          <a:srgbClr val="B8B7D1"/>
        </a:lt2>
        <a:accent1>
          <a:srgbClr val="F1F0F4"/>
        </a:accent1>
        <a:accent2>
          <a:srgbClr val="C1BCFC"/>
        </a:accent2>
        <a:accent3>
          <a:srgbClr val="EBEBEB"/>
        </a:accent3>
        <a:accent4>
          <a:srgbClr val="000000"/>
        </a:accent4>
        <a:accent5>
          <a:srgbClr val="F7F6F8"/>
        </a:accent5>
        <a:accent6>
          <a:srgbClr val="AFAAE4"/>
        </a:accent6>
        <a:hlink>
          <a:srgbClr val="5454C6"/>
        </a:hlink>
        <a:folHlink>
          <a:srgbClr val="6A6F86"/>
        </a:folHlink>
      </a:clrScheme>
      <a:clrMap bg1="lt1" tx1="dk1" bg2="lt2" tx2="dk2" accent1="accent1" accent2="accent2" accent3="accent3" accent4="accent4" accent5="accent5" accent6="accent6" hlink="hlink" folHlink="folHlink"/>
    </a:extraClrScheme>
    <a:extraClrScheme>
      <a:clrScheme name="Balance 9">
        <a:dk1>
          <a:srgbClr val="000000"/>
        </a:dk1>
        <a:lt1>
          <a:srgbClr val="FFFFFF"/>
        </a:lt1>
        <a:dk2>
          <a:srgbClr val="00A29E"/>
        </a:dk2>
        <a:lt2>
          <a:srgbClr val="CBCBCB"/>
        </a:lt2>
        <a:accent1>
          <a:srgbClr val="E5E5FF"/>
        </a:accent1>
        <a:accent2>
          <a:srgbClr val="79CD6B"/>
        </a:accent2>
        <a:accent3>
          <a:srgbClr val="FFFFFF"/>
        </a:accent3>
        <a:accent4>
          <a:srgbClr val="000000"/>
        </a:accent4>
        <a:accent5>
          <a:srgbClr val="F0F0FF"/>
        </a:accent5>
        <a:accent6>
          <a:srgbClr val="6DBA60"/>
        </a:accent6>
        <a:hlink>
          <a:srgbClr val="4477DE"/>
        </a:hlink>
        <a:folHlink>
          <a:srgbClr val="65498F"/>
        </a:folHlink>
      </a:clrScheme>
      <a:clrMap bg1="lt1" tx1="dk1" bg2="lt2" tx2="dk2" accent1="accent1" accent2="accent2" accent3="accent3" accent4="accent4" accent5="accent5" accent6="accent6" hlink="hlink" folHlink="folHlink"/>
    </a:extraClrScheme>
    <a:extraClrScheme>
      <a:clrScheme name="Balance 10">
        <a:dk1>
          <a:srgbClr val="000000"/>
        </a:dk1>
        <a:lt1>
          <a:srgbClr val="FFFFFF"/>
        </a:lt1>
        <a:dk2>
          <a:srgbClr val="FFFFFF"/>
        </a:dk2>
        <a:lt2>
          <a:srgbClr val="CBCBCB"/>
        </a:lt2>
        <a:accent1>
          <a:srgbClr val="E5E5FF"/>
        </a:accent1>
        <a:accent2>
          <a:srgbClr val="0000CC"/>
        </a:accent2>
        <a:accent3>
          <a:srgbClr val="FFFFFF"/>
        </a:accent3>
        <a:accent4>
          <a:srgbClr val="000000"/>
        </a:accent4>
        <a:accent5>
          <a:srgbClr val="F0F0FF"/>
        </a:accent5>
        <a:accent6>
          <a:srgbClr val="0000B9"/>
        </a:accent6>
        <a:hlink>
          <a:srgbClr val="0000CC"/>
        </a:hlink>
        <a:folHlink>
          <a:srgbClr val="65498F"/>
        </a:folHlink>
      </a:clrScheme>
      <a:clrMap bg1="lt1" tx1="dk1" bg2="lt2" tx2="dk2" accent1="accent1" accent2="accent2" accent3="accent3" accent4="accent4" accent5="accent5" accent6="accent6" hlink="hlink" folHlink="folHlink"/>
    </a:extraClrScheme>
    <a:extraClrScheme>
      <a:clrScheme name="Balance 11">
        <a:dk1>
          <a:srgbClr val="000000"/>
        </a:dk1>
        <a:lt1>
          <a:srgbClr val="FFFFFF"/>
        </a:lt1>
        <a:dk2>
          <a:srgbClr val="000000"/>
        </a:dk2>
        <a:lt2>
          <a:srgbClr val="CBCBCB"/>
        </a:lt2>
        <a:accent1>
          <a:srgbClr val="00CC66"/>
        </a:accent1>
        <a:accent2>
          <a:srgbClr val="0000CC"/>
        </a:accent2>
        <a:accent3>
          <a:srgbClr val="FFFFFF"/>
        </a:accent3>
        <a:accent4>
          <a:srgbClr val="000000"/>
        </a:accent4>
        <a:accent5>
          <a:srgbClr val="AAE2B8"/>
        </a:accent5>
        <a:accent6>
          <a:srgbClr val="0000B9"/>
        </a:accent6>
        <a:hlink>
          <a:srgbClr val="0000CC"/>
        </a:hlink>
        <a:folHlink>
          <a:srgbClr val="65498F"/>
        </a:folHlink>
      </a:clrScheme>
      <a:clrMap bg1="lt1" tx1="dk1" bg2="lt2" tx2="dk2" accent1="accent1" accent2="accent2" accent3="accent3" accent4="accent4" accent5="accent5" accent6="accent6" hlink="hlink" folHlink="folHlink"/>
    </a:extraClrScheme>
    <a:extraClrScheme>
      <a:clrScheme name="Balance 12">
        <a:dk1>
          <a:srgbClr val="000000"/>
        </a:dk1>
        <a:lt1>
          <a:srgbClr val="FFFFFF"/>
        </a:lt1>
        <a:dk2>
          <a:srgbClr val="000000"/>
        </a:dk2>
        <a:lt2>
          <a:srgbClr val="CBCBCB"/>
        </a:lt2>
        <a:accent1>
          <a:srgbClr val="00CC66"/>
        </a:accent1>
        <a:accent2>
          <a:srgbClr val="0000CC"/>
        </a:accent2>
        <a:accent3>
          <a:srgbClr val="FFFFFF"/>
        </a:accent3>
        <a:accent4>
          <a:srgbClr val="000000"/>
        </a:accent4>
        <a:accent5>
          <a:srgbClr val="AAE2B8"/>
        </a:accent5>
        <a:accent6>
          <a:srgbClr val="0000B9"/>
        </a:accent6>
        <a:hlink>
          <a:srgbClr val="0000CC"/>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9724</TotalTime>
  <Words>5761</Words>
  <Application>Microsoft Office PowerPoint</Application>
  <PresentationFormat>On-screen Show (4:3)</PresentationFormat>
  <Paragraphs>495</Paragraphs>
  <Slides>67</Slides>
  <Notes>15</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67</vt:i4>
      </vt:variant>
    </vt:vector>
  </HeadingPairs>
  <TitlesOfParts>
    <vt:vector size="76" baseType="lpstr">
      <vt:lpstr>Arial</vt:lpstr>
      <vt:lpstr>Calibri</vt:lpstr>
      <vt:lpstr>Calibri Light</vt:lpstr>
      <vt:lpstr>Söhne</vt:lpstr>
      <vt:lpstr>Tahoma</vt:lpstr>
      <vt:lpstr>Wingdings</vt:lpstr>
      <vt:lpstr>Theme1</vt:lpstr>
      <vt:lpstr>Balance</vt:lpstr>
      <vt:lpstr>Celestial</vt:lpstr>
      <vt:lpstr>WEB  AND MOBILE  DEVELOPMENT</vt:lpstr>
      <vt:lpstr>INTRODUCTION TO WEB DEVELOPMENT</vt:lpstr>
      <vt:lpstr>The Concept of Web</vt:lpstr>
      <vt:lpstr>The History</vt:lpstr>
      <vt:lpstr>PowerPoint Presentation</vt:lpstr>
      <vt:lpstr>PowerPoint Presentation</vt:lpstr>
      <vt:lpstr>PowerPoint Presentation</vt:lpstr>
      <vt:lpstr>Static vs. Dynamic Website</vt:lpstr>
      <vt:lpstr>PowerPoint Presentation</vt:lpstr>
      <vt:lpstr>PowerPoint Presentation</vt:lpstr>
      <vt:lpstr>PowerPoint Presentation</vt:lpstr>
      <vt:lpstr>PowerPoint Presentation</vt:lpstr>
      <vt:lpstr>INTRODUCTION TO MOBILE APPLICATION</vt:lpstr>
      <vt:lpstr>INTRODUCTION TO MOBILE DEVELOPMENT</vt:lpstr>
      <vt:lpstr>DEFINITION</vt:lpstr>
      <vt:lpstr>PowerPoint Presentation</vt:lpstr>
      <vt:lpstr>PowerPoint Presentation</vt:lpstr>
      <vt:lpstr>DIFFERENT NAMES IN DIFFERENT CONTEXTS</vt:lpstr>
      <vt:lpstr>DIFFERENT NAMES IN DIFFERENT CONTEXTS</vt:lpstr>
      <vt:lpstr>DIFFERENT NAMES IN DIFFERENT CONTEXTS</vt:lpstr>
      <vt:lpstr>The wearable computers are used like wearable accessories like shoes, clothes etc.. by human beings. A person can wear it provided these computers have extra attributes than conventional mobile computers. </vt:lpstr>
      <vt:lpstr>DIFFERENT NAMES IN DIFFERENT CONTEXTS</vt:lpstr>
      <vt:lpstr>DIFFERENT NAMES IN DIFFERENT CONTEXTS</vt:lpstr>
      <vt:lpstr>Tabs</vt:lpstr>
      <vt:lpstr>Pads: hand-held devices</vt:lpstr>
      <vt:lpstr>Boards</vt:lpstr>
      <vt:lpstr>DIFFERENT NAMES IN DIFFERENT CONTEXTS</vt:lpstr>
      <vt:lpstr>DIFFERENT NAMES IN DIFFERENT CONTEXTS</vt:lpstr>
      <vt:lpstr>DIFFERENT NAMES IN DIFFERENT CONTEXTS</vt:lpstr>
      <vt:lpstr>DIFFERENT NAMES IN DIFFERENT CONTEXTS</vt:lpstr>
      <vt:lpstr>What problems are associated with mobile computers?  </vt:lpstr>
      <vt:lpstr>Mobile Computing: issues</vt:lpstr>
      <vt:lpstr>Mobile Computing: issues</vt:lpstr>
      <vt:lpstr>Different Types of Mobile Application</vt:lpstr>
      <vt:lpstr>Native Mobile Apps</vt:lpstr>
      <vt:lpstr>Native Mobile Apps</vt:lpstr>
      <vt:lpstr>Native Mobile Apps</vt:lpstr>
      <vt:lpstr>Native Mobile Apps</vt:lpstr>
      <vt:lpstr>Native Mobile Apps</vt:lpstr>
      <vt:lpstr>Native Mobile Apps</vt:lpstr>
      <vt:lpstr>Native Mobile Apps</vt:lpstr>
      <vt:lpstr>Native Mobile Apps</vt:lpstr>
      <vt:lpstr>Native Mobile Apps</vt:lpstr>
      <vt:lpstr>Cross-platform Apps Development</vt:lpstr>
      <vt:lpstr>Cross-platform Apps Development</vt:lpstr>
      <vt:lpstr>Cross-platform Apps Development</vt:lpstr>
      <vt:lpstr>Cross-platform Apps Development</vt:lpstr>
      <vt:lpstr>Cross-platform Apps Development</vt:lpstr>
      <vt:lpstr>Cross-platform Apps Development</vt:lpstr>
      <vt:lpstr>Cross-platform Apps Development</vt:lpstr>
      <vt:lpstr>Cross-platform Apps Development</vt:lpstr>
      <vt:lpstr>Cross-platform Apps Development</vt:lpstr>
      <vt:lpstr>Hybrid Apps Development</vt:lpstr>
      <vt:lpstr>Hybrid Apps Development</vt:lpstr>
      <vt:lpstr>Hybrid Apps Development</vt:lpstr>
      <vt:lpstr>Hybrid Apps Development</vt:lpstr>
      <vt:lpstr>Hybrid Apps Development</vt:lpstr>
      <vt:lpstr>Hybrid Apps Development</vt:lpstr>
      <vt:lpstr>Web Apps Development</vt:lpstr>
      <vt:lpstr>Web Apps Development</vt:lpstr>
      <vt:lpstr>Web Apps Development</vt:lpstr>
      <vt:lpstr>Web Apps Development</vt:lpstr>
      <vt:lpstr>Web Apps Development</vt:lpstr>
      <vt:lpstr>Web Apps Development</vt:lpstr>
      <vt:lpstr>Web Apps Development</vt:lpstr>
      <vt:lpstr>Choosing the best programming language for mobile app development</vt:lpstr>
      <vt:lpstr>Considerations when Developing AN Apps</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dc:title>
  <dc:creator>apex</dc:creator>
  <cp:lastModifiedBy>Nurul Azlia Binti Mat Saat</cp:lastModifiedBy>
  <cp:revision>169</cp:revision>
  <dcterms:created xsi:type="dcterms:W3CDTF">2011-09-07T15:29:51Z</dcterms:created>
  <dcterms:modified xsi:type="dcterms:W3CDTF">2025-02-05T20:44:08Z</dcterms:modified>
</cp:coreProperties>
</file>