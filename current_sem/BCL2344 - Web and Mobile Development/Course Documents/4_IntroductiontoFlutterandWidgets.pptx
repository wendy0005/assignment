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7"/>
  </p:notesMasterIdLst>
  <p:sldIdLst>
    <p:sldId id="256" r:id="rId2"/>
    <p:sldId id="376" r:id="rId3"/>
    <p:sldId id="388" r:id="rId4"/>
    <p:sldId id="304" r:id="rId5"/>
    <p:sldId id="307" r:id="rId6"/>
    <p:sldId id="337" r:id="rId7"/>
    <p:sldId id="342" r:id="rId8"/>
    <p:sldId id="341" r:id="rId9"/>
    <p:sldId id="340" r:id="rId10"/>
    <p:sldId id="330" r:id="rId11"/>
    <p:sldId id="343" r:id="rId12"/>
    <p:sldId id="326" r:id="rId13"/>
    <p:sldId id="328" r:id="rId14"/>
    <p:sldId id="315" r:id="rId15"/>
    <p:sldId id="319" r:id="rId16"/>
    <p:sldId id="314" r:id="rId17"/>
    <p:sldId id="317" r:id="rId18"/>
    <p:sldId id="323" r:id="rId19"/>
    <p:sldId id="355" r:id="rId20"/>
    <p:sldId id="368" r:id="rId21"/>
    <p:sldId id="369" r:id="rId22"/>
    <p:sldId id="370" r:id="rId23"/>
    <p:sldId id="345" r:id="rId24"/>
    <p:sldId id="371" r:id="rId25"/>
    <p:sldId id="372" r:id="rId26"/>
    <p:sldId id="348" r:id="rId27"/>
    <p:sldId id="373" r:id="rId28"/>
    <p:sldId id="374" r:id="rId29"/>
    <p:sldId id="347" r:id="rId30"/>
    <p:sldId id="351" r:id="rId31"/>
    <p:sldId id="352" r:id="rId32"/>
    <p:sldId id="349" r:id="rId33"/>
    <p:sldId id="350" r:id="rId34"/>
    <p:sldId id="324" r:id="rId35"/>
    <p:sldId id="344" r:id="rId36"/>
    <p:sldId id="356" r:id="rId37"/>
    <p:sldId id="357" r:id="rId38"/>
    <p:sldId id="358" r:id="rId39"/>
    <p:sldId id="321" r:id="rId40"/>
    <p:sldId id="325" r:id="rId41"/>
    <p:sldId id="318" r:id="rId42"/>
    <p:sldId id="354" r:id="rId43"/>
    <p:sldId id="363" r:id="rId44"/>
    <p:sldId id="332" r:id="rId45"/>
    <p:sldId id="333" r:id="rId46"/>
    <p:sldId id="362" r:id="rId47"/>
    <p:sldId id="334" r:id="rId48"/>
    <p:sldId id="359" r:id="rId49"/>
    <p:sldId id="360" r:id="rId50"/>
    <p:sldId id="336" r:id="rId51"/>
    <p:sldId id="361" r:id="rId52"/>
    <p:sldId id="364" r:id="rId53"/>
    <p:sldId id="365" r:id="rId54"/>
    <p:sldId id="366" r:id="rId55"/>
    <p:sldId id="367" r:id="rId56"/>
  </p:sldIdLst>
  <p:sldSz cx="9144000" cy="6858000" type="screen4x3"/>
  <p:notesSz cx="7002463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40" autoAdjust="0"/>
    <p:restoredTop sz="85229" autoAdjust="0"/>
  </p:normalViewPr>
  <p:slideViewPr>
    <p:cSldViewPr>
      <p:cViewPr varScale="1">
        <p:scale>
          <a:sx n="46" d="100"/>
          <a:sy n="46" d="100"/>
        </p:scale>
        <p:origin x="1011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4401" cy="461804"/>
          </a:xfrm>
          <a:prstGeom prst="rect">
            <a:avLst/>
          </a:prstGeom>
        </p:spPr>
        <p:txBody>
          <a:bodyPr vert="horz" lIns="92784" tIns="46392" rIns="92784" bIns="46392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6442" y="0"/>
            <a:ext cx="3034401" cy="461804"/>
          </a:xfrm>
          <a:prstGeom prst="rect">
            <a:avLst/>
          </a:prstGeom>
        </p:spPr>
        <p:txBody>
          <a:bodyPr vert="horz" lIns="92784" tIns="46392" rIns="92784" bIns="46392" rtlCol="0"/>
          <a:lstStyle>
            <a:lvl1pPr algn="r">
              <a:defRPr sz="1200"/>
            </a:lvl1pPr>
          </a:lstStyle>
          <a:p>
            <a:fld id="{AC0FC7C6-D9B0-40A7-8DF7-5F2AB1252FC2}" type="datetimeFigureOut">
              <a:rPr lang="en-US" smtClean="0"/>
              <a:pPr/>
              <a:t>2/6/2025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692150"/>
            <a:ext cx="4618037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84" tIns="46392" rIns="92784" bIns="46392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247" y="4387136"/>
            <a:ext cx="5601970" cy="4156234"/>
          </a:xfrm>
          <a:prstGeom prst="rect">
            <a:avLst/>
          </a:prstGeom>
        </p:spPr>
        <p:txBody>
          <a:bodyPr vert="horz" lIns="92784" tIns="46392" rIns="92784" bIns="463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4401" cy="461804"/>
          </a:xfrm>
          <a:prstGeom prst="rect">
            <a:avLst/>
          </a:prstGeom>
        </p:spPr>
        <p:txBody>
          <a:bodyPr vert="horz" lIns="92784" tIns="46392" rIns="92784" bIns="46392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6442" y="8772668"/>
            <a:ext cx="3034401" cy="461804"/>
          </a:xfrm>
          <a:prstGeom prst="rect">
            <a:avLst/>
          </a:prstGeom>
        </p:spPr>
        <p:txBody>
          <a:bodyPr vert="horz" lIns="92784" tIns="46392" rIns="92784" bIns="46392" rtlCol="0" anchor="b"/>
          <a:lstStyle>
            <a:lvl1pPr algn="r">
              <a:defRPr sz="1200"/>
            </a:lvl1pPr>
          </a:lstStyle>
          <a:p>
            <a:fld id="{9CC03C7C-7F42-46E4-8618-77F0BF1058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84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407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863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334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965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796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ADBD7-6C4E-C2D0-6B45-CFC70B21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4FACC-84DC-ABF1-270E-2DEA780A2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1EB81-EE83-D08A-213A-B83954EB6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CF2A9-C47F-198D-3AB6-8A21FC324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991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CAF9-2C8C-1566-D683-26D2FB72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92C96-9FA1-F3D0-D476-18589A9A3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690F7-ABA1-5F8A-086F-00DF6BF4F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B0882-908C-8C70-E361-976AA83FF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125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7BD9-B164-C157-782E-404DDEB0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266A6-F2FC-FC23-577C-9B2FB0E4E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EBE4E-0E6A-B2F2-ED65-D775C7109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01103-9D48-8D18-165D-4C173BB32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03C7C-7F42-46E4-8618-77F0BF105838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283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09D1F9B5-B790-4CE2-A831-A5CF1ABBDBBC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11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4F53-5DB5-463F-A038-FE6B72202C93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70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45A8-CA3F-4F8C-9112-3451178299FE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82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BA1E1-5FC4-45DC-911F-A123C3A8B0AC}" type="datetime3">
              <a:rPr lang="en-US" smtClean="0"/>
              <a:t>6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60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4F94-EA1C-4210-9DF5-83C38875BC15}" type="datetime3">
              <a:rPr lang="en-US" smtClean="0"/>
              <a:t>6 February 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76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04B5-11BA-40F6-9FDD-CBE8CA3587D0}" type="datetime3">
              <a:rPr lang="en-US" smtClean="0"/>
              <a:t>6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62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A975-82A5-43E2-9762-C897F1AFA85D}" type="datetime3">
              <a:rPr lang="en-US" smtClean="0"/>
              <a:t>6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46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AA2D-A1E1-44E4-9439-7E1CFD3E62FD}" type="datetime3">
              <a:rPr lang="en-US" smtClean="0"/>
              <a:t>6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50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CED5-FE0F-4624-B54C-84AEFB7FC388}" type="datetime3">
              <a:rPr lang="en-US" smtClean="0"/>
              <a:t>6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18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DCA4-2EC8-4050-A37C-0F8AECD7E65B}" type="datetime3">
              <a:rPr lang="en-US" smtClean="0"/>
              <a:t>6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41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96160-EBC7-41E4-AD6B-9794A2505D7B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717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7EF0-7B27-45C6-B8B1-B540979BC3B1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253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96DD-99A7-44EF-9C04-286A83B7E609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644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01A9-FA38-47CB-9E14-FB6DA2B66C4E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392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6B1F-8FE8-4F04-AC43-DCC5BBA7C8E3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522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9901-37B4-48D8-9AAA-6ED571399419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384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F321A-4B80-4507-9E20-2809E9C0BB72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9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F8AEC43-8657-44C3-8791-EF26D7C60F41}" type="datetime3">
              <a:rPr lang="en-US" smtClean="0"/>
              <a:t>6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GB"/>
              <a:t> © LMS SEGi education group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13ADC4-536D-428E-8667-0275BB2B03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7137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/>
              <a:t>TCS3254</a:t>
            </a:r>
            <a:br>
              <a:rPr lang="en-GB" dirty="0"/>
            </a:br>
            <a:r>
              <a:rPr lang="en-GB" dirty="0"/>
              <a:t>PROGRAMMING FOR </a:t>
            </a:r>
            <a:br>
              <a:rPr lang="en-GB" dirty="0"/>
            </a:br>
            <a:r>
              <a:rPr lang="en-GB" dirty="0"/>
              <a:t>MOBILE DEVICES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b="1" dirty="0"/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MY" b="1" dirty="0"/>
              <a:t>Building Layout using Widgets</a:t>
            </a:r>
            <a:endParaRPr lang="en-MY" sz="2400" b="1" dirty="0">
              <a:latin typeface="Calibri" panose="020F0502020204030204" pitchFamily="34" charset="0"/>
              <a:ea typeface="DengXian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442B62-80F2-4946-9FAB-70A7182705BB}"/>
              </a:ext>
            </a:extLst>
          </p:cNvPr>
          <p:cNvSpPr txBox="1">
            <a:spLocks/>
          </p:cNvSpPr>
          <p:nvPr/>
        </p:nvSpPr>
        <p:spPr>
          <a:xfrm>
            <a:off x="2743973" y="1964267"/>
            <a:ext cx="5714228" cy="242146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/>
              <a:t>TCS3254</a:t>
            </a:r>
            <a:br>
              <a:rPr lang="en-GB"/>
            </a:br>
            <a:r>
              <a:rPr lang="en-GB"/>
              <a:t>PROGRAMMING FOR </a:t>
            </a:r>
            <a:br>
              <a:rPr lang="en-GB"/>
            </a:br>
            <a:r>
              <a:rPr lang="en-GB"/>
              <a:t>MOBILE DEVICES 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50D6EF7-3734-4606-BAF6-09B81DAD2828}"/>
              </a:ext>
            </a:extLst>
          </p:cNvPr>
          <p:cNvSpPr txBox="1">
            <a:spLocks/>
          </p:cNvSpPr>
          <p:nvPr/>
        </p:nvSpPr>
        <p:spPr>
          <a:xfrm>
            <a:off x="2743973" y="4385733"/>
            <a:ext cx="5714228" cy="14054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MY" b="1"/>
          </a:p>
          <a:p>
            <a:r>
              <a:rPr lang="en-MY" b="1"/>
              <a:t>Application Environment and Framework</a:t>
            </a:r>
            <a:endParaRPr lang="en-GB" b="1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6F2A546D-65F7-4977-84E0-F8407237F39E}"/>
              </a:ext>
            </a:extLst>
          </p:cNvPr>
          <p:cNvSpPr txBox="1">
            <a:spLocks/>
          </p:cNvSpPr>
          <p:nvPr/>
        </p:nvSpPr>
        <p:spPr>
          <a:xfrm>
            <a:off x="80406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F92F4A-FC3C-4C13-A76F-34129D2ABBA1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9" name="Picture 8" descr="Computer script on a screen">
            <a:extLst>
              <a:ext uri="{FF2B5EF4-FFF2-40B4-BE49-F238E27FC236}">
                <a16:creationId xmlns:a16="http://schemas.microsoft.com/office/drawing/2014/main" id="{EC876FA8-11E2-43CE-96B2-08A5A638A6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3EE04C4D-8C62-412B-AA19-0C9C3881D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11" name="Rectangle 14">
            <a:extLst>
              <a:ext uri="{FF2B5EF4-FFF2-40B4-BE49-F238E27FC236}">
                <a16:creationId xmlns:a16="http://schemas.microsoft.com/office/drawing/2014/main" id="{4E5BA0DF-F0AE-45C7-9B93-41B885FD2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284684" y="2125133"/>
            <a:ext cx="6552009" cy="2607734"/>
          </a:xfrm>
          <a:prstGeom prst="rect">
            <a:avLst/>
          </a:prstGeom>
          <a:solidFill>
            <a:schemeClr val="bg1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29FFC2B-14A0-47F5-8DF1-39D601A8CA45}"/>
              </a:ext>
            </a:extLst>
          </p:cNvPr>
          <p:cNvSpPr txBox="1">
            <a:spLocks/>
          </p:cNvSpPr>
          <p:nvPr/>
        </p:nvSpPr>
        <p:spPr>
          <a:xfrm>
            <a:off x="1442243" y="2298700"/>
            <a:ext cx="6260307" cy="1595952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4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3400" b="1" dirty="0"/>
              <a:t>web and mobile</a:t>
            </a:r>
          </a:p>
          <a:p>
            <a:pPr algn="ctr">
              <a:lnSpc>
                <a:spcPct val="90000"/>
              </a:lnSpc>
            </a:pPr>
            <a:r>
              <a:rPr lang="en-GB" sz="3400" b="1" dirty="0"/>
              <a:t>DEVELOPMENT 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3585E77-E1B2-422F-8B21-724526F02C4F}"/>
              </a:ext>
            </a:extLst>
          </p:cNvPr>
          <p:cNvSpPr txBox="1">
            <a:spLocks/>
          </p:cNvSpPr>
          <p:nvPr/>
        </p:nvSpPr>
        <p:spPr>
          <a:xfrm>
            <a:off x="1439068" y="4068219"/>
            <a:ext cx="6260307" cy="13049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b="1" dirty="0">
                <a:solidFill>
                  <a:srgbClr val="FFC000"/>
                </a:solidFill>
              </a:rPr>
              <a:t>introduction to flutter and WIDGETS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57280033-CB77-4C9E-8A90-3C5B745CA563}"/>
              </a:ext>
            </a:extLst>
          </p:cNvPr>
          <p:cNvSpPr txBox="1">
            <a:spLocks/>
          </p:cNvSpPr>
          <p:nvPr/>
        </p:nvSpPr>
        <p:spPr>
          <a:xfrm>
            <a:off x="7423318" y="5870575"/>
            <a:ext cx="413375" cy="37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CC13ADC4-536D-428E-8667-0275BB2B031C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What is Flutter?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7772400" cy="460851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Flutter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is Google's UI toolkit for building beautiful, natively compiled applications from a single codebase</a:t>
            </a:r>
          </a:p>
          <a:p>
            <a:r>
              <a:rPr lang="en-US" sz="2400" dirty="0"/>
              <a:t>Features:</a:t>
            </a:r>
          </a:p>
          <a:p>
            <a:pPr lvl="1"/>
            <a:r>
              <a:rPr lang="en-US" sz="2400" b="1" dirty="0">
                <a:solidFill>
                  <a:srgbClr val="FFC000"/>
                </a:solidFill>
              </a:rPr>
              <a:t>hot reload function </a:t>
            </a:r>
            <a:r>
              <a:rPr lang="en-US" sz="2400" dirty="0"/>
              <a:t>- quickly and easily experiment, build UIs, add features, and fix bugs faster.</a:t>
            </a:r>
          </a:p>
          <a:p>
            <a:pPr lvl="1"/>
            <a:r>
              <a:rPr lang="en-US" sz="2400" b="1" dirty="0">
                <a:solidFill>
                  <a:srgbClr val="FFC000"/>
                </a:solidFill>
              </a:rPr>
              <a:t>built-in Material Design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FFC000"/>
                </a:solidFill>
              </a:rPr>
              <a:t>Cupertino widgets</a:t>
            </a:r>
            <a:r>
              <a:rPr lang="en-US" sz="2400" dirty="0"/>
              <a:t>, rich motion APIs, smooth natural scrolling, etc.</a:t>
            </a:r>
          </a:p>
          <a:p>
            <a:pPr lvl="1"/>
            <a:r>
              <a:rPr lang="en-US" sz="2400" b="1" dirty="0">
                <a:solidFill>
                  <a:srgbClr val="FFC000"/>
                </a:solidFill>
              </a:rPr>
              <a:t>widgets</a:t>
            </a:r>
            <a:r>
              <a:rPr lang="en-US" sz="2400" dirty="0"/>
              <a:t> - incorporate platform differences e.g. scrolling, navigation, icons and fonts to provide full native performance on both iOS and Android.</a:t>
            </a:r>
            <a:endParaRPr lang="en-MY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50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the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827586"/>
          </a:xfrm>
        </p:spPr>
        <p:txBody>
          <a:bodyPr/>
          <a:lstStyle/>
          <a:p>
            <a:pPr algn="just"/>
            <a:r>
              <a:rPr lang="en-US" sz="2400" dirty="0"/>
              <a:t>Flutter widgets are a core part of the framework -  </a:t>
            </a:r>
            <a:r>
              <a:rPr lang="en-US" sz="2400" b="1" dirty="0">
                <a:solidFill>
                  <a:srgbClr val="FFC000"/>
                </a:solidFill>
              </a:rPr>
              <a:t>"Everything is a widget"</a:t>
            </a:r>
            <a:r>
              <a:rPr lang="en-US" sz="2400" dirty="0"/>
              <a:t> 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Widgets can be understood as the </a:t>
            </a:r>
            <a:r>
              <a:rPr lang="en-US" sz="2400" b="1" dirty="0">
                <a:solidFill>
                  <a:srgbClr val="FFC000"/>
                </a:solidFill>
              </a:rPr>
              <a:t>visual representation </a:t>
            </a:r>
            <a:r>
              <a:rPr lang="en-US" sz="2400" dirty="0"/>
              <a:t>of parts of the application. Many widgets are put together to </a:t>
            </a:r>
            <a:r>
              <a:rPr lang="en-US" sz="2400" b="1" dirty="0">
                <a:solidFill>
                  <a:srgbClr val="FFC000"/>
                </a:solidFill>
              </a:rPr>
              <a:t>compose the UI</a:t>
            </a:r>
            <a:r>
              <a:rPr lang="en-US" sz="2400" dirty="0"/>
              <a:t> of an application.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intention of widgets is to provide a way for your application to be </a:t>
            </a:r>
            <a:r>
              <a:rPr lang="en-US" sz="2400" b="1" dirty="0">
                <a:solidFill>
                  <a:srgbClr val="FFC000"/>
                </a:solidFill>
              </a:rPr>
              <a:t>modular</a:t>
            </a:r>
            <a:r>
              <a:rPr lang="en-US" sz="2400" dirty="0"/>
              <a:t>, scalable, and expressive with less code and without imposing limitations.</a:t>
            </a:r>
            <a:endParaRPr lang="en-MY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47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772400" cy="1456267"/>
          </a:xfrm>
        </p:spPr>
        <p:txBody>
          <a:bodyPr/>
          <a:lstStyle/>
          <a:p>
            <a:r>
              <a:rPr lang="en-MY" b="1" dirty="0"/>
              <a:t>The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4502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The widgets also are </a:t>
            </a:r>
            <a:r>
              <a:rPr lang="en-US" sz="2400" b="1" dirty="0">
                <a:solidFill>
                  <a:srgbClr val="FFC000"/>
                </a:solidFill>
              </a:rPr>
              <a:t>components used to create user interface</a:t>
            </a:r>
            <a:r>
              <a:rPr lang="en-US" sz="2400" dirty="0"/>
              <a:t> of the application.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>
                <a:solidFill>
                  <a:srgbClr val="FFC000"/>
                </a:solidFill>
              </a:rPr>
              <a:t>The application itself is a widget </a:t>
            </a:r>
            <a:r>
              <a:rPr lang="en-US" sz="2400" dirty="0"/>
              <a:t>– i.e. the topmost widget and its UI is build using one or more children (widgets), which again build using its children widgets.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This </a:t>
            </a:r>
            <a:r>
              <a:rPr lang="en-US" sz="2400" b="1" dirty="0">
                <a:solidFill>
                  <a:srgbClr val="FFC000"/>
                </a:solidFill>
              </a:rPr>
              <a:t>composability</a:t>
            </a:r>
            <a:r>
              <a:rPr lang="en-US" sz="2400" dirty="0"/>
              <a:t> feature helps to create a user interface of any complexity.</a:t>
            </a:r>
            <a:endParaRPr lang="en-MY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85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77B0-760C-4793-8473-3D4B5A08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53" y="260648"/>
            <a:ext cx="7772400" cy="1456267"/>
          </a:xfrm>
        </p:spPr>
        <p:txBody>
          <a:bodyPr/>
          <a:lstStyle/>
          <a:p>
            <a:r>
              <a:rPr lang="en-US" b="1" dirty="0"/>
              <a:t>The Widgets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83422-D35C-4D83-AC05-6ECC57922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30725"/>
          </a:xfrm>
        </p:spPr>
        <p:txBody>
          <a:bodyPr/>
          <a:lstStyle/>
          <a:p>
            <a:pPr algn="just"/>
            <a:r>
              <a:rPr lang="en-US" sz="2400" b="0" i="0" dirty="0">
                <a:effectLst/>
              </a:rPr>
              <a:t>The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View</a:t>
            </a:r>
            <a:r>
              <a:rPr lang="en-US" sz="2400" b="0" i="0" dirty="0">
                <a:effectLst/>
              </a:rPr>
              <a:t> of the screen totally depends on the sequence and choice of the widgets way to declare and construct the UI. </a:t>
            </a:r>
          </a:p>
          <a:p>
            <a:pPr algn="just"/>
            <a:endParaRPr lang="en-US" sz="2400" b="0" i="0" dirty="0">
              <a:effectLst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It is more than just structural elements. The widgets includes </a:t>
            </a:r>
            <a:r>
              <a:rPr lang="en-US" sz="2400" b="0" i="0" u="none" strike="noStrike" dirty="0">
                <a:effectLst/>
              </a:rPr>
              <a:t>Text</a:t>
            </a:r>
            <a:r>
              <a:rPr lang="en-US" sz="2400" b="0" i="0" dirty="0">
                <a:effectLst/>
              </a:rPr>
              <a:t> widget, </a:t>
            </a:r>
            <a:r>
              <a:rPr lang="en-US" sz="2400" b="0" i="0" u="none" strike="noStrike" dirty="0">
                <a:effectLst/>
              </a:rPr>
              <a:t>Row</a:t>
            </a:r>
            <a:r>
              <a:rPr lang="en-US" sz="2400" b="0" i="0" dirty="0">
                <a:effectLst/>
              </a:rPr>
              <a:t> &amp; </a:t>
            </a:r>
            <a:r>
              <a:rPr lang="en-US" sz="2400" b="0" i="0" u="none" strike="noStrike" dirty="0">
                <a:effectLst/>
              </a:rPr>
              <a:t>Column</a:t>
            </a:r>
            <a:r>
              <a:rPr lang="en-US" sz="2400" b="0" i="0" dirty="0">
                <a:effectLst/>
              </a:rPr>
              <a:t> widget, </a:t>
            </a:r>
            <a:r>
              <a:rPr lang="en-US" sz="2400" b="0" i="0" u="none" strike="noStrike" dirty="0">
                <a:effectLst/>
              </a:rPr>
              <a:t>Container</a:t>
            </a:r>
            <a:r>
              <a:rPr lang="en-US" sz="2400" b="0" i="0" dirty="0">
                <a:effectLst/>
              </a:rPr>
              <a:t> widget, </a:t>
            </a:r>
            <a:r>
              <a:rPr lang="en-US" sz="2400" b="0" i="0" u="none" strike="noStrike" dirty="0">
                <a:effectLst/>
              </a:rPr>
              <a:t>Stack </a:t>
            </a:r>
            <a:r>
              <a:rPr lang="en-US" sz="2400" b="0" i="0" dirty="0">
                <a:effectLst/>
              </a:rPr>
              <a:t>widget,</a:t>
            </a:r>
            <a:r>
              <a:rPr lang="en-US" sz="2400" dirty="0"/>
              <a:t> Padding</a:t>
            </a:r>
            <a:r>
              <a:rPr lang="en-US" sz="2400" b="0" i="0" dirty="0">
                <a:effectLst/>
              </a:rPr>
              <a:t> widget, </a:t>
            </a:r>
            <a:r>
              <a:rPr lang="en-US" sz="2400" b="0" i="0" u="none" strike="noStrike" dirty="0">
                <a:effectLst/>
              </a:rPr>
              <a:t>Center</a:t>
            </a:r>
            <a:r>
              <a:rPr lang="en-US" sz="2400" b="0" i="0" dirty="0">
                <a:effectLst/>
              </a:rPr>
              <a:t> widget, and many more.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It’s helpful to display something, it might help to make design, handle user interaction and many more.</a:t>
            </a:r>
          </a:p>
          <a:p>
            <a:pPr algn="just"/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6A976-20C9-4FE3-A55A-AB2F4268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40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ow to Implement Any UI in Flutter">
            <a:extLst>
              <a:ext uri="{FF2B5EF4-FFF2-40B4-BE49-F238E27FC236}">
                <a16:creationId xmlns:a16="http://schemas.microsoft.com/office/drawing/2014/main" id="{B75E8515-3515-4F57-73AB-F1C5D95AE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88" y="861409"/>
            <a:ext cx="8963025" cy="501929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45146269-2422-B68D-DBF4-2B3CB3C2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899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91E9-69C9-6C11-56AC-D6D57C6C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App vs Non-Material App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D74A-660C-4291-7D1B-3769D82AA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42069"/>
            <a:ext cx="8219256" cy="4106330"/>
          </a:xfrm>
        </p:spPr>
        <p:txBody>
          <a:bodyPr>
            <a:noAutofit/>
          </a:bodyPr>
          <a:lstStyle/>
          <a:p>
            <a:pPr algn="just"/>
            <a:r>
              <a:rPr lang="en-US" sz="2400" i="0" dirty="0">
                <a:effectLst/>
              </a:rPr>
              <a:t>A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Material App </a:t>
            </a:r>
            <a:r>
              <a:rPr lang="en-US" sz="2400" i="0" dirty="0">
                <a:effectLst/>
              </a:rPr>
              <a:t>uses Google's Material Design principles. </a:t>
            </a:r>
          </a:p>
          <a:p>
            <a:pPr algn="just"/>
            <a:endParaRPr lang="en-US" sz="2400" i="0" dirty="0">
              <a:effectLst/>
            </a:endParaRPr>
          </a:p>
          <a:p>
            <a:pPr algn="just"/>
            <a:r>
              <a:rPr lang="en-US" sz="2400" i="0" dirty="0">
                <a:effectLst/>
              </a:rPr>
              <a:t>It follows specific guidelines for the layout, components, and interaction patterns to create a consistent, modern, and intuitive user experience.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i="0" dirty="0" err="1">
                <a:solidFill>
                  <a:srgbClr val="FFC000"/>
                </a:solidFill>
                <a:effectLst/>
              </a:rPr>
              <a:t>MaterialApp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 Widget</a:t>
            </a:r>
            <a:r>
              <a:rPr lang="en-US" sz="2400" b="0" i="0" dirty="0">
                <a:effectLst/>
              </a:rPr>
              <a:t> wraps the entire application, providing easy access to Material Design features like theming, routing, and navigation.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52660-1EEF-D743-D875-7BB22428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97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595D-170F-E55A-BC9F-326F1710C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App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CE00-5611-01F6-725A-0BAE42895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39" y="1420813"/>
            <a:ext cx="2836496" cy="4530725"/>
          </a:xfrm>
        </p:spPr>
        <p:txBody>
          <a:bodyPr/>
          <a:lstStyle/>
          <a:p>
            <a:r>
              <a:rPr lang="en-US" sz="2800" b="0" i="0" dirty="0">
                <a:effectLst/>
              </a:rPr>
              <a:t>An application that uses </a:t>
            </a:r>
            <a:r>
              <a:rPr lang="en-US" sz="2800" b="1" i="0" dirty="0">
                <a:solidFill>
                  <a:srgbClr val="FFC000"/>
                </a:solidFill>
                <a:effectLst/>
              </a:rPr>
              <a:t>Material Design</a:t>
            </a:r>
          </a:p>
          <a:p>
            <a:endParaRPr lang="en-US" sz="2800" b="1" i="0" dirty="0">
              <a:solidFill>
                <a:srgbClr val="00B0F0"/>
              </a:solidFill>
              <a:effectLst/>
            </a:endParaRPr>
          </a:p>
          <a:p>
            <a:r>
              <a:rPr lang="en-US" sz="2800" dirty="0"/>
              <a:t>Example by </a:t>
            </a:r>
            <a:r>
              <a:rPr lang="en-US" sz="2800" b="1" dirty="0">
                <a:solidFill>
                  <a:srgbClr val="FFC000"/>
                </a:solidFill>
              </a:rPr>
              <a:t>Scaffold()</a:t>
            </a:r>
            <a:endParaRPr lang="en-MY" sz="2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886AF-1041-717E-06B4-A93B2B15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F7AD5-B1E8-F730-BF5B-7D7FB3392803}"/>
              </a:ext>
            </a:extLst>
          </p:cNvPr>
          <p:cNvSpPr txBox="1"/>
          <p:nvPr/>
        </p:nvSpPr>
        <p:spPr>
          <a:xfrm>
            <a:off x="3347863" y="1224875"/>
            <a:ext cx="5796320" cy="53553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MY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StatelessWidget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MY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@override</a:t>
            </a:r>
            <a:endParaRPr lang="en-MY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BuildContext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MY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MaterialApp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'Flutter layout demo'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>
                <a:solidFill>
                  <a:srgbClr val="4EC9B0"/>
                </a:solidFill>
                <a:effectLst/>
                <a:highlight>
                  <a:srgbClr val="0000FF"/>
                </a:highlight>
                <a:latin typeface="Consolas" panose="020B0609020204030204" pitchFamily="49" charset="0"/>
              </a:rPr>
              <a:t>Scaffold</a:t>
            </a:r>
            <a:r>
              <a:rPr lang="en-MY" b="0" dirty="0">
                <a:solidFill>
                  <a:srgbClr val="D4D4D4"/>
                </a:solidFill>
                <a:effectLst/>
                <a:highlight>
                  <a:srgbClr val="0000F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appBar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AppBar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‘Hello Flutter layout demo'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World'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0B6A5F5-3119-43A7-3574-FC8F67D52453}"/>
              </a:ext>
            </a:extLst>
          </p:cNvPr>
          <p:cNvSpPr/>
          <p:nvPr/>
        </p:nvSpPr>
        <p:spPr bwMode="auto">
          <a:xfrm>
            <a:off x="2974114" y="2588154"/>
            <a:ext cx="504055" cy="4320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4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91E9-69C9-6C11-56AC-D6D57C6C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App vs Non-Material App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D74A-660C-4291-7D1B-3769D82AA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816"/>
            <a:ext cx="8219256" cy="367240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b="1" dirty="0">
                <a:solidFill>
                  <a:srgbClr val="FFC000"/>
                </a:solidFill>
              </a:rPr>
              <a:t>Non-Material App</a:t>
            </a:r>
            <a:r>
              <a:rPr lang="en-US" sz="2400" dirty="0">
                <a:solidFill>
                  <a:srgbClr val="FFC000"/>
                </a:solidFill>
              </a:rPr>
              <a:t> </a:t>
            </a:r>
            <a:r>
              <a:rPr lang="en-US" sz="2400" dirty="0"/>
              <a:t>does not rely on Material Design and can use a custom design system or another UI style.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These apps are often more customized or platform-specific using the Widget class without using Material components.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Developers can create their own layouts and UI elements.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52660-1EEF-D743-D875-7BB22428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14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2913-D0DB-8E96-78F6-86BE3BA21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9839"/>
            <a:ext cx="7772400" cy="1456267"/>
          </a:xfrm>
        </p:spPr>
        <p:txBody>
          <a:bodyPr/>
          <a:lstStyle/>
          <a:p>
            <a:r>
              <a:rPr lang="en-US" dirty="0"/>
              <a:t>Non-Material App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A3261-351B-E0E8-1412-15E7BB45C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7550A-EA08-1BB4-54F6-5C8D9271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AE826-440C-1D9A-D8A4-4F4DB4470E58}"/>
              </a:ext>
            </a:extLst>
          </p:cNvPr>
          <p:cNvSpPr txBox="1"/>
          <p:nvPr/>
        </p:nvSpPr>
        <p:spPr>
          <a:xfrm>
            <a:off x="251520" y="1310145"/>
            <a:ext cx="8640960" cy="53553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MY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StatelessWidget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MY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@override</a:t>
            </a:r>
            <a:endParaRPr lang="en-MY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BuildContext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MY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Container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decoration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BoxDecoration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MY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MY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World'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textDirection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TextDirection</a:t>
            </a:r>
            <a:r>
              <a:rPr lang="en-MY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MY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ltr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TextStyle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MY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MY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fromARGB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221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MY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48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MY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MY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186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749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lutter — 5 reasons why you may love it | by Paulina Szklarska |  HackerNoon.com | Medium">
            <a:extLst>
              <a:ext uri="{FF2B5EF4-FFF2-40B4-BE49-F238E27FC236}">
                <a16:creationId xmlns:a16="http://schemas.microsoft.com/office/drawing/2014/main" id="{66523D80-B2E2-1AFE-2D0E-A15A4E9AE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5721" y="68263"/>
            <a:ext cx="6572558" cy="660558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0D6B8D9-DE60-5670-DB26-89BF4D48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33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595D-170F-E55A-BC9F-326F1710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75872"/>
            <a:ext cx="7772400" cy="1456267"/>
          </a:xfrm>
        </p:spPr>
        <p:txBody>
          <a:bodyPr/>
          <a:lstStyle/>
          <a:p>
            <a:r>
              <a:rPr lang="en-US" dirty="0"/>
              <a:t>Scaffold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CE00-5611-01F6-725A-0BAE42895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08" y="1604433"/>
            <a:ext cx="8182339" cy="4643966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In Flutter, a </a:t>
            </a:r>
            <a:r>
              <a:rPr lang="en-US" sz="2400" b="1" dirty="0">
                <a:solidFill>
                  <a:srgbClr val="FFC000"/>
                </a:solidFill>
              </a:rPr>
              <a:t>Scaffold</a:t>
            </a:r>
            <a:r>
              <a:rPr lang="en-US" sz="2400" dirty="0"/>
              <a:t> is a fundamental layout structure used to create the basic visual framework for a </a:t>
            </a:r>
            <a:r>
              <a:rPr lang="en-US" sz="2400" b="1" dirty="0">
                <a:solidFill>
                  <a:srgbClr val="FFC000"/>
                </a:solidFill>
              </a:rPr>
              <a:t>Material Design app.</a:t>
            </a:r>
            <a:endParaRPr lang="en-US" sz="2400" dirty="0"/>
          </a:p>
          <a:p>
            <a:pPr algn="just"/>
            <a:r>
              <a:rPr lang="en-US" sz="2400" dirty="0"/>
              <a:t>It provides components such as:</a:t>
            </a:r>
          </a:p>
          <a:p>
            <a:pPr lvl="1" algn="just"/>
            <a:r>
              <a:rPr lang="en-US" sz="2400" b="1" dirty="0" err="1">
                <a:solidFill>
                  <a:srgbClr val="FFC000"/>
                </a:solidFill>
              </a:rPr>
              <a:t>AppBar</a:t>
            </a:r>
            <a:r>
              <a:rPr lang="en-US" sz="2400" dirty="0"/>
              <a:t>: A top bar that typically displays the app’s title, actions, and navigation controls.</a:t>
            </a:r>
          </a:p>
          <a:p>
            <a:pPr lvl="1" algn="just"/>
            <a:r>
              <a:rPr lang="en-US" sz="2400" b="1" dirty="0">
                <a:solidFill>
                  <a:srgbClr val="FFC000"/>
                </a:solidFill>
              </a:rPr>
              <a:t>Body</a:t>
            </a:r>
            <a:r>
              <a:rPr lang="en-US" sz="2400" dirty="0"/>
              <a:t>: The main content area of the screen.</a:t>
            </a:r>
          </a:p>
          <a:p>
            <a:pPr lvl="1" algn="just"/>
            <a:r>
              <a:rPr lang="en-US" sz="2400" b="1" dirty="0">
                <a:solidFill>
                  <a:srgbClr val="FFC000"/>
                </a:solidFill>
              </a:rPr>
              <a:t>Drawer</a:t>
            </a:r>
            <a:r>
              <a:rPr lang="en-US" sz="2400" dirty="0"/>
              <a:t>: A sliding panel from the side of the screen.</a:t>
            </a:r>
          </a:p>
          <a:p>
            <a:pPr lvl="1" algn="just"/>
            <a:r>
              <a:rPr lang="en-US" sz="2400" b="1" dirty="0" err="1">
                <a:solidFill>
                  <a:srgbClr val="FFC000"/>
                </a:solidFill>
              </a:rPr>
              <a:t>BottomNavigationBar</a:t>
            </a:r>
            <a:r>
              <a:rPr lang="en-US" sz="2400" dirty="0"/>
              <a:t>: A navigation bar at the bottom of the screen that can switch between different sections of the app.</a:t>
            </a:r>
          </a:p>
          <a:p>
            <a:pPr lvl="1" algn="just"/>
            <a:r>
              <a:rPr lang="en-US" sz="2400" b="1" dirty="0" err="1">
                <a:solidFill>
                  <a:srgbClr val="FFC000"/>
                </a:solidFill>
              </a:rPr>
              <a:t>FloatingActionButton</a:t>
            </a:r>
            <a:r>
              <a:rPr lang="en-US" sz="2400" dirty="0"/>
              <a:t>: A circular button for a primary action in the 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886AF-1041-717E-06B4-A93B2B15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446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8451-ECD2-04B8-9A55-0D1488BA7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781" y="0"/>
            <a:ext cx="7772400" cy="1456267"/>
          </a:xfrm>
        </p:spPr>
        <p:txBody>
          <a:bodyPr/>
          <a:lstStyle/>
          <a:p>
            <a:r>
              <a:rPr lang="en-US" dirty="0"/>
              <a:t>Scaffold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A8952-FE85-D030-433B-2C24DB93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4F928-B6E6-309B-D9B3-192BB2A4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26F4-0368-8852-3A73-8C704690EBF0}"/>
              </a:ext>
            </a:extLst>
          </p:cNvPr>
          <p:cNvSpPr txBox="1"/>
          <p:nvPr/>
        </p:nvSpPr>
        <p:spPr>
          <a:xfrm>
            <a:off x="228508" y="1264543"/>
            <a:ext cx="8686983" cy="5078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MY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StatelessWidget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MY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@override</a:t>
            </a:r>
            <a:endParaRPr lang="en-MY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MY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BuildContext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MY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MaterialApp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'Flutter layout demo'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>
                <a:solidFill>
                  <a:srgbClr val="4EC9B0"/>
                </a:solidFill>
                <a:effectLst/>
                <a:highlight>
                  <a:srgbClr val="0000FF"/>
                </a:highlight>
                <a:latin typeface="Consolas" panose="020B0609020204030204" pitchFamily="49" charset="0"/>
              </a:rPr>
              <a:t>Scaffold</a:t>
            </a:r>
            <a:r>
              <a:rPr lang="en-MY" b="0" dirty="0">
                <a:solidFill>
                  <a:srgbClr val="D4D4D4"/>
                </a:solidFill>
                <a:effectLst/>
                <a:highlight>
                  <a:srgbClr val="0000F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MY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appBar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AppBar</a:t>
            </a:r>
            <a:r>
              <a:rPr lang="en-MY" b="0" dirty="0">
                <a:solidFill>
                  <a:srgbClr val="D4D4D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‘Hello Flutter layout demo'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MY" b="0" dirty="0" err="1">
                <a:solidFill>
                  <a:schemeClr val="bg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Center</a:t>
            </a:r>
            <a:r>
              <a:rPr lang="en-MY" b="0" dirty="0">
                <a:solidFill>
                  <a:srgbClr val="D4D4D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MY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MY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MY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World'</a:t>
            </a:r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), //end of scaffold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907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C6BF-950F-4088-8E72-F0D2F94B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097" y="94154"/>
            <a:ext cx="7772400" cy="1456267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Different Type of Widgets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81499-C782-4296-A29D-4C3DE0C3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104FF-9D38-4F13-BE8E-4AF1529C6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90473"/>
            <a:ext cx="8229600" cy="3188969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05156D-BB3B-5A0C-46ED-B6CACB6A0B85}"/>
              </a:ext>
            </a:extLst>
          </p:cNvPr>
          <p:cNvSpPr txBox="1"/>
          <p:nvPr/>
        </p:nvSpPr>
        <p:spPr>
          <a:xfrm>
            <a:off x="457200" y="1420813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0" i="0" dirty="0">
                <a:effectLst/>
              </a:rPr>
              <a:t>Flutter widgets are divided into two categories:</a:t>
            </a:r>
          </a:p>
          <a:p>
            <a:pPr marL="1077913" lvl="1" indent="-620713" algn="just">
              <a:buFont typeface="+mj-lt"/>
              <a:buAutoNum type="arabicPeriod"/>
            </a:pPr>
            <a:r>
              <a:rPr lang="en-US" sz="2400" b="1" i="0" dirty="0">
                <a:solidFill>
                  <a:srgbClr val="FFC000"/>
                </a:solidFill>
                <a:effectLst/>
              </a:rPr>
              <a:t>Visible (Output and Input)</a:t>
            </a:r>
          </a:p>
          <a:p>
            <a:pPr marL="1077913" lvl="1" indent="-620713" algn="just">
              <a:buFont typeface="+mj-lt"/>
              <a:buAutoNum type="arabicPeriod"/>
            </a:pPr>
            <a:r>
              <a:rPr lang="en-US" sz="2400" b="1" i="0" dirty="0">
                <a:solidFill>
                  <a:srgbClr val="FFC000"/>
                </a:solidFill>
                <a:effectLst/>
              </a:rPr>
              <a:t>Invisible (Layout and Control)</a:t>
            </a:r>
          </a:p>
          <a:p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2476469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Flutter Icons - Javatpoint">
            <a:extLst>
              <a:ext uri="{FF2B5EF4-FFF2-40B4-BE49-F238E27FC236}">
                <a16:creationId xmlns:a16="http://schemas.microsoft.com/office/drawing/2014/main" id="{CD03752B-BFBF-AD58-B1B0-256355832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085" y="1874145"/>
            <a:ext cx="1959012" cy="400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2537A-BBC8-DE13-22EA-24392CF5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66" y="-16520"/>
            <a:ext cx="7772400" cy="1456267"/>
          </a:xfrm>
        </p:spPr>
        <p:txBody>
          <a:bodyPr/>
          <a:lstStyle/>
          <a:p>
            <a:r>
              <a:rPr lang="en-US" dirty="0"/>
              <a:t>Different Type of Widgets – </a:t>
            </a:r>
            <a:br>
              <a:rPr lang="en-US" dirty="0"/>
            </a:br>
            <a:r>
              <a:rPr lang="en-US" dirty="0"/>
              <a:t>Visible Widget 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2971C-E526-8BE1-6AD1-D288909C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1026" name="Picture 2" descr="Using RaisedButton in Flutter apps | by Paras Nath Chaudhary | Medium">
            <a:extLst>
              <a:ext uri="{FF2B5EF4-FFF2-40B4-BE49-F238E27FC236}">
                <a16:creationId xmlns:a16="http://schemas.microsoft.com/office/drawing/2014/main" id="{7C6DD17F-D93E-3FAB-CDDE-F29E33CB6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3" r="22438"/>
          <a:stretch/>
        </p:blipFill>
        <p:spPr bwMode="auto">
          <a:xfrm>
            <a:off x="309984" y="1902779"/>
            <a:ext cx="2633934" cy="397878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Guide to Text Styling in Flutter">
            <a:extLst>
              <a:ext uri="{FF2B5EF4-FFF2-40B4-BE49-F238E27FC236}">
                <a16:creationId xmlns:a16="http://schemas.microsoft.com/office/drawing/2014/main" id="{5BE9D22F-7BD1-B6D7-6145-49273EF70B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2" t="42650" r="18596" b="38715"/>
          <a:stretch/>
        </p:blipFill>
        <p:spPr bwMode="auto">
          <a:xfrm>
            <a:off x="6623618" y="1117302"/>
            <a:ext cx="2376264" cy="127798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Create Flutter Card With Example Code">
            <a:extLst>
              <a:ext uri="{FF2B5EF4-FFF2-40B4-BE49-F238E27FC236}">
                <a16:creationId xmlns:a16="http://schemas.microsoft.com/office/drawing/2014/main" id="{5BD03D4B-A67A-317D-5DCF-2882E4B73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" t="13250" r="4748" b="27951"/>
          <a:stretch/>
        </p:blipFill>
        <p:spPr bwMode="auto">
          <a:xfrm>
            <a:off x="5362399" y="2597906"/>
            <a:ext cx="3672408" cy="403244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DF267A-50BC-745C-2F29-1F09471ECC57}"/>
              </a:ext>
            </a:extLst>
          </p:cNvPr>
          <p:cNvSpPr txBox="1"/>
          <p:nvPr/>
        </p:nvSpPr>
        <p:spPr>
          <a:xfrm>
            <a:off x="736046" y="1496064"/>
            <a:ext cx="1614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C000"/>
                </a:solidFill>
              </a:rPr>
              <a:t>RaisedButton</a:t>
            </a:r>
            <a:r>
              <a:rPr lang="en-US" b="1" dirty="0">
                <a:solidFill>
                  <a:srgbClr val="FFC000"/>
                </a:solidFill>
              </a:rPr>
              <a:t>()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AF4CC-E746-38CE-E500-29D302A749D7}"/>
              </a:ext>
            </a:extLst>
          </p:cNvPr>
          <p:cNvSpPr txBox="1"/>
          <p:nvPr/>
        </p:nvSpPr>
        <p:spPr>
          <a:xfrm>
            <a:off x="5580112" y="2210623"/>
            <a:ext cx="76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Card()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C7247-770A-A86E-C558-C168BC242B5C}"/>
              </a:ext>
            </a:extLst>
          </p:cNvPr>
          <p:cNvSpPr txBox="1"/>
          <p:nvPr/>
        </p:nvSpPr>
        <p:spPr>
          <a:xfrm>
            <a:off x="7524328" y="635336"/>
            <a:ext cx="7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Text()</a:t>
            </a:r>
            <a:endParaRPr lang="en-MY" b="1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95B9B-A164-2362-3231-186B7FDD6EC7}"/>
              </a:ext>
            </a:extLst>
          </p:cNvPr>
          <p:cNvSpPr txBox="1"/>
          <p:nvPr/>
        </p:nvSpPr>
        <p:spPr>
          <a:xfrm>
            <a:off x="3404524" y="1504813"/>
            <a:ext cx="731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Icon()</a:t>
            </a:r>
            <a:endParaRPr lang="en-MY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57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CA77116-EAC1-C9F1-5F7F-2DCC8301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 of Widgets – </a:t>
            </a:r>
            <a:br>
              <a:rPr lang="en-US" dirty="0"/>
            </a:br>
            <a:r>
              <a:rPr lang="en-US" dirty="0"/>
              <a:t>Invisible Widget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3CF2C-4A25-46D2-884A-DD5C67C7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3207F4-F6BE-4978-82EA-EE6C54482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6773"/>
            <a:ext cx="8229600" cy="3497579"/>
          </a:xfrm>
          <a:prstGeom prst="rect">
            <a:avLst/>
          </a:prstGeom>
          <a:noFill/>
        </p:spPr>
      </p:pic>
      <p:sp>
        <p:nvSpPr>
          <p:cNvPr id="6" name="AutoShape 4" descr="Flutter Widgets - A brief guide">
            <a:extLst>
              <a:ext uri="{FF2B5EF4-FFF2-40B4-BE49-F238E27FC236}">
                <a16:creationId xmlns:a16="http://schemas.microsoft.com/office/drawing/2014/main" id="{16E019AB-146B-4ECE-A86C-72FD8A4CB7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081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0572-73DD-7093-007D-C66DA6B0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Visible Widgets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5064-8213-592C-F69A-D0E3200A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322712" cy="4530725"/>
          </a:xfrm>
        </p:spPr>
        <p:txBody>
          <a:bodyPr>
            <a:normAutofit/>
          </a:bodyPr>
          <a:lstStyle/>
          <a:p>
            <a:r>
              <a:rPr lang="en-US" sz="2400" b="0" i="0" dirty="0">
                <a:effectLst/>
              </a:rPr>
              <a:t>The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visible widgets </a:t>
            </a:r>
            <a:r>
              <a:rPr lang="en-US" sz="2400" b="0" i="0" dirty="0">
                <a:effectLst/>
              </a:rPr>
              <a:t>are related to the user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input</a:t>
            </a:r>
            <a:r>
              <a:rPr lang="en-US" sz="2400" b="0" i="0" dirty="0">
                <a:effectLst/>
              </a:rPr>
              <a:t> and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output</a:t>
            </a:r>
            <a:r>
              <a:rPr lang="en-US" sz="2400" b="0" i="0" dirty="0">
                <a:effectLst/>
              </a:rPr>
              <a:t> data. </a:t>
            </a:r>
          </a:p>
          <a:p>
            <a:endParaRPr lang="en-US" sz="2400" b="0" i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A913A-192C-AC54-7449-F8F9389F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3781D-EB19-EE1A-EEDB-136A80F765AA}"/>
              </a:ext>
            </a:extLst>
          </p:cNvPr>
          <p:cNvSpPr txBox="1"/>
          <p:nvPr/>
        </p:nvSpPr>
        <p:spPr>
          <a:xfrm>
            <a:off x="4283968" y="2221424"/>
            <a:ext cx="4626590" cy="156966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MY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Image.asset</a:t>
            </a:r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'images/cat.jpg',</a:t>
            </a:r>
          </a:p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fit: </a:t>
            </a:r>
            <a:r>
              <a:rPr lang="en-MY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BoxFit.cover</a:t>
            </a:r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52398-F8FE-0D07-26F5-175929F02BC0}"/>
              </a:ext>
            </a:extLst>
          </p:cNvPr>
          <p:cNvSpPr txBox="1"/>
          <p:nvPr/>
        </p:nvSpPr>
        <p:spPr>
          <a:xfrm>
            <a:off x="4283968" y="1580372"/>
            <a:ext cx="4626590" cy="461665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Text('Hello World'),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A288E-D9D9-B36E-CF67-C7E7BD1E4154}"/>
              </a:ext>
            </a:extLst>
          </p:cNvPr>
          <p:cNvSpPr txBox="1"/>
          <p:nvPr/>
        </p:nvSpPr>
        <p:spPr>
          <a:xfrm>
            <a:off x="4283968" y="4024886"/>
            <a:ext cx="4626590" cy="193899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Icon(</a:t>
            </a:r>
          </a:p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MY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Icons.star</a:t>
            </a:r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MY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        </a:t>
            </a:r>
          </a:p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MY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[500],</a:t>
            </a:r>
          </a:p>
          <a:p>
            <a:r>
              <a:rPr lang="en-MY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3572973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0572-73DD-7093-007D-C66DA6B0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1" y="303212"/>
            <a:ext cx="7772400" cy="1456267"/>
          </a:xfrm>
        </p:spPr>
        <p:txBody>
          <a:bodyPr/>
          <a:lstStyle/>
          <a:p>
            <a:r>
              <a:rPr lang="en-US" dirty="0"/>
              <a:t>Text Widget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5064-8213-592C-F69A-D0E3200A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0813"/>
            <a:ext cx="5338936" cy="5133975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effectLst/>
              </a:rPr>
              <a:t>A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Text widget </a:t>
            </a:r>
            <a:r>
              <a:rPr lang="en-US" sz="2400" b="0" i="0" dirty="0">
                <a:effectLst/>
              </a:rPr>
              <a:t>holds some</a:t>
            </a:r>
            <a:r>
              <a:rPr lang="en-US" sz="2400" dirty="0"/>
              <a:t> </a:t>
            </a:r>
            <a:r>
              <a:rPr lang="en-US" sz="2400" b="1" i="0" dirty="0">
                <a:effectLst/>
              </a:rPr>
              <a:t>text to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display on the screen.</a:t>
            </a:r>
          </a:p>
          <a:p>
            <a:pPr algn="just"/>
            <a:endParaRPr lang="en-US" sz="2400" b="1" i="0" dirty="0">
              <a:solidFill>
                <a:srgbClr val="FFC000"/>
              </a:solidFill>
              <a:effectLst/>
            </a:endParaRPr>
          </a:p>
          <a:p>
            <a:pPr algn="just"/>
            <a:r>
              <a:rPr lang="en-US" sz="2400" b="0" i="0" dirty="0">
                <a:effectLst/>
              </a:rPr>
              <a:t>This </a:t>
            </a:r>
            <a:r>
              <a:rPr lang="en-US" sz="2400" dirty="0"/>
              <a:t>widget can give </a:t>
            </a:r>
            <a:r>
              <a:rPr lang="en-US" sz="2400" b="1" dirty="0">
                <a:solidFill>
                  <a:srgbClr val="FFC000"/>
                </a:solidFill>
              </a:rPr>
              <a:t>style property </a:t>
            </a:r>
            <a:r>
              <a:rPr lang="en-US" sz="2400" dirty="0"/>
              <a:t>to allow the customization of Text, e.g.; font, font weight, font style, letter spacing, color, and many more.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0" i="0" dirty="0">
                <a:effectLst/>
              </a:rPr>
              <a:t>To align the text widget, </a:t>
            </a:r>
            <a:r>
              <a:rPr lang="en-US" sz="2400" b="1" i="0" dirty="0" err="1">
                <a:solidFill>
                  <a:srgbClr val="FFC000"/>
                </a:solidFill>
                <a:effectLst/>
              </a:rPr>
              <a:t>textAlign</a:t>
            </a:r>
            <a:r>
              <a:rPr lang="en-US" sz="2400" b="0" i="0" dirty="0">
                <a:effectLst/>
              </a:rPr>
              <a:t> is used.</a:t>
            </a: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A913A-192C-AC54-7449-F8F9389F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8194" name="Picture 2" descr="A Guide to Text Styling in Flutter">
            <a:extLst>
              <a:ext uri="{FF2B5EF4-FFF2-40B4-BE49-F238E27FC236}">
                <a16:creationId xmlns:a16="http://schemas.microsoft.com/office/drawing/2014/main" id="{AF57E728-F1C4-BAD6-A2A5-56D1838E33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5508104" y="173460"/>
            <a:ext cx="3900487" cy="638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218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19541-6D29-89BB-E946-96994EF3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639F-9E93-32BC-918B-8072BD1D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Widget 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F82B3-064B-FDD0-04FC-BF753DE5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6" name="Picture 5" descr="A purple text on a white background&#10;&#10;Description automatically generated">
            <a:extLst>
              <a:ext uri="{FF2B5EF4-FFF2-40B4-BE49-F238E27FC236}">
                <a16:creationId xmlns:a16="http://schemas.microsoft.com/office/drawing/2014/main" id="{5032AC61-5170-C4D8-14B2-D38FDE778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758" y="310344"/>
            <a:ext cx="3508488" cy="62373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AA187B-B8D1-0E0C-4D52-FDA2944F9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4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85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330F-853D-4660-9D89-0C17AD54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88640"/>
            <a:ext cx="7772400" cy="1456267"/>
          </a:xfrm>
        </p:spPr>
        <p:txBody>
          <a:bodyPr/>
          <a:lstStyle/>
          <a:p>
            <a:r>
              <a:rPr lang="en-US" dirty="0"/>
              <a:t>Text Widget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0358F-C3B9-4D42-B9DA-E372B008B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835625"/>
          </a:xfrm>
        </p:spPr>
        <p:txBody>
          <a:bodyPr>
            <a:noAutofit/>
          </a:bodyPr>
          <a:lstStyle/>
          <a:p>
            <a:r>
              <a:rPr lang="en-US" sz="2400" dirty="0"/>
              <a:t>Key Properties of the Text Widget:</a:t>
            </a:r>
          </a:p>
          <a:p>
            <a:pPr lvl="1"/>
            <a:r>
              <a:rPr lang="en-US" sz="2200" b="1" dirty="0">
                <a:solidFill>
                  <a:srgbClr val="FFC000"/>
                </a:solidFill>
              </a:rPr>
              <a:t>data</a:t>
            </a:r>
            <a:r>
              <a:rPr lang="en-US" sz="2200" dirty="0"/>
              <a:t>: The actual string that the Text widget displays.</a:t>
            </a:r>
          </a:p>
          <a:p>
            <a:pPr lvl="1"/>
            <a:r>
              <a:rPr lang="en-US" sz="2200" b="1" dirty="0">
                <a:solidFill>
                  <a:srgbClr val="FFC000"/>
                </a:solidFill>
              </a:rPr>
              <a:t>style</a:t>
            </a:r>
            <a:r>
              <a:rPr lang="en-US" sz="2200" dirty="0"/>
              <a:t>: A </a:t>
            </a:r>
            <a:r>
              <a:rPr lang="en-US" sz="2200" b="1" dirty="0" err="1">
                <a:solidFill>
                  <a:srgbClr val="FFC000"/>
                </a:solidFill>
              </a:rPr>
              <a:t>TextStyle</a:t>
            </a:r>
            <a:r>
              <a:rPr lang="en-US" sz="2200" dirty="0"/>
              <a:t> object that allows you to customize the appearance of the text (e.g., </a:t>
            </a:r>
            <a:r>
              <a:rPr lang="en-US" sz="2200" dirty="0" err="1"/>
              <a:t>fontSize</a:t>
            </a:r>
            <a:r>
              <a:rPr lang="en-US" sz="2200" dirty="0"/>
              <a:t>, </a:t>
            </a:r>
            <a:r>
              <a:rPr lang="en-US" sz="2200" dirty="0" err="1"/>
              <a:t>fontFamily</a:t>
            </a:r>
            <a:r>
              <a:rPr lang="en-US" sz="2200" dirty="0"/>
              <a:t>, color, etc.).</a:t>
            </a:r>
          </a:p>
          <a:p>
            <a:pPr lvl="1"/>
            <a:r>
              <a:rPr lang="en-US" sz="2200" b="1" dirty="0" err="1">
                <a:solidFill>
                  <a:srgbClr val="FFC000"/>
                </a:solidFill>
              </a:rPr>
              <a:t>textAlign</a:t>
            </a:r>
            <a:r>
              <a:rPr lang="en-US" sz="2200" dirty="0"/>
              <a:t>: Controls how the text is aligned. It can be set to values like </a:t>
            </a:r>
            <a:r>
              <a:rPr lang="en-US" sz="2200" dirty="0" err="1"/>
              <a:t>TextAlign.center</a:t>
            </a:r>
            <a:r>
              <a:rPr lang="en-US" sz="2200" dirty="0"/>
              <a:t>, </a:t>
            </a:r>
            <a:r>
              <a:rPr lang="en-US" sz="2200" dirty="0" err="1"/>
              <a:t>TextAlign.left</a:t>
            </a:r>
            <a:r>
              <a:rPr lang="en-US" sz="2200" dirty="0"/>
              <a:t>, </a:t>
            </a:r>
            <a:r>
              <a:rPr lang="en-US" sz="2200" dirty="0" err="1"/>
              <a:t>TextAlign.right</a:t>
            </a:r>
            <a:r>
              <a:rPr lang="en-US" sz="2200" dirty="0"/>
              <a:t>, etc.</a:t>
            </a:r>
          </a:p>
          <a:p>
            <a:pPr lvl="1"/>
            <a:r>
              <a:rPr lang="en-US" sz="2200" b="1" dirty="0" err="1">
                <a:solidFill>
                  <a:srgbClr val="FFC000"/>
                </a:solidFill>
              </a:rPr>
              <a:t>maxLines</a:t>
            </a:r>
            <a:r>
              <a:rPr lang="en-US" sz="2200" dirty="0"/>
              <a:t>: Limits the number of lines the text can occupy. </a:t>
            </a:r>
          </a:p>
          <a:p>
            <a:pPr lvl="1"/>
            <a:r>
              <a:rPr lang="en-US" sz="2200" b="1" dirty="0">
                <a:solidFill>
                  <a:srgbClr val="FFC000"/>
                </a:solidFill>
              </a:rPr>
              <a:t>overflow</a:t>
            </a:r>
            <a:r>
              <a:rPr lang="en-US" sz="2200" dirty="0"/>
              <a:t>: Defines how to handle overflow</a:t>
            </a:r>
          </a:p>
          <a:p>
            <a:pPr lvl="1"/>
            <a:r>
              <a:rPr lang="en-US" sz="2200" b="1" dirty="0" err="1">
                <a:solidFill>
                  <a:srgbClr val="FFC000"/>
                </a:solidFill>
              </a:rPr>
              <a:t>softWrap</a:t>
            </a:r>
            <a:r>
              <a:rPr lang="en-US" sz="2200" dirty="0"/>
              <a:t>: Controls whether the text should wrap to the next line if it exceeds the width. If set to false, the text won’t wrap.</a:t>
            </a:r>
            <a:endParaRPr lang="en-MY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5B85-0E1E-4977-936B-53A4BA5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37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330F-853D-4660-9D89-0C17AD54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88640"/>
            <a:ext cx="7772400" cy="1456267"/>
          </a:xfrm>
        </p:spPr>
        <p:txBody>
          <a:bodyPr/>
          <a:lstStyle/>
          <a:p>
            <a:r>
              <a:rPr lang="en-US" dirty="0"/>
              <a:t>Text Widget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0358F-C3B9-4D42-B9DA-E372B008B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4835625"/>
          </a:xfrm>
        </p:spPr>
        <p:txBody>
          <a:bodyPr>
            <a:noAutofit/>
          </a:bodyPr>
          <a:lstStyle/>
          <a:p>
            <a:pPr algn="just"/>
            <a:r>
              <a:rPr lang="en-MY" sz="2400" b="1" dirty="0" err="1">
                <a:solidFill>
                  <a:srgbClr val="FFC000"/>
                </a:solidFill>
              </a:rPr>
              <a:t>TextStyle</a:t>
            </a:r>
            <a:r>
              <a:rPr lang="en-MY" sz="2400" dirty="0"/>
              <a:t> Properties:</a:t>
            </a:r>
          </a:p>
          <a:p>
            <a:pPr lvl="1" algn="just"/>
            <a:r>
              <a:rPr lang="en-MY" sz="2400" b="1" dirty="0" err="1">
                <a:solidFill>
                  <a:srgbClr val="FFC000"/>
                </a:solidFill>
              </a:rPr>
              <a:t>fontSize</a:t>
            </a:r>
            <a:r>
              <a:rPr lang="en-MY" sz="2400" dirty="0"/>
              <a:t>: Defines the size of the text.</a:t>
            </a:r>
          </a:p>
          <a:p>
            <a:pPr lvl="1" algn="just"/>
            <a:r>
              <a:rPr lang="en-MY" sz="2400" b="1" dirty="0" err="1">
                <a:solidFill>
                  <a:srgbClr val="FFC000"/>
                </a:solidFill>
              </a:rPr>
              <a:t>fontWeight</a:t>
            </a:r>
            <a:r>
              <a:rPr lang="en-MY" sz="2400" dirty="0"/>
              <a:t>: Sets the thickness of the text (e.g., </a:t>
            </a:r>
            <a:r>
              <a:rPr lang="en-MY" sz="2400" dirty="0" err="1"/>
              <a:t>FontWeight.bold</a:t>
            </a:r>
            <a:r>
              <a:rPr lang="en-MY" sz="2400" dirty="0"/>
              <a:t>, FontWeight.w500).</a:t>
            </a:r>
          </a:p>
          <a:p>
            <a:pPr lvl="1" algn="just"/>
            <a:r>
              <a:rPr lang="en-MY" sz="2400" b="1" dirty="0" err="1">
                <a:solidFill>
                  <a:srgbClr val="FFC000"/>
                </a:solidFill>
              </a:rPr>
              <a:t>color</a:t>
            </a:r>
            <a:r>
              <a:rPr lang="en-MY" sz="2400" dirty="0"/>
              <a:t>: Defines the colour of the text (e.g., </a:t>
            </a:r>
            <a:r>
              <a:rPr lang="en-MY" sz="2400" dirty="0" err="1"/>
              <a:t>Colors.blue</a:t>
            </a:r>
            <a:r>
              <a:rPr lang="en-MY" sz="2400" dirty="0"/>
              <a:t>).</a:t>
            </a:r>
          </a:p>
          <a:p>
            <a:pPr lvl="1" algn="just"/>
            <a:r>
              <a:rPr lang="en-MY" sz="2400" b="1" dirty="0" err="1">
                <a:solidFill>
                  <a:srgbClr val="FFC000"/>
                </a:solidFill>
              </a:rPr>
              <a:t>fontFamily</a:t>
            </a:r>
            <a:r>
              <a:rPr lang="en-MY" sz="2400" dirty="0"/>
              <a:t>: Allows to specify a custom font.</a:t>
            </a:r>
          </a:p>
          <a:p>
            <a:pPr lvl="1" algn="just"/>
            <a:r>
              <a:rPr lang="en-MY" sz="2400" b="1" dirty="0" err="1">
                <a:solidFill>
                  <a:srgbClr val="FFC000"/>
                </a:solidFill>
              </a:rPr>
              <a:t>letterSpacing</a:t>
            </a:r>
            <a:r>
              <a:rPr lang="en-MY" sz="2400" dirty="0"/>
              <a:t>: Sets the space between letters.</a:t>
            </a:r>
          </a:p>
          <a:p>
            <a:pPr lvl="1" algn="just"/>
            <a:r>
              <a:rPr lang="en-MY" sz="2400" b="1" dirty="0" err="1">
                <a:solidFill>
                  <a:srgbClr val="FFC000"/>
                </a:solidFill>
              </a:rPr>
              <a:t>wordSpacing</a:t>
            </a:r>
            <a:r>
              <a:rPr lang="en-MY" sz="2400" dirty="0"/>
              <a:t>: Sets the space between words.</a:t>
            </a:r>
          </a:p>
          <a:p>
            <a:pPr lvl="1" algn="just"/>
            <a:r>
              <a:rPr lang="en-MY" sz="2400" b="1" dirty="0">
                <a:solidFill>
                  <a:srgbClr val="FFC000"/>
                </a:solidFill>
              </a:rPr>
              <a:t>decoration</a:t>
            </a:r>
            <a:r>
              <a:rPr lang="en-MY" sz="2400" dirty="0"/>
              <a:t>: Adds underlining, strikethrough, or overlining (e.g., </a:t>
            </a:r>
            <a:r>
              <a:rPr lang="en-MY" sz="2400" dirty="0" err="1"/>
              <a:t>TextDecoration.underline</a:t>
            </a:r>
            <a:r>
              <a:rPr lang="en-MY" sz="2400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5B85-0E1E-4977-936B-53A4BA5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07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330F-853D-4660-9D89-0C17AD54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88640"/>
            <a:ext cx="7772400" cy="1456267"/>
          </a:xfrm>
        </p:spPr>
        <p:txBody>
          <a:bodyPr/>
          <a:lstStyle/>
          <a:p>
            <a:r>
              <a:rPr lang="en-US" dirty="0"/>
              <a:t>Text Widget 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5B85-0E1E-4977-936B-53A4BA5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EBCA3-704A-45CA-B91A-D1676CF05FA1}"/>
              </a:ext>
            </a:extLst>
          </p:cNvPr>
          <p:cNvSpPr txBox="1"/>
          <p:nvPr/>
        </p:nvSpPr>
        <p:spPr>
          <a:xfrm>
            <a:off x="1457771" y="1727193"/>
            <a:ext cx="6563072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Text(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'Welcome to Flutter!',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style: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TextStyle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fontSize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20.0,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fontWeight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FontWeight.w500,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Colors.green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letterSpacing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2.0,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decoration: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TextDecoration.underline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),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textAlign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TextAlign.center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MY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37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0FCB-1A2D-BFCB-0284-C43A9154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245" y="228600"/>
            <a:ext cx="7772400" cy="1456267"/>
          </a:xfrm>
        </p:spPr>
        <p:txBody>
          <a:bodyPr/>
          <a:lstStyle/>
          <a:p>
            <a:r>
              <a:rPr lang="en-US" dirty="0"/>
              <a:t>Image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F460-36D7-27BF-D72E-2F22E5A6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19256" cy="4968552"/>
          </a:xfrm>
        </p:spPr>
        <p:txBody>
          <a:bodyPr>
            <a:noAutofit/>
          </a:bodyPr>
          <a:lstStyle/>
          <a:p>
            <a:pPr algn="just"/>
            <a:r>
              <a:rPr lang="en-US" sz="2400" b="1" i="0" dirty="0">
                <a:solidFill>
                  <a:srgbClr val="FFC000"/>
                </a:solidFill>
                <a:effectLst/>
              </a:rPr>
              <a:t>Image widget </a:t>
            </a:r>
            <a:r>
              <a:rPr lang="en-US" sz="2400" dirty="0"/>
              <a:t>is used to display images in the app's UI. </a:t>
            </a:r>
          </a:p>
          <a:p>
            <a:pPr algn="just"/>
            <a:r>
              <a:rPr lang="en-US" sz="2400" dirty="0"/>
              <a:t>It allows app to load images from a variety of sources to add visual content to your application. </a:t>
            </a:r>
          </a:p>
          <a:p>
            <a:pPr algn="just"/>
            <a:r>
              <a:rPr lang="en-US" sz="2400" dirty="0"/>
              <a:t>Types of Image Sources:</a:t>
            </a:r>
          </a:p>
          <a:p>
            <a:pPr lvl="1" algn="just"/>
            <a:r>
              <a:rPr lang="en-US" sz="2400" b="1" dirty="0" err="1">
                <a:solidFill>
                  <a:srgbClr val="FFC000"/>
                </a:solidFill>
              </a:rPr>
              <a:t>Image.asset</a:t>
            </a:r>
            <a:r>
              <a:rPr lang="en-US" sz="2400" dirty="0"/>
              <a:t>: Loads image from the project’s assets folder.</a:t>
            </a:r>
          </a:p>
          <a:p>
            <a:pPr lvl="1" algn="just"/>
            <a:r>
              <a:rPr lang="en-US" sz="2400" b="1" dirty="0" err="1">
                <a:solidFill>
                  <a:srgbClr val="FFC000"/>
                </a:solidFill>
              </a:rPr>
              <a:t>Image.network</a:t>
            </a:r>
            <a:r>
              <a:rPr lang="en-US" sz="2400" dirty="0"/>
              <a:t>: Loads image from the internet using a URL.</a:t>
            </a:r>
          </a:p>
          <a:p>
            <a:pPr lvl="1" algn="just"/>
            <a:r>
              <a:rPr lang="en-US" sz="2400" b="1" dirty="0" err="1">
                <a:solidFill>
                  <a:srgbClr val="FFC000"/>
                </a:solidFill>
              </a:rPr>
              <a:t>Image.file</a:t>
            </a:r>
            <a:r>
              <a:rPr lang="en-US" sz="2400" dirty="0"/>
              <a:t>: Loads an image from a local file.</a:t>
            </a:r>
          </a:p>
          <a:p>
            <a:pPr lvl="1" algn="just"/>
            <a:r>
              <a:rPr lang="en-US" sz="2400" b="1" dirty="0" err="1">
                <a:solidFill>
                  <a:srgbClr val="FFC000"/>
                </a:solidFill>
              </a:rPr>
              <a:t>Image.memory</a:t>
            </a:r>
            <a:r>
              <a:rPr lang="en-US" sz="2400" dirty="0"/>
              <a:t>: Loads an image from raw image data in memory (like a byte array).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20D95-1FD1-81CA-4F13-7AA4E71B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839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330F-853D-4660-9D89-0C17AD54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88640"/>
            <a:ext cx="7772400" cy="1456267"/>
          </a:xfrm>
        </p:spPr>
        <p:txBody>
          <a:bodyPr/>
          <a:lstStyle/>
          <a:p>
            <a:r>
              <a:rPr lang="en-US" dirty="0"/>
              <a:t>IMAGE Widget 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5B85-0E1E-4977-936B-53A4BA5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EBCA3-704A-45CA-B91A-D1676CF05FA1}"/>
              </a:ext>
            </a:extLst>
          </p:cNvPr>
          <p:cNvSpPr txBox="1"/>
          <p:nvPr/>
        </p:nvSpPr>
        <p:spPr>
          <a:xfrm>
            <a:off x="457201" y="1701315"/>
            <a:ext cx="6563072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Image.asset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'assets/images/flutter_logo.png',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width: 100,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height: 100,</a:t>
            </a:r>
          </a:p>
          <a:p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BE3F0-9CD5-451E-B4E9-C9A55F55B467}"/>
              </a:ext>
            </a:extLst>
          </p:cNvPr>
          <p:cNvSpPr txBox="1"/>
          <p:nvPr/>
        </p:nvSpPr>
        <p:spPr>
          <a:xfrm>
            <a:off x="1659502" y="3645024"/>
            <a:ext cx="7016953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Image.network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'https://flutter.dev/assets/images/shared/brand/flutter/logo/flutter-lockup.png',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width: 100,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height: 100,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94995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330F-853D-4660-9D89-0C17AD54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88640"/>
            <a:ext cx="7772400" cy="1456267"/>
          </a:xfrm>
        </p:spPr>
        <p:txBody>
          <a:bodyPr/>
          <a:lstStyle/>
          <a:p>
            <a:r>
              <a:rPr lang="en-US" dirty="0"/>
              <a:t>IMAGE Widget 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5B85-0E1E-4977-936B-53A4BA5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ADC4-536D-428E-8667-0275BB2B031C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EBCA3-704A-45CA-B91A-D1676CF05FA1}"/>
              </a:ext>
            </a:extLst>
          </p:cNvPr>
          <p:cNvSpPr txBox="1"/>
          <p:nvPr/>
        </p:nvSpPr>
        <p:spPr>
          <a:xfrm>
            <a:off x="457201" y="1701315"/>
            <a:ext cx="6563072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Image.file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File('/path/to/image.png'),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width: 100,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height: 100,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BE3F0-9CD5-451E-B4E9-C9A55F55B467}"/>
              </a:ext>
            </a:extLst>
          </p:cNvPr>
          <p:cNvSpPr txBox="1"/>
          <p:nvPr/>
        </p:nvSpPr>
        <p:spPr>
          <a:xfrm>
            <a:off x="1659502" y="3645024"/>
            <a:ext cx="7016953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Image.memory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Uint8List.fromList(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myImageData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width: 100,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height: 100,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90453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0FCB-1A2D-BFCB-0284-C43A9154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722"/>
            <a:ext cx="7772400" cy="1456267"/>
          </a:xfrm>
        </p:spPr>
        <p:txBody>
          <a:bodyPr/>
          <a:lstStyle/>
          <a:p>
            <a:r>
              <a:rPr lang="en-US" dirty="0"/>
              <a:t>Image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F460-36D7-27BF-D72E-2F22E5A6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87258"/>
            <a:ext cx="8229600" cy="4001982"/>
          </a:xfrm>
        </p:spPr>
        <p:txBody>
          <a:bodyPr>
            <a:normAutofit/>
          </a:bodyPr>
          <a:lstStyle/>
          <a:p>
            <a:pPr algn="just"/>
            <a:r>
              <a:rPr lang="en-US" sz="2400" b="1" i="0" dirty="0">
                <a:solidFill>
                  <a:srgbClr val="FFC000"/>
                </a:solidFill>
                <a:effectLst/>
              </a:rPr>
              <a:t>Assets Image </a:t>
            </a:r>
            <a:r>
              <a:rPr lang="en-US" sz="2400" i="0" dirty="0">
                <a:effectLst/>
              </a:rPr>
              <a:t>widget</a:t>
            </a:r>
            <a:r>
              <a:rPr lang="en-US" sz="2400" b="1" i="0" dirty="0">
                <a:effectLst/>
              </a:rPr>
              <a:t> </a:t>
            </a:r>
            <a:r>
              <a:rPr lang="en-US" sz="2400" b="0" i="0" dirty="0">
                <a:effectLst/>
              </a:rPr>
              <a:t>uses an image from the root directory of project</a:t>
            </a:r>
            <a:r>
              <a:rPr lang="en-US" sz="2400" dirty="0"/>
              <a:t> - </a:t>
            </a:r>
            <a:r>
              <a:rPr lang="en-US" sz="2400" b="0" i="0" dirty="0">
                <a:effectLst/>
              </a:rPr>
              <a:t> add image path to </a:t>
            </a:r>
            <a:r>
              <a:rPr lang="en-US" sz="2400" b="1" i="0" dirty="0" err="1">
                <a:solidFill>
                  <a:srgbClr val="FFC000"/>
                </a:solidFill>
                <a:effectLst/>
              </a:rPr>
              <a:t>pubspec.yaml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 </a:t>
            </a:r>
            <a:r>
              <a:rPr lang="en-US" sz="2400" b="0" i="0" dirty="0">
                <a:effectLst/>
              </a:rPr>
              <a:t>file.			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20D95-1FD1-81CA-4F13-7AA4E71B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9E863-E268-B572-4DAF-111C6A2FE89B}"/>
              </a:ext>
            </a:extLst>
          </p:cNvPr>
          <p:cNvSpPr txBox="1"/>
          <p:nvPr/>
        </p:nvSpPr>
        <p:spPr>
          <a:xfrm>
            <a:off x="1259632" y="3329887"/>
            <a:ext cx="462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effectLst/>
              </a:rPr>
              <a:t>pubspec.yaml</a:t>
            </a:r>
            <a:endParaRPr lang="en-M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E5A20-7023-DC8D-A385-FC87A087D014}"/>
              </a:ext>
            </a:extLst>
          </p:cNvPr>
          <p:cNvSpPr txBox="1"/>
          <p:nvPr/>
        </p:nvSpPr>
        <p:spPr>
          <a:xfrm>
            <a:off x="1259632" y="4687262"/>
            <a:ext cx="462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</a:t>
            </a:r>
            <a:r>
              <a:rPr lang="en-US" sz="1800" b="0" i="0" dirty="0" err="1">
                <a:effectLst/>
              </a:rPr>
              <a:t>ain.dart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C2277-EBD6-BE33-9D0C-BF6AB318A9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604"/>
          <a:stretch/>
        </p:blipFill>
        <p:spPr>
          <a:xfrm>
            <a:off x="2955364" y="3400120"/>
            <a:ext cx="5664901" cy="1036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2A2A9D-DDFE-2966-FECC-1770A9BF9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364" y="4687262"/>
            <a:ext cx="4280932" cy="174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625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0FCB-1A2D-BFCB-0284-C43A9154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30991"/>
            <a:ext cx="7772400" cy="1456267"/>
          </a:xfrm>
        </p:spPr>
        <p:txBody>
          <a:bodyPr/>
          <a:lstStyle/>
          <a:p>
            <a:r>
              <a:rPr lang="en-US" dirty="0"/>
              <a:t>Image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F460-36D7-27BF-D72E-2F22E5A6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8760"/>
            <a:ext cx="8496944" cy="5286028"/>
          </a:xfrm>
        </p:spPr>
        <p:txBody>
          <a:bodyPr>
            <a:noAutofit/>
          </a:bodyPr>
          <a:lstStyle/>
          <a:p>
            <a:r>
              <a:rPr lang="en-US" sz="2400" i="0" dirty="0">
                <a:effectLst/>
              </a:rPr>
              <a:t>Key Properties of the Image Widget:</a:t>
            </a:r>
          </a:p>
          <a:p>
            <a:pPr lvl="1"/>
            <a:r>
              <a:rPr lang="en-US" sz="2400" b="1" i="0" dirty="0">
                <a:solidFill>
                  <a:srgbClr val="FFC000"/>
                </a:solidFill>
                <a:effectLst/>
              </a:rPr>
              <a:t>width and height</a:t>
            </a:r>
            <a:r>
              <a:rPr lang="en-US" sz="2400" i="0" dirty="0">
                <a:effectLst/>
              </a:rPr>
              <a:t>: Specify the dimensions of the image.</a:t>
            </a:r>
          </a:p>
          <a:p>
            <a:pPr lvl="1"/>
            <a:r>
              <a:rPr lang="en-US" sz="2400" b="1" i="0" dirty="0">
                <a:solidFill>
                  <a:srgbClr val="FFC000"/>
                </a:solidFill>
                <a:effectLst/>
              </a:rPr>
              <a:t>fit: </a:t>
            </a:r>
            <a:r>
              <a:rPr lang="en-US" sz="2400" i="0" dirty="0">
                <a:effectLst/>
              </a:rPr>
              <a:t>Determines how the image should fit within its bounding box. It can be:</a:t>
            </a:r>
          </a:p>
          <a:p>
            <a:pPr lvl="2"/>
            <a:r>
              <a:rPr lang="en-US" sz="2000" b="1" i="0" dirty="0" err="1">
                <a:solidFill>
                  <a:srgbClr val="FFC000"/>
                </a:solidFill>
                <a:effectLst/>
              </a:rPr>
              <a:t>BoxFit.cover</a:t>
            </a:r>
            <a:r>
              <a:rPr lang="en-US" sz="2000" i="0" dirty="0">
                <a:effectLst/>
              </a:rPr>
              <a:t>: The image covers the box</a:t>
            </a:r>
          </a:p>
          <a:p>
            <a:pPr lvl="2"/>
            <a:r>
              <a:rPr lang="en-US" sz="2000" b="1" i="0" dirty="0" err="1">
                <a:solidFill>
                  <a:srgbClr val="FFC000"/>
                </a:solidFill>
                <a:effectLst/>
              </a:rPr>
              <a:t>BoxFit.contain</a:t>
            </a:r>
            <a:r>
              <a:rPr lang="en-US" sz="2000" i="0" dirty="0">
                <a:effectLst/>
              </a:rPr>
              <a:t>: The image is resized to fit within the box</a:t>
            </a:r>
          </a:p>
          <a:p>
            <a:pPr lvl="2"/>
            <a:r>
              <a:rPr lang="en-US" sz="2000" b="1" i="0" dirty="0" err="1">
                <a:solidFill>
                  <a:srgbClr val="FFC000"/>
                </a:solidFill>
                <a:effectLst/>
              </a:rPr>
              <a:t>BoxFit.fill</a:t>
            </a:r>
            <a:r>
              <a:rPr lang="en-US" sz="2000" i="0" dirty="0">
                <a:effectLst/>
              </a:rPr>
              <a:t>: The image is stretched to fill the box</a:t>
            </a:r>
          </a:p>
          <a:p>
            <a:pPr lvl="2"/>
            <a:r>
              <a:rPr lang="en-US" sz="2000" b="1" i="0" dirty="0" err="1">
                <a:solidFill>
                  <a:srgbClr val="FFC000"/>
                </a:solidFill>
                <a:effectLst/>
              </a:rPr>
              <a:t>BoxFit.fitWidth</a:t>
            </a:r>
            <a:r>
              <a:rPr lang="en-US" sz="2000" i="0" dirty="0">
                <a:effectLst/>
              </a:rPr>
              <a:t>: Scales the image to fit the width.</a:t>
            </a:r>
          </a:p>
          <a:p>
            <a:pPr lvl="2"/>
            <a:r>
              <a:rPr lang="en-US" sz="2000" b="1" i="0" dirty="0" err="1">
                <a:solidFill>
                  <a:srgbClr val="FFC000"/>
                </a:solidFill>
                <a:effectLst/>
              </a:rPr>
              <a:t>BoxFit.fitHeight</a:t>
            </a:r>
            <a:r>
              <a:rPr lang="en-US" sz="2000" i="0" dirty="0">
                <a:effectLst/>
              </a:rPr>
              <a:t>: Scales the image to fit the height.</a:t>
            </a:r>
          </a:p>
          <a:p>
            <a:pPr lvl="2"/>
            <a:r>
              <a:rPr lang="en-US" sz="2000" b="1" i="0" dirty="0" err="1">
                <a:solidFill>
                  <a:srgbClr val="FFC000"/>
                </a:solidFill>
                <a:effectLst/>
              </a:rPr>
              <a:t>BoxFit.none</a:t>
            </a:r>
            <a:r>
              <a:rPr lang="en-US" sz="2000" i="0" dirty="0">
                <a:effectLst/>
              </a:rPr>
              <a:t>: No scaling, image is placed in its size.</a:t>
            </a:r>
          </a:p>
          <a:p>
            <a:pPr lvl="2"/>
            <a:r>
              <a:rPr lang="en-US" sz="2000" b="1" i="0" dirty="0" err="1">
                <a:solidFill>
                  <a:srgbClr val="FFC000"/>
                </a:solidFill>
                <a:effectLst/>
              </a:rPr>
              <a:t>BoxFit.scaleDown</a:t>
            </a:r>
            <a:r>
              <a:rPr lang="en-US" sz="2000" i="0" dirty="0">
                <a:effectLst/>
              </a:rPr>
              <a:t>: Similar to contain, but only scales down if necessary.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20D95-1FD1-81CA-4F13-7AA4E71B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396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0FCB-1A2D-BFCB-0284-C43A9154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30991"/>
            <a:ext cx="7772400" cy="1456267"/>
          </a:xfrm>
        </p:spPr>
        <p:txBody>
          <a:bodyPr/>
          <a:lstStyle/>
          <a:p>
            <a:r>
              <a:rPr lang="en-US" dirty="0"/>
              <a:t>Image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F460-36D7-27BF-D72E-2F22E5A6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86028"/>
          </a:xfrm>
        </p:spPr>
        <p:txBody>
          <a:bodyPr>
            <a:normAutofit/>
          </a:bodyPr>
          <a:lstStyle/>
          <a:p>
            <a:pPr lvl="1" algn="just"/>
            <a:r>
              <a:rPr lang="en-US" sz="2400" b="1" i="0" dirty="0">
                <a:solidFill>
                  <a:srgbClr val="FFC000"/>
                </a:solidFill>
                <a:effectLst/>
              </a:rPr>
              <a:t>color</a:t>
            </a:r>
            <a:r>
              <a:rPr lang="en-US" sz="2400" i="0" dirty="0">
                <a:effectLst/>
              </a:rPr>
              <a:t>: Changes the color of the image using a color filter.</a:t>
            </a:r>
          </a:p>
          <a:p>
            <a:pPr lvl="1" algn="just"/>
            <a:r>
              <a:rPr lang="en-US" sz="2400" b="1" i="0" dirty="0">
                <a:solidFill>
                  <a:srgbClr val="FFC000"/>
                </a:solidFill>
                <a:effectLst/>
              </a:rPr>
              <a:t>alignment</a:t>
            </a:r>
            <a:r>
              <a:rPr lang="en-US" sz="2400" i="0" dirty="0">
                <a:effectLst/>
              </a:rPr>
              <a:t>: Controls how the image aligns within its container, using values like </a:t>
            </a:r>
            <a:r>
              <a:rPr lang="en-US" sz="2400" i="0" dirty="0" err="1">
                <a:effectLst/>
              </a:rPr>
              <a:t>Alignment.center</a:t>
            </a:r>
            <a:r>
              <a:rPr lang="en-US" sz="2400" i="0" dirty="0">
                <a:effectLst/>
              </a:rPr>
              <a:t>, </a:t>
            </a:r>
            <a:r>
              <a:rPr lang="en-US" sz="2400" i="0" dirty="0" err="1">
                <a:effectLst/>
              </a:rPr>
              <a:t>Alignment.topLeft</a:t>
            </a:r>
            <a:r>
              <a:rPr lang="en-US" sz="2400" i="0" dirty="0">
                <a:effectLst/>
              </a:rPr>
              <a:t>, etc.</a:t>
            </a:r>
          </a:p>
          <a:p>
            <a:pPr lvl="1" algn="just"/>
            <a:r>
              <a:rPr lang="en-US" sz="2400" b="1" i="0" dirty="0">
                <a:solidFill>
                  <a:srgbClr val="FFC000"/>
                </a:solidFill>
                <a:effectLst/>
              </a:rPr>
              <a:t>repeat</a:t>
            </a:r>
            <a:r>
              <a:rPr lang="en-US" sz="2400" i="0" dirty="0">
                <a:effectLst/>
              </a:rPr>
              <a:t>: Repeats the image if the box is larger than the image. </a:t>
            </a:r>
          </a:p>
          <a:p>
            <a:pPr lvl="2" algn="just"/>
            <a:r>
              <a:rPr lang="en-US" sz="2000" b="1" i="0" dirty="0" err="1">
                <a:solidFill>
                  <a:srgbClr val="FFC000"/>
                </a:solidFill>
                <a:effectLst/>
              </a:rPr>
              <a:t>ImageRepeat.repeat</a:t>
            </a:r>
            <a:r>
              <a:rPr lang="en-US" sz="2000" b="1" i="0" dirty="0">
                <a:solidFill>
                  <a:srgbClr val="FFC000"/>
                </a:solidFill>
                <a:effectLst/>
              </a:rPr>
              <a:t>: </a:t>
            </a:r>
            <a:r>
              <a:rPr lang="en-US" sz="2000" i="0" dirty="0">
                <a:effectLst/>
              </a:rPr>
              <a:t>Repeats both horizontally and vertically.</a:t>
            </a:r>
          </a:p>
          <a:p>
            <a:pPr lvl="2" algn="just"/>
            <a:r>
              <a:rPr lang="en-US" sz="2000" b="1" i="0" dirty="0" err="1">
                <a:solidFill>
                  <a:srgbClr val="FFC000"/>
                </a:solidFill>
                <a:effectLst/>
              </a:rPr>
              <a:t>ImageRepeat.repeatX</a:t>
            </a:r>
            <a:r>
              <a:rPr lang="en-US" sz="2000" b="1" i="0" dirty="0">
                <a:solidFill>
                  <a:srgbClr val="FFC000"/>
                </a:solidFill>
                <a:effectLst/>
              </a:rPr>
              <a:t>: </a:t>
            </a:r>
            <a:r>
              <a:rPr lang="en-US" sz="2000" i="0" dirty="0">
                <a:effectLst/>
              </a:rPr>
              <a:t>Repeats only horizontally.</a:t>
            </a:r>
          </a:p>
          <a:p>
            <a:pPr lvl="2" algn="just"/>
            <a:r>
              <a:rPr lang="en-US" sz="2000" b="1" i="0" dirty="0" err="1">
                <a:solidFill>
                  <a:srgbClr val="FFC000"/>
                </a:solidFill>
                <a:effectLst/>
              </a:rPr>
              <a:t>ImageRepeat.repeatY</a:t>
            </a:r>
            <a:r>
              <a:rPr lang="en-US" sz="2000" b="1" i="0" dirty="0">
                <a:solidFill>
                  <a:srgbClr val="FFC000"/>
                </a:solidFill>
                <a:effectLst/>
              </a:rPr>
              <a:t>: </a:t>
            </a:r>
            <a:r>
              <a:rPr lang="en-US" sz="2000" i="0" dirty="0">
                <a:effectLst/>
              </a:rPr>
              <a:t>Repeats only vertically.</a:t>
            </a:r>
          </a:p>
          <a:p>
            <a:pPr lvl="1" algn="just"/>
            <a:r>
              <a:rPr lang="en-US" sz="2400" b="1" i="0" dirty="0" err="1">
                <a:solidFill>
                  <a:srgbClr val="FFC000"/>
                </a:solidFill>
                <a:effectLst/>
              </a:rPr>
              <a:t>errorBuilder</a:t>
            </a:r>
            <a:r>
              <a:rPr lang="en-US" sz="2400" i="0" dirty="0">
                <a:effectLst/>
              </a:rPr>
              <a:t>: Provides a way to handle errors when loading an image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20D95-1FD1-81CA-4F13-7AA4E71B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279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0649-3316-68E2-1AC9-EEA67E9D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38" y="303212"/>
            <a:ext cx="7772400" cy="1456267"/>
          </a:xfrm>
        </p:spPr>
        <p:txBody>
          <a:bodyPr/>
          <a:lstStyle/>
          <a:p>
            <a:r>
              <a:rPr lang="en-US" dirty="0"/>
              <a:t>Icon Widgets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34CE6-AA0B-E6C7-E59B-7AA0531F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4588"/>
          </a:xfrm>
        </p:spPr>
        <p:txBody>
          <a:bodyPr/>
          <a:lstStyle/>
          <a:p>
            <a:pPr algn="just"/>
            <a:r>
              <a:rPr lang="en-US" sz="2400" b="0" i="0" dirty="0">
                <a:effectLst/>
              </a:rPr>
              <a:t>An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icon</a:t>
            </a:r>
            <a:r>
              <a:rPr lang="en-US" sz="2400" b="0" i="0" dirty="0">
                <a:effectLst/>
              </a:rPr>
              <a:t> is a </a:t>
            </a:r>
            <a:r>
              <a:rPr lang="en-US" sz="2400" i="0" dirty="0">
                <a:effectLst/>
              </a:rPr>
              <a:t>graphic image </a:t>
            </a:r>
            <a:r>
              <a:rPr lang="en-US" sz="2400" b="0" i="0" dirty="0">
                <a:effectLst/>
              </a:rPr>
              <a:t>representing an application or any specific entity.</a:t>
            </a:r>
          </a:p>
          <a:p>
            <a:pPr algn="just"/>
            <a:r>
              <a:rPr lang="en-US" sz="2400" b="0" i="0" dirty="0">
                <a:effectLst/>
              </a:rPr>
              <a:t>Icons can be used as a representative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symbol</a:t>
            </a:r>
            <a:r>
              <a:rPr lang="en-US" sz="2400" b="0" i="0" dirty="0">
                <a:effectLst/>
              </a:rPr>
              <a:t> for a quick understanding of the functionality, or path of the navigation, etc.</a:t>
            </a:r>
          </a:p>
          <a:p>
            <a:endParaRPr lang="en-US" sz="2800" dirty="0">
              <a:latin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</a:endParaRPr>
          </a:p>
          <a:p>
            <a:endParaRPr lang="en-MY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39030-6B35-15F4-74BF-C4D2AFBD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5E8972-9C82-A1C3-DC31-8E961C5DF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4124467"/>
            <a:ext cx="5689570" cy="201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42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C0E4-2EFA-5FEE-99BB-96A8A665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32656"/>
            <a:ext cx="7772400" cy="1456267"/>
          </a:xfrm>
        </p:spPr>
        <p:txBody>
          <a:bodyPr/>
          <a:lstStyle/>
          <a:p>
            <a:r>
              <a:rPr lang="en-US" dirty="0"/>
              <a:t>Icon Widgets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ADB17-C802-4E9F-3867-7205D28A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3078" name="Picture 6" descr="Bottom Navigation Bar in Flutter with Animation » Developers Zone">
            <a:extLst>
              <a:ext uri="{FF2B5EF4-FFF2-40B4-BE49-F238E27FC236}">
                <a16:creationId xmlns:a16="http://schemas.microsoft.com/office/drawing/2014/main" id="{6B0175C4-A28B-A903-08DD-4594A1A26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666" y="2492896"/>
            <a:ext cx="4239766" cy="240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Top Flutter Icon Pack packages for Font Awesome, Line Icons, Fluent UI  Icons and others | Flutter Gems">
            <a:extLst>
              <a:ext uri="{FF2B5EF4-FFF2-40B4-BE49-F238E27FC236}">
                <a16:creationId xmlns:a16="http://schemas.microsoft.com/office/drawing/2014/main" id="{7AE418D7-6E80-4266-9E9C-41EFE11BB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33" y="1556792"/>
            <a:ext cx="3209687" cy="515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975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A5D4-D870-EECB-BEF5-44B6A4CA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7772400" cy="1456267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Card Widgets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8FFEA-1E70-2616-35F8-0958B4004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21146"/>
            <a:ext cx="5599203" cy="5259041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b="1" i="0" dirty="0">
                <a:solidFill>
                  <a:srgbClr val="FFC000"/>
                </a:solidFill>
                <a:effectLst/>
              </a:rPr>
              <a:t>Card</a:t>
            </a:r>
            <a:r>
              <a:rPr lang="en-US" sz="2600" b="0" i="0" dirty="0">
                <a:effectLst/>
              </a:rPr>
              <a:t> is a widget that is used to create a rectangular area with four rounded corners and a shadow effect on its edges. </a:t>
            </a:r>
          </a:p>
          <a:p>
            <a:pPr>
              <a:lnSpc>
                <a:spcPct val="90000"/>
              </a:lnSpc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A3A4A-B875-359B-C0B2-13BB46E2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31</a:t>
            </a:fld>
            <a:endParaRPr lang="en-GB"/>
          </a:p>
        </p:txBody>
      </p:sp>
      <p:pic>
        <p:nvPicPr>
          <p:cNvPr id="5" name="Picture 4" descr="How To Create Flutter Card With Example Code">
            <a:extLst>
              <a:ext uri="{FF2B5EF4-FFF2-40B4-BE49-F238E27FC236}">
                <a16:creationId xmlns:a16="http://schemas.microsoft.com/office/drawing/2014/main" id="{291CE5EF-0C94-EC27-F219-5EAECA12E9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7" t="13250" r="2938" b="29001"/>
          <a:stretch/>
        </p:blipFill>
        <p:spPr bwMode="auto">
          <a:xfrm>
            <a:off x="683568" y="2959318"/>
            <a:ext cx="2952328" cy="318388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ard Widget In Flutter">
            <a:extLst>
              <a:ext uri="{FF2B5EF4-FFF2-40B4-BE49-F238E27FC236}">
                <a16:creationId xmlns:a16="http://schemas.microsoft.com/office/drawing/2014/main" id="{911D4DDB-F60E-13A3-12FB-868DFA893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4315" y="1321146"/>
            <a:ext cx="2636848" cy="52473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</p:pic>
      <p:pic>
        <p:nvPicPr>
          <p:cNvPr id="7" name="Picture 6" descr="Simple card view with list view builder using flutter | App Development">
            <a:extLst>
              <a:ext uri="{FF2B5EF4-FFF2-40B4-BE49-F238E27FC236}">
                <a16:creationId xmlns:a16="http://schemas.microsoft.com/office/drawing/2014/main" id="{E75D9925-BD88-AD45-95BA-0573205E1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264" y="2636912"/>
            <a:ext cx="2194139" cy="390069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363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A5D4-D870-EECB-BEF5-44B6A4CA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Card Widgets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A0C24-B34F-5D38-2B2E-395327C7C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954588"/>
          </a:xfrm>
        </p:spPr>
        <p:txBody>
          <a:bodyPr/>
          <a:lstStyle/>
          <a:p>
            <a:r>
              <a:rPr lang="en-US" sz="2400" b="1" i="0" dirty="0">
                <a:solidFill>
                  <a:srgbClr val="FFC000"/>
                </a:solidFill>
                <a:effectLst/>
              </a:rPr>
              <a:t>Card</a:t>
            </a:r>
            <a:r>
              <a:rPr lang="en-US" sz="2400" b="0" i="0" dirty="0">
                <a:effectLst/>
              </a:rPr>
              <a:t> widget properties:</a:t>
            </a:r>
          </a:p>
          <a:p>
            <a:pPr lvl="1">
              <a:spcAft>
                <a:spcPts val="800"/>
              </a:spcAft>
              <a:buFont typeface="+mj-lt"/>
              <a:buAutoNum type="arabicPeriod"/>
            </a:pPr>
            <a:r>
              <a:rPr lang="en-MY" sz="2000" b="1" kern="100" dirty="0">
                <a:solidFill>
                  <a:srgbClr val="FFC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child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specifies the widget or content displayed within the card.</a:t>
            </a:r>
          </a:p>
          <a:p>
            <a:pPr lvl="1">
              <a:spcAft>
                <a:spcPts val="800"/>
              </a:spcAft>
              <a:buFont typeface="+mj-lt"/>
              <a:buAutoNum type="arabicPeriod"/>
            </a:pPr>
            <a:r>
              <a:rPr lang="en-MY" sz="2000" b="1" kern="100" dirty="0" err="1">
                <a:solidFill>
                  <a:srgbClr val="FFC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Sets the background </a:t>
            </a:r>
            <a:r>
              <a:rPr lang="en-MY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of the card.</a:t>
            </a:r>
          </a:p>
          <a:p>
            <a:pPr lvl="1">
              <a:spcAft>
                <a:spcPts val="800"/>
              </a:spcAft>
              <a:buFont typeface="+mj-lt"/>
              <a:buAutoNum type="arabicPeriod"/>
            </a:pPr>
            <a:r>
              <a:rPr lang="en-MY" sz="2000" b="1" kern="100" dirty="0">
                <a:solidFill>
                  <a:srgbClr val="FFC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elevation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Defines the shadow depth of the card.</a:t>
            </a:r>
          </a:p>
          <a:p>
            <a:pPr lvl="1">
              <a:spcAft>
                <a:spcPts val="800"/>
              </a:spcAft>
              <a:buFont typeface="+mj-lt"/>
              <a:buAutoNum type="arabicPeriod"/>
            </a:pPr>
            <a:r>
              <a:rPr lang="en-MY" sz="2000" b="1" kern="100" dirty="0" err="1">
                <a:solidFill>
                  <a:srgbClr val="FFC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shadowColor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Sets the </a:t>
            </a:r>
            <a:r>
              <a:rPr lang="en-MY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of the card's shadow.</a:t>
            </a:r>
          </a:p>
          <a:p>
            <a:pPr lvl="1">
              <a:spcAft>
                <a:spcPts val="800"/>
              </a:spcAft>
              <a:buFont typeface="+mj-lt"/>
              <a:buAutoNum type="arabicPeriod"/>
            </a:pPr>
            <a:r>
              <a:rPr lang="en-MY" sz="2000" b="1" kern="100" dirty="0">
                <a:solidFill>
                  <a:srgbClr val="FFC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shape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Defines the shape of the card e.g., </a:t>
            </a:r>
            <a:r>
              <a:rPr lang="en-MY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RoundedRectangleBorder</a:t>
            </a:r>
            <a:r>
              <a:rPr lang="en-MY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 and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MY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ShapeBorder</a:t>
            </a:r>
            <a:endParaRPr lang="en-MY" sz="20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  <a:buFont typeface="+mj-lt"/>
              <a:buAutoNum type="arabicPeriod"/>
            </a:pPr>
            <a:r>
              <a:rPr lang="en-MY" sz="2000" b="1" kern="100" dirty="0" err="1">
                <a:solidFill>
                  <a:srgbClr val="FFC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borderOnForeground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border shape is drawn in front of the card's children. The default is behind the children.</a:t>
            </a:r>
          </a:p>
          <a:p>
            <a:pPr lvl="1">
              <a:spcAft>
                <a:spcPts val="800"/>
              </a:spcAft>
              <a:buFont typeface="+mj-lt"/>
              <a:buAutoNum type="arabicPeriod"/>
            </a:pPr>
            <a:r>
              <a:rPr lang="en-MY" sz="2000" b="1" kern="100" dirty="0">
                <a:solidFill>
                  <a:srgbClr val="FFC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margin</a:t>
            </a:r>
            <a:r>
              <a:rPr lang="en-MY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Sets the margin around the card widget.</a:t>
            </a:r>
          </a:p>
          <a:p>
            <a:pPr marL="0" indent="0">
              <a:buNone/>
            </a:pP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A3A4A-B875-359B-C0B2-13BB46E2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67563" y="6554788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915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2539-CE48-5C9B-566E-5FED2F41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84900"/>
            <a:ext cx="7772400" cy="1456267"/>
          </a:xfrm>
        </p:spPr>
        <p:txBody>
          <a:bodyPr/>
          <a:lstStyle/>
          <a:p>
            <a:r>
              <a:rPr lang="en-US" dirty="0"/>
              <a:t>Card Widgets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EBBCE-7B6F-EED3-4A8D-A4440456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2E7E59-0D34-4A41-0477-F19A479A0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63" y="1420813"/>
            <a:ext cx="8582274" cy="48945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7C600A-6B6D-7A72-CB28-920F0C5AF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3" y="349838"/>
            <a:ext cx="3106688" cy="128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25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84DA-3E82-2210-855A-E7BA065A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6A94-55E0-0AC5-F1C7-CB34A38F9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338936" cy="453072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Button widgets </a:t>
            </a:r>
            <a:r>
              <a:rPr lang="en-US" sz="2400" dirty="0"/>
              <a:t>in Flutter are used to create interactive elements that users can </a:t>
            </a:r>
            <a:r>
              <a:rPr lang="en-US" sz="2400" b="1" dirty="0">
                <a:solidFill>
                  <a:srgbClr val="FFC000"/>
                </a:solidFill>
              </a:rPr>
              <a:t>tap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FFC000"/>
                </a:solidFill>
              </a:rPr>
              <a:t>click</a:t>
            </a:r>
            <a:r>
              <a:rPr lang="en-US" sz="2400" dirty="0"/>
              <a:t> to trigger actions in the application. </a:t>
            </a: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15221-3F67-F691-E963-DACB26AD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34</a:t>
            </a:fld>
            <a:endParaRPr lang="en-GB"/>
          </a:p>
        </p:txBody>
      </p:sp>
      <p:pic>
        <p:nvPicPr>
          <p:cNvPr id="9220" name="Picture 4" descr="Creating A Buttons With Different Styles | Flutter Agency">
            <a:extLst>
              <a:ext uri="{FF2B5EF4-FFF2-40B4-BE49-F238E27FC236}">
                <a16:creationId xmlns:a16="http://schemas.microsoft.com/office/drawing/2014/main" id="{F226D0D9-2A9D-D900-0EB3-FFA244AA2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8547"/>
            <a:ext cx="2916876" cy="631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525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B129-4745-F61F-D391-4744341D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3199-2332-B83A-EBB8-F72701BD2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 numCol="1">
            <a:normAutofit/>
          </a:bodyPr>
          <a:lstStyle/>
          <a:p>
            <a:pPr marL="457200" lvl="1" indent="-369888" algn="just">
              <a:buNone/>
            </a:pPr>
            <a:r>
              <a:rPr lang="en-US" sz="2400" b="0" i="0" dirty="0">
                <a:effectLst/>
              </a:rPr>
              <a:t>The common</a:t>
            </a:r>
            <a:r>
              <a:rPr lang="en-US" sz="2400" dirty="0"/>
              <a:t> </a:t>
            </a:r>
            <a:r>
              <a:rPr lang="en-US" sz="2400" b="0" i="0" dirty="0">
                <a:effectLst/>
              </a:rPr>
              <a:t>Button widgets are: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FFC000"/>
                </a:solidFill>
                <a:effectLst/>
              </a:rPr>
              <a:t>ElevatedButton</a:t>
            </a:r>
            <a:endParaRPr lang="en-US" sz="2400" b="1" i="0" dirty="0">
              <a:solidFill>
                <a:srgbClr val="FFC000"/>
              </a:solidFill>
              <a:effectLst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C000"/>
                </a:solidFill>
              </a:rPr>
              <a:t>TextButton</a:t>
            </a:r>
            <a:endParaRPr lang="en-US" sz="2400" b="1" dirty="0">
              <a:solidFill>
                <a:srgbClr val="FFC000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FFC000"/>
                </a:solidFill>
                <a:effectLst/>
              </a:rPr>
              <a:t>OutlinedButton</a:t>
            </a:r>
            <a:endParaRPr lang="en-US" sz="2400" b="1" i="0" dirty="0">
              <a:solidFill>
                <a:srgbClr val="FFC000"/>
              </a:solidFill>
              <a:effectLst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C000"/>
                </a:solidFill>
              </a:rPr>
              <a:t>IconButton</a:t>
            </a:r>
            <a:endParaRPr lang="en-US" sz="2400" b="1" dirty="0">
              <a:solidFill>
                <a:srgbClr val="FFC000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C000"/>
                </a:solidFill>
              </a:rPr>
              <a:t>Floating Action Button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C000"/>
                </a:solidFill>
              </a:rPr>
              <a:t>PopupMenu</a:t>
            </a:r>
            <a:r>
              <a:rPr lang="en-US" sz="2400" b="1" dirty="0">
                <a:solidFill>
                  <a:srgbClr val="FFC000"/>
                </a:solidFill>
              </a:rPr>
              <a:t> Button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C000"/>
                </a:solidFill>
              </a:rPr>
              <a:t>Drop Down Button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FFC000"/>
                </a:solidFill>
                <a:effectLst/>
              </a:rPr>
              <a:t>ToggleButton</a:t>
            </a:r>
            <a:endParaRPr lang="en-US" sz="2400" b="1" i="0" dirty="0">
              <a:solidFill>
                <a:srgbClr val="FFC000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54069-0910-F87F-64D1-76CDD2CE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5943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B181-C6E2-0983-C95B-08A72EE2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D808-8AC5-4A6A-E30B-CDDA8525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A6E1E-37BA-E63F-EE1F-389414881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 numCol="1"/>
          <a:lstStyle/>
          <a:p>
            <a:pPr marL="457200" lvl="1" indent="-369888" algn="just">
              <a:buNone/>
            </a:pPr>
            <a:r>
              <a:rPr lang="en-US" sz="2400" b="0" i="0" dirty="0" err="1">
                <a:solidFill>
                  <a:srgbClr val="000000"/>
                </a:solidFill>
                <a:effectLst/>
              </a:rPr>
              <a:t>ElevatedButton</a:t>
            </a: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457200" lvl="1" indent="-369888" algn="just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457200" lvl="1" indent="-369888" algn="just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457200" lvl="1" indent="-369888" algn="just">
              <a:buNone/>
            </a:pPr>
            <a:r>
              <a:rPr lang="en-US" sz="2400" dirty="0" err="1">
                <a:solidFill>
                  <a:srgbClr val="000000"/>
                </a:solidFill>
              </a:rPr>
              <a:t>TextButton</a:t>
            </a: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28ED2-C239-3528-04B0-B69E8FD2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96442-D653-B023-2E23-8DA14FF74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132856"/>
            <a:ext cx="4320480" cy="19437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5F6120-B09E-30A6-57E4-7B59AFEAC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203" y="2077076"/>
            <a:ext cx="3387237" cy="13519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F9C8AD-C856-DB58-B96D-D52237734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883" y="4876746"/>
            <a:ext cx="2410703" cy="1108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971EF9-7DCF-D800-0800-81E213D6B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60" y="4765562"/>
            <a:ext cx="4320480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524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FF30D-5FAC-97B0-83D2-5FD44D275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FBEA-A1DD-7253-6F89-25D49467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794F-588C-0D97-3451-917F4A3FB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 numCol="1"/>
          <a:lstStyle/>
          <a:p>
            <a:pPr marL="457200" lvl="1" indent="-369888" algn="just">
              <a:buNone/>
            </a:pPr>
            <a:r>
              <a:rPr lang="en-US" sz="2400" dirty="0" err="1">
                <a:solidFill>
                  <a:srgbClr val="000000"/>
                </a:solidFill>
              </a:rPr>
              <a:t>Outlin</a:t>
            </a:r>
            <a:r>
              <a:rPr lang="en-US" sz="2400" b="0" i="0" dirty="0" err="1">
                <a:solidFill>
                  <a:srgbClr val="000000"/>
                </a:solidFill>
                <a:effectLst/>
              </a:rPr>
              <a:t>edButton</a:t>
            </a: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457200" lvl="1" indent="-369888" algn="just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457200" lvl="1" indent="-369888" algn="just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457200" lvl="1" indent="-369888" algn="just">
              <a:buNone/>
            </a:pPr>
            <a:r>
              <a:rPr lang="en-US" sz="2400" dirty="0" err="1">
                <a:solidFill>
                  <a:srgbClr val="000000"/>
                </a:solidFill>
              </a:rPr>
              <a:t>IconButton</a:t>
            </a: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2E464-FB93-65F1-BCA8-355002F7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26DE5-8ED1-898E-E05B-5560EA7CD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" y="2195753"/>
            <a:ext cx="4182059" cy="1924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C335A3-6789-488D-F672-7EE5713DA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707" y="2281741"/>
            <a:ext cx="2921536" cy="14607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EBBA73-7BBF-3E61-A6E4-3E51E2865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83" y="4801613"/>
            <a:ext cx="6077798" cy="19147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096434-4E7B-0763-DDF4-C57422781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471" y="5468456"/>
            <a:ext cx="628738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7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2494-BF09-DCB7-1324-4322EE90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0473-65EE-D7FC-96C9-372B21F0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FA193-035F-377E-0A5D-70F7C4885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61" y="1964701"/>
            <a:ext cx="8229600" cy="5141168"/>
          </a:xfrm>
        </p:spPr>
        <p:txBody>
          <a:bodyPr numCol="1"/>
          <a:lstStyle/>
          <a:p>
            <a:pPr marL="457200" lvl="1" indent="-369888" algn="r">
              <a:buNone/>
            </a:pPr>
            <a:r>
              <a:rPr lang="en-US" sz="2400" dirty="0">
                <a:solidFill>
                  <a:srgbClr val="FFC000"/>
                </a:solidFill>
              </a:rPr>
              <a:t>											Floating </a:t>
            </a:r>
          </a:p>
          <a:p>
            <a:pPr marL="457200" lvl="1" indent="-369888" algn="r">
              <a:buNone/>
            </a:pPr>
            <a:r>
              <a:rPr lang="en-US" sz="2400" dirty="0">
                <a:solidFill>
                  <a:srgbClr val="FFC000"/>
                </a:solidFill>
              </a:rPr>
              <a:t>Action </a:t>
            </a:r>
            <a:r>
              <a:rPr lang="en-US" sz="2400" b="0" i="0" dirty="0">
                <a:solidFill>
                  <a:srgbClr val="FFC000"/>
                </a:solidFill>
                <a:effectLst/>
              </a:rPr>
              <a:t>Button</a:t>
            </a:r>
          </a:p>
          <a:p>
            <a:pPr marL="457200" lvl="1" indent="-369888" algn="just">
              <a:buNone/>
            </a:pPr>
            <a:endParaRPr lang="en-US" sz="2400" dirty="0">
              <a:solidFill>
                <a:srgbClr val="FFC000"/>
              </a:solidFill>
            </a:endParaRPr>
          </a:p>
          <a:p>
            <a:pPr marL="457200" lvl="1" indent="-369888" algn="just">
              <a:buNone/>
            </a:pPr>
            <a:endParaRPr lang="en-US" sz="2400" b="0" i="0" dirty="0">
              <a:solidFill>
                <a:srgbClr val="FFC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FFC000"/>
              </a:solidFill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FFC000"/>
              </a:solidFill>
            </a:endParaRPr>
          </a:p>
          <a:p>
            <a:pPr marL="457200" lvl="1" indent="-369888" algn="just">
              <a:buNone/>
            </a:pPr>
            <a:endParaRPr lang="en-US" sz="2400" b="0" i="0" dirty="0">
              <a:solidFill>
                <a:srgbClr val="FFC000"/>
              </a:solidFill>
              <a:effectLst/>
            </a:endParaRPr>
          </a:p>
          <a:p>
            <a:pPr marL="457200" lvl="1" indent="-369888" algn="just">
              <a:buNone/>
            </a:pPr>
            <a:r>
              <a:rPr lang="en-US" sz="2400" dirty="0" err="1">
                <a:solidFill>
                  <a:srgbClr val="FFC000"/>
                </a:solidFill>
              </a:rPr>
              <a:t>PopupMenu</a:t>
            </a:r>
            <a:r>
              <a:rPr lang="en-US" sz="2400" dirty="0">
                <a:solidFill>
                  <a:srgbClr val="FFC000"/>
                </a:solidFill>
              </a:rPr>
              <a:t> Button 		Dropdown Button</a:t>
            </a:r>
            <a:endParaRPr lang="en-US" sz="2400" b="0" i="0" dirty="0">
              <a:solidFill>
                <a:srgbClr val="FFC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FFC000"/>
              </a:solidFill>
            </a:endParaRPr>
          </a:p>
          <a:p>
            <a:pPr marL="457200" lvl="1" indent="-369888" algn="just">
              <a:buNone/>
            </a:pPr>
            <a:endParaRPr lang="en-US" sz="2400" b="0" i="0" dirty="0">
              <a:solidFill>
                <a:srgbClr val="FFC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FFC000"/>
              </a:solidFill>
            </a:endParaRPr>
          </a:p>
          <a:p>
            <a:pPr marL="457200" lvl="1" indent="-369888" algn="just">
              <a:buNone/>
            </a:pPr>
            <a:endParaRPr lang="en-US" sz="2400" b="0" i="0" dirty="0">
              <a:solidFill>
                <a:srgbClr val="FFC000"/>
              </a:solidFill>
              <a:effectLst/>
            </a:endParaRPr>
          </a:p>
          <a:p>
            <a:pPr marL="457200" lvl="1" indent="-369888" algn="just">
              <a:buNone/>
            </a:pPr>
            <a:endParaRPr lang="en-US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MY" sz="2400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27CA0-05C8-1DDC-C17D-07ED43BE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53D7BF-CF37-1C3C-0371-1C1E05E8B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787" y="2320363"/>
            <a:ext cx="762106" cy="581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45AB99-09C7-41AF-D06A-CA0ADD0B4A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701" t="55430" r="30768" b="11989"/>
          <a:stretch/>
        </p:blipFill>
        <p:spPr>
          <a:xfrm>
            <a:off x="696592" y="1940551"/>
            <a:ext cx="5616624" cy="2407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E601B6-EE20-0F47-F549-9A0DF1820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50" y="5157192"/>
            <a:ext cx="418346" cy="472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DB19A0-030F-8049-AF6B-B75386FE9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5157192"/>
            <a:ext cx="1133633" cy="16004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73BB00-D6A8-B848-F8A9-76B2C50EC18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5951"/>
          <a:stretch/>
        </p:blipFill>
        <p:spPr>
          <a:xfrm>
            <a:off x="4355976" y="5130342"/>
            <a:ext cx="2113324" cy="9486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467EB4A-BD91-8C49-801D-EED053CB6D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585" y="5025226"/>
            <a:ext cx="1428949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029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EDCD-A927-AB5D-AFA3-3B25F6E0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Invisible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83E4D-1F50-CDF6-E264-07DC8FD97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42068"/>
            <a:ext cx="8147248" cy="3519179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FFC000"/>
                </a:solidFill>
              </a:rPr>
              <a:t>Layout Widgets </a:t>
            </a:r>
          </a:p>
          <a:p>
            <a:pPr lvl="1" algn="just"/>
            <a:r>
              <a:rPr lang="en-US" sz="2400" b="0" i="0" dirty="0">
                <a:effectLst/>
              </a:rPr>
              <a:t>used to structure and arrange other widgets within the user interface. </a:t>
            </a:r>
          </a:p>
          <a:p>
            <a:pPr lvl="1" algn="just"/>
            <a:r>
              <a:rPr lang="en-US" sz="2400" b="0" i="0" dirty="0">
                <a:effectLst/>
              </a:rPr>
              <a:t>They help determine how widgets are positioned, sized, and aligned on the screen.</a:t>
            </a:r>
          </a:p>
          <a:p>
            <a:pPr lvl="1" algn="just"/>
            <a:r>
              <a:rPr lang="en-US" sz="2400" b="0" i="0" dirty="0">
                <a:effectLst/>
              </a:rPr>
              <a:t>The widgets:</a:t>
            </a:r>
          </a:p>
          <a:p>
            <a:pPr lvl="2" algn="just"/>
            <a:r>
              <a:rPr lang="en-US" sz="2400" b="1" i="0" dirty="0">
                <a:solidFill>
                  <a:srgbClr val="FFC000"/>
                </a:solidFill>
                <a:effectLst/>
              </a:rPr>
              <a:t>Container, Row, Column, Stack, </a:t>
            </a:r>
            <a:r>
              <a:rPr lang="en-US" sz="2400" b="1" i="0" dirty="0" err="1">
                <a:solidFill>
                  <a:srgbClr val="FFC000"/>
                </a:solidFill>
                <a:effectLst/>
              </a:rPr>
              <a:t>ListView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, </a:t>
            </a:r>
            <a:r>
              <a:rPr lang="en-US" sz="2400" b="1" i="0" dirty="0" err="1">
                <a:solidFill>
                  <a:srgbClr val="FFC000"/>
                </a:solidFill>
                <a:effectLst/>
              </a:rPr>
              <a:t>GridView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, Wrap, and Flexible and Expandible</a:t>
            </a:r>
            <a:endParaRPr lang="en-MY" sz="2400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1ADB8-F873-B594-013E-8197D1A0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9789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E866-B6F3-068F-8DBA-1CE5BC4D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 Visible Widget to Layout Widget?</a:t>
            </a:r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0791F-EBC2-F954-649B-79950E170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US" sz="2400" b="0" i="0" dirty="0">
                <a:effectLst/>
                <a:latin typeface="Roboto" panose="02000000000000000000" pitchFamily="2" charset="0"/>
              </a:rPr>
              <a:t>All layout widgets have either of the following:</a:t>
            </a:r>
          </a:p>
          <a:p>
            <a:pPr lvl="1"/>
            <a:r>
              <a:rPr lang="en-US" sz="2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2400" dirty="0"/>
              <a:t>to take a single child e.g., Center or Container</a:t>
            </a:r>
          </a:p>
          <a:p>
            <a:pPr lvl="1"/>
            <a:r>
              <a:rPr lang="en-US" sz="2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children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sz="2400" dirty="0"/>
              <a:t>to take a list of widgets e.g.,  Row, Column, </a:t>
            </a:r>
            <a:r>
              <a:rPr lang="en-US" sz="2400" dirty="0" err="1"/>
              <a:t>ListView</a:t>
            </a:r>
            <a:r>
              <a:rPr lang="en-US" sz="2400" dirty="0"/>
              <a:t>, or Stack</a:t>
            </a:r>
          </a:p>
          <a:p>
            <a:pPr lvl="1"/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92725-B2DF-EA14-BA97-AB4CDAD3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54CEB-173E-C423-C164-D67048C29B45}"/>
              </a:ext>
            </a:extLst>
          </p:cNvPr>
          <p:cNvSpPr txBox="1"/>
          <p:nvPr/>
        </p:nvSpPr>
        <p:spPr>
          <a:xfrm>
            <a:off x="1619672" y="4191968"/>
            <a:ext cx="6120679" cy="1015663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MY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MY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MY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MY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child: Text('Hello World'),</a:t>
            </a:r>
          </a:p>
          <a:p>
            <a:r>
              <a:rPr lang="en-MY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3662713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3312-677C-6CF8-2770-6FD85AFB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ACD92-B405-7ADE-0131-F49EC5666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7301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Container</a:t>
            </a:r>
            <a:r>
              <a:rPr lang="en-US" sz="2400" dirty="0"/>
              <a:t> is a widget class that allows to customize its child widget. </a:t>
            </a:r>
          </a:p>
          <a:p>
            <a:r>
              <a:rPr lang="en-US" sz="2400" dirty="0"/>
              <a:t>It allows you to </a:t>
            </a:r>
            <a:r>
              <a:rPr lang="en-US" sz="2400" b="1" dirty="0">
                <a:solidFill>
                  <a:srgbClr val="FFC000"/>
                </a:solidFill>
              </a:rPr>
              <a:t>create a box </a:t>
            </a:r>
            <a:r>
              <a:rPr lang="en-US" sz="2400" dirty="0"/>
              <a:t>with various properties such as padding, margin, color, border, and alignment.</a:t>
            </a:r>
          </a:p>
          <a:p>
            <a:r>
              <a:rPr lang="en-US" sz="2400" dirty="0"/>
              <a:t>Example:</a:t>
            </a:r>
          </a:p>
          <a:p>
            <a:pPr lvl="1"/>
            <a:r>
              <a:rPr lang="en-US" sz="2400" dirty="0"/>
              <a:t>Text widget is placed in a Container to add margins</a:t>
            </a:r>
          </a:p>
          <a:p>
            <a:pPr lvl="1"/>
            <a:r>
              <a:rPr lang="en-US" sz="2400" dirty="0"/>
              <a:t>Row widgets is placed in a Container to add padding around the row</a:t>
            </a: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D5506-C944-DF43-8F87-69E9EAB7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8415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54B3E-A246-778E-6970-C8445F5F5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C847-6839-FFAD-B9B1-BF6305A7F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43" y="295294"/>
            <a:ext cx="7772400" cy="1456267"/>
          </a:xfrm>
        </p:spPr>
        <p:txBody>
          <a:bodyPr/>
          <a:lstStyle/>
          <a:p>
            <a:r>
              <a:rPr lang="en-US" dirty="0"/>
              <a:t>Container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FB8A5-5FD9-0729-3789-46BBF5862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4588"/>
          </a:xfrm>
        </p:spPr>
        <p:txBody>
          <a:bodyPr>
            <a:normAutofit/>
          </a:bodyPr>
          <a:lstStyle/>
          <a:p>
            <a:r>
              <a:rPr lang="en-US" sz="2400" b="1" dirty="0"/>
              <a:t>Key properties: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</a:rPr>
              <a:t>child</a:t>
            </a:r>
            <a:r>
              <a:rPr lang="en-US" sz="2400" dirty="0"/>
              <a:t>: to include widget, e.g., Text or Image.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</a:rPr>
              <a:t>alignment</a:t>
            </a:r>
            <a:r>
              <a:rPr lang="en-US" sz="2400" dirty="0"/>
              <a:t>: specify values e.g., top-left, center, bottom-right,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</a:rPr>
              <a:t>padding</a:t>
            </a:r>
            <a:r>
              <a:rPr lang="en-US" sz="2400" dirty="0"/>
              <a:t>: the space around the child widget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</a:rPr>
              <a:t>margin</a:t>
            </a:r>
            <a:r>
              <a:rPr lang="en-US" sz="2400" dirty="0"/>
              <a:t>: empty space around the Container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</a:rPr>
              <a:t>color</a:t>
            </a:r>
            <a:r>
              <a:rPr lang="en-US" sz="2400" dirty="0"/>
              <a:t>: background color of the Container.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</a:rPr>
              <a:t>decoration</a:t>
            </a:r>
            <a:r>
              <a:rPr lang="en-US" sz="2400" dirty="0"/>
              <a:t>: advanced decorations to the Container, e.g., gradients, borders, shadows, and images.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</a:rPr>
              <a:t>width and height</a:t>
            </a:r>
            <a:r>
              <a:rPr lang="en-US" sz="2400" dirty="0">
                <a:solidFill>
                  <a:srgbClr val="FFC000"/>
                </a:solidFill>
              </a:rPr>
              <a:t>: </a:t>
            </a:r>
            <a:r>
              <a:rPr lang="en-US" sz="2400" dirty="0"/>
              <a:t>the width and height of the Container.</a:t>
            </a:r>
            <a:endParaRPr lang="en-US" sz="2400" b="1" dirty="0">
              <a:solidFill>
                <a:srgbClr val="0070C0"/>
              </a:solidFill>
            </a:endParaRPr>
          </a:p>
          <a:p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E1AD2-E5C3-195D-8FED-53E938FD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736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DD34-49FE-0D19-C95D-B720FC8F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65A7-4A33-BD95-8CD4-9E94142F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64306"/>
            <a:ext cx="7772400" cy="1456267"/>
          </a:xfrm>
        </p:spPr>
        <p:txBody>
          <a:bodyPr/>
          <a:lstStyle/>
          <a:p>
            <a:r>
              <a:rPr lang="en-US" dirty="0"/>
              <a:t>Container Widget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959AD-FAEF-F190-FA8A-CA828E33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43</a:t>
            </a:fld>
            <a:endParaRPr lang="en-GB"/>
          </a:p>
        </p:txBody>
      </p:sp>
      <p:sp>
        <p:nvSpPr>
          <p:cNvPr id="7" name="AutoShape 2" descr="Flutter Container Tutorial with Examples | o7planning.org">
            <a:extLst>
              <a:ext uri="{FF2B5EF4-FFF2-40B4-BE49-F238E27FC236}">
                <a16:creationId xmlns:a16="http://schemas.microsoft.com/office/drawing/2014/main" id="{7598585F-3B0F-28D6-2848-E99157ECAA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sp>
        <p:nvSpPr>
          <p:cNvPr id="11" name="AutoShape 6" descr="Flutter Container Tutorial with Examples | o7planning.org">
            <a:extLst>
              <a:ext uri="{FF2B5EF4-FFF2-40B4-BE49-F238E27FC236}">
                <a16:creationId xmlns:a16="http://schemas.microsoft.com/office/drawing/2014/main" id="{DFF8D9A7-7749-08F4-E528-FA389528E5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29787C6A-946D-01C7-1AB8-A79A4EC818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062C01-3E14-14CE-6100-7CA7BC733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0" y="1420813"/>
            <a:ext cx="7944959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569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E866-B6F3-068F-8DBA-1CE5BC4D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 Multiple Widgets Vertically or Horizontally?</a:t>
            </a:r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0791F-EBC2-F954-649B-79950E170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458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</a:t>
            </a:r>
            <a:r>
              <a:rPr lang="en-US" sz="2400" b="0" i="0" dirty="0">
                <a:effectLst/>
              </a:rPr>
              <a:t>he most common layout patterns is to arrange widgets vertically or horizontally</a:t>
            </a:r>
          </a:p>
          <a:p>
            <a:pPr algn="just"/>
            <a:endParaRPr lang="en-US" sz="2400" b="0" i="0" dirty="0">
              <a:effectLst/>
            </a:endParaRPr>
          </a:p>
          <a:p>
            <a:pPr algn="just"/>
            <a:r>
              <a:rPr lang="en-US" sz="2400" dirty="0"/>
              <a:t>We can use a </a:t>
            </a:r>
            <a:r>
              <a:rPr lang="en-US" sz="2400" b="1" dirty="0">
                <a:solidFill>
                  <a:srgbClr val="FFC000"/>
                </a:solidFill>
              </a:rPr>
              <a:t>Row</a:t>
            </a:r>
            <a:r>
              <a:rPr lang="en-US" sz="2400" dirty="0"/>
              <a:t> widget to arrange widgets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FFC000"/>
                </a:solidFill>
              </a:rPr>
              <a:t>horizontally</a:t>
            </a:r>
            <a:r>
              <a:rPr lang="en-US" sz="2400" dirty="0"/>
              <a:t>, and a </a:t>
            </a:r>
            <a:r>
              <a:rPr lang="en-US" sz="2400" b="1" dirty="0">
                <a:solidFill>
                  <a:srgbClr val="FFC000"/>
                </a:solidFill>
              </a:rPr>
              <a:t>Column</a:t>
            </a:r>
            <a:r>
              <a:rPr lang="en-US" sz="2400" dirty="0"/>
              <a:t> widget to arrange widgets </a:t>
            </a:r>
            <a:r>
              <a:rPr lang="en-US" sz="2400" b="1" dirty="0">
                <a:solidFill>
                  <a:srgbClr val="FFC000"/>
                </a:solidFill>
              </a:rPr>
              <a:t>vertically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  <a:p>
            <a:pPr algn="just"/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92725-B2DF-EA14-BA97-AB4CDAD3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647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44CEA-51D3-DDE5-5FD7-311A8515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03EECB-57B7-7F29-4E7E-E800AEA33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068" y="81172"/>
            <a:ext cx="4887007" cy="1705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B0D0D-028A-302B-2185-D123C1582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7" y="2558492"/>
            <a:ext cx="4353533" cy="4286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B0A88B-58CE-291C-9146-081969411343}"/>
              </a:ext>
            </a:extLst>
          </p:cNvPr>
          <p:cNvSpPr txBox="1"/>
          <p:nvPr/>
        </p:nvSpPr>
        <p:spPr>
          <a:xfrm>
            <a:off x="623286" y="2100939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Column()</a:t>
            </a:r>
            <a:endParaRPr lang="en-MY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5C4CD-C787-54D8-28B2-9A1911BE1FB4}"/>
              </a:ext>
            </a:extLst>
          </p:cNvPr>
          <p:cNvSpPr txBox="1"/>
          <p:nvPr/>
        </p:nvSpPr>
        <p:spPr>
          <a:xfrm>
            <a:off x="3081199" y="1202734"/>
            <a:ext cx="74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Row()</a:t>
            </a:r>
            <a:endParaRPr lang="en-MY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1A3595-E910-E86D-800C-6CFFEE7417F9}"/>
              </a:ext>
            </a:extLst>
          </p:cNvPr>
          <p:cNvSpPr txBox="1"/>
          <p:nvPr/>
        </p:nvSpPr>
        <p:spPr>
          <a:xfrm>
            <a:off x="2443503" y="1777764"/>
            <a:ext cx="6980574" cy="230832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Row(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children:&lt;Widget&gt; [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Icon(</a:t>
            </a:r>
            <a:r>
              <a:rPr lang="en-MY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Icons.account_circle,size</a:t>
            </a:r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80,),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Icon(</a:t>
            </a:r>
            <a:r>
              <a:rPr lang="en-MY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Icons.account_circle,size</a:t>
            </a:r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80,),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Icon(</a:t>
            </a:r>
            <a:r>
              <a:rPr lang="en-MY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Icons.account_circle,size</a:t>
            </a:r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80,),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Icon(</a:t>
            </a:r>
            <a:r>
              <a:rPr lang="en-MY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Icons.account_circle,size</a:t>
            </a:r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80,),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],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6AA6C9-81E9-491D-6220-9EA02546E271}"/>
              </a:ext>
            </a:extLst>
          </p:cNvPr>
          <p:cNvSpPr txBox="1"/>
          <p:nvPr/>
        </p:nvSpPr>
        <p:spPr>
          <a:xfrm>
            <a:off x="1521012" y="4246464"/>
            <a:ext cx="6863593" cy="230832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Column(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children:&lt;Widget&gt; [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Icon(</a:t>
            </a:r>
            <a:r>
              <a:rPr lang="en-MY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Icons.account_circle,size</a:t>
            </a:r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80,),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Icon(</a:t>
            </a:r>
            <a:r>
              <a:rPr lang="en-MY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Icons.account_circle,size</a:t>
            </a:r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80,),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Icon(</a:t>
            </a:r>
            <a:r>
              <a:rPr lang="en-MY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Icons.account_circle,size</a:t>
            </a:r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80,),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Icon(</a:t>
            </a:r>
            <a:r>
              <a:rPr lang="en-MY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Icons.account_circle,size</a:t>
            </a:r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80,),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],</a:t>
            </a:r>
          </a:p>
          <a:p>
            <a:r>
              <a:rPr lang="en-MY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1746271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6F50-D099-E452-C6C7-B73AC6479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92E4-9598-9D41-2557-4765FF20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96" y="234684"/>
            <a:ext cx="7772400" cy="1456267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How to Add Multiple Widgets Vertically or Horizontally?</a:t>
            </a:r>
            <a:endParaRPr lang="en-MY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C4495106-9D7C-837D-4CFA-2705E1B17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0396" y="2078868"/>
            <a:ext cx="8229600" cy="4954588"/>
          </a:xfrm>
        </p:spPr>
        <p:txBody>
          <a:bodyPr wrap="square" anchor="t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400" dirty="0"/>
              <a:t>Row and Column each take a list of child widgets. 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FFC000"/>
                </a:solidFill>
              </a:rPr>
              <a:t>child widget </a:t>
            </a:r>
            <a:r>
              <a:rPr lang="en-US" sz="2400" dirty="0"/>
              <a:t>can itself be a Row, Column, or other complex widget.</a:t>
            </a:r>
          </a:p>
          <a:p>
            <a:pPr>
              <a:lnSpc>
                <a:spcPct val="90000"/>
              </a:lnSpc>
            </a:pPr>
            <a:endParaRPr lang="en-MY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FC251-3358-63D3-5520-21FB0B54B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46</a:t>
            </a:fld>
            <a:endParaRPr lang="en-GB"/>
          </a:p>
        </p:txBody>
      </p:sp>
      <p:pic>
        <p:nvPicPr>
          <p:cNvPr id="4098" name="Picture 2" descr="Flutter Row and Column Widgets (Deep Dive) | by Maaz Aftab | Medium">
            <a:extLst>
              <a:ext uri="{FF2B5EF4-FFF2-40B4-BE49-F238E27FC236}">
                <a16:creationId xmlns:a16="http://schemas.microsoft.com/office/drawing/2014/main" id="{DCB3B56F-BDF3-A3C7-E467-BA9DFC650F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"/>
          <a:stretch/>
        </p:blipFill>
        <p:spPr bwMode="auto">
          <a:xfrm>
            <a:off x="1817450" y="3429000"/>
            <a:ext cx="6174571" cy="3168352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219783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747-F7AE-D954-CD5C-626D9419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A431-C1BC-3735-58DE-795B20A18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/>
          <a:lstStyle/>
          <a:p>
            <a:pPr algn="just"/>
            <a:r>
              <a:rPr lang="en-US" sz="2800" b="0" i="0" dirty="0">
                <a:effectLst/>
              </a:rPr>
              <a:t>The </a:t>
            </a:r>
            <a:r>
              <a:rPr lang="en-US" sz="2800" b="1" i="0" dirty="0">
                <a:solidFill>
                  <a:srgbClr val="FFC000"/>
                </a:solidFill>
                <a:effectLst/>
              </a:rPr>
              <a:t>Row</a:t>
            </a:r>
            <a:r>
              <a:rPr lang="en-US" sz="2800" b="1" i="0" dirty="0">
                <a:effectLst/>
              </a:rPr>
              <a:t> </a:t>
            </a:r>
            <a:r>
              <a:rPr lang="en-US" sz="2800" b="1" i="0" dirty="0">
                <a:solidFill>
                  <a:srgbClr val="FFC000"/>
                </a:solidFill>
                <a:effectLst/>
              </a:rPr>
              <a:t>widget</a:t>
            </a:r>
            <a:r>
              <a:rPr lang="en-US" sz="2800" b="1" i="0" dirty="0">
                <a:effectLst/>
              </a:rPr>
              <a:t> </a:t>
            </a:r>
            <a:r>
              <a:rPr lang="en-US" sz="2800" b="0" i="0" dirty="0">
                <a:effectLst/>
              </a:rPr>
              <a:t>is used to arrange its children widgets in a horizontal line. </a:t>
            </a:r>
          </a:p>
          <a:p>
            <a:pPr algn="just"/>
            <a:endParaRPr lang="en-US" sz="2800" b="0" i="0" dirty="0">
              <a:effectLst/>
            </a:endParaRPr>
          </a:p>
          <a:p>
            <a:pPr algn="just"/>
            <a:r>
              <a:rPr lang="en-US" sz="2800" b="0" i="0" dirty="0">
                <a:effectLst/>
              </a:rPr>
              <a:t>It allows multiple widgets is placed side by side within a parent container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MY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E6CE1-4B73-8ADA-7137-640D544A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9287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88675-1276-85F8-FA35-2D41A72B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5F0F-7502-6C4A-6BE6-9B2BB2195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Widget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83712-CD32-5BFC-EAE5-5543F7D1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48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D7189-88F0-8A3E-C111-066C7BC25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700808"/>
            <a:ext cx="5801122" cy="491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148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EE9BD-AE9D-58A5-4F79-7525DA44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F65F-7DAE-8C88-6DC3-EB97292F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Row Widget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44301-A824-CF7E-AA39-8E4CED41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49</a:t>
            </a:fld>
            <a:endParaRPr lang="en-GB"/>
          </a:p>
        </p:txBody>
      </p:sp>
      <p:pic>
        <p:nvPicPr>
          <p:cNvPr id="2050" name="Picture 2" descr="How to Implement Any UI in Flutter">
            <a:extLst>
              <a:ext uri="{FF2B5EF4-FFF2-40B4-BE49-F238E27FC236}">
                <a16:creationId xmlns:a16="http://schemas.microsoft.com/office/drawing/2014/main" id="{3A90E6D6-FCF0-D9A5-9605-77AD0D113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688" y="1600200"/>
            <a:ext cx="8054623" cy="453072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7172086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CF00-4840-B6D9-5911-7BFCE869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31648-7654-87C0-245A-ED60AFC8A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45024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effectLst/>
              </a:rPr>
              <a:t>A 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Column</a:t>
            </a:r>
            <a:r>
              <a:rPr lang="en-US" sz="2400" b="0" i="0" dirty="0">
                <a:effectLst/>
              </a:rPr>
              <a:t> is a widget in Flutter that displays its children one after another in the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vertical direction</a:t>
            </a:r>
            <a:r>
              <a:rPr lang="en-US" sz="2400" b="0" i="0" dirty="0">
                <a:effectLst/>
              </a:rPr>
              <a:t>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0" i="0" dirty="0">
                <a:effectLst/>
              </a:rPr>
              <a:t>If we want a child of the column to expand to the full height</a:t>
            </a:r>
            <a:r>
              <a:rPr lang="en-US" sz="2400" dirty="0"/>
              <a:t>, </a:t>
            </a:r>
            <a:r>
              <a:rPr lang="en-US" sz="2400" b="0" i="0" dirty="0">
                <a:effectLst/>
              </a:rPr>
              <a:t>we have to wrap it in an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Expanded</a:t>
            </a:r>
            <a:r>
              <a:rPr lang="en-US" sz="2400" b="1" i="0" dirty="0">
                <a:effectLst/>
              </a:rPr>
              <a:t> </a:t>
            </a:r>
            <a:r>
              <a:rPr lang="en-US" sz="2400" b="0" i="0" dirty="0">
                <a:effectLst/>
              </a:rPr>
              <a:t>widget. </a:t>
            </a:r>
          </a:p>
          <a:p>
            <a:pPr algn="just"/>
            <a:endParaRPr lang="en-US" sz="2400" b="0" i="0" dirty="0">
              <a:effectLst/>
            </a:endParaRPr>
          </a:p>
          <a:p>
            <a:pPr algn="just"/>
            <a:r>
              <a:rPr lang="en-US" sz="2400" b="0" i="0" dirty="0">
                <a:effectLst/>
              </a:rPr>
              <a:t>A </a:t>
            </a:r>
            <a:r>
              <a:rPr lang="en-US" sz="2400" i="0" dirty="0">
                <a:effectLst/>
              </a:rPr>
              <a:t>column and row widgets </a:t>
            </a:r>
            <a:r>
              <a:rPr lang="en-US" sz="2400" b="0" i="0" dirty="0">
                <a:effectLst/>
              </a:rPr>
              <a:t>cannot scroll</a:t>
            </a:r>
            <a:r>
              <a:rPr lang="en-US" sz="2400" dirty="0"/>
              <a:t> – use </a:t>
            </a:r>
            <a:r>
              <a:rPr lang="en-US" sz="2400" b="1" dirty="0" err="1">
                <a:solidFill>
                  <a:srgbClr val="FFC000"/>
                </a:solidFill>
              </a:rPr>
              <a:t>listView</a:t>
            </a:r>
            <a:r>
              <a:rPr lang="en-US" sz="2400" dirty="0"/>
              <a:t> </a:t>
            </a:r>
            <a:r>
              <a:rPr lang="en-US" sz="2400" b="0" i="0" dirty="0">
                <a:effectLst/>
              </a:rPr>
              <a:t>instead.</a:t>
            </a: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558FD-C0CB-05F2-40D8-62606C6D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74264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C0E04-AB3A-AE94-8E44-35E63ADB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80B4-D0CA-B362-4F3E-5C1E7140C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Column Widget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97D52-F694-8B8F-36D6-B28E129C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51</a:t>
            </a:fld>
            <a:endParaRPr lang="en-GB"/>
          </a:p>
        </p:txBody>
      </p:sp>
      <p:pic>
        <p:nvPicPr>
          <p:cNvPr id="3074" name="Picture 2" descr="How to Implement Any UI in Flutter - EU-Vietnam Business Network (EVBN)">
            <a:extLst>
              <a:ext uri="{FF2B5EF4-FFF2-40B4-BE49-F238E27FC236}">
                <a16:creationId xmlns:a16="http://schemas.microsoft.com/office/drawing/2014/main" id="{97574BDE-B70B-6647-54F1-AAE549575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688" y="1600200"/>
            <a:ext cx="8054623" cy="453072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623889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687A-91F9-335E-F98B-FCEC5581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04D4-57B1-734F-4DFB-0CF530C3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5A65-BA0B-D0EF-6CA4-E10762F5E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13" y="1978025"/>
            <a:ext cx="8229600" cy="3484984"/>
          </a:xfrm>
        </p:spPr>
        <p:txBody>
          <a:bodyPr>
            <a:normAutofit/>
          </a:bodyPr>
          <a:lstStyle/>
          <a:p>
            <a:r>
              <a:rPr lang="en-US" sz="2400" b="0" i="0" dirty="0">
                <a:effectLst/>
              </a:rPr>
              <a:t>The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Stack widget </a:t>
            </a:r>
            <a:r>
              <a:rPr lang="en-US" sz="2400" b="0" i="0" dirty="0">
                <a:effectLst/>
              </a:rPr>
              <a:t>- to overlay multiple widgets on top of each other. </a:t>
            </a:r>
          </a:p>
          <a:p>
            <a:endParaRPr lang="en-US" sz="2400" b="0" i="0" dirty="0">
              <a:effectLst/>
            </a:endParaRPr>
          </a:p>
          <a:p>
            <a:r>
              <a:rPr lang="en-US" sz="2400" b="0" i="0" dirty="0">
                <a:effectLst/>
              </a:rPr>
              <a:t>It's a powerful layout widget to create complex UI designs by positioning widgets relative to each other within a stack.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4A172-233B-B361-61E2-1533EC99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2F4A-FC3C-4C13-A76F-34129D2ABBA1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0718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3D1D5-67BC-0DBF-7C28-B34E26507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C7FA-B2AA-8A31-6AF0-8D6BE1D5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Stack Widget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104CD-8DEC-A315-2EA2-2C363644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53</a:t>
            </a:fld>
            <a:endParaRPr lang="en-GB"/>
          </a:p>
        </p:txBody>
      </p:sp>
      <p:pic>
        <p:nvPicPr>
          <p:cNvPr id="6146" name="Picture 2" descr="Flutter Widgets (Stack &amp; Positioned) The Whole Picture. | by Murtaza  Sulaihi | Flutter Community | Medium">
            <a:extLst>
              <a:ext uri="{FF2B5EF4-FFF2-40B4-BE49-F238E27FC236}">
                <a16:creationId xmlns:a16="http://schemas.microsoft.com/office/drawing/2014/main" id="{6993A63E-3EFA-FB6F-55E8-5D8E17EDF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7935" y="1870133"/>
            <a:ext cx="4824535" cy="4378266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148" name="Picture 4" descr="Flutter Stack - Javatpoint">
            <a:extLst>
              <a:ext uri="{FF2B5EF4-FFF2-40B4-BE49-F238E27FC236}">
                <a16:creationId xmlns:a16="http://schemas.microsoft.com/office/drawing/2014/main" id="{9D4FD59D-E4DC-48DF-F188-1FE75E012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28311"/>
            <a:ext cx="2757610" cy="563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804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7AEA-E190-25F7-A17B-F71155D2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E30F-AE9C-2E97-F561-4A97F6D5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 err="1"/>
              <a:t>ListView</a:t>
            </a:r>
            <a:r>
              <a:rPr lang="en-US" dirty="0"/>
              <a:t>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27E8-EBFD-BE07-541B-F767DC524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010816"/>
            <a:ext cx="3898775" cy="3988857"/>
          </a:xfrm>
        </p:spPr>
        <p:txBody>
          <a:bodyPr wrap="square" anchor="t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400" b="0" i="0" dirty="0">
                <a:effectLst/>
              </a:rPr>
              <a:t>The </a:t>
            </a:r>
            <a:r>
              <a:rPr lang="en-US" sz="2400" b="1" i="0" dirty="0" err="1">
                <a:solidFill>
                  <a:srgbClr val="FFC000"/>
                </a:solidFill>
                <a:effectLst/>
              </a:rPr>
              <a:t>ListView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 widget </a:t>
            </a:r>
            <a:r>
              <a:rPr lang="en-US" sz="2400" b="0" i="0" dirty="0">
                <a:effectLst/>
              </a:rPr>
              <a:t>is used to create a scrollable list of widgets in a single column. </a:t>
            </a:r>
          </a:p>
          <a:p>
            <a:pPr algn="just">
              <a:lnSpc>
                <a:spcPct val="90000"/>
              </a:lnSpc>
            </a:pPr>
            <a:endParaRPr lang="en-US" sz="2400" b="0" i="0" dirty="0">
              <a:effectLst/>
            </a:endParaRPr>
          </a:p>
          <a:p>
            <a:pPr algn="just">
              <a:lnSpc>
                <a:spcPct val="90000"/>
              </a:lnSpc>
            </a:pPr>
            <a:r>
              <a:rPr lang="en-US" sz="2400" b="0" i="0" dirty="0">
                <a:effectLst/>
              </a:rPr>
              <a:t>It's one of the most commonly used widgets for displaying a large number of items in a 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vertical list </a:t>
            </a:r>
            <a:r>
              <a:rPr lang="en-US" sz="2400" b="0" i="0" dirty="0">
                <a:effectLst/>
              </a:rPr>
              <a:t>format.</a:t>
            </a: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47DC-2DE3-EA95-9912-71BF9AF5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54</a:t>
            </a:fld>
            <a:endParaRPr lang="en-GB"/>
          </a:p>
        </p:txBody>
      </p:sp>
      <p:pic>
        <p:nvPicPr>
          <p:cNvPr id="7170" name="Picture 2" descr="Mastering Flutter ListViews | Pusher tutorials">
            <a:extLst>
              <a:ext uri="{FF2B5EF4-FFF2-40B4-BE49-F238E27FC236}">
                <a16:creationId xmlns:a16="http://schemas.microsoft.com/office/drawing/2014/main" id="{7A1E5E8C-609E-4226-B9EE-F8580FB35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199" y="1600201"/>
            <a:ext cx="4205997" cy="453072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37076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99A3-AF44-1908-4BAB-694DE1F5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F58D-AA67-0DBE-B994-01457BC8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 err="1"/>
              <a:t>GridView</a:t>
            </a:r>
            <a:r>
              <a:rPr lang="en-US" dirty="0"/>
              <a:t> Widget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57F8A-86DE-8FC1-2687-77731631C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065868"/>
            <a:ext cx="4978896" cy="4065058"/>
          </a:xfrm>
        </p:spPr>
        <p:txBody>
          <a:bodyPr wrap="square" anchor="t">
            <a:normAutofit/>
          </a:bodyPr>
          <a:lstStyle/>
          <a:p>
            <a:r>
              <a:rPr lang="en-US" sz="2400" b="0" i="0" dirty="0">
                <a:effectLst/>
              </a:rPr>
              <a:t>The </a:t>
            </a:r>
            <a:r>
              <a:rPr lang="en-US" sz="2400" b="1" i="0" dirty="0" err="1">
                <a:solidFill>
                  <a:srgbClr val="FFC000"/>
                </a:solidFill>
                <a:effectLst/>
              </a:rPr>
              <a:t>GridView</a:t>
            </a:r>
            <a:r>
              <a:rPr lang="en-US" sz="2400" b="1" i="0" dirty="0">
                <a:solidFill>
                  <a:srgbClr val="FFC000"/>
                </a:solidFill>
                <a:effectLst/>
              </a:rPr>
              <a:t> widget - </a:t>
            </a:r>
            <a:r>
              <a:rPr lang="en-US" sz="2400" b="0" i="0" dirty="0">
                <a:effectLst/>
              </a:rPr>
              <a:t>to display a scrollable grid of widgets in a two-dimensional layout. </a:t>
            </a:r>
          </a:p>
          <a:p>
            <a:r>
              <a:rPr lang="en-US" sz="2400" b="0" i="0" dirty="0">
                <a:effectLst/>
              </a:rPr>
              <a:t>It's an essential component for organizing data or widgets in a grid format, allowing users to scroll both horizontally and vertically to view all the items. </a:t>
            </a: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E2A17-7B66-ECF5-9982-6245A196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2CF92F4A-FC3C-4C13-A76F-34129D2ABBA1}" type="slidenum">
              <a:rPr lang="en-GB" smtClean="0"/>
              <a:pPr>
                <a:spcAft>
                  <a:spcPts val="600"/>
                </a:spcAft>
              </a:pPr>
              <a:t>55</a:t>
            </a:fld>
            <a:endParaRPr lang="en-GB"/>
          </a:p>
        </p:txBody>
      </p:sp>
      <p:pic>
        <p:nvPicPr>
          <p:cNvPr id="8194" name="Picture 2" descr="Flutter Widgets (Grid View) The Whole Picture | by Murtaza Sulaihi |  Flutter Community | Medium">
            <a:extLst>
              <a:ext uri="{FF2B5EF4-FFF2-40B4-BE49-F238E27FC236}">
                <a16:creationId xmlns:a16="http://schemas.microsoft.com/office/drawing/2014/main" id="{0C12073C-9DC0-8523-AEB7-431E98996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8078" y="476672"/>
            <a:ext cx="2916323" cy="583264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4021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10072</TotalTime>
  <Words>2977</Words>
  <Application>Microsoft Office PowerPoint</Application>
  <PresentationFormat>On-screen Show (4:3)</PresentationFormat>
  <Paragraphs>435</Paragraphs>
  <Slides>55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Calibri Light</vt:lpstr>
      <vt:lpstr>Consolas</vt:lpstr>
      <vt:lpstr>Courier New</vt:lpstr>
      <vt:lpstr>Roboto</vt:lpstr>
      <vt:lpstr>Tahoma</vt:lpstr>
      <vt:lpstr>Celestial</vt:lpstr>
      <vt:lpstr>TCS3254 PROGRAMMING FOR  MOBILE DEVICES </vt:lpstr>
      <vt:lpstr>What is Flutter?</vt:lpstr>
      <vt:lpstr>the Widgets</vt:lpstr>
      <vt:lpstr>The Widgets</vt:lpstr>
      <vt:lpstr>The Widgets</vt:lpstr>
      <vt:lpstr>PowerPoint Presentation</vt:lpstr>
      <vt:lpstr>Material App vs Non-Material App</vt:lpstr>
      <vt:lpstr>Material App</vt:lpstr>
      <vt:lpstr>Material App vs Non-Material App</vt:lpstr>
      <vt:lpstr>Non-Material App</vt:lpstr>
      <vt:lpstr>PowerPoint Presentation</vt:lpstr>
      <vt:lpstr>Scaffold Widget</vt:lpstr>
      <vt:lpstr>Scaffold Widget</vt:lpstr>
      <vt:lpstr>Different Type of Widgets</vt:lpstr>
      <vt:lpstr>Different Type of Widgets –  Visible Widget </vt:lpstr>
      <vt:lpstr>Different Type of Widgets –  Invisible Widget </vt:lpstr>
      <vt:lpstr>The Visible Widgets</vt:lpstr>
      <vt:lpstr>Text Widget </vt:lpstr>
      <vt:lpstr>Text Widget </vt:lpstr>
      <vt:lpstr>Text Widget </vt:lpstr>
      <vt:lpstr>Text Widget </vt:lpstr>
      <vt:lpstr>Text Widget </vt:lpstr>
      <vt:lpstr>Image Widget</vt:lpstr>
      <vt:lpstr>IMAGE Widget </vt:lpstr>
      <vt:lpstr>IMAGE Widget </vt:lpstr>
      <vt:lpstr>Image Widget</vt:lpstr>
      <vt:lpstr>Image Widget</vt:lpstr>
      <vt:lpstr>Image Widget</vt:lpstr>
      <vt:lpstr>Icon Widgets</vt:lpstr>
      <vt:lpstr>Icon Widgets</vt:lpstr>
      <vt:lpstr>Card Widgets</vt:lpstr>
      <vt:lpstr>Card Widgets</vt:lpstr>
      <vt:lpstr>Card Widgets</vt:lpstr>
      <vt:lpstr>Button Widget</vt:lpstr>
      <vt:lpstr>Button Widget</vt:lpstr>
      <vt:lpstr>Button Widget</vt:lpstr>
      <vt:lpstr>Button Widget</vt:lpstr>
      <vt:lpstr>Button Widget</vt:lpstr>
      <vt:lpstr>The Invisible Widget</vt:lpstr>
      <vt:lpstr>How to Add Visible Widget to Layout Widget?</vt:lpstr>
      <vt:lpstr>Container Widget</vt:lpstr>
      <vt:lpstr>Container Widget</vt:lpstr>
      <vt:lpstr>Container Widget</vt:lpstr>
      <vt:lpstr>How to Add Multiple Widgets Vertically or Horizontally?</vt:lpstr>
      <vt:lpstr>PowerPoint Presentation</vt:lpstr>
      <vt:lpstr>How to Add Multiple Widgets Vertically or Horizontally?</vt:lpstr>
      <vt:lpstr>Row Widget</vt:lpstr>
      <vt:lpstr>Row Widget</vt:lpstr>
      <vt:lpstr>Row Widget</vt:lpstr>
      <vt:lpstr>Column Widget</vt:lpstr>
      <vt:lpstr>Column Widget</vt:lpstr>
      <vt:lpstr>Stack Widget</vt:lpstr>
      <vt:lpstr>Stack Widget</vt:lpstr>
      <vt:lpstr>ListView Widget</vt:lpstr>
      <vt:lpstr>GridView Widget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apex</dc:creator>
  <cp:lastModifiedBy>Nurul Azlia Binti Mat Saat</cp:lastModifiedBy>
  <cp:revision>193</cp:revision>
  <dcterms:created xsi:type="dcterms:W3CDTF">2011-09-07T16:45:53Z</dcterms:created>
  <dcterms:modified xsi:type="dcterms:W3CDTF">2025-02-06T03:45:16Z</dcterms:modified>
</cp:coreProperties>
</file>