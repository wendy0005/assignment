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71" r:id="rId3"/>
    <p:sldId id="257" r:id="rId4"/>
    <p:sldId id="272" r:id="rId5"/>
    <p:sldId id="258" r:id="rId6"/>
    <p:sldId id="259" r:id="rId7"/>
    <p:sldId id="260" r:id="rId8"/>
    <p:sldId id="286" r:id="rId9"/>
    <p:sldId id="261" r:id="rId10"/>
    <p:sldId id="262" r:id="rId11"/>
    <p:sldId id="263" r:id="rId12"/>
    <p:sldId id="264" r:id="rId13"/>
    <p:sldId id="265" r:id="rId14"/>
    <p:sldId id="273" r:id="rId15"/>
    <p:sldId id="274" r:id="rId16"/>
    <p:sldId id="285" r:id="rId17"/>
    <p:sldId id="292" r:id="rId18"/>
    <p:sldId id="298" r:id="rId19"/>
    <p:sldId id="293" r:id="rId20"/>
    <p:sldId id="295" r:id="rId21"/>
    <p:sldId id="296" r:id="rId22"/>
    <p:sldId id="300" r:id="rId23"/>
    <p:sldId id="297" r:id="rId24"/>
    <p:sldId id="304" r:id="rId25"/>
    <p:sldId id="306" r:id="rId26"/>
    <p:sldId id="307" r:id="rId27"/>
    <p:sldId id="308" r:id="rId28"/>
    <p:sldId id="309" r:id="rId29"/>
    <p:sldId id="310" r:id="rId30"/>
    <p:sldId id="311" r:id="rId31"/>
    <p:sldId id="299" r:id="rId32"/>
    <p:sldId id="266" r:id="rId33"/>
    <p:sldId id="267" r:id="rId34"/>
    <p:sldId id="268" r:id="rId35"/>
    <p:sldId id="269" r:id="rId36"/>
    <p:sldId id="270" r:id="rId37"/>
    <p:sldId id="312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3C67CE-AF7F-B549-92FD-F72B3EC09D4B}" v="1" dt="2025-09-19T01:40:46.0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50"/>
    <p:restoredTop sz="94703"/>
  </p:normalViewPr>
  <p:slideViewPr>
    <p:cSldViewPr snapToGrid="0" snapToObjects="1">
      <p:cViewPr varScale="1">
        <p:scale>
          <a:sx n="86" d="100"/>
          <a:sy n="86" d="100"/>
        </p:scale>
        <p:origin x="1728" y="3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zlina binti Haron" userId="00a9b89f-eaec-49ca-9fc2-e7a3c9ffdcf7" providerId="ADAL" clId="{779AFF34-B550-5125-AC3D-689BD0EBE757}"/>
    <pc:docChg chg="custSel addSld modSld">
      <pc:chgData name="Hazlina binti Haron" userId="00a9b89f-eaec-49ca-9fc2-e7a3c9ffdcf7" providerId="ADAL" clId="{779AFF34-B550-5125-AC3D-689BD0EBE757}" dt="2025-09-19T02:41:17.961" v="363" actId="20577"/>
      <pc:docMkLst>
        <pc:docMk/>
      </pc:docMkLst>
      <pc:sldChg chg="modSp mod">
        <pc:chgData name="Hazlina binti Haron" userId="00a9b89f-eaec-49ca-9fc2-e7a3c9ffdcf7" providerId="ADAL" clId="{779AFF34-B550-5125-AC3D-689BD0EBE757}" dt="2025-09-19T01:20:48.599" v="0" actId="207"/>
        <pc:sldMkLst>
          <pc:docMk/>
          <pc:sldMk cId="0" sldId="259"/>
        </pc:sldMkLst>
        <pc:spChg chg="mod">
          <ac:chgData name="Hazlina binti Haron" userId="00a9b89f-eaec-49ca-9fc2-e7a3c9ffdcf7" providerId="ADAL" clId="{779AFF34-B550-5125-AC3D-689BD0EBE757}" dt="2025-09-19T01:20:48.599" v="0" actId="20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Hazlina binti Haron" userId="00a9b89f-eaec-49ca-9fc2-e7a3c9ffdcf7" providerId="ADAL" clId="{779AFF34-B550-5125-AC3D-689BD0EBE757}" dt="2025-09-19T01:21:01.618" v="1" actId="207"/>
        <pc:sldMkLst>
          <pc:docMk/>
          <pc:sldMk cId="0" sldId="260"/>
        </pc:sldMkLst>
        <pc:spChg chg="mod">
          <ac:chgData name="Hazlina binti Haron" userId="00a9b89f-eaec-49ca-9fc2-e7a3c9ffdcf7" providerId="ADAL" clId="{779AFF34-B550-5125-AC3D-689BD0EBE757}" dt="2025-09-19T01:21:01.618" v="1" actId="20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Hazlina binti Haron" userId="00a9b89f-eaec-49ca-9fc2-e7a3c9ffdcf7" providerId="ADAL" clId="{779AFF34-B550-5125-AC3D-689BD0EBE757}" dt="2025-09-19T01:40:18.403" v="42" actId="20577"/>
        <pc:sldMkLst>
          <pc:docMk/>
          <pc:sldMk cId="0" sldId="270"/>
        </pc:sldMkLst>
        <pc:spChg chg="mod">
          <ac:chgData name="Hazlina binti Haron" userId="00a9b89f-eaec-49ca-9fc2-e7a3c9ffdcf7" providerId="ADAL" clId="{779AFF34-B550-5125-AC3D-689BD0EBE757}" dt="2025-09-19T01:40:18.403" v="42" actId="20577"/>
          <ac:spMkLst>
            <pc:docMk/>
            <pc:sldMk cId="0" sldId="270"/>
            <ac:spMk id="3" creationId="{00000000-0000-0000-0000-000000000000}"/>
          </ac:spMkLst>
        </pc:spChg>
      </pc:sldChg>
      <pc:sldChg chg="addSp modSp new mod setBg">
        <pc:chgData name="Hazlina binti Haron" userId="00a9b89f-eaec-49ca-9fc2-e7a3c9ffdcf7" providerId="ADAL" clId="{779AFF34-B550-5125-AC3D-689BD0EBE757}" dt="2025-09-19T02:41:17.961" v="363" actId="20577"/>
        <pc:sldMkLst>
          <pc:docMk/>
          <pc:sldMk cId="2724088606" sldId="312"/>
        </pc:sldMkLst>
        <pc:spChg chg="mod">
          <ac:chgData name="Hazlina binti Haron" userId="00a9b89f-eaec-49ca-9fc2-e7a3c9ffdcf7" providerId="ADAL" clId="{779AFF34-B550-5125-AC3D-689BD0EBE757}" dt="2025-09-19T02:29:45.984" v="360" actId="20577"/>
          <ac:spMkLst>
            <pc:docMk/>
            <pc:sldMk cId="2724088606" sldId="312"/>
            <ac:spMk id="2" creationId="{4D83977B-B063-C5FE-5CF7-5D44A7EF9774}"/>
          </ac:spMkLst>
        </pc:spChg>
        <pc:spChg chg="mod">
          <ac:chgData name="Hazlina binti Haron" userId="00a9b89f-eaec-49ca-9fc2-e7a3c9ffdcf7" providerId="ADAL" clId="{779AFF34-B550-5125-AC3D-689BD0EBE757}" dt="2025-09-19T02:41:17.961" v="363" actId="20577"/>
          <ac:spMkLst>
            <pc:docMk/>
            <pc:sldMk cId="2724088606" sldId="312"/>
            <ac:spMk id="3" creationId="{F51240D9-BD9D-3A5C-7FA4-253F96C3AA48}"/>
          </ac:spMkLst>
        </pc:spChg>
        <pc:spChg chg="add">
          <ac:chgData name="Hazlina binti Haron" userId="00a9b89f-eaec-49ca-9fc2-e7a3c9ffdcf7" providerId="ADAL" clId="{779AFF34-B550-5125-AC3D-689BD0EBE757}" dt="2025-09-19T02:29:02.544" v="348" actId="26606"/>
          <ac:spMkLst>
            <pc:docMk/>
            <pc:sldMk cId="2724088606" sldId="312"/>
            <ac:spMk id="9" creationId="{C0763A76-9F1C-4FC5-82B7-DD475DA461B2}"/>
          </ac:spMkLst>
        </pc:spChg>
        <pc:spChg chg="add">
          <ac:chgData name="Hazlina binti Haron" userId="00a9b89f-eaec-49ca-9fc2-e7a3c9ffdcf7" providerId="ADAL" clId="{779AFF34-B550-5125-AC3D-689BD0EBE757}" dt="2025-09-19T02:29:02.544" v="348" actId="26606"/>
          <ac:spMkLst>
            <pc:docMk/>
            <pc:sldMk cId="2724088606" sldId="312"/>
            <ac:spMk id="11" creationId="{E81BF4F6-F2CF-4984-9D14-D6966D92F99F}"/>
          </ac:spMkLst>
        </pc:spChg>
        <pc:picChg chg="add">
          <ac:chgData name="Hazlina binti Haron" userId="00a9b89f-eaec-49ca-9fc2-e7a3c9ffdcf7" providerId="ADAL" clId="{779AFF34-B550-5125-AC3D-689BD0EBE757}" dt="2025-09-19T02:29:02.544" v="348" actId="26606"/>
          <ac:picMkLst>
            <pc:docMk/>
            <pc:sldMk cId="2724088606" sldId="312"/>
            <ac:picMk id="5" creationId="{C55A0E29-BEBC-181A-9958-6647AE391258}"/>
          </ac:picMkLst>
        </pc:picChg>
      </pc:sldChg>
    </pc:docChg>
  </pc:docChgLst>
  <pc:docChgLst>
    <pc:chgData name="Hazlina binti Haron" userId="00a9b89f-eaec-49ca-9fc2-e7a3c9ffdcf7" providerId="ADAL" clId="{30B625B6-A1AB-2441-A5C8-C0568B428F8C}"/>
    <pc:docChg chg="undo custSel addSld delSld modSld sldOrd">
      <pc:chgData name="Hazlina binti Haron" userId="00a9b89f-eaec-49ca-9fc2-e7a3c9ffdcf7" providerId="ADAL" clId="{30B625B6-A1AB-2441-A5C8-C0568B428F8C}" dt="2025-05-28T03:51:47.674" v="262" actId="20577"/>
      <pc:docMkLst>
        <pc:docMk/>
      </pc:docMkLst>
      <pc:sldChg chg="addSp delSp modSp mod setBg addAnim">
        <pc:chgData name="Hazlina binti Haron" userId="00a9b89f-eaec-49ca-9fc2-e7a3c9ffdcf7" providerId="ADAL" clId="{30B625B6-A1AB-2441-A5C8-C0568B428F8C}" dt="2025-05-28T03:51:47.674" v="262" actId="20577"/>
        <pc:sldMkLst>
          <pc:docMk/>
          <pc:sldMk cId="0" sldId="256"/>
        </pc:sldMkLst>
      </pc:sldChg>
      <pc:sldChg chg="addSp delSp modSp mod ord setBg">
        <pc:chgData name="Hazlina binti Haron" userId="00a9b89f-eaec-49ca-9fc2-e7a3c9ffdcf7" providerId="ADAL" clId="{30B625B6-A1AB-2441-A5C8-C0568B428F8C}" dt="2025-05-28T03:47:04.583" v="200" actId="20578"/>
        <pc:sldMkLst>
          <pc:docMk/>
          <pc:sldMk cId="0" sldId="257"/>
        </pc:sldMkLst>
      </pc:sldChg>
      <pc:sldChg chg="addSp modSp mod setBg">
        <pc:chgData name="Hazlina binti Haron" userId="00a9b89f-eaec-49ca-9fc2-e7a3c9ffdcf7" providerId="ADAL" clId="{30B625B6-A1AB-2441-A5C8-C0568B428F8C}" dt="2025-05-28T02:42:02.818" v="30" actId="12"/>
        <pc:sldMkLst>
          <pc:docMk/>
          <pc:sldMk cId="0" sldId="258"/>
        </pc:sldMkLst>
      </pc:sldChg>
      <pc:sldChg chg="addSp modSp mod setBg">
        <pc:chgData name="Hazlina binti Haron" userId="00a9b89f-eaec-49ca-9fc2-e7a3c9ffdcf7" providerId="ADAL" clId="{30B625B6-A1AB-2441-A5C8-C0568B428F8C}" dt="2025-05-28T02:42:10.258" v="31" actId="20577"/>
        <pc:sldMkLst>
          <pc:docMk/>
          <pc:sldMk cId="0" sldId="259"/>
        </pc:sldMkLst>
      </pc:sldChg>
      <pc:sldChg chg="addSp modSp mod setBg">
        <pc:chgData name="Hazlina binti Haron" userId="00a9b89f-eaec-49ca-9fc2-e7a3c9ffdcf7" providerId="ADAL" clId="{30B625B6-A1AB-2441-A5C8-C0568B428F8C}" dt="2025-05-28T02:42:16.489" v="32" actId="20577"/>
        <pc:sldMkLst>
          <pc:docMk/>
          <pc:sldMk cId="0" sldId="260"/>
        </pc:sldMkLst>
      </pc:sldChg>
      <pc:sldChg chg="addSp modSp mod ord setBg">
        <pc:chgData name="Hazlina binti Haron" userId="00a9b89f-eaec-49ca-9fc2-e7a3c9ffdcf7" providerId="ADAL" clId="{30B625B6-A1AB-2441-A5C8-C0568B428F8C}" dt="2025-05-28T03:40:48.482" v="141" actId="20578"/>
        <pc:sldMkLst>
          <pc:docMk/>
          <pc:sldMk cId="0" sldId="261"/>
        </pc:sldMkLst>
      </pc:sldChg>
      <pc:sldChg chg="addSp modSp mod ord setBg">
        <pc:chgData name="Hazlina binti Haron" userId="00a9b89f-eaec-49ca-9fc2-e7a3c9ffdcf7" providerId="ADAL" clId="{30B625B6-A1AB-2441-A5C8-C0568B428F8C}" dt="2025-05-28T03:47:24.784" v="202" actId="20577"/>
        <pc:sldMkLst>
          <pc:docMk/>
          <pc:sldMk cId="0" sldId="262"/>
        </pc:sldMkLst>
      </pc:sldChg>
      <pc:sldChg chg="addSp modSp mod ord setBg">
        <pc:chgData name="Hazlina binti Haron" userId="00a9b89f-eaec-49ca-9fc2-e7a3c9ffdcf7" providerId="ADAL" clId="{30B625B6-A1AB-2441-A5C8-C0568B428F8C}" dt="2025-05-28T03:40:48.482" v="141" actId="20578"/>
        <pc:sldMkLst>
          <pc:docMk/>
          <pc:sldMk cId="0" sldId="263"/>
        </pc:sldMkLst>
      </pc:sldChg>
      <pc:sldChg chg="addSp modSp mod ord setBg">
        <pc:chgData name="Hazlina binti Haron" userId="00a9b89f-eaec-49ca-9fc2-e7a3c9ffdcf7" providerId="ADAL" clId="{30B625B6-A1AB-2441-A5C8-C0568B428F8C}" dt="2025-05-28T03:40:48.482" v="141" actId="20578"/>
        <pc:sldMkLst>
          <pc:docMk/>
          <pc:sldMk cId="0" sldId="264"/>
        </pc:sldMkLst>
      </pc:sldChg>
      <pc:sldChg chg="addSp modSp mod ord setBg">
        <pc:chgData name="Hazlina binti Haron" userId="00a9b89f-eaec-49ca-9fc2-e7a3c9ffdcf7" providerId="ADAL" clId="{30B625B6-A1AB-2441-A5C8-C0568B428F8C}" dt="2025-05-28T03:40:48.482" v="141" actId="20578"/>
        <pc:sldMkLst>
          <pc:docMk/>
          <pc:sldMk cId="0" sldId="265"/>
        </pc:sldMkLst>
      </pc:sldChg>
      <pc:sldChg chg="addSp modSp mod setBg">
        <pc:chgData name="Hazlina binti Haron" userId="00a9b89f-eaec-49ca-9fc2-e7a3c9ffdcf7" providerId="ADAL" clId="{30B625B6-A1AB-2441-A5C8-C0568B428F8C}" dt="2025-05-27T05:12:40.693" v="14" actId="26606"/>
        <pc:sldMkLst>
          <pc:docMk/>
          <pc:sldMk cId="0" sldId="266"/>
        </pc:sldMkLst>
      </pc:sldChg>
      <pc:sldChg chg="addSp modSp mod setBg">
        <pc:chgData name="Hazlina binti Haron" userId="00a9b89f-eaec-49ca-9fc2-e7a3c9ffdcf7" providerId="ADAL" clId="{30B625B6-A1AB-2441-A5C8-C0568B428F8C}" dt="2025-05-27T05:12:45.943" v="15" actId="26606"/>
        <pc:sldMkLst>
          <pc:docMk/>
          <pc:sldMk cId="0" sldId="267"/>
        </pc:sldMkLst>
      </pc:sldChg>
      <pc:sldChg chg="addSp modSp mod setBg addAnim">
        <pc:chgData name="Hazlina binti Haron" userId="00a9b89f-eaec-49ca-9fc2-e7a3c9ffdcf7" providerId="ADAL" clId="{30B625B6-A1AB-2441-A5C8-C0568B428F8C}" dt="2025-05-27T05:12:52.309" v="17"/>
        <pc:sldMkLst>
          <pc:docMk/>
          <pc:sldMk cId="0" sldId="268"/>
        </pc:sldMkLst>
      </pc:sldChg>
      <pc:sldChg chg="addSp delSp modSp mod setBg addAnim delAnim">
        <pc:chgData name="Hazlina binti Haron" userId="00a9b89f-eaec-49ca-9fc2-e7a3c9ffdcf7" providerId="ADAL" clId="{30B625B6-A1AB-2441-A5C8-C0568B428F8C}" dt="2025-05-27T05:13:01.010" v="25"/>
        <pc:sldMkLst>
          <pc:docMk/>
          <pc:sldMk cId="0" sldId="269"/>
        </pc:sldMkLst>
      </pc:sldChg>
      <pc:sldChg chg="addSp modSp mod setBg">
        <pc:chgData name="Hazlina binti Haron" userId="00a9b89f-eaec-49ca-9fc2-e7a3c9ffdcf7" providerId="ADAL" clId="{30B625B6-A1AB-2441-A5C8-C0568B428F8C}" dt="2025-05-27T05:13:05.637" v="26" actId="26606"/>
        <pc:sldMkLst>
          <pc:docMk/>
          <pc:sldMk cId="0" sldId="270"/>
        </pc:sldMkLst>
      </pc:sldChg>
      <pc:sldChg chg="addSp modSp add mod setBg">
        <pc:chgData name="Hazlina binti Haron" userId="00a9b89f-eaec-49ca-9fc2-e7a3c9ffdcf7" providerId="ADAL" clId="{30B625B6-A1AB-2441-A5C8-C0568B428F8C}" dt="2025-05-28T02:43:16.476" v="38" actId="26606"/>
        <pc:sldMkLst>
          <pc:docMk/>
          <pc:sldMk cId="0" sldId="271"/>
        </pc:sldMkLst>
      </pc:sldChg>
      <pc:sldChg chg="addSp delSp modSp add mod setBg">
        <pc:chgData name="Hazlina binti Haron" userId="00a9b89f-eaec-49ca-9fc2-e7a3c9ffdcf7" providerId="ADAL" clId="{30B625B6-A1AB-2441-A5C8-C0568B428F8C}" dt="2025-05-28T02:44:12.108" v="42" actId="26606"/>
        <pc:sldMkLst>
          <pc:docMk/>
          <pc:sldMk cId="0" sldId="272"/>
        </pc:sldMkLst>
      </pc:sldChg>
      <pc:sldChg chg="addSp delSp modSp new mod ord setBg">
        <pc:chgData name="Hazlina binti Haron" userId="00a9b89f-eaec-49ca-9fc2-e7a3c9ffdcf7" providerId="ADAL" clId="{30B625B6-A1AB-2441-A5C8-C0568B428F8C}" dt="2025-05-28T03:41:11.263" v="142" actId="20578"/>
        <pc:sldMkLst>
          <pc:docMk/>
          <pc:sldMk cId="733689081" sldId="273"/>
        </pc:sldMkLst>
      </pc:sldChg>
      <pc:sldChg chg="addSp delSp modSp new mod ord setBg">
        <pc:chgData name="Hazlina binti Haron" userId="00a9b89f-eaec-49ca-9fc2-e7a3c9ffdcf7" providerId="ADAL" clId="{30B625B6-A1AB-2441-A5C8-C0568B428F8C}" dt="2025-05-28T03:47:47.046" v="204" actId="1076"/>
        <pc:sldMkLst>
          <pc:docMk/>
          <pc:sldMk cId="3977549347" sldId="274"/>
        </pc:sldMkLst>
      </pc:sldChg>
      <pc:sldChg chg="addSp delSp modSp add del mod setBg addAnim">
        <pc:chgData name="Hazlina binti Haron" userId="00a9b89f-eaec-49ca-9fc2-e7a3c9ffdcf7" providerId="ADAL" clId="{30B625B6-A1AB-2441-A5C8-C0568B428F8C}" dt="2025-05-28T02:52:23.609" v="87" actId="2696"/>
        <pc:sldMkLst>
          <pc:docMk/>
          <pc:sldMk cId="0" sldId="284"/>
        </pc:sldMkLst>
      </pc:sldChg>
      <pc:sldChg chg="addSp modSp add mod ord setBg">
        <pc:chgData name="Hazlina binti Haron" userId="00a9b89f-eaec-49ca-9fc2-e7a3c9ffdcf7" providerId="ADAL" clId="{30B625B6-A1AB-2441-A5C8-C0568B428F8C}" dt="2025-05-28T03:41:48.784" v="144" actId="20578"/>
        <pc:sldMkLst>
          <pc:docMk/>
          <pc:sldMk cId="0" sldId="285"/>
        </pc:sldMkLst>
      </pc:sldChg>
      <pc:sldChg chg="addSp modSp add mod ord setBg">
        <pc:chgData name="Hazlina binti Haron" userId="00a9b89f-eaec-49ca-9fc2-e7a3c9ffdcf7" providerId="ADAL" clId="{30B625B6-A1AB-2441-A5C8-C0568B428F8C}" dt="2025-05-28T03:41:19.804" v="143" actId="20578"/>
        <pc:sldMkLst>
          <pc:docMk/>
          <pc:sldMk cId="0" sldId="286"/>
        </pc:sldMkLst>
      </pc:sldChg>
      <pc:sldChg chg="addSp modSp add mod ord setBg">
        <pc:chgData name="Hazlina binti Haron" userId="00a9b89f-eaec-49ca-9fc2-e7a3c9ffdcf7" providerId="ADAL" clId="{30B625B6-A1AB-2441-A5C8-C0568B428F8C}" dt="2025-05-28T03:48:16.453" v="206" actId="20578"/>
        <pc:sldMkLst>
          <pc:docMk/>
          <pc:sldMk cId="0" sldId="292"/>
        </pc:sldMkLst>
      </pc:sldChg>
      <pc:sldChg chg="addSp delSp modSp add mod setBg addAnim delAnim">
        <pc:chgData name="Hazlina binti Haron" userId="00a9b89f-eaec-49ca-9fc2-e7a3c9ffdcf7" providerId="ADAL" clId="{30B625B6-A1AB-2441-A5C8-C0568B428F8C}" dt="2025-05-28T03:02:09.458" v="125" actId="404"/>
        <pc:sldMkLst>
          <pc:docMk/>
          <pc:sldMk cId="0" sldId="293"/>
        </pc:sldMkLst>
      </pc:sldChg>
      <pc:sldChg chg="addSp modSp add mod setBg">
        <pc:chgData name="Hazlina binti Haron" userId="00a9b89f-eaec-49ca-9fc2-e7a3c9ffdcf7" providerId="ADAL" clId="{30B625B6-A1AB-2441-A5C8-C0568B428F8C}" dt="2025-05-28T03:48:29.826" v="207" actId="1076"/>
        <pc:sldMkLst>
          <pc:docMk/>
          <pc:sldMk cId="0" sldId="295"/>
        </pc:sldMkLst>
      </pc:sldChg>
      <pc:sldChg chg="addSp modSp add mod setBg">
        <pc:chgData name="Hazlina binti Haron" userId="00a9b89f-eaec-49ca-9fc2-e7a3c9ffdcf7" providerId="ADAL" clId="{30B625B6-A1AB-2441-A5C8-C0568B428F8C}" dt="2025-05-28T03:48:45.866" v="210" actId="14100"/>
        <pc:sldMkLst>
          <pc:docMk/>
          <pc:sldMk cId="0" sldId="296"/>
        </pc:sldMkLst>
      </pc:sldChg>
      <pc:sldChg chg="addSp modSp add mod setBg">
        <pc:chgData name="Hazlina binti Haron" userId="00a9b89f-eaec-49ca-9fc2-e7a3c9ffdcf7" providerId="ADAL" clId="{30B625B6-A1AB-2441-A5C8-C0568B428F8C}" dt="2025-05-28T03:49:20.723" v="215" actId="14100"/>
        <pc:sldMkLst>
          <pc:docMk/>
          <pc:sldMk cId="0" sldId="297"/>
        </pc:sldMkLst>
      </pc:sldChg>
      <pc:sldChg chg="addSp modSp add mod ord setBg">
        <pc:chgData name="Hazlina binti Haron" userId="00a9b89f-eaec-49ca-9fc2-e7a3c9ffdcf7" providerId="ADAL" clId="{30B625B6-A1AB-2441-A5C8-C0568B428F8C}" dt="2025-05-28T03:48:08.355" v="205" actId="20578"/>
        <pc:sldMkLst>
          <pc:docMk/>
          <pc:sldMk cId="0" sldId="298"/>
        </pc:sldMkLst>
      </pc:sldChg>
      <pc:sldChg chg="addSp modSp add mod setBg">
        <pc:chgData name="Hazlina binti Haron" userId="00a9b89f-eaec-49ca-9fc2-e7a3c9ffdcf7" providerId="ADAL" clId="{30B625B6-A1AB-2441-A5C8-C0568B428F8C}" dt="2025-05-28T03:45:57.814" v="199" actId="20577"/>
        <pc:sldMkLst>
          <pc:docMk/>
          <pc:sldMk cId="0" sldId="299"/>
        </pc:sldMkLst>
      </pc:sldChg>
      <pc:sldChg chg="addSp modSp add mod setBg">
        <pc:chgData name="Hazlina binti Haron" userId="00a9b89f-eaec-49ca-9fc2-e7a3c9ffdcf7" providerId="ADAL" clId="{30B625B6-A1AB-2441-A5C8-C0568B428F8C}" dt="2025-05-28T03:49:04.680" v="212" actId="26606"/>
        <pc:sldMkLst>
          <pc:docMk/>
          <pc:sldMk cId="0" sldId="300"/>
        </pc:sldMkLst>
      </pc:sldChg>
      <pc:sldChg chg="addSp modSp add mod setBg">
        <pc:chgData name="Hazlina binti Haron" userId="00a9b89f-eaec-49ca-9fc2-e7a3c9ffdcf7" providerId="ADAL" clId="{30B625B6-A1AB-2441-A5C8-C0568B428F8C}" dt="2025-05-28T03:49:46.327" v="224" actId="20577"/>
        <pc:sldMkLst>
          <pc:docMk/>
          <pc:sldMk cId="0" sldId="304"/>
        </pc:sldMkLst>
      </pc:sldChg>
      <pc:sldChg chg="addSp modSp add mod setBg">
        <pc:chgData name="Hazlina binti Haron" userId="00a9b89f-eaec-49ca-9fc2-e7a3c9ffdcf7" providerId="ADAL" clId="{30B625B6-A1AB-2441-A5C8-C0568B428F8C}" dt="2025-05-28T03:43:27.265" v="157" actId="403"/>
        <pc:sldMkLst>
          <pc:docMk/>
          <pc:sldMk cId="0" sldId="306"/>
        </pc:sldMkLst>
      </pc:sldChg>
      <pc:sldChg chg="addSp delSp modSp add mod setBg">
        <pc:chgData name="Hazlina binti Haron" userId="00a9b89f-eaec-49ca-9fc2-e7a3c9ffdcf7" providerId="ADAL" clId="{30B625B6-A1AB-2441-A5C8-C0568B428F8C}" dt="2025-05-28T03:43:52.193" v="169" actId="27636"/>
        <pc:sldMkLst>
          <pc:docMk/>
          <pc:sldMk cId="0" sldId="307"/>
        </pc:sldMkLst>
      </pc:sldChg>
      <pc:sldChg chg="addSp modSp add mod setBg">
        <pc:chgData name="Hazlina binti Haron" userId="00a9b89f-eaec-49ca-9fc2-e7a3c9ffdcf7" providerId="ADAL" clId="{30B625B6-A1AB-2441-A5C8-C0568B428F8C}" dt="2025-05-28T03:44:17.390" v="179" actId="27636"/>
        <pc:sldMkLst>
          <pc:docMk/>
          <pc:sldMk cId="0" sldId="308"/>
        </pc:sldMkLst>
      </pc:sldChg>
      <pc:sldChg chg="addSp modSp add mod setBg">
        <pc:chgData name="Hazlina binti Haron" userId="00a9b89f-eaec-49ca-9fc2-e7a3c9ffdcf7" providerId="ADAL" clId="{30B625B6-A1AB-2441-A5C8-C0568B428F8C}" dt="2025-05-28T03:44:36.762" v="188" actId="20577"/>
        <pc:sldMkLst>
          <pc:docMk/>
          <pc:sldMk cId="0" sldId="309"/>
        </pc:sldMkLst>
      </pc:sldChg>
      <pc:sldChg chg="addSp modSp add mod setBg">
        <pc:chgData name="Hazlina binti Haron" userId="00a9b89f-eaec-49ca-9fc2-e7a3c9ffdcf7" providerId="ADAL" clId="{30B625B6-A1AB-2441-A5C8-C0568B428F8C}" dt="2025-05-28T03:50:28.862" v="228" actId="14100"/>
        <pc:sldMkLst>
          <pc:docMk/>
          <pc:sldMk cId="0" sldId="310"/>
        </pc:sldMkLst>
      </pc:sldChg>
      <pc:sldChg chg="addSp modSp add mod setBg">
        <pc:chgData name="Hazlina binti Haron" userId="00a9b89f-eaec-49ca-9fc2-e7a3c9ffdcf7" providerId="ADAL" clId="{30B625B6-A1AB-2441-A5C8-C0568B428F8C}" dt="2025-05-28T03:50:35.575" v="229" actId="14100"/>
        <pc:sldMkLst>
          <pc:docMk/>
          <pc:sldMk cId="0" sldId="311"/>
        </pc:sldMkLst>
      </pc:sldChg>
      <pc:sldChg chg="modSp add del">
        <pc:chgData name="Hazlina binti Haron" userId="00a9b89f-eaec-49ca-9fc2-e7a3c9ffdcf7" providerId="ADAL" clId="{30B625B6-A1AB-2441-A5C8-C0568B428F8C}" dt="2025-05-28T03:50:49.340" v="230" actId="2696"/>
        <pc:sldMkLst>
          <pc:docMk/>
          <pc:sldMk cId="0" sldId="31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102A9F-D115-AC44-9395-28123964887B}" type="datetimeFigureOut">
              <a:rPr lang="en-US" smtClean="0"/>
              <a:t>9/19/25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FC715-8043-1549-AAB8-5FD724569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47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1109FF-A109-0347-9D7C-08CE2659AC4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126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llpaperflare.com/code-web-development-javascript-computer-screen-pixels-programming-php-syntax-highlighting-programming-language-html-wallpaper-hwrpp/download/3840x2160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en.wikipedia.org/wiki/Image:UnifiedProcessProjectProfile20060708.png" TargetMode="Externa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://agilemanifesto.org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file:///Users/hazlinaharon/Library/CloudStorage/OneDrive-SEGiGroup/01%20SEGI%20KD/01%20SUBJECT%20FILE/05%20SOFTWARE%20ENGINEERING%20BCC2113/5.%20Tutorial/real-life%20example%20implementation%20of%20process%20model.pdf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220196"/>
            <a:ext cx="7066893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350" y="2099696"/>
            <a:ext cx="1456680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836384" y="1866059"/>
            <a:ext cx="2987899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28950" y="1939159"/>
            <a:ext cx="5733470" cy="2751086"/>
          </a:xfrm>
        </p:spPr>
        <p:txBody>
          <a:bodyPr>
            <a:normAutofit/>
          </a:bodyPr>
          <a:lstStyle/>
          <a:p>
            <a:pPr algn="r"/>
            <a:r>
              <a:rPr lang="en-MY" dirty="0"/>
              <a:t>Software Development Life Cycle (SDLC)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28950" y="4782320"/>
            <a:ext cx="5733470" cy="1329443"/>
          </a:xfrm>
        </p:spPr>
        <p:txBody>
          <a:bodyPr>
            <a:normAutofit/>
          </a:bodyPr>
          <a:lstStyle/>
          <a:p>
            <a:pPr algn="r"/>
            <a:r>
              <a:rPr dirty="0"/>
              <a:t>An Overview with </a:t>
            </a:r>
            <a:r>
              <a:rPr lang="en-MY"/>
              <a:t>Framework and Methods</a:t>
            </a:r>
            <a:endParaRPr lang="en-MY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8" name="Rectangle 512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0" name="Freeform: Shape 512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1A539718-3D1B-BDF9-5A6D-DD8764D5E0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sz="3700">
                <a:solidFill>
                  <a:srgbClr val="FFFFFF"/>
                </a:solidFill>
              </a:rPr>
              <a:t>The need for a framework</a:t>
            </a:r>
          </a:p>
        </p:txBody>
      </p:sp>
      <p:sp>
        <p:nvSpPr>
          <p:cNvPr id="5132" name="Arc 513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DAD7F85-06B7-D4A9-E7D3-D8E0C99C1A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 altLang="en-US" sz="3000"/>
              <a:t>Purpose of the systems development function is to develop </a:t>
            </a:r>
            <a:r>
              <a:rPr lang="en-GB" altLang="en-US" sz="3000" b="1"/>
              <a:t>effective </a:t>
            </a:r>
            <a:r>
              <a:rPr lang="en-GB" altLang="en-US" sz="3000"/>
              <a:t>systems in the most </a:t>
            </a:r>
            <a:r>
              <a:rPr lang="en-GB" altLang="en-US" sz="3000" b="1"/>
              <a:t>efficient</a:t>
            </a:r>
            <a:r>
              <a:rPr lang="en-GB" altLang="en-US" sz="3000"/>
              <a:t> way possible.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GB" altLang="en-US" sz="3000"/>
          </a:p>
          <a:p>
            <a:pPr eaLnBrk="1" hangingPunct="1">
              <a:lnSpc>
                <a:spcPct val="90000"/>
              </a:lnSpc>
            </a:pPr>
            <a:r>
              <a:rPr lang="en-GB" altLang="en-US" sz="3000" b="1"/>
              <a:t>The traditional systems development life cycle</a:t>
            </a:r>
            <a:r>
              <a:rPr lang="en-GB" altLang="en-US" sz="3000"/>
              <a:t> (with which you are all familiar ) was a first attempt to provide a controlled environment for systems development.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MY" sz="340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MY" dirty="0"/>
              <a:t>The Software Development Life Cycle (SDLC) is a process used by software industry to design, develop, and test high-quality software. </a:t>
            </a:r>
          </a:p>
          <a:p>
            <a:r>
              <a:rPr lang="en-MY" dirty="0"/>
              <a:t>It aims to produce software that meets or exceeds customer expectations.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4" name="Rectangle 615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6" name="Title 1">
            <a:extLst>
              <a:ext uri="{FF2B5EF4-FFF2-40B4-BE49-F238E27FC236}">
                <a16:creationId xmlns:a16="http://schemas.microsoft.com/office/drawing/2014/main" id="{A96CD96D-772D-B872-E8A5-F94CBED46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sz="2800">
                <a:solidFill>
                  <a:schemeClr val="bg1"/>
                </a:solidFill>
              </a:rPr>
              <a:t>You must remember this!</a:t>
            </a:r>
          </a:p>
        </p:txBody>
      </p:sp>
      <p:pic>
        <p:nvPicPr>
          <p:cNvPr id="6147" name="Picture 4" descr="http://www.startvbdotnet.com/sdlc/sdlc.gif">
            <a:extLst>
              <a:ext uri="{FF2B5EF4-FFF2-40B4-BE49-F238E27FC236}">
                <a16:creationId xmlns:a16="http://schemas.microsoft.com/office/drawing/2014/main" id="{FC931912-600A-6415-DD8C-2F01063C1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9849" y="1675227"/>
            <a:ext cx="7664300" cy="4394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MY">
                <a:solidFill>
                  <a:srgbClr val="FFFFFF"/>
                </a:solidFill>
              </a:rPr>
              <a:t>SDLC Phases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dirty="0"/>
              <a:t>SDLC consists of several phases: </a:t>
            </a:r>
          </a:p>
          <a:p>
            <a:pPr marL="0" indent="0">
              <a:buNone/>
            </a:pPr>
            <a:r>
              <a:rPr dirty="0"/>
              <a:t>1. Planning</a:t>
            </a:r>
          </a:p>
          <a:p>
            <a:pPr marL="0" indent="0">
              <a:buNone/>
            </a:pPr>
            <a:r>
              <a:rPr dirty="0"/>
              <a:t>2. Requirements</a:t>
            </a:r>
          </a:p>
          <a:p>
            <a:pPr marL="0" indent="0">
              <a:buNone/>
            </a:pPr>
            <a:r>
              <a:rPr dirty="0"/>
              <a:t>3. Design</a:t>
            </a:r>
          </a:p>
          <a:p>
            <a:pPr marL="0" indent="0">
              <a:buNone/>
            </a:pPr>
            <a:r>
              <a:rPr dirty="0"/>
              <a:t>4. Development</a:t>
            </a:r>
          </a:p>
          <a:p>
            <a:pPr marL="0" indent="0">
              <a:buNone/>
            </a:pPr>
            <a:r>
              <a:rPr dirty="0"/>
              <a:t>5. Testing</a:t>
            </a:r>
          </a:p>
          <a:p>
            <a:pPr marL="0" indent="0">
              <a:buNone/>
            </a:pPr>
            <a:r>
              <a:rPr dirty="0"/>
              <a:t>6. Deployment</a:t>
            </a:r>
          </a:p>
          <a:p>
            <a:pPr marL="0" indent="0">
              <a:buNone/>
            </a:pPr>
            <a:r>
              <a:rPr dirty="0"/>
              <a:t>7. Maintenance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MY">
                <a:solidFill>
                  <a:srgbClr val="FFFFFF"/>
                </a:solidFill>
              </a:rPr>
              <a:t>Planning Phase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dirty="0"/>
              <a:t>In the planning phase, </a:t>
            </a:r>
            <a:r>
              <a:rPr dirty="0">
                <a:solidFill>
                  <a:srgbClr val="FF0000"/>
                </a:solidFill>
              </a:rPr>
              <a:t>project goals are determined </a:t>
            </a:r>
            <a:r>
              <a:rPr dirty="0"/>
              <a:t>and high-level planning is done. </a:t>
            </a:r>
            <a:endParaRPr lang="en-US" dirty="0"/>
          </a:p>
          <a:p>
            <a:r>
              <a:rPr dirty="0"/>
              <a:t>Example: Defining the scope and objectives of a new e-commerce website.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MY" sz="2800">
                <a:solidFill>
                  <a:srgbClr val="FFFFFF"/>
                </a:solidFill>
              </a:rPr>
              <a:t>Requirements Phase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dirty="0"/>
              <a:t>In the requirements phase, </a:t>
            </a:r>
            <a:r>
              <a:rPr dirty="0">
                <a:solidFill>
                  <a:srgbClr val="FF0000"/>
                </a:solidFill>
              </a:rPr>
              <a:t>detailed requirements are gathered </a:t>
            </a:r>
            <a:r>
              <a:rPr dirty="0"/>
              <a:t>from stakeholders. </a:t>
            </a:r>
            <a:endParaRPr lang="en-US" dirty="0"/>
          </a:p>
          <a:p>
            <a:r>
              <a:rPr dirty="0"/>
              <a:t>Example: Gathering requirements for user authentication and payment gateway integration.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704" name="Rectangle 29703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06" name="Freeform: Shape 29705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0738B8B2-F2F0-0F01-B92D-514CB3CFD1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sz="3100">
                <a:solidFill>
                  <a:srgbClr val="FFFFFF"/>
                </a:solidFill>
              </a:rPr>
              <a:t>Example: </a:t>
            </a:r>
            <a:r>
              <a:rPr lang="en-GB" altLang="en-US" sz="3100" i="1">
                <a:solidFill>
                  <a:srgbClr val="FFFFFF"/>
                </a:solidFill>
              </a:rPr>
              <a:t>Requirements Analysis</a:t>
            </a:r>
          </a:p>
        </p:txBody>
      </p:sp>
      <p:sp>
        <p:nvSpPr>
          <p:cNvPr id="29708" name="Arc 29707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E64AA4DB-5804-C45A-904D-71F46927C1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GB" altLang="en-US" sz="2800" dirty="0"/>
              <a:t>Investigation of current environment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/>
              <a:t>Establish analysis framework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/>
              <a:t>Investigate and define requirements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/>
              <a:t>Investigate current processing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/>
              <a:t>Investigate current data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/>
              <a:t>Derive logical view of current services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/>
              <a:t>Assemble investigation results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/>
              <a:t>Business System options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/>
              <a:t>Define business system options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/>
              <a:t>Select business system options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/>
              <a:t>Define Requirements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en-GB" alt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MY">
                <a:solidFill>
                  <a:srgbClr val="FFFFFF"/>
                </a:solidFill>
              </a:rPr>
              <a:t>Design Phase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dirty="0"/>
              <a:t>In the design phase, system architecture and design are created. </a:t>
            </a:r>
            <a:endParaRPr lang="en-US" dirty="0"/>
          </a:p>
          <a:p>
            <a:r>
              <a:rPr dirty="0"/>
              <a:t>Example: Designing the database schema and user interface for the e-commerce website.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MY" sz="3100">
                <a:solidFill>
                  <a:srgbClr val="FFFFFF"/>
                </a:solidFill>
              </a:rPr>
              <a:t>Development Phase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dirty="0"/>
              <a:t>In the development phase, actual code is written based on the design. </a:t>
            </a:r>
            <a:endParaRPr lang="en-US" dirty="0"/>
          </a:p>
          <a:p>
            <a:endParaRPr lang="en-MY" dirty="0"/>
          </a:p>
          <a:p>
            <a:r>
              <a:rPr dirty="0"/>
              <a:t>Example: Developing the front-end and back-end functionalities of the e-commerce website.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MY">
                <a:solidFill>
                  <a:srgbClr val="FFFFFF"/>
                </a:solidFill>
              </a:rPr>
              <a:t>Testing Phase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dirty="0"/>
              <a:t>In the testing phase, the software is tested to ensure it meets the requirements. </a:t>
            </a:r>
            <a:endParaRPr lang="en-US" dirty="0"/>
          </a:p>
          <a:p>
            <a:r>
              <a:rPr dirty="0"/>
              <a:t>Example: Performing unit testing, integration testing, and user acceptance testing.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MY" sz="3400">
                <a:solidFill>
                  <a:srgbClr val="FFFFFF"/>
                </a:solidFill>
              </a:rPr>
              <a:t>Deployment Phase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dirty="0"/>
              <a:t>In the deployment phase, the software is released to the production environment. </a:t>
            </a:r>
            <a:endParaRPr lang="en-US" dirty="0"/>
          </a:p>
          <a:p>
            <a:r>
              <a:rPr dirty="0"/>
              <a:t>Example: Deploying the e-commerce website to a cloud server.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MY" sz="3100">
                <a:solidFill>
                  <a:srgbClr val="FFFFFF"/>
                </a:solidFill>
              </a:rPr>
              <a:t>Maintenance Phase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dirty="0"/>
              <a:t>In the maintenance phase, ongoing support and maintenance are provided. </a:t>
            </a:r>
            <a:endParaRPr lang="en-US" dirty="0"/>
          </a:p>
          <a:p>
            <a:r>
              <a:rPr dirty="0"/>
              <a:t>Example: Fixing bugs and adding new features to the e-commerce website.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mputer screen with colorful text&#10;&#10;AI-generated content may be incorrect.">
            <a:extLst>
              <a:ext uri="{FF2B5EF4-FFF2-40B4-BE49-F238E27FC236}">
                <a16:creationId xmlns:a16="http://schemas.microsoft.com/office/drawing/2014/main" id="{70548AF7-7D83-AC1D-606B-2CAEBB7FC2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0092" r="28314"/>
          <a:stretch>
            <a:fillRect/>
          </a:stretch>
        </p:blipFill>
        <p:spPr>
          <a:xfrm>
            <a:off x="3826328" y="10"/>
            <a:ext cx="5320771" cy="6857989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A34066D6-1B59-4642-A86D-39464CEE9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3954066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18E928D9-3091-4385-B979-265D55AD0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03011">
            <a:off x="1288989" y="700861"/>
            <a:ext cx="2240925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52205D-BAF9-C6F1-74A9-286B88995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795509"/>
            <a:ext cx="3069394" cy="27986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200">
                <a:solidFill>
                  <a:srgbClr val="FFFFFF"/>
                </a:solidFill>
              </a:rPr>
              <a:t>The development Models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D602432-D774-4CF5-94E8-7D52D0105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0889" y="4626633"/>
            <a:ext cx="368971" cy="49196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BF9EBB4-5078-47B2-AAA0-DF4A88D81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95949" y="5011563"/>
            <a:ext cx="548668" cy="731558"/>
          </a:xfrm>
          <a:prstGeom prst="rect">
            <a:avLst/>
          </a:prstGeom>
          <a:noFill/>
          <a:ln w="127000">
            <a:solidFill>
              <a:schemeClr val="accent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3689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78C759-E650-46DF-EB27-6DDB5967A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21" y="1153572"/>
            <a:ext cx="2795504" cy="4461163"/>
          </a:xfrm>
        </p:spPr>
        <p:txBody>
          <a:bodyPr>
            <a:normAutofit/>
          </a:bodyPr>
          <a:lstStyle/>
          <a:p>
            <a:r>
              <a:rPr lang="en-GB" altLang="en-US" dirty="0">
                <a:solidFill>
                  <a:schemeClr val="bg1"/>
                </a:solidFill>
              </a:rPr>
              <a:t>SSADM generic framework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6" descr="ssadm">
            <a:extLst>
              <a:ext uri="{FF2B5EF4-FFF2-40B4-BE49-F238E27FC236}">
                <a16:creationId xmlns:a16="http://schemas.microsoft.com/office/drawing/2014/main" id="{2D2CFD25-AA1E-973E-E698-D66AACDC9B2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9102" y="1154808"/>
            <a:ext cx="6141915" cy="421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7549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680" name="Rectangle 2867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82" name="Freeform: Shape 2868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FCD224E8-931B-BF20-BF2E-55C4882ED5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>
                <a:solidFill>
                  <a:srgbClr val="FFFFFF"/>
                </a:solidFill>
              </a:rPr>
              <a:t>SSADM stages</a:t>
            </a:r>
          </a:p>
        </p:txBody>
      </p:sp>
      <p:sp>
        <p:nvSpPr>
          <p:cNvPr id="28684" name="Arc 2868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BE41176E-8E9C-6E76-3B4A-339B44F084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GB" altLang="en-US"/>
              <a:t>Each stage has a number of steps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Each step may have a number of substeps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Each stage/step/substep has  one or more end deliverables associated with it…..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752" name="Rectangle 31751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54" name="Freeform: Shape 31753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6A62F4DC-145D-BD28-881A-77A384B780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>
                <a:solidFill>
                  <a:srgbClr val="FFFFFF"/>
                </a:solidFill>
              </a:rPr>
              <a:t>UML </a:t>
            </a:r>
          </a:p>
        </p:txBody>
      </p:sp>
      <p:sp>
        <p:nvSpPr>
          <p:cNvPr id="31756" name="Arc 31755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97F46272-91D4-8FC1-02DD-023A755E6D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 altLang="en-US" dirty="0"/>
              <a:t>Unified Modelling Language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dirty="0"/>
              <a:t>Again, not a methodology based upon our definition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/>
              <a:t>A set of specifications and design notations for object -oriented development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/>
              <a:t>Developed combining modelling techniques developed by Booch, Rumbaugh and Jakobsen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dirty="0"/>
              <a:t>Lots of methods have been developed from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848" name="Rectangle 3584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50" name="Freeform: Shape 3584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CB27E49B-8790-5295-960E-3C32B694ED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i="1">
                <a:solidFill>
                  <a:srgbClr val="FFFFFF"/>
                </a:solidFill>
              </a:rPr>
              <a:t>Use case driven</a:t>
            </a:r>
          </a:p>
        </p:txBody>
      </p:sp>
      <p:sp>
        <p:nvSpPr>
          <p:cNvPr id="35852" name="Arc 3585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F60D2445-635D-E97F-8A8A-7909BAADEB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 fontScale="92500"/>
          </a:bodyPr>
          <a:lstStyle/>
          <a:p>
            <a:pPr eaLnBrk="1" hangingPunct="1">
              <a:lnSpc>
                <a:spcPct val="90000"/>
              </a:lnSpc>
            </a:pPr>
            <a:r>
              <a:rPr lang="en-GB" altLang="en-US" sz="2800" dirty="0"/>
              <a:t>Use cases used here to capture </a:t>
            </a:r>
            <a:r>
              <a:rPr lang="en-GB" altLang="en-US" sz="2800" i="1" dirty="0"/>
              <a:t>the user requirements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/>
              <a:t>A use case describes an </a:t>
            </a:r>
            <a:r>
              <a:rPr lang="en-GB" altLang="en-US" sz="2800" i="1" dirty="0"/>
              <a:t>element of the functionality of the system 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/>
              <a:t>All the use cases together (the use case model) depicts the total functionality of the system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/>
              <a:t>The system is designed based upon the use cases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/>
              <a:t>Implemented to support the use cases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/>
              <a:t>Tested upon content of the use cases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800" i="1" dirty="0"/>
              <a:t>So, Use cases are very important!</a:t>
            </a:r>
            <a:r>
              <a:rPr lang="en-GB" altLang="en-US" sz="2800" dirty="0"/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782" name="Rectangle 32781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70" name="Rectangle 4">
            <a:extLst>
              <a:ext uri="{FF2B5EF4-FFF2-40B4-BE49-F238E27FC236}">
                <a16:creationId xmlns:a16="http://schemas.microsoft.com/office/drawing/2014/main" id="{7E3B121E-FF63-5E4D-5304-7E0402DBCA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9161" y="639193"/>
            <a:ext cx="2678858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alt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UML models and diagrams</a:t>
            </a:r>
          </a:p>
        </p:txBody>
      </p:sp>
      <p:sp>
        <p:nvSpPr>
          <p:cNvPr id="3278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4409267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771" name="Picture 6" descr="ModelsandDiagrams">
            <a:extLst>
              <a:ext uri="{FF2B5EF4-FFF2-40B4-BE49-F238E27FC236}">
                <a16:creationId xmlns:a16="http://schemas.microsoft.com/office/drawing/2014/main" id="{FBBEF6DC-9E66-2104-AAC2-EF86928EB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23779" y="1190036"/>
            <a:ext cx="5977905" cy="406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824" name="Rectangle 34823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26" name="Freeform: Shape 34825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CB39F5DB-A7DE-092F-93F0-6D4DECA968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6530" y="1198418"/>
            <a:ext cx="2400300" cy="4461163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>
                <a:solidFill>
                  <a:srgbClr val="FFFFFF"/>
                </a:solidFill>
              </a:rPr>
              <a:t>RUP</a:t>
            </a:r>
            <a:br>
              <a:rPr lang="en-GB" altLang="en-US">
                <a:solidFill>
                  <a:srgbClr val="FFFFFF"/>
                </a:solidFill>
              </a:rPr>
            </a:br>
            <a:r>
              <a:rPr lang="en-GB" altLang="en-US">
                <a:solidFill>
                  <a:srgbClr val="FFFFFF"/>
                </a:solidFill>
              </a:rPr>
              <a:t>The </a:t>
            </a:r>
            <a:r>
              <a:rPr lang="en-GB" altLang="en-US" i="1">
                <a:solidFill>
                  <a:srgbClr val="FFFFFF"/>
                </a:solidFill>
              </a:rPr>
              <a:t>Rational Unified Process</a:t>
            </a:r>
            <a:endParaRPr lang="en-GB" altLang="en-US">
              <a:solidFill>
                <a:srgbClr val="FFFFFF"/>
              </a:solidFill>
            </a:endParaRPr>
          </a:p>
        </p:txBody>
      </p:sp>
      <p:sp>
        <p:nvSpPr>
          <p:cNvPr id="34828" name="Arc 34827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0E931DC2-7300-785D-085A-561F2B9C2E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GB" altLang="en-US"/>
              <a:t>“A full-fledged process able to support the entire  software development life-cycle”.</a:t>
            </a:r>
          </a:p>
          <a:p>
            <a:pPr eaLnBrk="1" hangingPunct="1"/>
            <a:endParaRPr lang="en-GB" altLang="en-US"/>
          </a:p>
          <a:p>
            <a:pPr eaLnBrk="1" hangingPunct="1"/>
            <a:r>
              <a:rPr lang="en-GB" altLang="en-US"/>
              <a:t>“Use case driven, architecture centric, iterative and incremental”</a:t>
            </a:r>
          </a:p>
          <a:p>
            <a:pPr lvl="1" eaLnBrk="1" hangingPunct="1"/>
            <a:endParaRPr lang="en-GB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8" name="Rectangle 1024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2" name="Title 1">
            <a:extLst>
              <a:ext uri="{FF2B5EF4-FFF2-40B4-BE49-F238E27FC236}">
                <a16:creationId xmlns:a16="http://schemas.microsoft.com/office/drawing/2014/main" id="{B7EDBD50-7F36-6338-1F38-50DC4C5E7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sz="2800">
                <a:solidFill>
                  <a:schemeClr val="bg1"/>
                </a:solidFill>
              </a:rPr>
              <a:t>Rational Unified Process</a:t>
            </a:r>
          </a:p>
        </p:txBody>
      </p:sp>
      <p:pic>
        <p:nvPicPr>
          <p:cNvPr id="10243" name="Picture 2" descr="http://content.answers.com/main/content/wp/en/a/aa/RationalUnifiedProcess.png">
            <a:extLst>
              <a:ext uri="{FF2B5EF4-FFF2-40B4-BE49-F238E27FC236}">
                <a16:creationId xmlns:a16="http://schemas.microsoft.com/office/drawing/2014/main" id="{E39D5E1A-9261-2F34-06E5-108D7820E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9449" y="1411781"/>
            <a:ext cx="7824866" cy="5289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Rectangle 3891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914" name="Rectangle 4">
            <a:extLst>
              <a:ext uri="{FF2B5EF4-FFF2-40B4-BE49-F238E27FC236}">
                <a16:creationId xmlns:a16="http://schemas.microsoft.com/office/drawing/2014/main" id="{4C8BCB00-F5F6-A9C8-583E-EEB21E62AF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sz="2800">
                <a:solidFill>
                  <a:schemeClr val="bg1"/>
                </a:solidFill>
              </a:rPr>
              <a:t>RUP – Phases and resources</a:t>
            </a:r>
          </a:p>
        </p:txBody>
      </p:sp>
      <p:pic>
        <p:nvPicPr>
          <p:cNvPr id="38915" name="Picture 6" descr="A typical project profile showing the relative sizes of the four phases">
            <a:hlinkClick r:id="rId2" tooltip="A typical project profile showing the relative sizes of the four phases"/>
            <a:extLst>
              <a:ext uri="{FF2B5EF4-FFF2-40B4-BE49-F238E27FC236}">
                <a16:creationId xmlns:a16="http://schemas.microsoft.com/office/drawing/2014/main" id="{B6780E05-93E5-BC00-860E-B5EA6730E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2600" y="2254542"/>
            <a:ext cx="8178799" cy="3235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2" name="Rectangle 1127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6" name="Title 1">
            <a:extLst>
              <a:ext uri="{FF2B5EF4-FFF2-40B4-BE49-F238E27FC236}">
                <a16:creationId xmlns:a16="http://schemas.microsoft.com/office/drawing/2014/main" id="{08FAE775-481F-FFF3-3D4E-AA191F978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 altLang="en-US" sz="2200">
                <a:solidFill>
                  <a:schemeClr val="bg1"/>
                </a:solidFill>
              </a:rPr>
              <a:t>The DSDM life cycle</a:t>
            </a:r>
            <a:br>
              <a:rPr lang="en-GB" altLang="en-US" sz="2200">
                <a:solidFill>
                  <a:schemeClr val="bg1"/>
                </a:solidFill>
              </a:rPr>
            </a:br>
            <a:r>
              <a:rPr lang="en-GB" altLang="en-US" sz="2200">
                <a:solidFill>
                  <a:schemeClr val="bg1"/>
                </a:solidFill>
              </a:rPr>
              <a:t>(Dynamic Systems Development Method)</a:t>
            </a:r>
          </a:p>
        </p:txBody>
      </p:sp>
      <p:pic>
        <p:nvPicPr>
          <p:cNvPr id="11267" name="Picture 2" descr="http://www.codeproject.com/gen/design/DSDM/dsdm1.jpg">
            <a:extLst>
              <a:ext uri="{FF2B5EF4-FFF2-40B4-BE49-F238E27FC236}">
                <a16:creationId xmlns:a16="http://schemas.microsoft.com/office/drawing/2014/main" id="{29888AE0-AB1B-2425-64F4-A63D7FC95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1329" y="1660236"/>
            <a:ext cx="8557297" cy="4920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991" name="Rectangle 41990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93" name="Freeform: Shape 41992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86" name="Title 1">
            <a:extLst>
              <a:ext uri="{FF2B5EF4-FFF2-40B4-BE49-F238E27FC236}">
                <a16:creationId xmlns:a16="http://schemas.microsoft.com/office/drawing/2014/main" id="{0B67F50C-27F2-DA17-CC84-28AA8454C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GB" altLang="en-US">
                <a:solidFill>
                  <a:srgbClr val="FFFFFF"/>
                </a:solidFill>
              </a:rPr>
              <a:t>Agile Methods (1)</a:t>
            </a:r>
          </a:p>
        </p:txBody>
      </p:sp>
      <p:sp>
        <p:nvSpPr>
          <p:cNvPr id="41995" name="Arc 4199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5648E-7208-AC23-0B25-9100EBE91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GB" sz="3000" dirty="0"/>
              <a:t>Agile methodologies are a family of methodologies, not a single approach to software development.</a:t>
            </a:r>
          </a:p>
          <a:p>
            <a:pPr eaLnBrk="1" hangingPunct="1">
              <a:lnSpc>
                <a:spcPct val="90000"/>
              </a:lnSpc>
              <a:defRPr/>
            </a:pPr>
            <a:endParaRPr lang="en-GB" sz="30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GB" sz="3000" dirty="0"/>
              <a:t>They are based on the original concepts of Rapid Application Development (RAD)</a:t>
            </a:r>
          </a:p>
          <a:p>
            <a:pPr eaLnBrk="1" hangingPunct="1">
              <a:lnSpc>
                <a:spcPct val="90000"/>
              </a:lnSpc>
              <a:defRPr/>
            </a:pPr>
            <a:endParaRPr lang="en-GB" sz="30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GB" sz="3000" dirty="0"/>
              <a:t>The idea has been developed to incorporate later stages of the life cycle (software development) and project management</a:t>
            </a:r>
          </a:p>
          <a:p>
            <a:pPr eaLnBrk="1" hangingPunct="1">
              <a:lnSpc>
                <a:spcPct val="90000"/>
              </a:lnSpc>
              <a:defRPr/>
            </a:pPr>
            <a:endParaRPr lang="en-GB" sz="30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GB" sz="3000" dirty="0"/>
              <a:t>DSDM is an Agile Method developed in the UK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GB" sz="2000" dirty="0"/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GB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040" name="Rectangle 4403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042" name="Freeform: Shape 4404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034" name="Title 1">
            <a:extLst>
              <a:ext uri="{FF2B5EF4-FFF2-40B4-BE49-F238E27FC236}">
                <a16:creationId xmlns:a16="http://schemas.microsoft.com/office/drawing/2014/main" id="{3434C451-3126-9BBC-CC4E-C6174BE20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GB" altLang="en-US">
                <a:solidFill>
                  <a:srgbClr val="FFFFFF"/>
                </a:solidFill>
              </a:rPr>
              <a:t>Agile Methods (2)</a:t>
            </a:r>
          </a:p>
        </p:txBody>
      </p:sp>
      <p:sp>
        <p:nvSpPr>
          <p:cNvPr id="44044" name="Arc 4404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A2E94F7F-45EA-946F-2BF0-D0EA1CAD5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altLang="en-US" sz="2400" dirty="0"/>
              <a:t>The Agile Manifesto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 dirty="0"/>
              <a:t>We are uncovering better ways of developing software by doing it and helping others do it. Through this work we have come to value: 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US" b="1" dirty="0"/>
              <a:t>Individuals and interactions</a:t>
            </a:r>
            <a:r>
              <a:rPr lang="en-GB" altLang="en-US" dirty="0"/>
              <a:t> over processes and tools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US" b="1" dirty="0"/>
              <a:t>Working software</a:t>
            </a:r>
            <a:r>
              <a:rPr lang="en-GB" altLang="en-US" dirty="0"/>
              <a:t> over comprehensive documentation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US" b="1" dirty="0"/>
              <a:t>Customer collaboration</a:t>
            </a:r>
            <a:r>
              <a:rPr lang="en-GB" altLang="en-US" dirty="0"/>
              <a:t> over contract negotiation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US" b="1" dirty="0"/>
              <a:t>Responding to change</a:t>
            </a:r>
            <a:r>
              <a:rPr lang="en-GB" altLang="en-US" dirty="0"/>
              <a:t> over following a plan 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US" dirty="0">
                <a:hlinkClick r:id="rId2"/>
              </a:rPr>
              <a:t>http://agilemanifesto.org/</a:t>
            </a:r>
            <a:r>
              <a:rPr lang="en-GB" altLang="en-US" dirty="0"/>
              <a:t> </a:t>
            </a:r>
          </a:p>
          <a:p>
            <a:pPr lvl="1">
              <a:lnSpc>
                <a:spcPct val="90000"/>
              </a:lnSpc>
            </a:pPr>
            <a:endParaRPr lang="en-GB" alt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070" name="Rectangle 4506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071" name="Freeform: Shape 45065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058" name="Title 1">
            <a:extLst>
              <a:ext uri="{FF2B5EF4-FFF2-40B4-BE49-F238E27FC236}">
                <a16:creationId xmlns:a16="http://schemas.microsoft.com/office/drawing/2014/main" id="{E7A405E0-79B4-9167-46A7-9AD6A74B3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GB" altLang="en-US" dirty="0">
                <a:solidFill>
                  <a:srgbClr val="FFFFFF"/>
                </a:solidFill>
              </a:rPr>
              <a:t>Agile Methods (3)</a:t>
            </a:r>
          </a:p>
        </p:txBody>
      </p:sp>
      <p:sp>
        <p:nvSpPr>
          <p:cNvPr id="45072" name="Arc 4507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590721DB-38C7-1574-D652-E9BC0DF8B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GB" altLang="en-US" sz="2800" dirty="0"/>
              <a:t>Some of the well-known agile software development methodologies include:</a:t>
            </a:r>
          </a:p>
          <a:p>
            <a:pPr eaLnBrk="1" hangingPunct="1">
              <a:lnSpc>
                <a:spcPct val="90000"/>
              </a:lnSpc>
            </a:pPr>
            <a:endParaRPr lang="en-GB" altLang="en-US" sz="2800" dirty="0"/>
          </a:p>
          <a:p>
            <a:pPr lvl="1" eaLnBrk="1" hangingPunct="1">
              <a:lnSpc>
                <a:spcPct val="90000"/>
              </a:lnSpc>
            </a:pPr>
            <a:r>
              <a:rPr lang="en-GB" altLang="en-US" dirty="0"/>
              <a:t>Extreme Programming (XP) 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/>
              <a:t>Scrum 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/>
              <a:t>Adaptive Software Development (ASD)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/>
              <a:t>Crystal Clear and Other Crystal Methodologies 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/>
              <a:t>DSDM 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/>
              <a:t>Feature Driven Development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/>
              <a:t>Lean software development	</a:t>
            </a:r>
          </a:p>
          <a:p>
            <a:pPr>
              <a:lnSpc>
                <a:spcPct val="90000"/>
              </a:lnSpc>
            </a:pPr>
            <a:endParaRPr lang="en-GB" alt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088" name="Rectangle 4608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090" name="Freeform: Shape 4608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082" name="Title 1">
            <a:extLst>
              <a:ext uri="{FF2B5EF4-FFF2-40B4-BE49-F238E27FC236}">
                <a16:creationId xmlns:a16="http://schemas.microsoft.com/office/drawing/2014/main" id="{7560CFE0-E502-F7EA-B059-F85B3D17D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GB" altLang="en-US">
                <a:solidFill>
                  <a:srgbClr val="FFFFFF"/>
                </a:solidFill>
              </a:rPr>
              <a:t>Agile Methods (4)</a:t>
            </a:r>
          </a:p>
        </p:txBody>
      </p:sp>
      <p:sp>
        <p:nvSpPr>
          <p:cNvPr id="46092" name="Arc 4609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54DB6A29-D4FB-17A2-5170-03B5229DD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GB" altLang="en-US" sz="2800" dirty="0"/>
              <a:t>Key Agile concepts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/>
              <a:t>Most agile methods attempt to minimize risk by developing software in short timeboxes, called iterations, which typically last one to four weeks.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GB" altLang="en-US" sz="2800" dirty="0"/>
          </a:p>
          <a:p>
            <a:pPr lvl="1" eaLnBrk="1" hangingPunct="1">
              <a:lnSpc>
                <a:spcPct val="90000"/>
              </a:lnSpc>
            </a:pPr>
            <a:r>
              <a:rPr lang="en-GB" altLang="en-US" dirty="0"/>
              <a:t>Each iteration is like a miniature software project of its own, and includes all the tasks necessary to release the mini-increment of new functionality: planning, requirements.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GB" altLang="en-US" sz="1500" dirty="0"/>
              <a:t> </a:t>
            </a:r>
          </a:p>
          <a:p>
            <a:pPr lvl="1">
              <a:lnSpc>
                <a:spcPct val="90000"/>
              </a:lnSpc>
            </a:pPr>
            <a:endParaRPr lang="en-GB" alt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112" name="Rectangle 47111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114" name="Freeform: Shape 47113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106" name="Title 1">
            <a:extLst>
              <a:ext uri="{FF2B5EF4-FFF2-40B4-BE49-F238E27FC236}">
                <a16:creationId xmlns:a16="http://schemas.microsoft.com/office/drawing/2014/main" id="{3F529E00-4361-A05A-7608-797695CBF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GB" altLang="en-US" dirty="0">
                <a:solidFill>
                  <a:srgbClr val="FFFFFF"/>
                </a:solidFill>
              </a:rPr>
              <a:t>Agile Methods (5)</a:t>
            </a:r>
          </a:p>
        </p:txBody>
      </p:sp>
      <p:sp>
        <p:nvSpPr>
          <p:cNvPr id="47116" name="Arc 47115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565F2C98-06DD-F09B-7792-2B9EE1667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GB" altLang="en-US" sz="2800" dirty="0"/>
              <a:t>Key Agile concepts </a:t>
            </a:r>
            <a:r>
              <a:rPr lang="en-GB" altLang="en-US" sz="2800" dirty="0" err="1"/>
              <a:t>cont</a:t>
            </a:r>
            <a:r>
              <a:rPr lang="en-GB" altLang="en-US" sz="2800" dirty="0"/>
              <a:t>…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/>
              <a:t>Agile methods emphasize face-to-face communication over written documents. 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/>
              <a:t>Most agile teams are located in a ‘</a:t>
            </a:r>
            <a:r>
              <a:rPr lang="en-GB" altLang="en-US" dirty="0" err="1"/>
              <a:t>bullpe’n</a:t>
            </a:r>
            <a:r>
              <a:rPr lang="en-GB" altLang="en-US" dirty="0"/>
              <a:t> and include all the people necessary to finish software.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US" sz="2800" dirty="0"/>
              <a:t> At a minimum, this includes programmers and their "customers." 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US" sz="2800" dirty="0"/>
              <a:t>The bullpen may also include testers, interaction designers, technical writers, and managers.</a:t>
            </a:r>
          </a:p>
          <a:p>
            <a:pPr lvl="1">
              <a:lnSpc>
                <a:spcPct val="90000"/>
              </a:lnSpc>
            </a:pPr>
            <a:endParaRPr lang="en-GB" alt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6" name="Rectangle 48135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130" name="Title 1">
            <a:extLst>
              <a:ext uri="{FF2B5EF4-FFF2-40B4-BE49-F238E27FC236}">
                <a16:creationId xmlns:a16="http://schemas.microsoft.com/office/drawing/2014/main" id="{4B2B1A77-D246-7AC1-BA7A-0C24B786B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GB" altLang="en-US" sz="2800">
                <a:solidFill>
                  <a:schemeClr val="bg1"/>
                </a:solidFill>
              </a:rPr>
              <a:t>Extreme Programming</a:t>
            </a:r>
          </a:p>
        </p:txBody>
      </p:sp>
      <p:pic>
        <p:nvPicPr>
          <p:cNvPr id="48131" name="Picture 6" descr="xpprocess">
            <a:extLst>
              <a:ext uri="{FF2B5EF4-FFF2-40B4-BE49-F238E27FC236}">
                <a16:creationId xmlns:a16="http://schemas.microsoft.com/office/drawing/2014/main" id="{DBEE669E-E49A-A834-BE32-1C81E62B8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2456" y="1540316"/>
            <a:ext cx="8390632" cy="5055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60" name="Rectangle 4915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54" name="Title 1">
            <a:extLst>
              <a:ext uri="{FF2B5EF4-FFF2-40B4-BE49-F238E27FC236}">
                <a16:creationId xmlns:a16="http://schemas.microsoft.com/office/drawing/2014/main" id="{906B1AD8-C461-7EF6-D08A-F9C2BC638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GB" altLang="en-US" sz="2800">
                <a:solidFill>
                  <a:schemeClr val="bg1"/>
                </a:solidFill>
              </a:rPr>
              <a:t>Scrum</a:t>
            </a:r>
          </a:p>
        </p:txBody>
      </p:sp>
      <p:pic>
        <p:nvPicPr>
          <p:cNvPr id="49155" name="Picture 5" descr="scrum">
            <a:extLst>
              <a:ext uri="{FF2B5EF4-FFF2-40B4-BE49-F238E27FC236}">
                <a16:creationId xmlns:a16="http://schemas.microsoft.com/office/drawing/2014/main" id="{099071AC-236C-27C7-5381-D3657C533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4577" y="1396589"/>
            <a:ext cx="8299833" cy="5378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896" name="Rectangle 37895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98" name="Freeform: Shape 37897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1FE2A091-3688-E3FE-71FB-75B95B28FC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sz="3400" i="1" dirty="0">
                <a:solidFill>
                  <a:srgbClr val="FFFFFF"/>
                </a:solidFill>
              </a:rPr>
              <a:t>Iterative and Incremental</a:t>
            </a:r>
          </a:p>
        </p:txBody>
      </p:sp>
      <p:sp>
        <p:nvSpPr>
          <p:cNvPr id="37900" name="Arc 37899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9A5739A5-60ED-CFA2-F0F8-3CA3977C56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GB" altLang="en-US" sz="3000"/>
              <a:t>Belief that user requirements cannot be fully and accurately defined at one go.</a:t>
            </a:r>
          </a:p>
          <a:p>
            <a:pPr eaLnBrk="1" hangingPunct="1"/>
            <a:r>
              <a:rPr lang="en-GB" altLang="en-US" sz="3000"/>
              <a:t>Requirements evolve and change over time as understanding deepens.</a:t>
            </a:r>
          </a:p>
          <a:p>
            <a:pPr eaLnBrk="1" hangingPunct="1"/>
            <a:endParaRPr lang="en-GB" altLang="en-US" sz="3000"/>
          </a:p>
          <a:p>
            <a:pPr eaLnBrk="1" hangingPunct="1"/>
            <a:r>
              <a:rPr lang="en-GB" altLang="en-US" sz="3000" i="1"/>
              <a:t>This is a key concept of modern methods and we will come back to it over and over again.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MY">
                <a:solidFill>
                  <a:srgbClr val="FFFFFF"/>
                </a:solidFill>
              </a:rPr>
              <a:t>Real-World Example: Planning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Example: Planning the development of a mobile banking app, including defining the scope, objectives, and timeline.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MY" sz="2800">
                <a:solidFill>
                  <a:srgbClr val="FFFFFF"/>
                </a:solidFill>
              </a:rPr>
              <a:t>Real-World Example: Requirements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Example: Gathering requirements for features such as account balance check, fund transfer, and transaction history.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MY">
                <a:solidFill>
                  <a:srgbClr val="FFFFFF"/>
                </a:solidFill>
              </a:rPr>
              <a:t>Real-World Example: Design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Example: Designing the user interface and database schema for the mobile banking app.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MY" sz="3100">
                <a:solidFill>
                  <a:srgbClr val="FFFFFF"/>
                </a:solidFill>
              </a:rPr>
              <a:t>Real-World Example: Development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MY"/>
              <a:t>Example: Developing the front-end and back-end functionalities of the mobile banking app.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MY" sz="37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dirty="0"/>
              <a:t>SDLC is a crucial process for developing high-quality software. Understanding each phase and its importance helps ensure successful software projects.</a:t>
            </a:r>
            <a:endParaRPr lang="en-US" dirty="0"/>
          </a:p>
          <a:p>
            <a:endParaRPr lang="en-MY" dirty="0"/>
          </a:p>
          <a:p>
            <a:r>
              <a:rPr lang="en-MY" dirty="0"/>
              <a:t>Example implementation : </a:t>
            </a:r>
            <a:r>
              <a:rPr lang="en-MY" dirty="0">
                <a:hlinkClick r:id="rId2"/>
              </a:rPr>
              <a:t>Process Model</a:t>
            </a:r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83977B-B063-C5FE-5CF7-5D44A7EF9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 dirty="0"/>
              <a:t>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240D9-BD9D-3A5C-7FA4-253F96C3A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823" y="2324913"/>
            <a:ext cx="4152275" cy="4360700"/>
          </a:xfrm>
        </p:spPr>
        <p:txBody>
          <a:bodyPr anchor="ctr">
            <a:normAutofit/>
          </a:bodyPr>
          <a:lstStyle/>
          <a:p>
            <a:r>
              <a:rPr lang="en-US" sz="2400" dirty="0"/>
              <a:t>Work in group of 4.</a:t>
            </a:r>
          </a:p>
          <a:p>
            <a:r>
              <a:rPr lang="en-US" sz="2400" dirty="0"/>
              <a:t>Propose a system/app</a:t>
            </a:r>
          </a:p>
          <a:p>
            <a:r>
              <a:rPr lang="en-US" sz="2400" dirty="0"/>
              <a:t>Implement either </a:t>
            </a:r>
            <a:r>
              <a:rPr lang="en-US" sz="2400"/>
              <a:t>SCRUM towards </a:t>
            </a:r>
            <a:r>
              <a:rPr lang="en-US" sz="2400" dirty="0"/>
              <a:t>completing the proposed project.</a:t>
            </a:r>
          </a:p>
          <a:p>
            <a:r>
              <a:rPr lang="en-US" sz="2400" dirty="0"/>
              <a:t>Articulate the process and findings in </a:t>
            </a:r>
            <a:r>
              <a:rPr lang="en-US" sz="2400" dirty="0" err="1"/>
              <a:t>powerpoint</a:t>
            </a:r>
            <a:r>
              <a:rPr lang="en-US" sz="2400" dirty="0"/>
              <a:t> converted to PDF (smaller file size).</a:t>
            </a:r>
          </a:p>
          <a:p>
            <a:r>
              <a:rPr lang="en-US" sz="2400" dirty="0"/>
              <a:t>Share in class.</a:t>
            </a:r>
          </a:p>
        </p:txBody>
      </p:sp>
      <p:pic>
        <p:nvPicPr>
          <p:cNvPr id="5" name="Picture 4" descr="Multi-coloured paper-craft art">
            <a:extLst>
              <a:ext uri="{FF2B5EF4-FFF2-40B4-BE49-F238E27FC236}">
                <a16:creationId xmlns:a16="http://schemas.microsoft.com/office/drawing/2014/main" id="{C55A0E29-BEBC-181A-9958-6647AE3912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844" r="26606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088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1091</Words>
  <Application>Microsoft Macintosh PowerPoint</Application>
  <PresentationFormat>On-screen Show (4:3)</PresentationFormat>
  <Paragraphs>147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Aptos</vt:lpstr>
      <vt:lpstr>Arial</vt:lpstr>
      <vt:lpstr>Calibri</vt:lpstr>
      <vt:lpstr>Wingdings</vt:lpstr>
      <vt:lpstr>Office Theme</vt:lpstr>
      <vt:lpstr>Software Development Life Cycle (SDLC)</vt:lpstr>
      <vt:lpstr>The need for a framework</vt:lpstr>
      <vt:lpstr>Introduction</vt:lpstr>
      <vt:lpstr>You must remember this!</vt:lpstr>
      <vt:lpstr>SDLC Phases</vt:lpstr>
      <vt:lpstr>Planning Phase</vt:lpstr>
      <vt:lpstr>Requirements Phase</vt:lpstr>
      <vt:lpstr>Example: Requirements Analysis</vt:lpstr>
      <vt:lpstr>Design Phase</vt:lpstr>
      <vt:lpstr>Development Phase</vt:lpstr>
      <vt:lpstr>Testing Phase</vt:lpstr>
      <vt:lpstr>Deployment Phase</vt:lpstr>
      <vt:lpstr>Maintenance Phase</vt:lpstr>
      <vt:lpstr>The development Models</vt:lpstr>
      <vt:lpstr>SSADM generic framework</vt:lpstr>
      <vt:lpstr>SSADM stages</vt:lpstr>
      <vt:lpstr>UML </vt:lpstr>
      <vt:lpstr>Use case driven</vt:lpstr>
      <vt:lpstr>UML models and diagrams</vt:lpstr>
      <vt:lpstr>RUP The Rational Unified Process</vt:lpstr>
      <vt:lpstr>Rational Unified Process</vt:lpstr>
      <vt:lpstr>RUP – Phases and resources</vt:lpstr>
      <vt:lpstr>The DSDM life cycle (Dynamic Systems Development Method)</vt:lpstr>
      <vt:lpstr>Agile Methods (1)</vt:lpstr>
      <vt:lpstr>Agile Methods (2)</vt:lpstr>
      <vt:lpstr>Agile Methods (3)</vt:lpstr>
      <vt:lpstr>Agile Methods (4)</vt:lpstr>
      <vt:lpstr>Agile Methods (5)</vt:lpstr>
      <vt:lpstr>Extreme Programming</vt:lpstr>
      <vt:lpstr>Scrum</vt:lpstr>
      <vt:lpstr>Iterative and Incremental</vt:lpstr>
      <vt:lpstr>Real-World Example: Planning</vt:lpstr>
      <vt:lpstr>Real-World Example: Requirements</vt:lpstr>
      <vt:lpstr>Real-World Example: Design</vt:lpstr>
      <vt:lpstr>Real-World Example: Development</vt:lpstr>
      <vt:lpstr>Conclusion</vt:lpstr>
      <vt:lpstr>Task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Hazlina Haron</cp:lastModifiedBy>
  <cp:revision>1</cp:revision>
  <dcterms:created xsi:type="dcterms:W3CDTF">2013-01-27T09:14:16Z</dcterms:created>
  <dcterms:modified xsi:type="dcterms:W3CDTF">2025-09-19T02:41:21Z</dcterms:modified>
  <cp:category/>
</cp:coreProperties>
</file>