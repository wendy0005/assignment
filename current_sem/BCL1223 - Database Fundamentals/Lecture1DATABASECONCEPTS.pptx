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5143500" cx="9144000"/>
  <p:notesSz cx="6858000" cy="9144000"/>
  <p:embeddedFontLst>
    <p:embeddedFont>
      <p:font typeface="Lexend Deca"/>
      <p:regular r:id="rId53"/>
      <p:bold r:id="rId54"/>
    </p:embeddedFont>
    <p:embeddedFont>
      <p:font typeface="Open Sans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LexendDeca-regular.fnt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OpenSans-regular.fntdata"/><Relationship Id="rId10" Type="http://schemas.openxmlformats.org/officeDocument/2006/relationships/slide" Target="slides/slide4.xml"/><Relationship Id="rId54" Type="http://schemas.openxmlformats.org/officeDocument/2006/relationships/font" Target="fonts/LexendDeca-bold.fntdata"/><Relationship Id="rId13" Type="http://schemas.openxmlformats.org/officeDocument/2006/relationships/slide" Target="slides/slide7.xml"/><Relationship Id="rId57" Type="http://schemas.openxmlformats.org/officeDocument/2006/relationships/font" Target="fonts/OpenSans-italic.fntdata"/><Relationship Id="rId12" Type="http://schemas.openxmlformats.org/officeDocument/2006/relationships/slide" Target="slides/slide6.xml"/><Relationship Id="rId56" Type="http://schemas.openxmlformats.org/officeDocument/2006/relationships/font" Target="fonts/OpenSa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Open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27f3cd3d7_2_52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27f3cd3d7_2_52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27f3cd3d7_2_61:notes"/>
          <p:cNvSpPr txBox="1"/>
          <p:nvPr/>
        </p:nvSpPr>
        <p:spPr>
          <a:xfrm>
            <a:off x="3883850" y="8686299"/>
            <a:ext cx="2972547" cy="45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9" name="Google Shape;119;g3f27f3cd3d7_2_61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g3f27f3cd3d7_2_61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27f3cd3d7_2_69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27f3cd3d7_2_69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27f3cd3d7_2_76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3f27f3cd3d7_2_76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Context transforms raw data into meaningful information by providing the background and circumstances needed for accurate interpretation and decision-making.</a:t>
            </a:r>
            <a:endParaRPr/>
          </a:p>
        </p:txBody>
      </p:sp>
      <p:sp>
        <p:nvSpPr>
          <p:cNvPr id="137" name="Google Shape;137;g3f27f3cd3d7_2_76:notes"/>
          <p:cNvSpPr txBox="1"/>
          <p:nvPr/>
        </p:nvSpPr>
        <p:spPr>
          <a:xfrm>
            <a:off x="3883850" y="8686299"/>
            <a:ext cx="2972547" cy="45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27f3cd3d7_2_84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27f3cd3d7_2_84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7f3cd3d7_2_91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27f3cd3d7_2_91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27f3cd3d7_2_98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27f3cd3d7_2_98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27f3cd3d7_2_106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27f3cd3d7_2_106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27f3cd3d7_2_112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27f3cd3d7_2_112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27f3cd3d7_2_119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f27f3cd3d7_2_119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27f3cd3d7_2_119:notes"/>
          <p:cNvSpPr txBox="1"/>
          <p:nvPr/>
        </p:nvSpPr>
        <p:spPr>
          <a:xfrm>
            <a:off x="3883850" y="8686299"/>
            <a:ext cx="2972547" cy="45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27f3cd3d7_2_127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g3f27f3cd3d7_2_127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 </a:t>
            </a:r>
            <a:r>
              <a:rPr b="1" lang="en"/>
              <a:t>data warehouse</a:t>
            </a:r>
            <a:r>
              <a:rPr lang="en"/>
              <a:t> is a centralized repository that collects, integrates, and stores large volumes of historical data from multiple sources within an organization. It is designed to support </a:t>
            </a:r>
            <a:r>
              <a:rPr b="1" lang="en"/>
              <a:t>business intelligence (BI), reporting, analytics, and decision-making</a:t>
            </a:r>
            <a:r>
              <a:rPr lang="en"/>
              <a:t>.</a:t>
            </a:r>
            <a:endParaRPr/>
          </a:p>
        </p:txBody>
      </p:sp>
      <p:sp>
        <p:nvSpPr>
          <p:cNvPr id="195" name="Google Shape;195;g3f27f3cd3d7_2_127:notes"/>
          <p:cNvSpPr txBox="1"/>
          <p:nvPr/>
        </p:nvSpPr>
        <p:spPr>
          <a:xfrm>
            <a:off x="3883850" y="8686299"/>
            <a:ext cx="2972547" cy="45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27f3cd3d7_2_136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3f27f3cd3d7_2_136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XML (eXtensible Markup Language) data</a:t>
            </a:r>
            <a:r>
              <a:rPr lang="en"/>
              <a:t> is a self-describing, structured format used to store and exchange information between different systems and applications.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Data exchange between applications Web services and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Integration of information from different systems</a:t>
            </a:r>
            <a:endParaRPr/>
          </a:p>
        </p:txBody>
      </p:sp>
      <p:sp>
        <p:nvSpPr>
          <p:cNvPr id="205" name="Google Shape;205;g3f27f3cd3d7_2_136:notes"/>
          <p:cNvSpPr txBox="1"/>
          <p:nvPr/>
        </p:nvSpPr>
        <p:spPr>
          <a:xfrm>
            <a:off x="3883850" y="8686299"/>
            <a:ext cx="2972547" cy="45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27f3cd3d7_2_143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27f3cd3d7_2_143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27f3cd3d7_2_150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f27f3cd3d7_2_150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27f3cd3d7_2_157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27f3cd3d7_2_157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27f3cd3d7_2_164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f27f3cd3d7_2_164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27f3cd3d7_2_171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27f3cd3d7_2_171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27f3cd3d7_2_177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27f3cd3d7_2_177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27f3cd3d7_2_183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27f3cd3d7_2_183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27f3cd3d7_2_189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g3f27f3cd3d7_2_189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b="1" lang="en">
                <a:solidFill>
                  <a:srgbClr val="FF0000"/>
                </a:solidFill>
              </a:rPr>
              <a:t>Ad hoc query </a:t>
            </a:r>
            <a:r>
              <a:rPr lang="en"/>
              <a:t>refers to user-defined searches that are used to gain insight into a given data set without requiring any predefined dashboards, drill paths, and coding.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By leveraging these types of queries, users can access specific information when and where they need it.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27f3cd3d7_2_196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27f3cd3d7_2_196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27f3cd3d7_2_204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f27f3cd3d7_2_204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27f3cd3d7_2_211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f27f3cd3d7_2_211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27f3cd3d7_2_218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27f3cd3d7_2_218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27f3cd3d7_2_225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27f3cd3d7_2_225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27f3cd3d7_2_233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g3f27f3cd3d7_2_233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Conceptual Model-Business view of data, Entities and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Logical Model-Detailed data structure-Tables, attributes, keys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Physical Model-Database implementation Actual database schema</a:t>
            </a:r>
            <a:endParaRPr/>
          </a:p>
        </p:txBody>
      </p:sp>
      <p:sp>
        <p:nvSpPr>
          <p:cNvPr id="316" name="Google Shape;316;g3f27f3cd3d7_2_233:notes"/>
          <p:cNvSpPr txBox="1"/>
          <p:nvPr/>
        </p:nvSpPr>
        <p:spPr>
          <a:xfrm>
            <a:off x="3883850" y="8686299"/>
            <a:ext cx="2972547" cy="45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27f3cd3d7_2_240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g3f27f3cd3d7_2_240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The </a:t>
            </a:r>
            <a:r>
              <a:rPr b="1" lang="en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Conceptual Model</a:t>
            </a:r>
            <a:r>
              <a:rPr lang="en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 Is To Establish The Entities, Their Attributes, And Their Relationships. [basic ERD]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The </a:t>
            </a:r>
            <a:r>
              <a:rPr b="1" lang="en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Logical Data Model</a:t>
            </a:r>
            <a:r>
              <a:rPr lang="en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 Defines The Structure Of The Data Elements And Set The Relationships Between Them. [define ERD, define PK]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The </a:t>
            </a:r>
            <a:r>
              <a:rPr b="1" lang="en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Physical Data Model</a:t>
            </a:r>
            <a:r>
              <a:rPr lang="en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 Describes The Database-Specific Implementation Of The Data Model. [detail ERD as real situation]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g3f27f3cd3d7_2_240:notes"/>
          <p:cNvSpPr txBox="1"/>
          <p:nvPr/>
        </p:nvSpPr>
        <p:spPr>
          <a:xfrm>
            <a:off x="3883850" y="8686299"/>
            <a:ext cx="2972547" cy="45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27f3cd3d7_2_249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g3f27f3cd3d7_2_249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">
                <a:solidFill>
                  <a:srgbClr val="FF0000"/>
                </a:solidFill>
              </a:rPr>
              <a:t>data repository: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Deca"/>
              <a:buNone/>
            </a:pPr>
            <a:r>
              <a:rPr lang="en">
                <a:solidFill>
                  <a:srgbClr val="2E475D"/>
                </a:solidFill>
                <a:latin typeface="Lexend Deca"/>
                <a:ea typeface="Lexend Deca"/>
                <a:cs typeface="Lexend Deca"/>
                <a:sym typeface="Lexend Deca"/>
              </a:rPr>
              <a:t>A data repository is a data storage entity in which data has been isolated for analytical or reporting purposes. Since it provides long-term storage and access to data, it is a type of sustainable information infrastructure.</a:t>
            </a:r>
            <a:endParaRPr/>
          </a:p>
        </p:txBody>
      </p:sp>
      <p:sp>
        <p:nvSpPr>
          <p:cNvPr id="334" name="Google Shape;334;g3f27f3cd3d7_2_249:notes"/>
          <p:cNvSpPr txBox="1"/>
          <p:nvPr/>
        </p:nvSpPr>
        <p:spPr>
          <a:xfrm>
            <a:off x="3883850" y="8686299"/>
            <a:ext cx="2972547" cy="45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27f3cd3d7_2_257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f27f3cd3d7_2_257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27f3cd3d7_2_263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g3f27f3cd3d7_2_263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f27f3cd3d7_2_263:notes"/>
          <p:cNvSpPr txBox="1"/>
          <p:nvPr/>
        </p:nvSpPr>
        <p:spPr>
          <a:xfrm>
            <a:off x="3883850" y="8686299"/>
            <a:ext cx="2972547" cy="45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27f3cd3d7_2_271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f27f3cd3d7_2_271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27f3cd3d7_2_278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f27f3cd3d7_2_278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27f3cd3d7_2_284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f27f3cd3d7_2_284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27f3cd3d7_2_292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f27f3cd3d7_2_292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27f3cd3d7_2_299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f27f3cd3d7_2_299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27f3cd3d7_2_305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27f3cd3d7_2_305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27f3cd3d7_2_312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g3f27f3cd3d7_2_312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f27f3cd3d7_2_312:notes"/>
          <p:cNvSpPr txBox="1"/>
          <p:nvPr/>
        </p:nvSpPr>
        <p:spPr>
          <a:xfrm>
            <a:off x="3883850" y="8686299"/>
            <a:ext cx="2972547" cy="45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27f3cd3d7_2_320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g3f27f3cd3d7_2_320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Open Sans"/>
              <a:buNone/>
            </a:pPr>
            <a:r>
              <a:rPr lang="en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Data Integrity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Open Sans"/>
              <a:buNone/>
            </a:pPr>
            <a:r>
              <a:rPr lang="en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Data integrity ensures the quality and the reliability of the data of a database system.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Open Sans"/>
              <a:buNone/>
            </a:pPr>
            <a:r>
              <a:rPr lang="en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Data integrity includes also the protection of the database from unauthorized access (confidentiality) and unauthorized changes. 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Open Sans"/>
              <a:buNone/>
            </a:pPr>
            <a:r>
              <a:rPr lang="en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A DBMS should bring only correct and consistent data into the database.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Open Sans"/>
              <a:buNone/>
            </a:pPr>
            <a:r>
              <a:rPr lang="en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Additionally, correct transactions ensure that the consistency is maintained during the operation of the system.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Open Sans"/>
              <a:buNone/>
            </a:pPr>
            <a:r>
              <a:rPr lang="en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An example for inconsistency would be if contradictory statements were saved in the same database.</a:t>
            </a:r>
            <a:endParaRPr/>
          </a:p>
        </p:txBody>
      </p:sp>
      <p:sp>
        <p:nvSpPr>
          <p:cNvPr id="415" name="Google Shape;415;g3f27f3cd3d7_2_320:notes"/>
          <p:cNvSpPr txBox="1"/>
          <p:nvPr/>
        </p:nvSpPr>
        <p:spPr>
          <a:xfrm>
            <a:off x="3883850" y="8686299"/>
            <a:ext cx="2972547" cy="45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27f3cd3d7_2_328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f27f3cd3d7_2_328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27f3cd3d7_2_335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f27f3cd3d7_2_335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27f3cd3d7_2_342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f27f3cd3d7_2_342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27f3cd3d7_2_349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f27f3cd3d7_2_349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27f3cd3d7_2_356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f27f3cd3d7_2_356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27f3cd3d7_2_363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27f3cd3d7_2_363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27f3cd3d7_2_370:notes"/>
          <p:cNvSpPr txBox="1"/>
          <p:nvPr>
            <p:ph idx="1" type="body"/>
          </p:nvPr>
        </p:nvSpPr>
        <p:spPr>
          <a:xfrm>
            <a:off x="685480" y="4343150"/>
            <a:ext cx="5487041" cy="4115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f27f3cd3d7_2_370:notes"/>
          <p:cNvSpPr/>
          <p:nvPr>
            <p:ph idx="2" type="sldImg"/>
          </p:nvPr>
        </p:nvSpPr>
        <p:spPr>
          <a:xfrm>
            <a:off x="91290" y="685837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0" type="dt"/>
          </p:nvPr>
        </p:nvSpPr>
        <p:spPr>
          <a:xfrm>
            <a:off x="5973365" y="4704159"/>
            <a:ext cx="245506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802481" y="363140"/>
            <a:ext cx="7543800" cy="120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802481" y="1590675"/>
            <a:ext cx="754380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Char char="▪"/>
              <a:defRPr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2pPr>
            <a:lvl3pPr indent="-29845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5pPr>
            <a:lvl6pPr indent="-2984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6pPr>
            <a:lvl7pPr indent="-2984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7pPr>
            <a:lvl8pPr indent="-2984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8pPr>
            <a:lvl9pPr indent="-29845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100"/>
              <a:buChar char="▪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5973365" y="4704159"/>
            <a:ext cx="245506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 rot="5400000">
            <a:off x="5386388" y="1557338"/>
            <a:ext cx="4229100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 rot="5400000">
            <a:off x="1500188" y="-300037"/>
            <a:ext cx="4229100" cy="56292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Char char="▪"/>
              <a:defRPr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2pPr>
            <a:lvl3pPr indent="-29845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5pPr>
            <a:lvl6pPr indent="-2984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6pPr>
            <a:lvl7pPr indent="-2984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7pPr>
            <a:lvl8pPr indent="-2984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8pPr>
            <a:lvl9pPr indent="-29845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100"/>
              <a:buChar char="▪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5973365" y="4704159"/>
            <a:ext cx="245506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802481" y="363140"/>
            <a:ext cx="7543800" cy="120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 rot="5400000">
            <a:off x="3055144" y="-661987"/>
            <a:ext cx="3038475" cy="7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Char char="▪"/>
              <a:defRPr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2pPr>
            <a:lvl3pPr indent="-29845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5pPr>
            <a:lvl6pPr indent="-2984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6pPr>
            <a:lvl7pPr indent="-2984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7pPr>
            <a:lvl8pPr indent="-2984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8pPr>
            <a:lvl9pPr indent="-29845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100"/>
              <a:buChar char="▪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5973365" y="4704159"/>
            <a:ext cx="245506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802481" y="363140"/>
            <a:ext cx="7543800" cy="120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5973365" y="4704159"/>
            <a:ext cx="245506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802481" y="363140"/>
            <a:ext cx="7543800" cy="120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800100" y="1536192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  <a:defRPr b="1" sz="15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802386" y="205740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11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  <a:defRPr sz="1500"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2pPr>
            <a:lvl3pPr indent="-2921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3pPr>
            <a:lvl4pPr indent="-2921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4pPr>
            <a:lvl5pPr indent="-2921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5pPr>
            <a:lvl6pPr indent="-2921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6pPr>
            <a:lvl7pPr indent="-2921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7pPr>
            <a:lvl8pPr indent="-2921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8pPr>
            <a:lvl9pPr indent="-29210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000"/>
              <a:buChar char="▪"/>
              <a:defRPr sz="1200"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773168" y="1536192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  <a:defRPr b="1" sz="15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773168" y="205740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11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  <a:defRPr sz="1500"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2pPr>
            <a:lvl3pPr indent="-2921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3pPr>
            <a:lvl4pPr indent="-2921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4pPr>
            <a:lvl5pPr indent="-2921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5pPr>
            <a:lvl6pPr indent="-2921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6pPr>
            <a:lvl7pPr indent="-2921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7pPr>
            <a:lvl8pPr indent="-2921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8pPr>
            <a:lvl9pPr indent="-29210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000"/>
              <a:buChar char="▪"/>
              <a:defRPr sz="12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5973365" y="4704159"/>
            <a:ext cx="245506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802481" y="363140"/>
            <a:ext cx="7543800" cy="120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802386" y="1645920"/>
            <a:ext cx="3566160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11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  <a:defRPr sz="1500"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2pPr>
            <a:lvl3pPr indent="-2921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3pPr>
            <a:lvl4pPr indent="-2921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4pPr>
            <a:lvl5pPr indent="-2921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5pPr>
            <a:lvl6pPr indent="-2921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6pPr>
            <a:lvl7pPr indent="-2921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7pPr>
            <a:lvl8pPr indent="-2921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8pPr>
            <a:lvl9pPr indent="-29210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000"/>
              <a:buChar char="▪"/>
              <a:defRPr sz="1200"/>
            </a:lvl9pPr>
          </a:lstStyle>
          <a:p/>
        </p:txBody>
      </p:sp>
      <p:sp>
        <p:nvSpPr>
          <p:cNvPr id="98" name="Google Shape;98;p20"/>
          <p:cNvSpPr txBox="1"/>
          <p:nvPr>
            <p:ph idx="2" type="body"/>
          </p:nvPr>
        </p:nvSpPr>
        <p:spPr>
          <a:xfrm>
            <a:off x="4773168" y="1645920"/>
            <a:ext cx="3566160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11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  <a:defRPr sz="1500"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2pPr>
            <a:lvl3pPr indent="-2921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3pPr>
            <a:lvl4pPr indent="-2921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4pPr>
            <a:lvl5pPr indent="-2921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5pPr>
            <a:lvl6pPr indent="-2921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6pPr>
            <a:lvl7pPr indent="-2921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7pPr>
            <a:lvl8pPr indent="-2921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8pPr>
            <a:lvl9pPr indent="-29210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000"/>
              <a:buChar char="▪"/>
              <a:defRPr sz="1200"/>
            </a:lvl9pPr>
          </a:lstStyle>
          <a:p/>
        </p:txBody>
      </p:sp>
      <p:sp>
        <p:nvSpPr>
          <p:cNvPr id="99" name="Google Shape;99;p20"/>
          <p:cNvSpPr txBox="1"/>
          <p:nvPr>
            <p:ph idx="10" type="dt"/>
          </p:nvPr>
        </p:nvSpPr>
        <p:spPr>
          <a:xfrm>
            <a:off x="5973365" y="4704159"/>
            <a:ext cx="245506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1" type="ftr"/>
          </p:nvPr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802481" y="363140"/>
            <a:ext cx="7543800" cy="120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4100" u="none" cap="none" strike="noStrike"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4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4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4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4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4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4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4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4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02481" y="1590675"/>
            <a:ext cx="754380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11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1300"/>
              <a:buFont typeface="Noto Sans Symbols"/>
              <a:buChar char="▪"/>
              <a:defRPr b="0" i="0" sz="1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2984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1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2921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2921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2921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973365" y="4704159"/>
            <a:ext cx="245506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5" name="Google Shape;55;p13"/>
          <p:cNvGrpSpPr/>
          <p:nvPr/>
        </p:nvGrpSpPr>
        <p:grpSpPr>
          <a:xfrm>
            <a:off x="8551069" y="4672013"/>
            <a:ext cx="342900" cy="342900"/>
            <a:chOff x="11361456" y="6195813"/>
            <a:chExt cx="548640" cy="548640"/>
          </a:xfrm>
        </p:grpSpPr>
        <p:sp>
          <p:nvSpPr>
            <p:cNvPr id="56" name="Google Shape;56;p13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11395746" y="6230103"/>
              <a:ext cx="480060" cy="480060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  <a:defRPr b="1" i="0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jpg"/><Relationship Id="rId4" Type="http://schemas.openxmlformats.org/officeDocument/2006/relationships/image" Target="../media/image19.jpg"/><Relationship Id="rId5" Type="http://schemas.openxmlformats.org/officeDocument/2006/relationships/image" Target="../media/image1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</a:pPr>
            <a:r>
              <a:rPr b="0" i="0" lang="en" sz="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</a:t>
            </a:r>
            <a:r>
              <a:rPr b="0" baseline="30000" i="0" lang="en" sz="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Edition</a:t>
            </a:r>
            <a:endParaRPr sz="1100"/>
          </a:p>
        </p:txBody>
      </p:sp>
      <p:sp>
        <p:nvSpPr>
          <p:cNvPr id="113" name="Google Shape;113;p22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ckwell"/>
              <a:buNone/>
            </a:pPr>
            <a:fld id="{00000000-1234-1234-1234-123412341234}" type="slidenum">
              <a:rPr b="1" i="0" lang="en" sz="110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‹#›</a:t>
            </a:fld>
            <a:endParaRPr sz="1100"/>
          </a:p>
        </p:txBody>
      </p:sp>
      <p:sp>
        <p:nvSpPr>
          <p:cNvPr id="114" name="Google Shape;114;p22"/>
          <p:cNvSpPr txBox="1"/>
          <p:nvPr/>
        </p:nvSpPr>
        <p:spPr>
          <a:xfrm>
            <a:off x="943025" y="514404"/>
            <a:ext cx="8020381" cy="1096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Rockwell"/>
              <a:buNone/>
            </a:pPr>
            <a:r>
              <a:rPr b="1" i="0" lang="en" sz="33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  <a:t>Database Systems: </a:t>
            </a:r>
            <a:br>
              <a:rPr b="1" i="0" lang="en" sz="33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</a:br>
            <a:r>
              <a:rPr b="1" i="0" lang="en" sz="33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  <a:t>Design, Implementation, and Management</a:t>
            </a:r>
            <a:br>
              <a:rPr b="1" i="0" lang="en" sz="33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</a:br>
            <a:r>
              <a:rPr b="1" i="0" lang="en" sz="33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  <a:t>Ninth Edition</a:t>
            </a:r>
            <a:endParaRPr sz="1100"/>
          </a:p>
        </p:txBody>
      </p:sp>
      <p:sp>
        <p:nvSpPr>
          <p:cNvPr id="115" name="Google Shape;115;p22"/>
          <p:cNvSpPr txBox="1"/>
          <p:nvPr/>
        </p:nvSpPr>
        <p:spPr>
          <a:xfrm>
            <a:off x="815578" y="3825478"/>
            <a:ext cx="8115300" cy="839390"/>
          </a:xfrm>
          <a:prstGeom prst="rect">
            <a:avLst/>
          </a:prstGeom>
          <a:solidFill>
            <a:srgbClr val="D0BCB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600"/>
              <a:buFont typeface="Rockwell"/>
              <a:buNone/>
            </a:pPr>
            <a:r>
              <a:rPr b="1" i="0" lang="en" sz="2600" u="none">
                <a:solidFill>
                  <a:srgbClr val="7030A0"/>
                </a:solidFill>
                <a:latin typeface="Rockwell"/>
                <a:ea typeface="Rockwell"/>
                <a:cs typeface="Rockwell"/>
                <a:sym typeface="Rockwell"/>
              </a:rPr>
              <a:t>Chapter 1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600"/>
              <a:buFont typeface="Rockwell"/>
              <a:buNone/>
            </a:pPr>
            <a:r>
              <a:rPr b="1" i="0" lang="en" sz="2600" u="none">
                <a:solidFill>
                  <a:srgbClr val="7030A0"/>
                </a:solidFill>
                <a:latin typeface="Rockwell"/>
                <a:ea typeface="Rockwell"/>
                <a:cs typeface="Rockwell"/>
                <a:sym typeface="Rockwell"/>
              </a:rPr>
              <a:t>Database Concept</a:t>
            </a:r>
            <a:endParaRPr sz="1100"/>
          </a:p>
        </p:txBody>
      </p:sp>
      <p:pic>
        <p:nvPicPr>
          <p:cNvPr id="116" name="Google Shape;1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24038"/>
            <a:ext cx="8114109" cy="1909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idx="4294967295" type="title"/>
          </p:nvPr>
        </p:nvSpPr>
        <p:spPr>
          <a:xfrm>
            <a:off x="800586" y="165068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OBJECTIVES</a:t>
            </a:r>
            <a:endParaRPr/>
          </a:p>
        </p:txBody>
      </p:sp>
      <p:sp>
        <p:nvSpPr>
          <p:cNvPr id="123" name="Google Shape;123;p23"/>
          <p:cNvSpPr txBox="1"/>
          <p:nvPr>
            <p:ph idx="4294967295" type="body"/>
          </p:nvPr>
        </p:nvSpPr>
        <p:spPr>
          <a:xfrm>
            <a:off x="723229" y="1016794"/>
            <a:ext cx="8239796" cy="39612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ct val="82857"/>
              <a:buFont typeface="Rockwell"/>
              <a:buNone/>
            </a:pPr>
            <a:r>
              <a:rPr b="0" i="0" lang="en" sz="3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 this chapter, you will learn:</a:t>
            </a:r>
            <a:endParaRPr/>
          </a:p>
          <a:p>
            <a:pPr indent="-141605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ct val="82857"/>
              <a:buFont typeface="Noto Sans Symbols"/>
              <a:buChar char="⮚"/>
            </a:pPr>
            <a:r>
              <a:rPr b="0" i="0" lang="en" sz="3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The difference between </a:t>
            </a:r>
            <a:r>
              <a:rPr b="1" i="0" lang="en" sz="35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</a:t>
            </a:r>
            <a:r>
              <a:rPr b="0" i="0" lang="en" sz="3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and </a:t>
            </a:r>
            <a:r>
              <a:rPr b="1" i="0" lang="en" sz="35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information</a:t>
            </a:r>
            <a:endParaRPr/>
          </a:p>
          <a:p>
            <a:pPr indent="-141605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ct val="82857"/>
              <a:buFont typeface="Noto Sans Symbols"/>
              <a:buChar char="⮚"/>
            </a:pPr>
            <a:r>
              <a:rPr b="0" i="0" lang="en" sz="3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What a database is, the various </a:t>
            </a:r>
            <a:r>
              <a:rPr b="1" i="0" lang="en" sz="35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types of databases</a:t>
            </a:r>
            <a:r>
              <a:rPr b="0" i="0" lang="en" sz="3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, and why they are valuable assets for decision making</a:t>
            </a:r>
            <a:endParaRPr/>
          </a:p>
          <a:p>
            <a:pPr indent="-141605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ct val="82857"/>
              <a:buFont typeface="Noto Sans Symbols"/>
              <a:buChar char="⮚"/>
            </a:pPr>
            <a:r>
              <a:rPr b="0" i="0" lang="en" sz="3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The importance of </a:t>
            </a:r>
            <a:r>
              <a:rPr b="1" i="0" lang="en" sz="35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database design</a:t>
            </a:r>
            <a:endParaRPr/>
          </a:p>
          <a:p>
            <a:pPr indent="-141605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ct val="82857"/>
              <a:buFont typeface="Noto Sans Symbols"/>
              <a:buChar char="⮚"/>
            </a:pPr>
            <a:r>
              <a:rPr b="0" i="0" lang="en" sz="3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How </a:t>
            </a:r>
            <a:r>
              <a:rPr b="1" i="0" lang="en" sz="35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modern databases </a:t>
            </a:r>
            <a:r>
              <a:rPr b="0" i="0" lang="en" sz="3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evolved from </a:t>
            </a:r>
            <a:r>
              <a:rPr b="1" i="0" lang="en" sz="35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file systems</a:t>
            </a:r>
            <a:endParaRPr/>
          </a:p>
          <a:p>
            <a:pPr indent="-141605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ct val="82857"/>
              <a:buFont typeface="Noto Sans Symbols"/>
              <a:buChar char="⮚"/>
            </a:pPr>
            <a:r>
              <a:rPr b="0" i="0" lang="en" sz="3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About </a:t>
            </a:r>
            <a:r>
              <a:rPr b="1" i="0" lang="en" sz="35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flaws in file system </a:t>
            </a:r>
            <a:r>
              <a:rPr b="0" i="0" lang="en" sz="3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management</a:t>
            </a:r>
            <a:endParaRPr/>
          </a:p>
          <a:p>
            <a:pPr indent="-141605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ct val="82857"/>
              <a:buFont typeface="Noto Sans Symbols"/>
              <a:buChar char="⮚"/>
            </a:pPr>
            <a:r>
              <a:rPr b="0" i="0" lang="en" sz="3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The main </a:t>
            </a:r>
            <a:r>
              <a:rPr b="1" i="0" lang="en" sz="35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components of the database system</a:t>
            </a:r>
            <a:endParaRPr/>
          </a:p>
          <a:p>
            <a:pPr indent="-141605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ct val="82857"/>
              <a:buFont typeface="Noto Sans Symbols"/>
              <a:buChar char="⮚"/>
            </a:pPr>
            <a:r>
              <a:rPr b="0" i="0" lang="en" sz="3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The main functions of a </a:t>
            </a:r>
            <a:r>
              <a:rPr b="1" i="0" lang="en" sz="35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database management system (DBMS)</a:t>
            </a:r>
            <a:endParaRPr/>
          </a:p>
          <a:p>
            <a:pPr indent="-635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ct val="85714"/>
              <a:buFont typeface="Noto Sans Symbols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125" name="Google Shape;125;p23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4294967295" type="title"/>
          </p:nvPr>
        </p:nvSpPr>
        <p:spPr>
          <a:xfrm>
            <a:off x="685902" y="175130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WHY DATABASES?</a:t>
            </a:r>
            <a:endParaRPr/>
          </a:p>
        </p:txBody>
      </p:sp>
      <p:sp>
        <p:nvSpPr>
          <p:cNvPr id="131" name="Google Shape;131;p24"/>
          <p:cNvSpPr txBox="1"/>
          <p:nvPr>
            <p:ph idx="4294967295" type="body"/>
          </p:nvPr>
        </p:nvSpPr>
        <p:spPr>
          <a:xfrm>
            <a:off x="815578" y="918079"/>
            <a:ext cx="7667625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Databases solve many of the problems encountered in data management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Used in almost all modern settings involving data management:</a:t>
            </a:r>
            <a:endParaRPr/>
          </a:p>
          <a:p>
            <a:pPr indent="-127000" lvl="2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Business</a:t>
            </a:r>
            <a:endParaRPr/>
          </a:p>
          <a:p>
            <a:pPr indent="-127000" lvl="2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Research</a:t>
            </a:r>
            <a:endParaRPr/>
          </a:p>
          <a:p>
            <a:pPr indent="-127000" lvl="2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Administration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Important to understand how databases work and interact with other applications</a:t>
            </a:r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133" name="Google Shape;133;p24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idx="4294967295" type="title"/>
          </p:nvPr>
        </p:nvSpPr>
        <p:spPr>
          <a:xfrm>
            <a:off x="628754" y="200025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DATA VS. INFORMATION</a:t>
            </a:r>
            <a:endParaRPr/>
          </a:p>
        </p:txBody>
      </p:sp>
      <p:sp>
        <p:nvSpPr>
          <p:cNvPr id="140" name="Google Shape;140;p25"/>
          <p:cNvSpPr txBox="1"/>
          <p:nvPr>
            <p:ph idx="4294967295" type="body"/>
          </p:nvPr>
        </p:nvSpPr>
        <p:spPr>
          <a:xfrm>
            <a:off x="634013" y="942975"/>
            <a:ext cx="7849190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605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</a:t>
            </a: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are raw facts</a:t>
            </a:r>
            <a:endParaRPr/>
          </a:p>
          <a:p>
            <a:pPr indent="-14605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Information</a:t>
            </a: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is the result of processing raw data to reveal meaning</a:t>
            </a:r>
            <a:endParaRPr/>
          </a:p>
          <a:p>
            <a:pPr indent="-14605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Information requires </a:t>
            </a: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context</a:t>
            </a: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to reveal meaning</a:t>
            </a:r>
            <a:endParaRPr/>
          </a:p>
          <a:p>
            <a:pPr indent="-14605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Raw data must be </a:t>
            </a: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formatted</a:t>
            </a: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for storage, processing, and presentation</a:t>
            </a:r>
            <a:endParaRPr/>
          </a:p>
          <a:p>
            <a:pPr indent="-14605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are the foundation of information, which is the bedrock of </a:t>
            </a: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knowledge</a:t>
            </a:r>
            <a:endParaRPr/>
          </a:p>
        </p:txBody>
      </p:sp>
      <p:sp>
        <p:nvSpPr>
          <p:cNvPr id="141" name="Google Shape;141;p25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142" name="Google Shape;142;p25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idx="4294967295" type="title"/>
          </p:nvPr>
        </p:nvSpPr>
        <p:spPr>
          <a:xfrm>
            <a:off x="685902" y="200025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DATA VS. INFORMATION (CONT’D.)</a:t>
            </a:r>
            <a:endParaRPr/>
          </a:p>
        </p:txBody>
      </p:sp>
      <p:sp>
        <p:nvSpPr>
          <p:cNvPr id="148" name="Google Shape;148;p26"/>
          <p:cNvSpPr txBox="1"/>
          <p:nvPr>
            <p:ph idx="4294967295" type="body"/>
          </p:nvPr>
        </p:nvSpPr>
        <p:spPr>
          <a:xfrm>
            <a:off x="816102" y="1137857"/>
            <a:ext cx="8042036" cy="33197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building blocks of information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Information produced by processing data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Information used to reveal meaning in data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Accurate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relevant, timely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information is the key to good decision making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highlight>
                <a:srgbClr val="FFFF00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None/>
            </a:pPr>
            <a:r>
              <a:rPr b="1" i="0" lang="en" sz="24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Rockwell"/>
                <a:ea typeface="Rockwell"/>
                <a:cs typeface="Rockwell"/>
                <a:sym typeface="Rockwell"/>
              </a:rPr>
              <a:t>Good decision making is the key to organizational survival</a:t>
            </a:r>
            <a:endParaRPr/>
          </a:p>
        </p:txBody>
      </p:sp>
      <p:sp>
        <p:nvSpPr>
          <p:cNvPr id="149" name="Google Shape;149;p26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150" name="Google Shape;150;p26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idx="4294967295" type="title"/>
          </p:nvPr>
        </p:nvSpPr>
        <p:spPr>
          <a:xfrm>
            <a:off x="131445" y="163882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INTRODUCING THE DATABASE</a:t>
            </a:r>
            <a:endParaRPr/>
          </a:p>
        </p:txBody>
      </p:sp>
      <p:sp>
        <p:nvSpPr>
          <p:cNvPr id="156" name="Google Shape;156;p27"/>
          <p:cNvSpPr txBox="1"/>
          <p:nvPr>
            <p:ph idx="4294967295" type="body"/>
          </p:nvPr>
        </p:nvSpPr>
        <p:spPr>
          <a:xfrm>
            <a:off x="99136" y="857250"/>
            <a:ext cx="8864269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Database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shared, integrated computer structure that stores a collection of: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End-user data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raw facts of interest to end user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Metadata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data about data</a:t>
            </a:r>
            <a:endParaRPr/>
          </a:p>
          <a:p>
            <a:pPr indent="-127000" lvl="2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Provides description of data characteristics and relationships in data</a:t>
            </a:r>
            <a:endParaRPr/>
          </a:p>
          <a:p>
            <a:pPr indent="-127000" lvl="2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Complements and expands value of data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Database management system (DBMS)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collection of programs  that manages structure and controls access to data</a:t>
            </a:r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158" name="Google Shape;158;p27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idx="4294967295" type="title"/>
          </p:nvPr>
        </p:nvSpPr>
        <p:spPr>
          <a:xfrm>
            <a:off x="343011" y="165068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ROLE AND ADVANTAGES OF THE DBMS</a:t>
            </a:r>
            <a:endParaRPr/>
          </a:p>
        </p:txBody>
      </p:sp>
      <p:sp>
        <p:nvSpPr>
          <p:cNvPr id="164" name="Google Shape;164;p28"/>
          <p:cNvSpPr txBox="1"/>
          <p:nvPr>
            <p:ph idx="4294967295" type="body"/>
          </p:nvPr>
        </p:nvSpPr>
        <p:spPr>
          <a:xfrm>
            <a:off x="342900" y="908447"/>
            <a:ext cx="5813822" cy="36635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DBMS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is the </a:t>
            </a: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intermediary between the user and the database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 structure stored as file collection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Can only </a:t>
            </a: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access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files through the DBMS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enables data to be </a:t>
            </a: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shared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integrates many </a:t>
            </a: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users’ views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of the data</a:t>
            </a:r>
            <a:endParaRPr/>
          </a:p>
        </p:txBody>
      </p:sp>
      <p:sp>
        <p:nvSpPr>
          <p:cNvPr id="165" name="Google Shape;165;p28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166" name="Google Shape;166;p28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pic>
        <p:nvPicPr>
          <p:cNvPr descr="Database management system(DBMS). A database is a collection ..." id="167" name="Google Shape;1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0750" y="838200"/>
            <a:ext cx="2901553" cy="3396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173" name="Google Shape;173;p29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fld id="{00000000-1234-1234-1234-123412341234}" type="slidenum">
              <a:rPr b="1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pic>
        <p:nvPicPr>
          <p:cNvPr descr="C:\Documents and Settings\Paul Nagin\My Documents\CHIMBORAZO 09-13-2009\Books\694 Rob DB Systems 9e - Nancy -Marc Cartright\Figures\C7046_01\C7046_01\Fig01-02.bmp" id="174" name="Google Shape;17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165497"/>
            <a:ext cx="8572500" cy="4692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idx="4294967295" type="title"/>
          </p:nvPr>
        </p:nvSpPr>
        <p:spPr>
          <a:xfrm>
            <a:off x="400160" y="171450"/>
            <a:ext cx="7943642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ROLE AND ADVANTAGES OF THE DBMS</a:t>
            </a:r>
            <a:endParaRPr/>
          </a:p>
        </p:txBody>
      </p:sp>
      <p:sp>
        <p:nvSpPr>
          <p:cNvPr id="180" name="Google Shape;180;p30"/>
          <p:cNvSpPr txBox="1"/>
          <p:nvPr>
            <p:ph idx="4294967295" type="body"/>
          </p:nvPr>
        </p:nvSpPr>
        <p:spPr>
          <a:xfrm>
            <a:off x="571605" y="919631"/>
            <a:ext cx="6115050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600"/>
              <a:buFont typeface="Noto Sans Symbols"/>
              <a:buChar char="▪"/>
            </a:pPr>
            <a:r>
              <a:rPr b="0" i="0" lang="en" sz="3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Advantages of a DBMS: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Improved </a:t>
            </a: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 sharing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Improved </a:t>
            </a: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 security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Better </a:t>
            </a: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 integration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Minimized </a:t>
            </a: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 inconsistency 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Improved </a:t>
            </a: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 access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Improved </a:t>
            </a: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decision making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Increased end-user </a:t>
            </a: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productivity</a:t>
            </a:r>
            <a:endParaRPr/>
          </a:p>
        </p:txBody>
      </p:sp>
      <p:sp>
        <p:nvSpPr>
          <p:cNvPr id="181" name="Google Shape;181;p30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182" name="Google Shape;182;p30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idx="4294967295" type="title"/>
          </p:nvPr>
        </p:nvSpPr>
        <p:spPr>
          <a:xfrm>
            <a:off x="810959" y="153491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TYPES OF DATABASES</a:t>
            </a:r>
            <a:endParaRPr/>
          </a:p>
        </p:txBody>
      </p:sp>
      <p:sp>
        <p:nvSpPr>
          <p:cNvPr id="189" name="Google Shape;189;p31"/>
          <p:cNvSpPr txBox="1"/>
          <p:nvPr>
            <p:ph idx="4294967295" type="body"/>
          </p:nvPr>
        </p:nvSpPr>
        <p:spPr>
          <a:xfrm>
            <a:off x="841772" y="857250"/>
            <a:ext cx="8121253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❖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Databases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can be classified according to:</a:t>
            </a:r>
            <a:endParaRPr/>
          </a:p>
          <a:p>
            <a:pPr indent="-342900" lvl="1" marL="6223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❖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Number of users</a:t>
            </a:r>
            <a:endParaRPr/>
          </a:p>
          <a:p>
            <a:pPr indent="-342900" lvl="1" marL="6223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❖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 location(s)</a:t>
            </a:r>
            <a:endParaRPr/>
          </a:p>
          <a:p>
            <a:pPr indent="-342900" lvl="1" marL="6223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❖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Expected type and extent of use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❖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Single-user database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supports only one user at a time</a:t>
            </a:r>
            <a:endParaRPr/>
          </a:p>
          <a:p>
            <a:pPr indent="-342900" lvl="1" marL="6223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❖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Desktop database: single-user; runs on PC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❖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Multiuser database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supports multiple users at the same time</a:t>
            </a:r>
            <a:endParaRPr/>
          </a:p>
          <a:p>
            <a:pPr indent="-342900" lvl="1" marL="6223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❖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Workgroup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and </a:t>
            </a: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enterprise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databases</a:t>
            </a:r>
            <a:endParaRPr/>
          </a:p>
        </p:txBody>
      </p:sp>
      <p:sp>
        <p:nvSpPr>
          <p:cNvPr id="190" name="Google Shape;190;p31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191" name="Google Shape;191;p31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idx="4294967295" type="title"/>
          </p:nvPr>
        </p:nvSpPr>
        <p:spPr>
          <a:xfrm>
            <a:off x="110684" y="165068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TYPES OF DATABASES (CONT’D.)</a:t>
            </a:r>
            <a:endParaRPr/>
          </a:p>
        </p:txBody>
      </p:sp>
      <p:sp>
        <p:nvSpPr>
          <p:cNvPr id="198" name="Google Shape;198;p32"/>
          <p:cNvSpPr txBox="1"/>
          <p:nvPr>
            <p:ph idx="4294967295" type="body"/>
          </p:nvPr>
        </p:nvSpPr>
        <p:spPr>
          <a:xfrm>
            <a:off x="63104" y="1235869"/>
            <a:ext cx="9017794" cy="24693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Centralized database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data located at a single site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Distributed database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data distributed across several different sites 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Operational database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supports a company’s day-to-day operations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Transactional or production database 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Designed to allow users to easily define, modify, retrieve and manage data in real-time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 warehouse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stores data used for tactical or strategic decisions</a:t>
            </a:r>
            <a:endParaRPr/>
          </a:p>
        </p:txBody>
      </p:sp>
      <p:sp>
        <p:nvSpPr>
          <p:cNvPr id="199" name="Google Shape;199;p32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200" name="Google Shape;200;p32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pic>
        <p:nvPicPr>
          <p:cNvPr descr="What Is a Data Warehouse? 3 Types of Data Warehouses | OpenGrowth" id="201" name="Google Shape;2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1256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208" name="Google Shape;208;p33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fld id="{00000000-1234-1234-1234-123412341234}" type="slidenum">
              <a:rPr b="1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pic>
        <p:nvPicPr>
          <p:cNvPr descr="Tbl01-01.bmp" id="209" name="Google Shape;2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228600"/>
            <a:ext cx="8510588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idx="4294967295" type="title"/>
          </p:nvPr>
        </p:nvSpPr>
        <p:spPr>
          <a:xfrm>
            <a:off x="816102" y="171450"/>
            <a:ext cx="6901529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WHY DATABASE DESIGN IS IMPORTANT</a:t>
            </a:r>
            <a:endParaRPr/>
          </a:p>
        </p:txBody>
      </p:sp>
      <p:sp>
        <p:nvSpPr>
          <p:cNvPr id="215" name="Google Shape;215;p34"/>
          <p:cNvSpPr txBox="1"/>
          <p:nvPr>
            <p:ph idx="4294967295" type="body"/>
          </p:nvPr>
        </p:nvSpPr>
        <p:spPr>
          <a:xfrm>
            <a:off x="685902" y="914400"/>
            <a:ext cx="7943642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Database design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focuses on design of database structure used for end-user data</a:t>
            </a:r>
            <a:endParaRPr/>
          </a:p>
          <a:p>
            <a:pPr indent="-1397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Designer must identify database’s expected use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Well-designed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database: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Facilitates data management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Generates accurate and valuable information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Poorly designed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database: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Causes difficult-to-trace errors</a:t>
            </a:r>
            <a:endParaRPr/>
          </a:p>
        </p:txBody>
      </p:sp>
      <p:sp>
        <p:nvSpPr>
          <p:cNvPr id="216" name="Google Shape;216;p34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217" name="Google Shape;217;p34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idx="4294967295" type="title"/>
          </p:nvPr>
        </p:nvSpPr>
        <p:spPr>
          <a:xfrm>
            <a:off x="571605" y="171450"/>
            <a:ext cx="8172236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EVOLUTION OF FILE SYSTEM DATA PROCESSING</a:t>
            </a:r>
            <a:endParaRPr/>
          </a:p>
        </p:txBody>
      </p:sp>
      <p:sp>
        <p:nvSpPr>
          <p:cNvPr id="223" name="Google Shape;223;p35"/>
          <p:cNvSpPr txBox="1"/>
          <p:nvPr>
            <p:ph idx="4294967295" type="body"/>
          </p:nvPr>
        </p:nvSpPr>
        <p:spPr>
          <a:xfrm>
            <a:off x="571605" y="885825"/>
            <a:ext cx="8572395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335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900"/>
              <a:buFont typeface="Noto Sans Symbols"/>
              <a:buChar char="▪"/>
            </a:pPr>
            <a:r>
              <a:rPr b="0" i="0" lang="en" sz="23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Reasons for studying file systems:</a:t>
            </a:r>
            <a:endParaRPr/>
          </a:p>
          <a:p>
            <a:pPr indent="-13335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900"/>
              <a:buFont typeface="Noto Sans Symbols"/>
              <a:buChar char="▪"/>
            </a:pPr>
            <a:r>
              <a:rPr b="0" i="0" lang="en" sz="23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Complexity of database design is easier to understand</a:t>
            </a:r>
            <a:endParaRPr/>
          </a:p>
          <a:p>
            <a:pPr indent="-13335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900"/>
              <a:buFont typeface="Noto Sans Symbols"/>
              <a:buChar char="▪"/>
            </a:pPr>
            <a:r>
              <a:rPr b="0" i="0" lang="en" sz="23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Understanding file system problems helps to avoid problems with DBMS systems</a:t>
            </a:r>
            <a:endParaRPr/>
          </a:p>
          <a:p>
            <a:pPr indent="-13335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900"/>
              <a:buFont typeface="Noto Sans Symbols"/>
              <a:buChar char="▪"/>
            </a:pPr>
            <a:r>
              <a:rPr b="1" i="0" lang="en" sz="23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Knowledge of file system is useful for converting file system to database system</a:t>
            </a:r>
            <a:endParaRPr/>
          </a:p>
          <a:p>
            <a:pPr indent="-133350" lvl="0" marL="13970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1900"/>
              <a:buFont typeface="Noto Sans Symbols"/>
              <a:buChar char="▪"/>
            </a:pPr>
            <a:r>
              <a:rPr b="0" i="0" lang="en" sz="23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File systems typically composed of collection of file folders, each tagged and kept in cabinet</a:t>
            </a:r>
            <a:endParaRPr/>
          </a:p>
        </p:txBody>
      </p:sp>
      <p:sp>
        <p:nvSpPr>
          <p:cNvPr id="224" name="Google Shape;224;p35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225" name="Google Shape;225;p35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idx="4294967295" type="title"/>
          </p:nvPr>
        </p:nvSpPr>
        <p:spPr>
          <a:xfrm>
            <a:off x="228714" y="171450"/>
            <a:ext cx="8629424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EVOLUTION OF FILE SYSTEM DATA PROCESSING (CONT'D.)</a:t>
            </a:r>
            <a:endParaRPr/>
          </a:p>
        </p:txBody>
      </p:sp>
      <p:sp>
        <p:nvSpPr>
          <p:cNvPr id="231" name="Google Shape;231;p36"/>
          <p:cNvSpPr txBox="1"/>
          <p:nvPr>
            <p:ph idx="4294967295" type="body"/>
          </p:nvPr>
        </p:nvSpPr>
        <p:spPr>
          <a:xfrm>
            <a:off x="228714" y="1110617"/>
            <a:ext cx="8629424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60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Contents of each file folder are logically related</a:t>
            </a:r>
            <a:endParaRPr/>
          </a:p>
          <a:p>
            <a:pPr indent="-1460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1" i="0" lang="en" sz="20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Manual systems</a:t>
            </a:r>
            <a:endParaRPr/>
          </a:p>
          <a:p>
            <a:pPr indent="-14605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Served as a data repository for small data collections</a:t>
            </a:r>
            <a:endParaRPr/>
          </a:p>
          <a:p>
            <a:pPr indent="-14605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Cumbersome for large collections</a:t>
            </a:r>
            <a:endParaRPr/>
          </a:p>
          <a:p>
            <a:pPr indent="-1460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1" i="0" lang="en" sz="20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Computerized file systems</a:t>
            </a:r>
            <a:endParaRPr/>
          </a:p>
          <a:p>
            <a:pPr indent="-14605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1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processing (DP) specialist </a:t>
            </a: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converted computer file structure from manual system</a:t>
            </a:r>
            <a:endParaRPr/>
          </a:p>
        </p:txBody>
      </p:sp>
      <p:sp>
        <p:nvSpPr>
          <p:cNvPr id="232" name="Google Shape;232;p36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233" name="Google Shape;233;p36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idx="4294967295" type="title"/>
          </p:nvPr>
        </p:nvSpPr>
        <p:spPr>
          <a:xfrm>
            <a:off x="285863" y="171450"/>
            <a:ext cx="8515127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EVOLUTION OF FILE SYSTEM DATA PROCESSING (CONT'D.)</a:t>
            </a:r>
            <a:endParaRPr/>
          </a:p>
        </p:txBody>
      </p:sp>
      <p:sp>
        <p:nvSpPr>
          <p:cNvPr id="239" name="Google Shape;239;p37"/>
          <p:cNvSpPr txBox="1"/>
          <p:nvPr>
            <p:ph idx="4294967295" type="body"/>
          </p:nvPr>
        </p:nvSpPr>
        <p:spPr>
          <a:xfrm>
            <a:off x="371475" y="1143038"/>
            <a:ext cx="8401050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605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Initially, </a:t>
            </a: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computer file systems </a:t>
            </a: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resembled </a:t>
            </a: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manual systems</a:t>
            </a:r>
            <a:endParaRPr/>
          </a:p>
          <a:p>
            <a:pPr indent="-14605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As number of files increased, </a:t>
            </a: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file systems </a:t>
            </a: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evolved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Each file used its own application program to store, retrieve, and modify data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Each file was owned by individual or department that commissioned its creation</a:t>
            </a:r>
            <a:endParaRPr/>
          </a:p>
        </p:txBody>
      </p:sp>
      <p:sp>
        <p:nvSpPr>
          <p:cNvPr id="240" name="Google Shape;240;p37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241" name="Google Shape;241;p37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247" name="Google Shape;247;p38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fld id="{00000000-1234-1234-1234-123412341234}" type="slidenum">
              <a:rPr b="1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pic>
        <p:nvPicPr>
          <p:cNvPr descr="C:\Documents and Settings\Paul Nagin\My Documents\CHIMBORAZO 09-13-2009\Books\694 Rob DB Systems 9e - Nancy -Marc Cartright\Figures\C7046_01\C7046_01\Fig01-03.bmp" id="248" name="Google Shape;24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603" y="165497"/>
            <a:ext cx="8709422" cy="4349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254" name="Google Shape;254;p39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fld id="{00000000-1234-1234-1234-123412341234}" type="slidenum">
              <a:rPr b="1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pic>
        <p:nvPicPr>
          <p:cNvPr descr="C:\Documents and Settings\Paul Nagin\My Documents\CHIMBORAZO 09-13-2009\Books\694 Rob DB Systems 9e - Nancy -Marc Cartright\Figures\C7046_01\C7046_01\Tbl01-02.bmp" id="255" name="Google Shape;25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400050"/>
            <a:ext cx="794385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261" name="Google Shape;261;p40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fld id="{00000000-1234-1234-1234-123412341234}" type="slidenum">
              <a:rPr b="1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pic>
        <p:nvPicPr>
          <p:cNvPr descr="C:\Documents and Settings\Paul Nagin\My Documents\CHIMBORAZO 09-13-2009\Books\694 Rob DB Systems 9e - Nancy -Marc Cartright\Figures\C7046_01\C7046_01\Fig01-05.bmp" id="262" name="Google Shape;26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5750"/>
            <a:ext cx="8026003" cy="4556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>
            <p:ph idx="4294967295" type="title"/>
          </p:nvPr>
        </p:nvSpPr>
        <p:spPr>
          <a:xfrm>
            <a:off x="457308" y="171450"/>
            <a:ext cx="8172236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PROBLEMS WITH FILE SYSTEM DATA PROCESSING</a:t>
            </a:r>
            <a:endParaRPr/>
          </a:p>
        </p:txBody>
      </p:sp>
      <p:sp>
        <p:nvSpPr>
          <p:cNvPr id="268" name="Google Shape;268;p41"/>
          <p:cNvSpPr txBox="1"/>
          <p:nvPr>
            <p:ph idx="4294967295" type="body"/>
          </p:nvPr>
        </p:nvSpPr>
        <p:spPr>
          <a:xfrm>
            <a:off x="457308" y="885825"/>
            <a:ext cx="8172236" cy="36289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41300" lvl="0" marL="241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◻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File systems were an </a:t>
            </a:r>
            <a:r>
              <a:rPr b="0" i="0" lang="en" sz="2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improvement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over manual system</a:t>
            </a:r>
            <a:endParaRPr/>
          </a:p>
          <a:p>
            <a:pPr indent="-20320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🞑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File systems used for m</a:t>
            </a:r>
            <a:r>
              <a:rPr b="0" i="0" lang="en" sz="2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ore than two decades</a:t>
            </a:r>
            <a:endParaRPr b="0" i="0" sz="24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0320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🞑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Understanding the shortcomings of file systems aids in </a:t>
            </a:r>
            <a:r>
              <a:rPr b="0" i="0" lang="en" sz="2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development of modern databases</a:t>
            </a:r>
            <a:endParaRPr/>
          </a:p>
          <a:p>
            <a:pPr indent="-20320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🞑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Many problems </a:t>
            </a:r>
            <a:r>
              <a:rPr b="0" i="0" lang="en" sz="2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not unique to file systems</a:t>
            </a:r>
            <a:endParaRPr/>
          </a:p>
          <a:p>
            <a:pPr indent="-241300" lvl="0" marL="2413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◻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Even simple file system </a:t>
            </a:r>
            <a:r>
              <a:rPr b="0" i="0" lang="en" sz="2400" u="none" cap="none" strike="noStrike">
                <a:solidFill>
                  <a:srgbClr val="FE4444"/>
                </a:solidFill>
                <a:latin typeface="Rockwell"/>
                <a:ea typeface="Rockwell"/>
                <a:cs typeface="Rockwell"/>
                <a:sym typeface="Rockwell"/>
              </a:rPr>
              <a:t>retrieval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task required </a:t>
            </a:r>
            <a:r>
              <a:rPr b="0" i="0" lang="en" sz="2400" u="none" cap="none" strike="noStrike">
                <a:solidFill>
                  <a:srgbClr val="14CD68"/>
                </a:solidFill>
                <a:latin typeface="Rockwell"/>
                <a:ea typeface="Rockwell"/>
                <a:cs typeface="Rockwell"/>
                <a:sym typeface="Rockwell"/>
              </a:rPr>
              <a:t>extensive programming</a:t>
            </a:r>
            <a:endParaRPr/>
          </a:p>
          <a:p>
            <a:pPr indent="-20320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🞑"/>
            </a:pPr>
            <a:r>
              <a:rPr b="0" i="0" lang="en" sz="2400" u="none" cap="none" strike="noStrike">
                <a:solidFill>
                  <a:srgbClr val="012D86"/>
                </a:solidFill>
                <a:latin typeface="Rockwell"/>
                <a:ea typeface="Rockwell"/>
                <a:cs typeface="Rockwell"/>
                <a:sym typeface="Rockwell"/>
              </a:rPr>
              <a:t>Ad hoc queries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impossible</a:t>
            </a:r>
            <a:endParaRPr/>
          </a:p>
          <a:p>
            <a:pPr indent="-20320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🞑"/>
            </a:pPr>
            <a:r>
              <a:rPr b="0" i="0" lang="en" sz="2400" u="none" cap="none" strike="noStrike">
                <a:solidFill>
                  <a:srgbClr val="007BD3"/>
                </a:solidFill>
                <a:latin typeface="Rockwell"/>
                <a:ea typeface="Rockwell"/>
                <a:cs typeface="Rockwell"/>
                <a:sym typeface="Rockwell"/>
              </a:rPr>
              <a:t>Changing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existing</a:t>
            </a:r>
            <a:r>
              <a:rPr b="0" i="0" lang="en" sz="2400" u="none" cap="none" strike="noStrike">
                <a:solidFill>
                  <a:srgbClr val="007BD3"/>
                </a:solidFill>
                <a:latin typeface="Rockwell"/>
                <a:ea typeface="Rockwell"/>
                <a:cs typeface="Rockwell"/>
                <a:sym typeface="Rockwell"/>
              </a:rPr>
              <a:t> structure difficult</a:t>
            </a:r>
            <a:endParaRPr/>
          </a:p>
        </p:txBody>
      </p:sp>
      <p:sp>
        <p:nvSpPr>
          <p:cNvPr id="269" name="Google Shape;269;p41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270" name="Google Shape;270;p41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idx="4294967295" type="title"/>
          </p:nvPr>
        </p:nvSpPr>
        <p:spPr>
          <a:xfrm>
            <a:off x="457308" y="171450"/>
            <a:ext cx="840083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PROBLEMS WITH FILE SYSTEM DATA PROCESSING (CONT'D.)</a:t>
            </a:r>
            <a:endParaRPr/>
          </a:p>
        </p:txBody>
      </p:sp>
      <p:sp>
        <p:nvSpPr>
          <p:cNvPr id="276" name="Google Shape;276;p42"/>
          <p:cNvSpPr txBox="1"/>
          <p:nvPr>
            <p:ph idx="4294967295" type="body"/>
          </p:nvPr>
        </p:nvSpPr>
        <p:spPr>
          <a:xfrm>
            <a:off x="343011" y="914400"/>
            <a:ext cx="8979108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▪"/>
            </a:pP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Security features difficult to program</a:t>
            </a:r>
            <a:endParaRPr/>
          </a:p>
          <a:p>
            <a:pPr indent="-1397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▪"/>
            </a:pP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Often omitted in file system environments</a:t>
            </a:r>
            <a:endParaRPr/>
          </a:p>
          <a:p>
            <a:pPr indent="-13970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▪"/>
            </a:pP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Summary of </a:t>
            </a:r>
            <a:r>
              <a:rPr b="1" i="0" lang="en" sz="2100" u="none" cap="none" strike="noStrike">
                <a:solidFill>
                  <a:srgbClr val="FF000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file system limitations</a:t>
            </a: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</a:t>
            </a:r>
            <a:endParaRPr/>
          </a:p>
          <a:p>
            <a:pPr indent="-1397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▪"/>
            </a:pP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Requires </a:t>
            </a:r>
            <a:r>
              <a:rPr b="0" i="0" lang="en" sz="21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extensive programming</a:t>
            </a:r>
            <a:endParaRPr/>
          </a:p>
          <a:p>
            <a:pPr indent="-1397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▪"/>
            </a:pP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Cannot perform </a:t>
            </a:r>
            <a:r>
              <a:rPr b="0" i="0" lang="en" sz="21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ad hoc queries</a:t>
            </a:r>
            <a:endParaRPr/>
          </a:p>
          <a:p>
            <a:pPr indent="-1397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▪"/>
            </a:pPr>
            <a:r>
              <a:rPr b="0" i="0" lang="en" sz="21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System administration </a:t>
            </a: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is complex and difficult</a:t>
            </a:r>
            <a:endParaRPr/>
          </a:p>
          <a:p>
            <a:pPr indent="-1397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▪"/>
            </a:pP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Difficult to </a:t>
            </a:r>
            <a:r>
              <a:rPr b="0" i="0" lang="en" sz="21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make changes </a:t>
            </a: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to existing structures</a:t>
            </a:r>
            <a:endParaRPr/>
          </a:p>
          <a:p>
            <a:pPr indent="-1397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▪"/>
            </a:pPr>
            <a:r>
              <a:rPr b="0" i="0" lang="en" sz="21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Security features </a:t>
            </a: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are likely to be inadequate</a:t>
            </a:r>
            <a:endParaRPr/>
          </a:p>
        </p:txBody>
      </p:sp>
      <p:sp>
        <p:nvSpPr>
          <p:cNvPr id="277" name="Google Shape;277;p42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278" name="Google Shape;278;p42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pic>
        <p:nvPicPr>
          <p:cNvPr descr="Properties of Database Security | Download Scientific Diagram" id="279" name="Google Shape;27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1231" y="663178"/>
            <a:ext cx="2921794" cy="2146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idx="4294967295" type="title"/>
          </p:nvPr>
        </p:nvSpPr>
        <p:spPr>
          <a:xfrm>
            <a:off x="342900" y="171450"/>
            <a:ext cx="7374731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STRUCTURAL AND DATA DEPENDENCE</a:t>
            </a:r>
            <a:endParaRPr/>
          </a:p>
        </p:txBody>
      </p:sp>
      <p:sp>
        <p:nvSpPr>
          <p:cNvPr id="285" name="Google Shape;285;p43"/>
          <p:cNvSpPr txBox="1"/>
          <p:nvPr>
            <p:ph idx="4294967295" type="body"/>
          </p:nvPr>
        </p:nvSpPr>
        <p:spPr>
          <a:xfrm>
            <a:off x="322199" y="885825"/>
            <a:ext cx="8641207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Structural dependence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</a:t>
            </a:r>
            <a:r>
              <a:rPr b="1" i="0" lang="en" sz="2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access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to a file is </a:t>
            </a:r>
            <a:r>
              <a:rPr b="0" i="0" lang="en" sz="2400" u="none" cap="none" strike="noStrike">
                <a:solidFill>
                  <a:srgbClr val="14CD68"/>
                </a:solidFill>
                <a:latin typeface="Rockwell"/>
                <a:ea typeface="Rockwell"/>
                <a:cs typeface="Rockwell"/>
                <a:sym typeface="Rockwell"/>
              </a:rPr>
              <a:t>dependent on its own structure (changes will cause changing all structure)</a:t>
            </a:r>
            <a:endParaRPr b="0" i="0" sz="2400" u="none" cap="none" strike="noStrike">
              <a:solidFill>
                <a:srgbClr val="14CD68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All file system programs must be modified to conform to a new file structure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Structural independence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</a:t>
            </a:r>
            <a:r>
              <a:rPr b="1" i="0" lang="en" sz="2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change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file structure </a:t>
            </a:r>
            <a:r>
              <a:rPr b="0" i="0" lang="en" sz="2400" u="none" cap="none" strike="noStrike">
                <a:solidFill>
                  <a:srgbClr val="14CD68"/>
                </a:solidFill>
                <a:latin typeface="Rockwell"/>
                <a:ea typeface="Rockwell"/>
                <a:cs typeface="Rockwell"/>
                <a:sym typeface="Rockwell"/>
              </a:rPr>
              <a:t>without affecting data access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dependence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data </a:t>
            </a:r>
            <a:r>
              <a:rPr b="1" i="0" lang="en" sz="2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access </a:t>
            </a:r>
            <a:r>
              <a:rPr b="0" i="0" lang="en" sz="2400" u="none" cap="none" strike="noStrike">
                <a:solidFill>
                  <a:srgbClr val="7B32B2"/>
                </a:solidFill>
                <a:latin typeface="Rockwell"/>
                <a:ea typeface="Rockwell"/>
                <a:cs typeface="Rockwell"/>
                <a:sym typeface="Rockwell"/>
              </a:rPr>
              <a:t>changes when data storage characteristics change (affecting data access)</a:t>
            </a:r>
            <a:endParaRPr b="0" i="0" sz="2400" u="none" cap="none" strike="noStrike">
              <a:solidFill>
                <a:srgbClr val="7B32B2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independence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data </a:t>
            </a:r>
            <a:r>
              <a:rPr b="1" i="0" lang="en" sz="2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storage characteristics </a:t>
            </a:r>
            <a:r>
              <a:rPr b="0" i="0" lang="en" sz="2400" u="none" cap="none" strike="noStrike">
                <a:solidFill>
                  <a:srgbClr val="7B32B2"/>
                </a:solidFill>
                <a:latin typeface="Rockwell"/>
                <a:ea typeface="Rockwell"/>
                <a:cs typeface="Rockwell"/>
                <a:sym typeface="Rockwell"/>
              </a:rPr>
              <a:t>do not affect data access</a:t>
            </a:r>
            <a:endParaRPr/>
          </a:p>
        </p:txBody>
      </p:sp>
      <p:sp>
        <p:nvSpPr>
          <p:cNvPr id="286" name="Google Shape;286;p43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287" name="Google Shape;287;p43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/>
          <p:nvPr>
            <p:ph idx="4294967295" type="title"/>
          </p:nvPr>
        </p:nvSpPr>
        <p:spPr>
          <a:xfrm>
            <a:off x="400160" y="143100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DATA REDUNDANCY</a:t>
            </a:r>
            <a:endParaRPr/>
          </a:p>
        </p:txBody>
      </p:sp>
      <p:sp>
        <p:nvSpPr>
          <p:cNvPr id="293" name="Google Shape;293;p44"/>
          <p:cNvSpPr txBox="1"/>
          <p:nvPr>
            <p:ph idx="4294967295" type="body"/>
          </p:nvPr>
        </p:nvSpPr>
        <p:spPr>
          <a:xfrm>
            <a:off x="400050" y="908447"/>
            <a:ext cx="83439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41300" lvl="0" marL="241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◻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File system structure makes it difficult to combine data from multiple sources</a:t>
            </a:r>
            <a:endParaRPr/>
          </a:p>
          <a:p>
            <a:pPr indent="-20320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🞑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Vulnerable to security breaches</a:t>
            </a:r>
            <a:endParaRPr/>
          </a:p>
          <a:p>
            <a:pPr indent="-241300" lvl="0" marL="2413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◻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Organizational structure </a:t>
            </a:r>
            <a:r>
              <a:rPr b="0" i="0" lang="en" sz="2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promotes storage of same data in different locations</a:t>
            </a:r>
            <a:endParaRPr/>
          </a:p>
          <a:p>
            <a:pPr indent="-20320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🞑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Islands of information</a:t>
            </a:r>
            <a:endParaRPr/>
          </a:p>
          <a:p>
            <a:pPr indent="-241300" lvl="0" marL="2413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◻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stored in different locations is </a:t>
            </a:r>
            <a:r>
              <a:rPr b="0" i="1" lang="en" sz="2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unlikely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to be </a:t>
            </a:r>
            <a:r>
              <a:rPr b="0" i="0" lang="en" sz="2400" u="none" cap="none" strike="noStrike">
                <a:solidFill>
                  <a:srgbClr val="634545"/>
                </a:solidFill>
                <a:latin typeface="Rockwell"/>
                <a:ea typeface="Rockwell"/>
                <a:cs typeface="Rockwell"/>
                <a:sym typeface="Rockwell"/>
              </a:rPr>
              <a:t>updated consistently</a:t>
            </a:r>
            <a:endParaRPr/>
          </a:p>
          <a:p>
            <a:pPr indent="-241300" lvl="0" marL="2413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◻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 redundancy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same data stored unnecessarily in different places</a:t>
            </a:r>
            <a:endParaRPr/>
          </a:p>
        </p:txBody>
      </p:sp>
      <p:sp>
        <p:nvSpPr>
          <p:cNvPr id="294" name="Google Shape;294;p44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295" name="Google Shape;295;p44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idx="4294967295" type="title"/>
          </p:nvPr>
        </p:nvSpPr>
        <p:spPr>
          <a:xfrm>
            <a:off x="400160" y="165068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DATA REDUNDANCY (CONT'D.)</a:t>
            </a:r>
            <a:endParaRPr/>
          </a:p>
        </p:txBody>
      </p:sp>
      <p:sp>
        <p:nvSpPr>
          <p:cNvPr id="301" name="Google Shape;301;p45"/>
          <p:cNvSpPr txBox="1"/>
          <p:nvPr>
            <p:ph idx="4294967295" type="body"/>
          </p:nvPr>
        </p:nvSpPr>
        <p:spPr>
          <a:xfrm>
            <a:off x="364331" y="1028700"/>
            <a:ext cx="8359379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 inconsistency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different and conflicting versions of same data occur at different places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 anomalies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abnormalities when all changes in redundant data are not made correctly </a:t>
            </a:r>
            <a:r>
              <a:rPr b="0" i="1" lang="en" sz="2400" u="none" cap="none" strike="noStrike">
                <a:solidFill>
                  <a:srgbClr val="634545"/>
                </a:solidFill>
                <a:latin typeface="Rockwell"/>
                <a:ea typeface="Rockwell"/>
                <a:cs typeface="Rockwell"/>
                <a:sym typeface="Rockwell"/>
              </a:rPr>
              <a:t>(changes made will cause unexpected result)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rgbClr val="634545"/>
                </a:solidFill>
                <a:latin typeface="Rockwell"/>
                <a:ea typeface="Rockwell"/>
                <a:cs typeface="Rockwell"/>
                <a:sym typeface="Rockwell"/>
              </a:rPr>
              <a:t>Three types of anomalies: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Rockwell"/>
                <a:ea typeface="Rockwell"/>
                <a:cs typeface="Rockwell"/>
                <a:sym typeface="Rockwell"/>
              </a:rPr>
              <a:t>Update anomalies 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Rockwell"/>
                <a:ea typeface="Rockwell"/>
                <a:cs typeface="Rockwell"/>
                <a:sym typeface="Rockwell"/>
              </a:rPr>
              <a:t>Insertion anomalies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Rockwell"/>
                <a:ea typeface="Rockwell"/>
                <a:cs typeface="Rockwell"/>
                <a:sym typeface="Rockwell"/>
              </a:rPr>
              <a:t>Deletion anomalies</a:t>
            </a:r>
            <a:endParaRPr/>
          </a:p>
        </p:txBody>
      </p:sp>
      <p:sp>
        <p:nvSpPr>
          <p:cNvPr id="302" name="Google Shape;302;p45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303" name="Google Shape;303;p45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6"/>
          <p:cNvSpPr txBox="1"/>
          <p:nvPr>
            <p:ph type="title"/>
          </p:nvPr>
        </p:nvSpPr>
        <p:spPr>
          <a:xfrm>
            <a:off x="802481" y="363140"/>
            <a:ext cx="7543800" cy="120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 cap="none"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09" name="Google Shape;309;p46"/>
          <p:cNvSpPr txBox="1"/>
          <p:nvPr>
            <p:ph idx="1" type="body"/>
          </p:nvPr>
        </p:nvSpPr>
        <p:spPr>
          <a:xfrm>
            <a:off x="802481" y="1590675"/>
            <a:ext cx="754380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635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300"/>
              <a:buFont typeface="Noto Sans Symbols"/>
              <a:buNone/>
            </a:pPr>
            <a:r>
              <a:t/>
            </a:r>
            <a:endParaRPr sz="15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descr="What is insertion, update and deletion anomalies in DBMS - YouTube" id="310" name="Google Shape;310;p46"/>
          <p:cNvPicPr preferRelativeResize="0"/>
          <p:nvPr/>
        </p:nvPicPr>
        <p:blipFill rotWithShape="1">
          <a:blip r:embed="rId3">
            <a:alphaModFix/>
          </a:blip>
          <a:srcRect b="9182" l="14436" r="13827" t="1931"/>
          <a:stretch/>
        </p:blipFill>
        <p:spPr>
          <a:xfrm>
            <a:off x="5953" y="0"/>
            <a:ext cx="377190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cture Nine: Normalization - ppt download" id="311" name="Google Shape;311;p46"/>
          <p:cNvPicPr preferRelativeResize="0"/>
          <p:nvPr/>
        </p:nvPicPr>
        <p:blipFill rotWithShape="1">
          <a:blip r:embed="rId4">
            <a:alphaModFix/>
          </a:blip>
          <a:srcRect b="16928" l="4721" r="0" t="15275"/>
          <a:stretch/>
        </p:blipFill>
        <p:spPr>
          <a:xfrm>
            <a:off x="33338" y="2896790"/>
            <a:ext cx="4067175" cy="2170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ftware School of Hunan University Database Systems Design Part III  Normalization. - ppt download" id="312" name="Google Shape;312;p46"/>
          <p:cNvPicPr preferRelativeResize="0"/>
          <p:nvPr/>
        </p:nvPicPr>
        <p:blipFill rotWithShape="1">
          <a:blip r:embed="rId5">
            <a:alphaModFix/>
          </a:blip>
          <a:srcRect b="0" l="0" r="0" t="3332"/>
          <a:stretch/>
        </p:blipFill>
        <p:spPr>
          <a:xfrm>
            <a:off x="4131469" y="-47625"/>
            <a:ext cx="5018484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type="title"/>
          </p:nvPr>
        </p:nvSpPr>
        <p:spPr>
          <a:xfrm>
            <a:off x="802481" y="363140"/>
            <a:ext cx="7543800" cy="120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 cap="none"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19" name="Google Shape;319;p47"/>
          <p:cNvSpPr txBox="1"/>
          <p:nvPr>
            <p:ph idx="1" type="body"/>
          </p:nvPr>
        </p:nvSpPr>
        <p:spPr>
          <a:xfrm>
            <a:off x="802481" y="1590675"/>
            <a:ext cx="754380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635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300"/>
              <a:buFont typeface="Noto Sans Symbols"/>
              <a:buNone/>
            </a:pPr>
            <a:r>
              <a:t/>
            </a:r>
            <a:endParaRPr sz="15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descr="Top 10 Data Modeling Tools To Know (2023) - InterviewBit" id="320" name="Google Shape;320;p47"/>
          <p:cNvPicPr preferRelativeResize="0"/>
          <p:nvPr/>
        </p:nvPicPr>
        <p:blipFill rotWithShape="1">
          <a:blip r:embed="rId3">
            <a:alphaModFix/>
          </a:blip>
          <a:srcRect b="7821" l="2345" r="1562" t="5009"/>
          <a:stretch/>
        </p:blipFill>
        <p:spPr>
          <a:xfrm>
            <a:off x="354806" y="171450"/>
            <a:ext cx="8434388" cy="4608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8"/>
          <p:cNvSpPr txBox="1"/>
          <p:nvPr>
            <p:ph idx="4294967295" type="title"/>
          </p:nvPr>
        </p:nvSpPr>
        <p:spPr>
          <a:xfrm>
            <a:off x="191691" y="171450"/>
            <a:ext cx="75259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LACK OF DESIGN AND DATA-MODELING SKILLS</a:t>
            </a:r>
            <a:endParaRPr/>
          </a:p>
        </p:txBody>
      </p:sp>
      <p:sp>
        <p:nvSpPr>
          <p:cNvPr id="327" name="Google Shape;327;p48"/>
          <p:cNvSpPr txBox="1"/>
          <p:nvPr>
            <p:ph idx="4294967295" type="body"/>
          </p:nvPr>
        </p:nvSpPr>
        <p:spPr>
          <a:xfrm>
            <a:off x="191690" y="1112998"/>
            <a:ext cx="4745831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135255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ct val="85714"/>
              <a:buFont typeface="Noto Sans Symbols"/>
              <a:buChar char="▪"/>
            </a:pP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Most users </a:t>
            </a:r>
            <a:r>
              <a:rPr b="0" i="0" lang="en" sz="2100" u="none" cap="none" strike="noStrike">
                <a:solidFill>
                  <a:srgbClr val="634545"/>
                </a:solidFill>
                <a:latin typeface="Rockwell"/>
                <a:ea typeface="Rockwell"/>
                <a:cs typeface="Rockwell"/>
                <a:sym typeface="Rockwell"/>
              </a:rPr>
              <a:t>lack the skill to properly design databases</a:t>
            </a: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, despite multiple personal productivity tools being available</a:t>
            </a:r>
            <a:endParaRPr/>
          </a:p>
          <a:p>
            <a:pPr indent="-135255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ct val="85714"/>
              <a:buFont typeface="Noto Sans Symbols"/>
              <a:buChar char="▪"/>
            </a:pP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Data-modeling skills are vital in the data design process</a:t>
            </a:r>
            <a:endParaRPr/>
          </a:p>
          <a:p>
            <a:pPr indent="-135255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ct val="85714"/>
              <a:buFont typeface="Noto Sans Symbols"/>
              <a:buChar char="▪"/>
            </a:pPr>
            <a:r>
              <a:rPr b="0" i="0" lang="en" sz="2100" u="none" cap="none" strike="noStrike">
                <a:solidFill>
                  <a:srgbClr val="634545"/>
                </a:solidFill>
                <a:latin typeface="Rockwell"/>
                <a:ea typeface="Rockwell"/>
                <a:cs typeface="Rockwell"/>
                <a:sym typeface="Rockwell"/>
              </a:rPr>
              <a:t>Good data modeling </a:t>
            </a:r>
            <a:r>
              <a:rPr b="1" i="0" lang="en" sz="21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facilitates communication</a:t>
            </a:r>
            <a:r>
              <a:rPr b="0" i="0" lang="en" sz="21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between the designer, user, and the developer</a:t>
            </a:r>
            <a:endParaRPr/>
          </a:p>
        </p:txBody>
      </p:sp>
      <p:sp>
        <p:nvSpPr>
          <p:cNvPr id="328" name="Google Shape;328;p48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329" name="Google Shape;329;p48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pic>
        <p:nvPicPr>
          <p:cNvPr descr="Conceptual Data Model Examples" id="330" name="Google Shape;33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1428750"/>
            <a:ext cx="4300538" cy="2881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 txBox="1"/>
          <p:nvPr>
            <p:ph idx="4294967295" type="title"/>
          </p:nvPr>
        </p:nvSpPr>
        <p:spPr>
          <a:xfrm>
            <a:off x="816102" y="165068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DATABASE SYSTEMS</a:t>
            </a:r>
            <a:endParaRPr/>
          </a:p>
        </p:txBody>
      </p:sp>
      <p:sp>
        <p:nvSpPr>
          <p:cNvPr id="337" name="Google Shape;337;p49"/>
          <p:cNvSpPr txBox="1"/>
          <p:nvPr>
            <p:ph idx="1" type="body"/>
          </p:nvPr>
        </p:nvSpPr>
        <p:spPr>
          <a:xfrm>
            <a:off x="810815" y="800100"/>
            <a:ext cx="7933134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 system </a:t>
            </a:r>
            <a:r>
              <a:rPr b="0" i="0" lang="en" sz="2400" u="non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consists of logically related data </a:t>
            </a: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stored in a </a:t>
            </a:r>
            <a:r>
              <a:rPr b="0" i="0" lang="en" sz="2400" u="non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single logical data repository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May be </a:t>
            </a:r>
            <a:r>
              <a:rPr b="0" i="0" lang="en" sz="2400" u="non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physically distributed among multiple storage </a:t>
            </a: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facilities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</a:t>
            </a:r>
            <a:r>
              <a:rPr b="0" i="0" lang="en" sz="2400" u="non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eliminates most of file system’s problems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Current generation stores data structures, relationships between structures, and access paths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Also defines, stores, and manages all access paths and components</a:t>
            </a:r>
            <a:endParaRPr/>
          </a:p>
          <a:p>
            <a:pPr indent="-12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38" name="Google Shape;338;p49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339" name="Google Shape;339;p49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0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345" name="Google Shape;345;p50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fld id="{00000000-1234-1234-1234-123412341234}" type="slidenum">
              <a:rPr b="1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pic>
        <p:nvPicPr>
          <p:cNvPr descr="C:\Documents and Settings\Paul Nagin\My Documents\CHIMBORAZO 09-13-2009\Books\694 Rob DB Systems 9e - Nancy -Marc Cartright\Figures\C7046_01\C7046_01\Fig01-06.bmp" id="346" name="Google Shape;34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" y="166688"/>
            <a:ext cx="8629650" cy="4656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1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</a:t>
            </a:r>
            <a:r>
              <a:rPr b="0" baseline="3000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Edition</a:t>
            </a:r>
            <a:endParaRPr sz="1100"/>
          </a:p>
        </p:txBody>
      </p:sp>
      <p:sp>
        <p:nvSpPr>
          <p:cNvPr id="353" name="Google Shape;353;p51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fld id="{00000000-1234-1234-1234-123412341234}" type="slidenum">
              <a:rPr b="1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pic>
        <p:nvPicPr>
          <p:cNvPr descr="What is DBMS - Components of DBMS" id="354" name="Google Shape;35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1750" y="379809"/>
            <a:ext cx="5417344" cy="39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1"/>
          <p:cNvSpPr txBox="1"/>
          <p:nvPr/>
        </p:nvSpPr>
        <p:spPr>
          <a:xfrm>
            <a:off x="271463" y="379809"/>
            <a:ext cx="2814638" cy="19157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Arial"/>
              <a:buNone/>
            </a:pPr>
            <a:r>
              <a:rPr b="1" i="0" lang="en" sz="24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A DBMS is a software that allows users to interact with database.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idx="4294967295" type="title"/>
          </p:nvPr>
        </p:nvSpPr>
        <p:spPr>
          <a:xfrm>
            <a:off x="343011" y="200025"/>
            <a:ext cx="6969814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THE DATABASE SYSTEM ENVIRONMENT</a:t>
            </a:r>
            <a:endParaRPr/>
          </a:p>
        </p:txBody>
      </p:sp>
      <p:sp>
        <p:nvSpPr>
          <p:cNvPr id="361" name="Google Shape;361;p52"/>
          <p:cNvSpPr txBox="1"/>
          <p:nvPr>
            <p:ph idx="1" type="body"/>
          </p:nvPr>
        </p:nvSpPr>
        <p:spPr>
          <a:xfrm>
            <a:off x="457200" y="942975"/>
            <a:ext cx="8343900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 system</a:t>
            </a: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defines and regulates the collection, storage, management, use of data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Five major parts of a database system: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Hardware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Software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People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Procedures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</a:t>
            </a:r>
            <a:endParaRPr/>
          </a:p>
        </p:txBody>
      </p:sp>
      <p:sp>
        <p:nvSpPr>
          <p:cNvPr id="362" name="Google Shape;362;p52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363" name="Google Shape;363;p52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3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369" name="Google Shape;369;p53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fld id="{00000000-1234-1234-1234-123412341234}" type="slidenum">
              <a:rPr b="1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pic>
        <p:nvPicPr>
          <p:cNvPr descr="C:\Documents and Settings\Paul Nagin\My Documents\CHIMBORAZO 09-13-2009\Books\694 Rob DB Systems 9e - Nancy -Marc Cartright\Figures\C7046_01\C7046_01\Fig01-07.bmp" id="370" name="Google Shape;37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171450"/>
            <a:ext cx="8515350" cy="465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4"/>
          <p:cNvSpPr txBox="1"/>
          <p:nvPr>
            <p:ph idx="4294967295" type="title"/>
          </p:nvPr>
        </p:nvSpPr>
        <p:spPr>
          <a:xfrm>
            <a:off x="151101" y="0"/>
            <a:ext cx="85722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THE DATABASE SYSTEM ENVIRONMENT </a:t>
            </a:r>
            <a:endParaRPr/>
          </a:p>
        </p:txBody>
      </p:sp>
      <p:sp>
        <p:nvSpPr>
          <p:cNvPr id="376" name="Google Shape;376;p54"/>
          <p:cNvSpPr txBox="1"/>
          <p:nvPr>
            <p:ph idx="1" type="body"/>
          </p:nvPr>
        </p:nvSpPr>
        <p:spPr>
          <a:xfrm>
            <a:off x="151209" y="628650"/>
            <a:ext cx="8635603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335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1" i="0" lang="en" sz="18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Hardware</a:t>
            </a:r>
            <a:r>
              <a:rPr b="0" i="0" lang="en" sz="18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all the system’s physical devices</a:t>
            </a:r>
            <a:endParaRPr/>
          </a:p>
          <a:p>
            <a:pPr indent="-13335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1" i="0" lang="en" sz="18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Software</a:t>
            </a:r>
            <a:r>
              <a:rPr b="0" i="0" lang="en" sz="18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three types of software required: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Operating system software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software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Application programs and utility software</a:t>
            </a:r>
            <a:endParaRPr/>
          </a:p>
          <a:p>
            <a:pPr indent="-13335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1" i="0" lang="en" sz="18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People</a:t>
            </a:r>
            <a:r>
              <a:rPr b="0" i="0" lang="en" sz="18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all users of the database system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System and database administrators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 designers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Systems analysts and programmers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End users</a:t>
            </a:r>
            <a:endParaRPr/>
          </a:p>
          <a:p>
            <a:pPr indent="-13335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1" i="0" lang="en" sz="18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Procedures</a:t>
            </a:r>
            <a:r>
              <a:rPr b="0" i="0" lang="en" sz="18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instructions and rules that govern the design and use of the database system</a:t>
            </a:r>
            <a:endParaRPr/>
          </a:p>
          <a:p>
            <a:pPr indent="-13335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1" i="0" lang="en" sz="18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</a:t>
            </a:r>
            <a:r>
              <a:rPr b="0" i="0" lang="en" sz="18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the collection of facts stored in the database</a:t>
            </a:r>
            <a:endParaRPr/>
          </a:p>
          <a:p>
            <a:pPr indent="-381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77" name="Google Shape;377;p54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378" name="Google Shape;378;p54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sp>
        <p:nvSpPr>
          <p:cNvPr id="379" name="Google Shape;379;p54"/>
          <p:cNvSpPr txBox="1"/>
          <p:nvPr/>
        </p:nvSpPr>
        <p:spPr>
          <a:xfrm>
            <a:off x="154798" y="628701"/>
            <a:ext cx="8635911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335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1" i="0" lang="en" sz="18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Hardware</a:t>
            </a: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all the system’s physical devices</a:t>
            </a:r>
            <a:endParaRPr sz="1100"/>
          </a:p>
          <a:p>
            <a:pPr indent="-13335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1" i="0" lang="en" sz="18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Software</a:t>
            </a: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three types of software required:</a:t>
            </a:r>
            <a:endParaRPr sz="1100"/>
          </a:p>
          <a:p>
            <a:pPr indent="-13335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Operating system software</a:t>
            </a:r>
            <a:endParaRPr sz="1100"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software</a:t>
            </a:r>
            <a:endParaRPr sz="1100"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Application programs and utility software</a:t>
            </a:r>
            <a:endParaRPr sz="1100"/>
          </a:p>
          <a:p>
            <a:pPr indent="-13335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1" i="0" lang="en" sz="18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People</a:t>
            </a: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all users of the database system</a:t>
            </a:r>
            <a:endParaRPr sz="1100"/>
          </a:p>
          <a:p>
            <a:pPr indent="-13335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System and database administrators</a:t>
            </a:r>
            <a:endParaRPr sz="1100"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 designers</a:t>
            </a:r>
            <a:endParaRPr sz="1100"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Systems analysts and programmers</a:t>
            </a:r>
            <a:endParaRPr sz="1100"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End users</a:t>
            </a:r>
            <a:endParaRPr sz="1100"/>
          </a:p>
          <a:p>
            <a:pPr indent="-13335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1" i="0" lang="en" sz="18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Procedures</a:t>
            </a: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instructions and rules that govern the design and use of the database system</a:t>
            </a:r>
            <a:endParaRPr sz="1100"/>
          </a:p>
          <a:p>
            <a:pPr indent="-13335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1" i="0" lang="en" sz="18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</a:t>
            </a: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the collection of facts stored in the database</a:t>
            </a:r>
            <a:endParaRPr sz="1100"/>
          </a:p>
          <a:p>
            <a:pPr indent="-381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5"/>
          <p:cNvSpPr txBox="1"/>
          <p:nvPr>
            <p:ph idx="4294967295" type="title"/>
          </p:nvPr>
        </p:nvSpPr>
        <p:spPr>
          <a:xfrm>
            <a:off x="628754" y="171450"/>
            <a:ext cx="7088878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DBMS FUNCTIONS</a:t>
            </a:r>
            <a:endParaRPr/>
          </a:p>
        </p:txBody>
      </p:sp>
      <p:sp>
        <p:nvSpPr>
          <p:cNvPr id="385" name="Google Shape;385;p55"/>
          <p:cNvSpPr txBox="1"/>
          <p:nvPr>
            <p:ph idx="1" type="body"/>
          </p:nvPr>
        </p:nvSpPr>
        <p:spPr>
          <a:xfrm>
            <a:off x="628650" y="914400"/>
            <a:ext cx="8115300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41300" lvl="0" marL="241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◻"/>
            </a:pPr>
            <a:r>
              <a:rPr b="0" i="0" lang="en" sz="21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Most functions are transparent to end users</a:t>
            </a:r>
            <a:endParaRPr/>
          </a:p>
          <a:p>
            <a:pPr indent="-20320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🞑"/>
            </a:pP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Can only be </a:t>
            </a:r>
            <a:r>
              <a:rPr b="0" i="0" lang="en" sz="21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achieved through the DBMS</a:t>
            </a:r>
            <a:endParaRPr/>
          </a:p>
          <a:p>
            <a:pPr indent="-241300" lvl="0" marL="2413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◻"/>
            </a:pPr>
            <a:r>
              <a:rPr b="1" i="0" lang="en" sz="2100" u="none">
                <a:solidFill>
                  <a:srgbClr val="644646"/>
                </a:solidFill>
                <a:latin typeface="Rockwell"/>
                <a:ea typeface="Rockwell"/>
                <a:cs typeface="Rockwell"/>
                <a:sym typeface="Rockwell"/>
              </a:rPr>
              <a:t>Data dictionary management</a:t>
            </a:r>
            <a:endParaRPr/>
          </a:p>
          <a:p>
            <a:pPr indent="-20320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🞑"/>
            </a:pP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</a:t>
            </a:r>
            <a:r>
              <a:rPr b="0" i="0" lang="en" sz="21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stores definitions </a:t>
            </a: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of data elements and relationships (metadata) in a </a:t>
            </a:r>
            <a:r>
              <a:rPr b="1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dictionary</a:t>
            </a:r>
            <a:endParaRPr/>
          </a:p>
          <a:p>
            <a:pPr indent="-20320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🞑"/>
            </a:pP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looks up required </a:t>
            </a:r>
            <a:r>
              <a:rPr b="0" i="0" lang="en" sz="2100" u="none" cap="none" strike="noStrike">
                <a:solidFill>
                  <a:srgbClr val="742217"/>
                </a:solidFill>
                <a:latin typeface="Rockwell"/>
                <a:ea typeface="Rockwell"/>
                <a:cs typeface="Rockwell"/>
                <a:sym typeface="Rockwell"/>
              </a:rPr>
              <a:t>data component structures and relationships</a:t>
            </a:r>
            <a:endParaRPr/>
          </a:p>
          <a:p>
            <a:pPr indent="-20320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🞑"/>
            </a:pPr>
            <a:r>
              <a:rPr b="0" i="0" lang="en" sz="2100" u="none" cap="none" strike="noStrike">
                <a:solidFill>
                  <a:srgbClr val="704A3D"/>
                </a:solidFill>
                <a:latin typeface="Rockwell"/>
                <a:ea typeface="Rockwell"/>
                <a:cs typeface="Rockwell"/>
                <a:sym typeface="Rockwell"/>
              </a:rPr>
              <a:t>Changes automatically recorded </a:t>
            </a: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 the dictionary</a:t>
            </a:r>
            <a:endParaRPr/>
          </a:p>
          <a:p>
            <a:pPr indent="-20320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Char char="🞑"/>
            </a:pPr>
            <a:r>
              <a:rPr b="0" i="0" lang="en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provides </a:t>
            </a:r>
            <a:r>
              <a:rPr b="0" i="0" lang="en" sz="2100" u="none" cap="none" strike="noStrike">
                <a:solidFill>
                  <a:srgbClr val="644646"/>
                </a:solidFill>
                <a:latin typeface="Rockwell"/>
                <a:ea typeface="Rockwell"/>
                <a:cs typeface="Rockwell"/>
                <a:sym typeface="Rockwell"/>
              </a:rPr>
              <a:t>data abstraction and removes structural and data dependency  </a:t>
            </a:r>
            <a:endParaRPr/>
          </a:p>
        </p:txBody>
      </p:sp>
      <p:sp>
        <p:nvSpPr>
          <p:cNvPr id="386" name="Google Shape;386;p55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387" name="Google Shape;387;p55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6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393" name="Google Shape;393;p56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fld id="{00000000-1234-1234-1234-123412341234}" type="slidenum">
              <a:rPr b="1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  <p:pic>
        <p:nvPicPr>
          <p:cNvPr descr="C:\Documents and Settings\Paul Nagin\My Documents\CHIMBORAZO 09-13-2009\Books\694 Rob DB Systems 9e - Nancy -Marc Cartright\Figures\C7046_01\C7046_01\Fig01-08.bmp" id="394" name="Google Shape;39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4300"/>
            <a:ext cx="897255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7"/>
          <p:cNvSpPr txBox="1"/>
          <p:nvPr>
            <p:ph idx="4294967295" type="title"/>
          </p:nvPr>
        </p:nvSpPr>
        <p:spPr>
          <a:xfrm>
            <a:off x="400160" y="165068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DBMS FUNCTIONS (CONT'D.)</a:t>
            </a:r>
            <a:endParaRPr/>
          </a:p>
        </p:txBody>
      </p:sp>
      <p:sp>
        <p:nvSpPr>
          <p:cNvPr id="400" name="Google Shape;400;p57"/>
          <p:cNvSpPr txBox="1"/>
          <p:nvPr>
            <p:ph idx="1" type="body"/>
          </p:nvPr>
        </p:nvSpPr>
        <p:spPr>
          <a:xfrm>
            <a:off x="514350" y="885825"/>
            <a:ext cx="8115300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storage management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</a:t>
            </a:r>
            <a:r>
              <a:rPr b="0" i="0" lang="en" sz="2400" u="none" cap="none" strike="noStrike">
                <a:solidFill>
                  <a:srgbClr val="644646"/>
                </a:solidFill>
                <a:latin typeface="Rockwell"/>
                <a:ea typeface="Rockwell"/>
                <a:cs typeface="Rockwell"/>
                <a:sym typeface="Rockwell"/>
              </a:rPr>
              <a:t>creates and manages complex structures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required for data storage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Also </a:t>
            </a:r>
            <a:r>
              <a:rPr b="0" i="0" lang="en" sz="2400" u="none" cap="none" strike="noStrike">
                <a:solidFill>
                  <a:srgbClr val="7C6B4D"/>
                </a:solidFill>
                <a:latin typeface="Rockwell"/>
                <a:ea typeface="Rockwell"/>
                <a:cs typeface="Rockwell"/>
                <a:sym typeface="Rockwell"/>
              </a:rPr>
              <a:t>stores related data entry forms, screen definitions, report definitions,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etc.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1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Performance tuning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activities that make the database perform more efficiently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</a:t>
            </a:r>
            <a:r>
              <a:rPr b="0" i="0" lang="en" sz="2400" u="none" cap="none" strike="noStrike">
                <a:solidFill>
                  <a:srgbClr val="9E3611"/>
                </a:solidFill>
                <a:latin typeface="Rockwell"/>
                <a:ea typeface="Rockwell"/>
                <a:cs typeface="Rockwell"/>
                <a:sym typeface="Rockwell"/>
              </a:rPr>
              <a:t>stores the database in multiple physical data </a:t>
            </a: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files</a:t>
            </a:r>
            <a:endParaRPr/>
          </a:p>
        </p:txBody>
      </p:sp>
      <p:sp>
        <p:nvSpPr>
          <p:cNvPr id="401" name="Google Shape;401;p57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402" name="Google Shape;402;p57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8"/>
          <p:cNvSpPr txBox="1"/>
          <p:nvPr>
            <p:ph idx="4294967295" type="title"/>
          </p:nvPr>
        </p:nvSpPr>
        <p:spPr>
          <a:xfrm>
            <a:off x="93722" y="61636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DBMS FUNCTIONS (CONT'D.)</a:t>
            </a:r>
            <a:endParaRPr/>
          </a:p>
        </p:txBody>
      </p:sp>
      <p:sp>
        <p:nvSpPr>
          <p:cNvPr id="409" name="Google Shape;409;p58"/>
          <p:cNvSpPr txBox="1"/>
          <p:nvPr>
            <p:ph idx="4294967295" type="body"/>
          </p:nvPr>
        </p:nvSpPr>
        <p:spPr>
          <a:xfrm>
            <a:off x="0" y="685849"/>
            <a:ext cx="9029583" cy="34991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34950" lvl="0" marL="241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◻"/>
            </a:pPr>
            <a:r>
              <a:rPr b="1" i="0" lang="en" sz="18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Data transformation and presentation</a:t>
            </a:r>
            <a:endParaRPr/>
          </a:p>
          <a:p>
            <a:pPr indent="-20955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🞑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transforms data </a:t>
            </a:r>
            <a:r>
              <a:rPr b="0" i="0" lang="en" sz="18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entered to conform </a:t>
            </a: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to required data structures</a:t>
            </a:r>
            <a:endParaRPr/>
          </a:p>
          <a:p>
            <a:pPr indent="-20955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🞑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transforms physically </a:t>
            </a:r>
            <a:r>
              <a:rPr b="0" i="0" lang="en" sz="18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retrieved data to conform </a:t>
            </a: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to user’s logical expectations</a:t>
            </a:r>
            <a:endParaRPr/>
          </a:p>
          <a:p>
            <a:pPr indent="-234950" lvl="0" marL="2413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◻"/>
            </a:pPr>
            <a:r>
              <a:rPr b="1" i="0" lang="en" sz="18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Security management</a:t>
            </a:r>
            <a:endParaRPr/>
          </a:p>
          <a:p>
            <a:pPr indent="-20955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🞑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</a:t>
            </a:r>
            <a:r>
              <a:rPr b="0" i="0" lang="en" sz="18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creates a security system </a:t>
            </a: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that enforces user security and data privacy</a:t>
            </a:r>
            <a:endParaRPr/>
          </a:p>
          <a:p>
            <a:pPr indent="-209550" lvl="1" marL="482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🞑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Security rules </a:t>
            </a:r>
            <a:r>
              <a:rPr b="0" i="0" lang="en" sz="18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determine which users can access </a:t>
            </a: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the database, which items can be accessed, etc.</a:t>
            </a:r>
            <a:endParaRPr/>
          </a:p>
          <a:p>
            <a:pPr indent="-13335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1" i="0" lang="en" sz="18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Multiuser access control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uses sophisticated algorithms to ensure </a:t>
            </a:r>
            <a:r>
              <a:rPr b="0" i="0" lang="en" sz="18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concurrent access does not affect integrity</a:t>
            </a:r>
            <a:endParaRPr/>
          </a:p>
          <a:p>
            <a:pPr indent="-13335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1" i="0" lang="en" sz="18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Backup and recovery management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</a:t>
            </a:r>
            <a:r>
              <a:rPr b="0" i="0" lang="en" sz="18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provides backup and data recovery </a:t>
            </a: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to ensure data safety and integrity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b="0" i="0" lang="en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Recovery management deals with recovery of </a:t>
            </a:r>
            <a:r>
              <a:rPr b="0" i="0" lang="en" sz="18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database after a failure</a:t>
            </a:r>
            <a:endParaRPr/>
          </a:p>
          <a:p>
            <a:pPr indent="-114300" lvl="1" marL="482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0" name="Google Shape;410;p58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411" name="Google Shape;411;p58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9"/>
          <p:cNvSpPr txBox="1"/>
          <p:nvPr>
            <p:ph idx="4294967295" type="title"/>
          </p:nvPr>
        </p:nvSpPr>
        <p:spPr>
          <a:xfrm>
            <a:off x="285863" y="163882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DBMS FUNCTIONS (CONT'D.)</a:t>
            </a:r>
            <a:endParaRPr/>
          </a:p>
        </p:txBody>
      </p:sp>
      <p:sp>
        <p:nvSpPr>
          <p:cNvPr id="418" name="Google Shape;418;p59"/>
          <p:cNvSpPr txBox="1"/>
          <p:nvPr>
            <p:ph idx="4294967295" type="body"/>
          </p:nvPr>
        </p:nvSpPr>
        <p:spPr>
          <a:xfrm>
            <a:off x="342900" y="841772"/>
            <a:ext cx="8801100" cy="367307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605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integrity management 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promotes and </a:t>
            </a:r>
            <a:r>
              <a:rPr b="0" i="0" lang="en" sz="20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enforces integrity rules</a:t>
            </a:r>
            <a:endParaRPr/>
          </a:p>
          <a:p>
            <a:pPr indent="-133350" lvl="2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Minimizes redundancy</a:t>
            </a:r>
            <a:endParaRPr/>
          </a:p>
          <a:p>
            <a:pPr indent="-133350" lvl="2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Maximizes consistency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relationships stored in data dictionary used to </a:t>
            </a:r>
            <a:r>
              <a:rPr b="0" i="0" lang="en" sz="20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enforce data integrity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Integrity is especially important in transaction-oriented database systems</a:t>
            </a:r>
            <a:endParaRPr/>
          </a:p>
          <a:p>
            <a:pPr indent="-14605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 access languages and application programming interfaces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provides access through a query language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1" i="0" lang="en" sz="20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Query language </a:t>
            </a: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is a nonprocedural language</a:t>
            </a:r>
            <a:endParaRPr/>
          </a:p>
          <a:p>
            <a:pPr indent="-1333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1" i="0" lang="en" sz="20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Structured Query Language (SQL) </a:t>
            </a: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is the de facto query language </a:t>
            </a:r>
            <a:endParaRPr/>
          </a:p>
          <a:p>
            <a:pPr indent="-133350" lvl="2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Standard supported by majority of DBMS vendors</a:t>
            </a:r>
            <a:endParaRPr/>
          </a:p>
          <a:p>
            <a:pPr indent="-254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9" name="Google Shape;419;p59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420" name="Google Shape;420;p59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0"/>
          <p:cNvSpPr txBox="1"/>
          <p:nvPr>
            <p:ph idx="4294967295" type="title"/>
          </p:nvPr>
        </p:nvSpPr>
        <p:spPr>
          <a:xfrm>
            <a:off x="514457" y="171450"/>
            <a:ext cx="8115087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MANAGING THE DATABASE SYSTEM: </a:t>
            </a:r>
            <a:b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</a:b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A SHIFT IN FOCUS</a:t>
            </a:r>
            <a:endParaRPr/>
          </a:p>
        </p:txBody>
      </p:sp>
      <p:sp>
        <p:nvSpPr>
          <p:cNvPr id="426" name="Google Shape;426;p60"/>
          <p:cNvSpPr txBox="1"/>
          <p:nvPr>
            <p:ph idx="1" type="body"/>
          </p:nvPr>
        </p:nvSpPr>
        <p:spPr>
          <a:xfrm>
            <a:off x="514350" y="1117997"/>
            <a:ext cx="8115300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 system provides a </a:t>
            </a:r>
            <a:r>
              <a:rPr b="0" i="0" lang="en" sz="2400" u="non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framework</a:t>
            </a: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in which strict </a:t>
            </a:r>
            <a:r>
              <a:rPr b="0" i="0" lang="en" sz="2400" u="non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procedures and standards </a:t>
            </a: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enforced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Role of human changes from programming to managing organization’s resources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 system enables more sophisticated use of the data 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structures created within the database and their relationships determine effectiveness</a:t>
            </a:r>
            <a:endParaRPr/>
          </a:p>
        </p:txBody>
      </p:sp>
      <p:sp>
        <p:nvSpPr>
          <p:cNvPr id="427" name="Google Shape;427;p60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428" name="Google Shape;428;p60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1"/>
          <p:cNvSpPr txBox="1"/>
          <p:nvPr>
            <p:ph idx="4294967295" type="title"/>
          </p:nvPr>
        </p:nvSpPr>
        <p:spPr>
          <a:xfrm>
            <a:off x="400160" y="171450"/>
            <a:ext cx="7317472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MANAGING THE DATABASE SYSTEM: </a:t>
            </a:r>
            <a:b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</a:b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A SHIFT IN FOCUS (CONT'D.)</a:t>
            </a:r>
            <a:endParaRPr/>
          </a:p>
        </p:txBody>
      </p:sp>
      <p:sp>
        <p:nvSpPr>
          <p:cNvPr id="434" name="Google Shape;434;p61"/>
          <p:cNvSpPr txBox="1"/>
          <p:nvPr>
            <p:ph idx="4294967295" type="body"/>
          </p:nvPr>
        </p:nvSpPr>
        <p:spPr>
          <a:xfrm>
            <a:off x="400050" y="1200150"/>
            <a:ext cx="8286750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4605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▪"/>
            </a:pPr>
            <a:r>
              <a:rPr b="1" i="0" lang="en" sz="2700" u="none" cap="none" strike="noStrike">
                <a:solidFill>
                  <a:srgbClr val="7030A0"/>
                </a:solidFill>
                <a:highlight>
                  <a:srgbClr val="00FF00"/>
                </a:highlight>
                <a:latin typeface="Rockwell"/>
                <a:ea typeface="Rockwell"/>
                <a:cs typeface="Rockwell"/>
                <a:sym typeface="Rockwell"/>
              </a:rPr>
              <a:t>Disadvantages of database systems: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⮚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Increased costs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⮚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Management complexity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⮚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Maintaining concurrency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⮚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Vendor dependence</a:t>
            </a:r>
            <a:endParaRPr/>
          </a:p>
          <a:p>
            <a:pPr indent="-14605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300"/>
              <a:buFont typeface="Noto Sans Symbols"/>
              <a:buChar char="⮚"/>
            </a:pPr>
            <a:r>
              <a:rPr b="0" i="0" lang="en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Frequent upgrade/replacement cycles</a:t>
            </a:r>
            <a:endParaRPr/>
          </a:p>
        </p:txBody>
      </p:sp>
      <p:sp>
        <p:nvSpPr>
          <p:cNvPr id="435" name="Google Shape;435;p61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436" name="Google Shape;436;p61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2"/>
          <p:cNvSpPr txBox="1"/>
          <p:nvPr>
            <p:ph idx="4294967295" type="title"/>
          </p:nvPr>
        </p:nvSpPr>
        <p:spPr>
          <a:xfrm>
            <a:off x="571605" y="292253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SUMMARY</a:t>
            </a:r>
            <a:endParaRPr/>
          </a:p>
        </p:txBody>
      </p:sp>
      <p:sp>
        <p:nvSpPr>
          <p:cNvPr id="442" name="Google Shape;442;p62"/>
          <p:cNvSpPr txBox="1"/>
          <p:nvPr>
            <p:ph idx="1" type="body"/>
          </p:nvPr>
        </p:nvSpPr>
        <p:spPr>
          <a:xfrm>
            <a:off x="571500" y="1034653"/>
            <a:ext cx="6115050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are raw facts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Information is the result of processing data to reveal its meaning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Accurate, relevant, and timely information is the key to good decision making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are usually stored in a database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implements a database and manages its contents</a:t>
            </a:r>
            <a:endParaRPr/>
          </a:p>
        </p:txBody>
      </p:sp>
      <p:sp>
        <p:nvSpPr>
          <p:cNvPr id="443" name="Google Shape;443;p62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444" name="Google Shape;444;p62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3"/>
          <p:cNvSpPr txBox="1"/>
          <p:nvPr>
            <p:ph idx="4294967295" type="title"/>
          </p:nvPr>
        </p:nvSpPr>
        <p:spPr>
          <a:xfrm>
            <a:off x="457308" y="200025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SUMMARY (CONT'D.)</a:t>
            </a:r>
            <a:endParaRPr/>
          </a:p>
        </p:txBody>
      </p:sp>
      <p:sp>
        <p:nvSpPr>
          <p:cNvPr id="450" name="Google Shape;450;p63"/>
          <p:cNvSpPr txBox="1"/>
          <p:nvPr>
            <p:ph idx="1" type="body"/>
          </p:nvPr>
        </p:nvSpPr>
        <p:spPr>
          <a:xfrm>
            <a:off x="452438" y="963215"/>
            <a:ext cx="7360444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Metadata is data about data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 design defines the database structure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Well-designed database facilitates data management and generates valuable information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Poorly designed database leads to bad decision making and organizational failure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Databases evolved from manual and computerized file systems</a:t>
            </a:r>
            <a:endParaRPr/>
          </a:p>
        </p:txBody>
      </p:sp>
      <p:sp>
        <p:nvSpPr>
          <p:cNvPr id="451" name="Google Shape;451;p63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452" name="Google Shape;452;p63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4"/>
          <p:cNvSpPr txBox="1"/>
          <p:nvPr>
            <p:ph idx="4294967295" type="title"/>
          </p:nvPr>
        </p:nvSpPr>
        <p:spPr>
          <a:xfrm>
            <a:off x="483340" y="285790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SUMMARY (CONT'D.)</a:t>
            </a:r>
            <a:endParaRPr/>
          </a:p>
        </p:txBody>
      </p:sp>
      <p:sp>
        <p:nvSpPr>
          <p:cNvPr id="458" name="Google Shape;458;p64"/>
          <p:cNvSpPr txBox="1"/>
          <p:nvPr>
            <p:ph idx="1" type="body"/>
          </p:nvPr>
        </p:nvSpPr>
        <p:spPr>
          <a:xfrm>
            <a:off x="457200" y="1028700"/>
            <a:ext cx="8026003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Database management systems were developed to address file system’s inherent weaknesses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present database to end user as single repository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Promotes data sharing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Eliminates islands of information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DBMS enforces data integrity, eliminates redundancy, and promotes security</a:t>
            </a:r>
            <a:endParaRPr/>
          </a:p>
        </p:txBody>
      </p:sp>
      <p:sp>
        <p:nvSpPr>
          <p:cNvPr id="459" name="Google Shape;459;p64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460" name="Google Shape;460;p64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5"/>
          <p:cNvSpPr txBox="1"/>
          <p:nvPr>
            <p:ph idx="4294967295" type="title"/>
          </p:nvPr>
        </p:nvSpPr>
        <p:spPr>
          <a:xfrm>
            <a:off x="343011" y="245494"/>
            <a:ext cx="61150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b="0" i="0" lang="en" sz="4100" u="none" cap="none" strike="noStrike">
                <a:latin typeface="Rockwell"/>
                <a:ea typeface="Rockwell"/>
                <a:cs typeface="Rockwell"/>
                <a:sym typeface="Rockwell"/>
              </a:rPr>
              <a:t>SUMMARY (CONT'D.)</a:t>
            </a:r>
            <a:endParaRPr/>
          </a:p>
        </p:txBody>
      </p:sp>
      <p:sp>
        <p:nvSpPr>
          <p:cNvPr id="466" name="Google Shape;466;p65"/>
          <p:cNvSpPr txBox="1"/>
          <p:nvPr>
            <p:ph idx="1" type="body"/>
          </p:nvPr>
        </p:nvSpPr>
        <p:spPr>
          <a:xfrm>
            <a:off x="426244" y="988219"/>
            <a:ext cx="797480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39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 a file system, data stored in independent files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Each requires its own management program</a:t>
            </a:r>
            <a:endParaRPr/>
          </a:p>
          <a:p>
            <a:pPr indent="-139700" lvl="0" marL="1397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Some limitations of file system data management: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Requires extensive programming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System administration is complex and difficult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Changing existing structures is difficult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Security features are likely inadequate</a:t>
            </a:r>
            <a:endParaRPr/>
          </a:p>
          <a:p>
            <a:pPr indent="-139700" lvl="1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Independent files tend to contain redundant data</a:t>
            </a:r>
            <a:endParaRPr/>
          </a:p>
          <a:p>
            <a:pPr indent="-127000" lvl="2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E3611"/>
              </a:buClr>
              <a:buSzPts val="2000"/>
              <a:buFont typeface="Noto Sans Symbols"/>
              <a:buChar char="▪"/>
            </a:pPr>
            <a:r>
              <a:rPr b="0" i="0" lang="en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Structural and data dependency problems</a:t>
            </a:r>
            <a:endParaRPr/>
          </a:p>
        </p:txBody>
      </p:sp>
      <p:sp>
        <p:nvSpPr>
          <p:cNvPr id="467" name="Google Shape;467;p65"/>
          <p:cNvSpPr txBox="1"/>
          <p:nvPr/>
        </p:nvSpPr>
        <p:spPr>
          <a:xfrm>
            <a:off x="815578" y="4704159"/>
            <a:ext cx="47458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Systems, 9th Edition</a:t>
            </a:r>
            <a:endParaRPr sz="1100"/>
          </a:p>
        </p:txBody>
      </p:sp>
      <p:sp>
        <p:nvSpPr>
          <p:cNvPr id="468" name="Google Shape;468;p65"/>
          <p:cNvSpPr txBox="1"/>
          <p:nvPr/>
        </p:nvSpPr>
        <p:spPr>
          <a:xfrm>
            <a:off x="8483203" y="4704159"/>
            <a:ext cx="47982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1" i="0" lang="en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6"/>
          <p:cNvSpPr txBox="1"/>
          <p:nvPr>
            <p:ph type="title"/>
          </p:nvPr>
        </p:nvSpPr>
        <p:spPr>
          <a:xfrm>
            <a:off x="342900" y="1257300"/>
            <a:ext cx="81534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900"/>
              <a:buFont typeface="Rockwell"/>
              <a:buNone/>
            </a:pPr>
            <a:r>
              <a:rPr b="0" i="0" lang="en" sz="5900" u="non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b="0" i="0" lang="en" sz="5900" u="none">
                <a:solidFill>
                  <a:srgbClr val="918485"/>
                </a:solidFill>
                <a:latin typeface="Rockwell"/>
                <a:ea typeface="Rockwell"/>
                <a:cs typeface="Rockwell"/>
                <a:sym typeface="Rockwell"/>
              </a:rPr>
              <a:t>Q &amp; A 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