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 id="2147483773" r:id="rId2"/>
  </p:sldMasterIdLst>
  <p:notesMasterIdLst>
    <p:notesMasterId r:id="rId54"/>
  </p:notesMasterIdLst>
  <p:sldIdLst>
    <p:sldId id="256" r:id="rId3"/>
    <p:sldId id="302" r:id="rId4"/>
    <p:sldId id="259" r:id="rId5"/>
    <p:sldId id="260" r:id="rId6"/>
    <p:sldId id="261" r:id="rId7"/>
    <p:sldId id="262" r:id="rId8"/>
    <p:sldId id="265" r:id="rId9"/>
    <p:sldId id="268" r:id="rId10"/>
    <p:sldId id="269" r:id="rId11"/>
    <p:sldId id="270" r:id="rId12"/>
    <p:sldId id="271" r:id="rId13"/>
    <p:sldId id="273" r:id="rId14"/>
    <p:sldId id="274" r:id="rId15"/>
    <p:sldId id="275" r:id="rId16"/>
    <p:sldId id="267" r:id="rId17"/>
    <p:sldId id="279" r:id="rId18"/>
    <p:sldId id="280" r:id="rId19"/>
    <p:sldId id="258" r:id="rId20"/>
    <p:sldId id="303" r:id="rId21"/>
    <p:sldId id="278" r:id="rId22"/>
    <p:sldId id="281" r:id="rId23"/>
    <p:sldId id="304" r:id="rId24"/>
    <p:sldId id="266" r:id="rId25"/>
    <p:sldId id="305" r:id="rId26"/>
    <p:sldId id="306" r:id="rId27"/>
    <p:sldId id="307" r:id="rId28"/>
    <p:sldId id="308" r:id="rId29"/>
    <p:sldId id="310" r:id="rId30"/>
    <p:sldId id="311" r:id="rId31"/>
    <p:sldId id="309" r:id="rId32"/>
    <p:sldId id="312" r:id="rId33"/>
    <p:sldId id="313" r:id="rId34"/>
    <p:sldId id="314" r:id="rId35"/>
    <p:sldId id="282" r:id="rId36"/>
    <p:sldId id="283" r:id="rId37"/>
    <p:sldId id="284" r:id="rId38"/>
    <p:sldId id="285" r:id="rId39"/>
    <p:sldId id="299" r:id="rId40"/>
    <p:sldId id="291" r:id="rId41"/>
    <p:sldId id="315" r:id="rId42"/>
    <p:sldId id="316" r:id="rId43"/>
    <p:sldId id="292" r:id="rId44"/>
    <p:sldId id="318" r:id="rId45"/>
    <p:sldId id="319" r:id="rId46"/>
    <p:sldId id="320" r:id="rId47"/>
    <p:sldId id="321" r:id="rId48"/>
    <p:sldId id="322" r:id="rId49"/>
    <p:sldId id="323" r:id="rId50"/>
    <p:sldId id="317" r:id="rId51"/>
    <p:sldId id="297" r:id="rId52"/>
    <p:sldId id="324" r:id="rId53"/>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4" d="100"/>
          <a:sy n="74" d="100"/>
        </p:scale>
        <p:origin x="1060"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microsoft.com/office/2016/11/relationships/changesInfo" Target="changesInfos/changesInfo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m Wen-I" userId="4f6c7eb3-5643-4e91-aeb7-39086a2dad27" providerId="ADAL" clId="{EE1A242F-AC6E-4D4D-9A0F-E799B7EBFF49}"/>
    <pc:docChg chg="custSel delSld modSld">
      <pc:chgData name="Lim Wen-I" userId="4f6c7eb3-5643-4e91-aeb7-39086a2dad27" providerId="ADAL" clId="{EE1A242F-AC6E-4D4D-9A0F-E799B7EBFF49}" dt="2025-10-29T16:12:35.941" v="29" actId="2696"/>
      <pc:docMkLst>
        <pc:docMk/>
      </pc:docMkLst>
      <pc:sldChg chg="modSp">
        <pc:chgData name="Lim Wen-I" userId="4f6c7eb3-5643-4e91-aeb7-39086a2dad27" providerId="ADAL" clId="{EE1A242F-AC6E-4D4D-9A0F-E799B7EBFF49}" dt="2025-10-29T16:01:11.715" v="23" actId="6549"/>
        <pc:sldMkLst>
          <pc:docMk/>
          <pc:sldMk cId="0" sldId="256"/>
        </pc:sldMkLst>
        <pc:spChg chg="mod">
          <ac:chgData name="Lim Wen-I" userId="4f6c7eb3-5643-4e91-aeb7-39086a2dad27" providerId="ADAL" clId="{EE1A242F-AC6E-4D4D-9A0F-E799B7EBFF49}" dt="2025-10-29T16:01:11.715" v="23" actId="6549"/>
          <ac:spMkLst>
            <pc:docMk/>
            <pc:sldMk cId="0" sldId="256"/>
            <ac:spMk id="2" creationId="{F6F69263-F17F-458A-809B-2C367F0A8834}"/>
          </ac:spMkLst>
        </pc:spChg>
      </pc:sldChg>
      <pc:sldChg chg="modSp">
        <pc:chgData name="Lim Wen-I" userId="4f6c7eb3-5643-4e91-aeb7-39086a2dad27" providerId="ADAL" clId="{EE1A242F-AC6E-4D4D-9A0F-E799B7EBFF49}" dt="2025-10-29T16:12:28.285" v="28" actId="20577"/>
        <pc:sldMkLst>
          <pc:docMk/>
          <pc:sldMk cId="0" sldId="265"/>
        </pc:sldMkLst>
        <pc:spChg chg="mod">
          <ac:chgData name="Lim Wen-I" userId="4f6c7eb3-5643-4e91-aeb7-39086a2dad27" providerId="ADAL" clId="{EE1A242F-AC6E-4D4D-9A0F-E799B7EBFF49}" dt="2025-10-29T16:12:28.285" v="28" actId="20577"/>
          <ac:spMkLst>
            <pc:docMk/>
            <pc:sldMk cId="0" sldId="265"/>
            <ac:spMk id="12292" creationId="{15EC1A8C-43C1-499F-B19B-DA5ADB39AA94}"/>
          </ac:spMkLst>
        </pc:spChg>
      </pc:sldChg>
      <pc:sldChg chg="modSp del">
        <pc:chgData name="Lim Wen-I" userId="4f6c7eb3-5643-4e91-aeb7-39086a2dad27" providerId="ADAL" clId="{EE1A242F-AC6E-4D4D-9A0F-E799B7EBFF49}" dt="2025-10-29T16:12:35.941" v="29" actId="2696"/>
        <pc:sldMkLst>
          <pc:docMk/>
          <pc:sldMk cId="0" sldId="300"/>
        </pc:sldMkLst>
        <pc:picChg chg="mod">
          <ac:chgData name="Lim Wen-I" userId="4f6c7eb3-5643-4e91-aeb7-39086a2dad27" providerId="ADAL" clId="{EE1A242F-AC6E-4D4D-9A0F-E799B7EBFF49}" dt="2025-10-29T16:02:33.796" v="24" actId="1076"/>
          <ac:picMkLst>
            <pc:docMk/>
            <pc:sldMk cId="0" sldId="300"/>
            <ac:picMk id="6" creationId="{028C2111-9DE2-473E-A72B-AC2D9222359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A646737-C1FF-48AC-A8FB-46658CB00E07}"/>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7AB645A5-D6FC-43FA-BBF5-1AD6A91E7D24}"/>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1189E6E5-614F-4263-BBCF-1891CDE7AF99}" type="datetimeFigureOut">
              <a:rPr lang="en-US"/>
              <a:pPr>
                <a:defRPr/>
              </a:pPr>
              <a:t>10/30/2025</a:t>
            </a:fld>
            <a:endParaRPr lang="en-US"/>
          </a:p>
        </p:txBody>
      </p:sp>
      <p:sp>
        <p:nvSpPr>
          <p:cNvPr id="4" name="Slide Image Placeholder 3">
            <a:extLst>
              <a:ext uri="{FF2B5EF4-FFF2-40B4-BE49-F238E27FC236}">
                <a16:creationId xmlns:a16="http://schemas.microsoft.com/office/drawing/2014/main" id="{3232357D-982B-4267-93C3-AFA483E8DF6A}"/>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3FECC664-2119-434E-8003-C5F26E4DE225}"/>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D71716DE-09CB-41A9-8D06-465B0D58A2B9}"/>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9FD61DE9-934D-4BAA-96CF-D4D34B1089F7}"/>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44ED5C07-4289-4562-A925-8EC35617B302}"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xfrm>
            <a:off x="1144588" y="685800"/>
            <a:ext cx="4572000" cy="3429000"/>
          </a:xfrm>
          <a:ln/>
        </p:spPr>
      </p:sp>
      <p:sp>
        <p:nvSpPr>
          <p:cNvPr id="56323" name="Rectangle 3"/>
          <p:cNvSpPr>
            <a:spLocks noGrp="1" noChangeArrowheads="1"/>
          </p:cNvSpPr>
          <p:nvPr>
            <p:ph type="body" idx="1"/>
          </p:nvPr>
        </p:nvSpPr>
        <p:spPr>
          <a:xfrm>
            <a:off x="686121" y="4341977"/>
            <a:ext cx="5485760" cy="4115603"/>
          </a:xfrm>
          <a:noFill/>
        </p:spPr>
        <p:txBody>
          <a:bodyPr/>
          <a:lstStyle/>
          <a:p>
            <a:pPr eaLnBrk="1" hangingPunct="1">
              <a:buFont typeface="Verdana" pitchFamily="34" charset="0"/>
              <a:buNone/>
            </a:pPr>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xfrm>
            <a:off x="1144588" y="685800"/>
            <a:ext cx="4572000" cy="3429000"/>
          </a:xfrm>
          <a:ln/>
        </p:spPr>
      </p:sp>
      <p:sp>
        <p:nvSpPr>
          <p:cNvPr id="57347" name="Rectangle 3"/>
          <p:cNvSpPr>
            <a:spLocks noGrp="1" noChangeArrowheads="1"/>
          </p:cNvSpPr>
          <p:nvPr>
            <p:ph type="body" idx="1"/>
          </p:nvPr>
        </p:nvSpPr>
        <p:spPr>
          <a:xfrm>
            <a:off x="686121" y="4341977"/>
            <a:ext cx="5485760" cy="4115603"/>
          </a:xfrm>
          <a:noFill/>
        </p:spPr>
        <p:txBody>
          <a:bodyPr/>
          <a:lstStyle/>
          <a:p>
            <a:pPr eaLnBrk="1" hangingPunct="1"/>
            <a:r>
              <a:rPr lang="en-US" altLang="en-US" dirty="0"/>
              <a:t>Do not to confuse logic models with logical system descriptions.</a:t>
            </a:r>
          </a:p>
          <a:p>
            <a:pPr eaLnBrk="1" hangingPunct="1"/>
            <a:r>
              <a:rPr lang="en-US" altLang="en-US" dirty="0"/>
              <a:t>A logic model is a model or specification of the processing logic for a primitive DVD process.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p:spPr>
        <p:txBody>
          <a:bodyPr/>
          <a:lstStyle/>
          <a:p>
            <a:r>
              <a:rPr lang="en-US" altLang="en-US" dirty="0"/>
              <a:t>Logic Model is when</a:t>
            </a:r>
            <a:r>
              <a:rPr lang="en-US" altLang="en-US" baseline="0" dirty="0"/>
              <a:t> you can’t further break down the process.</a:t>
            </a:r>
          </a:p>
          <a:p>
            <a:r>
              <a:rPr lang="en-US" altLang="en-US" baseline="0" dirty="0"/>
              <a:t>I.e. tell you what to do (how to calculate pay/discount/fees/etc..) </a:t>
            </a:r>
            <a:endParaRPr lang="en-US" altLang="en-US" dirty="0"/>
          </a:p>
        </p:txBody>
      </p:sp>
      <p:sp>
        <p:nvSpPr>
          <p:cNvPr id="58372" name="Slide Number Placeholder 3"/>
          <p:cNvSpPr>
            <a:spLocks noGrp="1"/>
          </p:cNvSpPr>
          <p:nvPr>
            <p:ph type="sldNum" sz="quarter" idx="5"/>
          </p:nvPr>
        </p:nvSpPr>
        <p:spPr>
          <a:noFill/>
        </p:spPr>
        <p:txBody>
          <a:bodyPr/>
          <a:lstStyle>
            <a:lvl1pPr defTabSz="912813">
              <a:defRPr sz="1000">
                <a:solidFill>
                  <a:srgbClr val="004D75"/>
                </a:solidFill>
                <a:latin typeface="Verdana" pitchFamily="34" charset="0"/>
                <a:cs typeface="Arial" charset="0"/>
              </a:defRPr>
            </a:lvl1pPr>
            <a:lvl2pPr marL="742950" indent="-285750" defTabSz="912813">
              <a:defRPr sz="1000">
                <a:solidFill>
                  <a:srgbClr val="004D75"/>
                </a:solidFill>
                <a:latin typeface="Verdana" pitchFamily="34" charset="0"/>
                <a:cs typeface="Arial" charset="0"/>
              </a:defRPr>
            </a:lvl2pPr>
            <a:lvl3pPr marL="1143000" indent="-228600" defTabSz="912813">
              <a:defRPr sz="1000">
                <a:solidFill>
                  <a:srgbClr val="004D75"/>
                </a:solidFill>
                <a:latin typeface="Verdana" pitchFamily="34" charset="0"/>
                <a:cs typeface="Arial" charset="0"/>
              </a:defRPr>
            </a:lvl3pPr>
            <a:lvl4pPr marL="1600200" indent="-228600" defTabSz="912813">
              <a:defRPr sz="1000">
                <a:solidFill>
                  <a:srgbClr val="004D75"/>
                </a:solidFill>
                <a:latin typeface="Verdana" pitchFamily="34" charset="0"/>
                <a:cs typeface="Arial" charset="0"/>
              </a:defRPr>
            </a:lvl4pPr>
            <a:lvl5pPr marL="2057400" indent="-228600" defTabSz="912813">
              <a:defRPr sz="1000">
                <a:solidFill>
                  <a:srgbClr val="004D75"/>
                </a:solidFill>
                <a:latin typeface="Verdana" pitchFamily="34" charset="0"/>
                <a:cs typeface="Arial" charset="0"/>
              </a:defRPr>
            </a:lvl5pPr>
            <a:lvl6pPr marL="2514600" indent="-228600" defTabSz="912813" eaLnBrk="0" fontAlgn="base" hangingPunct="0">
              <a:spcBef>
                <a:spcPct val="0"/>
              </a:spcBef>
              <a:spcAft>
                <a:spcPct val="0"/>
              </a:spcAft>
              <a:defRPr sz="1000">
                <a:solidFill>
                  <a:srgbClr val="004D75"/>
                </a:solidFill>
                <a:latin typeface="Verdana" pitchFamily="34" charset="0"/>
                <a:cs typeface="Arial" charset="0"/>
              </a:defRPr>
            </a:lvl6pPr>
            <a:lvl7pPr marL="2971800" indent="-228600" defTabSz="912813" eaLnBrk="0" fontAlgn="base" hangingPunct="0">
              <a:spcBef>
                <a:spcPct val="0"/>
              </a:spcBef>
              <a:spcAft>
                <a:spcPct val="0"/>
              </a:spcAft>
              <a:defRPr sz="1000">
                <a:solidFill>
                  <a:srgbClr val="004D75"/>
                </a:solidFill>
                <a:latin typeface="Verdana" pitchFamily="34" charset="0"/>
                <a:cs typeface="Arial" charset="0"/>
              </a:defRPr>
            </a:lvl7pPr>
            <a:lvl8pPr marL="3429000" indent="-228600" defTabSz="912813" eaLnBrk="0" fontAlgn="base" hangingPunct="0">
              <a:spcBef>
                <a:spcPct val="0"/>
              </a:spcBef>
              <a:spcAft>
                <a:spcPct val="0"/>
              </a:spcAft>
              <a:defRPr sz="1000">
                <a:solidFill>
                  <a:srgbClr val="004D75"/>
                </a:solidFill>
                <a:latin typeface="Verdana" pitchFamily="34" charset="0"/>
                <a:cs typeface="Arial" charset="0"/>
              </a:defRPr>
            </a:lvl8pPr>
            <a:lvl9pPr marL="3886200" indent="-228600" defTabSz="912813" eaLnBrk="0" fontAlgn="base" hangingPunct="0">
              <a:spcBef>
                <a:spcPct val="0"/>
              </a:spcBef>
              <a:spcAft>
                <a:spcPct val="0"/>
              </a:spcAft>
              <a:defRPr sz="1000">
                <a:solidFill>
                  <a:srgbClr val="004D75"/>
                </a:solidFill>
                <a:latin typeface="Verdana" pitchFamily="34" charset="0"/>
                <a:cs typeface="Arial" charset="0"/>
              </a:defRPr>
            </a:lvl9pPr>
          </a:lstStyle>
          <a:p>
            <a:fld id="{3129980B-2538-421A-B35F-BBF635E177C0}" type="slidenum">
              <a:rPr lang="en-GB" altLang="en-US" sz="1100">
                <a:solidFill>
                  <a:prstClr val="black"/>
                </a:solidFill>
                <a:latin typeface="Arial" charset="0"/>
              </a:rPr>
              <a:pPr/>
              <a:t>3</a:t>
            </a:fld>
            <a:endParaRPr lang="en-GB" altLang="en-US" sz="1100">
              <a:solidFill>
                <a:prstClr val="black"/>
              </a:solidFill>
              <a:latin typeface="Arial"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xfrm>
            <a:off x="1144588" y="685800"/>
            <a:ext cx="4572000" cy="3429000"/>
          </a:xfrm>
          <a:ln/>
        </p:spPr>
      </p:sp>
      <p:sp>
        <p:nvSpPr>
          <p:cNvPr id="59395" name="Rectangle 3"/>
          <p:cNvSpPr>
            <a:spLocks noGrp="1" noChangeArrowheads="1"/>
          </p:cNvSpPr>
          <p:nvPr>
            <p:ph type="body" idx="1"/>
          </p:nvPr>
        </p:nvSpPr>
        <p:spPr>
          <a:xfrm>
            <a:off x="686121" y="4341977"/>
            <a:ext cx="5485760" cy="4115603"/>
          </a:xfrm>
          <a:noFill/>
        </p:spPr>
        <p:txBody>
          <a:bodyPr/>
          <a:lstStyle/>
          <a:p>
            <a:pPr lvl="1"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xfrm>
            <a:off x="1144588" y="685800"/>
            <a:ext cx="4572000" cy="3429000"/>
          </a:xfrm>
          <a:ln/>
        </p:spPr>
      </p:sp>
      <p:sp>
        <p:nvSpPr>
          <p:cNvPr id="39939" name="Rectangle 3"/>
          <p:cNvSpPr>
            <a:spLocks noGrp="1" noChangeArrowheads="1"/>
          </p:cNvSpPr>
          <p:nvPr>
            <p:ph type="body" idx="1"/>
          </p:nvPr>
        </p:nvSpPr>
        <p:spPr>
          <a:xfrm>
            <a:off x="686121" y="4341977"/>
            <a:ext cx="5485760" cy="4115603"/>
          </a:xfrm>
        </p:spPr>
        <p:txBody>
          <a:bodyPr/>
          <a:lstStyle/>
          <a:p>
            <a:pPr marL="368300" lvl="1" indent="-177800" eaLnBrk="1" hangingPunct="1">
              <a:defRPr/>
            </a:pPr>
            <a:r>
              <a:rPr lang="en-GB" altLang="en-US" dirty="0"/>
              <a:t>Others (but not covered):</a:t>
            </a:r>
          </a:p>
          <a:p>
            <a:pPr marL="368300" lvl="1" indent="-177800" eaLnBrk="1" hangingPunct="1">
              <a:defRPr/>
            </a:pPr>
            <a:r>
              <a:rPr lang="en-GB" altLang="en-US" dirty="0"/>
              <a:t>State-transition diagrams</a:t>
            </a:r>
          </a:p>
          <a:p>
            <a:pPr marL="368300" lvl="1" indent="-177800" eaLnBrk="1" hangingPunct="1">
              <a:defRPr/>
            </a:pPr>
            <a:r>
              <a:rPr lang="en-GB" altLang="en-US" dirty="0"/>
              <a:t>Sequence diagrams</a:t>
            </a:r>
          </a:p>
          <a:p>
            <a:pPr marL="368300" lvl="1" indent="-177800" eaLnBrk="1" hangingPunct="1">
              <a:defRPr/>
            </a:pPr>
            <a:r>
              <a:rPr lang="en-GB" altLang="en-US" dirty="0"/>
              <a:t>Activity diagrams</a:t>
            </a:r>
          </a:p>
          <a:p>
            <a:pPr lvl="1" eaLnBrk="1" hangingPunct="1">
              <a:defRPr/>
            </a:pPr>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D1AD4E4B-2F66-48A9-BED1-E369F1AC1FCA}"/>
              </a:ext>
            </a:extLst>
          </p:cNvPr>
          <p:cNvSpPr>
            <a:spLocks noGrp="1" noChangeArrowheads="1"/>
          </p:cNvSpPr>
          <p:nvPr>
            <p:ph type="hdr" sz="quarter"/>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altLang="en-US">
                <a:latin typeface="Times New Roman" charset="0"/>
              </a:rPr>
              <a:t>Information Systems - Lecture 7</a:t>
            </a:r>
          </a:p>
        </p:txBody>
      </p:sp>
      <p:sp>
        <p:nvSpPr>
          <p:cNvPr id="38915" name="Rectangle 3">
            <a:extLst>
              <a:ext uri="{FF2B5EF4-FFF2-40B4-BE49-F238E27FC236}">
                <a16:creationId xmlns:a16="http://schemas.microsoft.com/office/drawing/2014/main" id="{5FEE371B-0833-4E28-AFCF-F5E431A1AC42}"/>
              </a:ext>
            </a:extLst>
          </p:cNvPr>
          <p:cNvSpPr>
            <a:spLocks noGrp="1" noChangeArrowheads="1"/>
          </p:cNvSpPr>
          <p:nvPr>
            <p:ph type="dt" sz="quarter" idx="1"/>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fld id="{DFCA551D-E8BA-4F92-9474-17104A85E8FB}" type="datetime1">
              <a:rPr lang="en-GB" altLang="en-US">
                <a:latin typeface="Times New Roman" charset="0"/>
              </a:rPr>
              <a:pPr>
                <a:defRPr/>
              </a:pPr>
              <a:t>30/10/2025</a:t>
            </a:fld>
            <a:endParaRPr lang="en-US" altLang="en-US">
              <a:latin typeface="Times New Roman" charset="0"/>
            </a:endParaRPr>
          </a:p>
        </p:txBody>
      </p:sp>
      <p:sp>
        <p:nvSpPr>
          <p:cNvPr id="38916" name="Rectangle 6">
            <a:extLst>
              <a:ext uri="{FF2B5EF4-FFF2-40B4-BE49-F238E27FC236}">
                <a16:creationId xmlns:a16="http://schemas.microsoft.com/office/drawing/2014/main" id="{E54A2C80-3361-4241-AE79-3487C234FC49}"/>
              </a:ext>
            </a:extLst>
          </p:cNvPr>
          <p:cNvSpPr>
            <a:spLocks noGrp="1" noChangeArrowheads="1"/>
          </p:cNvSpPr>
          <p:nvPr>
            <p:ph type="ftr" sz="quarter" idx="4"/>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altLang="en-US">
                <a:latin typeface="Times New Roman" charset="0"/>
              </a:rPr>
              <a:t>Logic Modeling : Structured English</a:t>
            </a:r>
          </a:p>
        </p:txBody>
      </p:sp>
      <p:sp>
        <p:nvSpPr>
          <p:cNvPr id="13317" name="Rectangle 7">
            <a:extLst>
              <a:ext uri="{FF2B5EF4-FFF2-40B4-BE49-F238E27FC236}">
                <a16:creationId xmlns:a16="http://schemas.microsoft.com/office/drawing/2014/main" id="{F73D5D9C-85A6-4EA0-85AF-8C2D44A0959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0" hangingPunct="0">
              <a:spcBef>
                <a:spcPct val="0"/>
              </a:spcBef>
            </a:pPr>
            <a:fld id="{A8E8FF4E-2AA0-4095-9F03-A2DB52F94681}" type="slidenum">
              <a:rPr lang="en-US" altLang="en-US">
                <a:latin typeface="Times New Roman" panose="02020603050405020304" pitchFamily="18" charset="0"/>
              </a:rPr>
              <a:pPr eaLnBrk="0" hangingPunct="0">
                <a:spcBef>
                  <a:spcPct val="0"/>
                </a:spcBef>
              </a:pPr>
              <a:t>6</a:t>
            </a:fld>
            <a:endParaRPr lang="en-US" altLang="en-US">
              <a:latin typeface="Times New Roman" panose="02020603050405020304" pitchFamily="18" charset="0"/>
            </a:endParaRPr>
          </a:p>
        </p:txBody>
      </p:sp>
      <p:sp>
        <p:nvSpPr>
          <p:cNvPr id="13318" name="Rectangle 2">
            <a:extLst>
              <a:ext uri="{FF2B5EF4-FFF2-40B4-BE49-F238E27FC236}">
                <a16:creationId xmlns:a16="http://schemas.microsoft.com/office/drawing/2014/main" id="{CC52B6E8-63D6-470E-BB3E-E397D752060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9" name="Rectangle 3">
            <a:extLst>
              <a:ext uri="{FF2B5EF4-FFF2-40B4-BE49-F238E27FC236}">
                <a16:creationId xmlns:a16="http://schemas.microsoft.com/office/drawing/2014/main" id="{4F463C64-D156-4918-8847-19F767449BC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A1A79E72-CF7D-4E6B-B322-F502438BDE71}"/>
              </a:ext>
            </a:extLst>
          </p:cNvPr>
          <p:cNvSpPr>
            <a:spLocks noGrp="1" noChangeArrowheads="1"/>
          </p:cNvSpPr>
          <p:nvPr>
            <p:ph type="hdr" sz="quarter"/>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altLang="en-US">
                <a:latin typeface="Times New Roman" charset="0"/>
              </a:rPr>
              <a:t>Information Systems - Lecture 7</a:t>
            </a:r>
          </a:p>
        </p:txBody>
      </p:sp>
      <p:sp>
        <p:nvSpPr>
          <p:cNvPr id="39939" name="Rectangle 3">
            <a:extLst>
              <a:ext uri="{FF2B5EF4-FFF2-40B4-BE49-F238E27FC236}">
                <a16:creationId xmlns:a16="http://schemas.microsoft.com/office/drawing/2014/main" id="{AE936362-C7FD-42D7-A981-0F0B0819D5C4}"/>
              </a:ext>
            </a:extLst>
          </p:cNvPr>
          <p:cNvSpPr>
            <a:spLocks noGrp="1" noChangeArrowheads="1"/>
          </p:cNvSpPr>
          <p:nvPr>
            <p:ph type="dt" sz="quarter" idx="1"/>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fld id="{CAB30148-3CC0-4CBB-B9AD-48B37B15D816}" type="datetime1">
              <a:rPr lang="en-GB" altLang="en-US">
                <a:latin typeface="Times New Roman" charset="0"/>
              </a:rPr>
              <a:pPr>
                <a:defRPr/>
              </a:pPr>
              <a:t>30/10/2025</a:t>
            </a:fld>
            <a:endParaRPr lang="en-US" altLang="en-US">
              <a:latin typeface="Times New Roman" charset="0"/>
            </a:endParaRPr>
          </a:p>
        </p:txBody>
      </p:sp>
      <p:sp>
        <p:nvSpPr>
          <p:cNvPr id="39940" name="Rectangle 6">
            <a:extLst>
              <a:ext uri="{FF2B5EF4-FFF2-40B4-BE49-F238E27FC236}">
                <a16:creationId xmlns:a16="http://schemas.microsoft.com/office/drawing/2014/main" id="{5E50744D-D5EF-43ED-9E4D-574294FECDAC}"/>
              </a:ext>
            </a:extLst>
          </p:cNvPr>
          <p:cNvSpPr>
            <a:spLocks noGrp="1" noChangeArrowheads="1"/>
          </p:cNvSpPr>
          <p:nvPr>
            <p:ph type="ftr" sz="quarter" idx="4"/>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altLang="en-US">
                <a:latin typeface="Times New Roman" charset="0"/>
              </a:rPr>
              <a:t>Logic Modeling : Structured English</a:t>
            </a:r>
          </a:p>
        </p:txBody>
      </p:sp>
      <p:sp>
        <p:nvSpPr>
          <p:cNvPr id="15365" name="Rectangle 7">
            <a:extLst>
              <a:ext uri="{FF2B5EF4-FFF2-40B4-BE49-F238E27FC236}">
                <a16:creationId xmlns:a16="http://schemas.microsoft.com/office/drawing/2014/main" id="{EEBD40B7-9F0B-4401-A642-F0559DD1745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0" hangingPunct="0">
              <a:spcBef>
                <a:spcPct val="0"/>
              </a:spcBef>
            </a:pPr>
            <a:fld id="{CE047400-5C9E-4B63-AD5F-9AA201E5CBE7}" type="slidenum">
              <a:rPr lang="en-US" altLang="en-US">
                <a:latin typeface="Times New Roman" panose="02020603050405020304" pitchFamily="18" charset="0"/>
              </a:rPr>
              <a:pPr eaLnBrk="0" hangingPunct="0">
                <a:spcBef>
                  <a:spcPct val="0"/>
                </a:spcBef>
              </a:pPr>
              <a:t>7</a:t>
            </a:fld>
            <a:endParaRPr lang="en-US" altLang="en-US">
              <a:latin typeface="Times New Roman" panose="02020603050405020304" pitchFamily="18" charset="0"/>
            </a:endParaRPr>
          </a:p>
        </p:txBody>
      </p:sp>
      <p:sp>
        <p:nvSpPr>
          <p:cNvPr id="15366" name="Rectangle 2">
            <a:extLst>
              <a:ext uri="{FF2B5EF4-FFF2-40B4-BE49-F238E27FC236}">
                <a16:creationId xmlns:a16="http://schemas.microsoft.com/office/drawing/2014/main" id="{ACFD2978-122D-49CA-B9AC-E7B90DA6A99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7" name="Rectangle 3">
            <a:extLst>
              <a:ext uri="{FF2B5EF4-FFF2-40B4-BE49-F238E27FC236}">
                <a16:creationId xmlns:a16="http://schemas.microsoft.com/office/drawing/2014/main" id="{7DA44B9B-BA46-49F7-AF7A-11CD30B523A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34D4023F-8711-4C28-BCD7-283D9F121C74}"/>
              </a:ext>
            </a:extLst>
          </p:cNvPr>
          <p:cNvSpPr>
            <a:spLocks noGrp="1" noChangeArrowheads="1"/>
          </p:cNvSpPr>
          <p:nvPr>
            <p:ph type="hdr" sz="quarter"/>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altLang="en-US">
                <a:latin typeface="Times New Roman" charset="0"/>
              </a:rPr>
              <a:t>Information Systems - Lecture 7</a:t>
            </a:r>
          </a:p>
        </p:txBody>
      </p:sp>
      <p:sp>
        <p:nvSpPr>
          <p:cNvPr id="40963" name="Rectangle 3">
            <a:extLst>
              <a:ext uri="{FF2B5EF4-FFF2-40B4-BE49-F238E27FC236}">
                <a16:creationId xmlns:a16="http://schemas.microsoft.com/office/drawing/2014/main" id="{0FE3669A-AD02-4F77-95E8-732A35D47BE6}"/>
              </a:ext>
            </a:extLst>
          </p:cNvPr>
          <p:cNvSpPr>
            <a:spLocks noGrp="1" noChangeArrowheads="1"/>
          </p:cNvSpPr>
          <p:nvPr>
            <p:ph type="dt" sz="quarter" idx="1"/>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fld id="{B8C691A0-27B6-4D7F-B46F-A7B5C98DAF19}" type="datetime1">
              <a:rPr lang="en-GB" altLang="en-US">
                <a:latin typeface="Times New Roman" charset="0"/>
              </a:rPr>
              <a:pPr>
                <a:defRPr/>
              </a:pPr>
              <a:t>30/10/2025</a:t>
            </a:fld>
            <a:endParaRPr lang="en-US" altLang="en-US">
              <a:latin typeface="Times New Roman" charset="0"/>
            </a:endParaRPr>
          </a:p>
        </p:txBody>
      </p:sp>
      <p:sp>
        <p:nvSpPr>
          <p:cNvPr id="40964" name="Rectangle 6">
            <a:extLst>
              <a:ext uri="{FF2B5EF4-FFF2-40B4-BE49-F238E27FC236}">
                <a16:creationId xmlns:a16="http://schemas.microsoft.com/office/drawing/2014/main" id="{9DB64189-2AA4-4832-8E8F-E1BB9B0D2ACF}"/>
              </a:ext>
            </a:extLst>
          </p:cNvPr>
          <p:cNvSpPr>
            <a:spLocks noGrp="1" noChangeArrowheads="1"/>
          </p:cNvSpPr>
          <p:nvPr>
            <p:ph type="ftr" sz="quarter" idx="4"/>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altLang="en-US">
                <a:latin typeface="Times New Roman" charset="0"/>
              </a:rPr>
              <a:t>Logic Modeling : Structured English</a:t>
            </a:r>
          </a:p>
        </p:txBody>
      </p:sp>
      <p:sp>
        <p:nvSpPr>
          <p:cNvPr id="17413" name="Rectangle 7">
            <a:extLst>
              <a:ext uri="{FF2B5EF4-FFF2-40B4-BE49-F238E27FC236}">
                <a16:creationId xmlns:a16="http://schemas.microsoft.com/office/drawing/2014/main" id="{F909B445-3DBC-460C-87E5-77D78604692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0" hangingPunct="0">
              <a:spcBef>
                <a:spcPct val="0"/>
              </a:spcBef>
            </a:pPr>
            <a:fld id="{19CC1AFB-3F7A-4121-9C9C-1240F9E4E1B6}" type="slidenum">
              <a:rPr lang="en-US" altLang="en-US">
                <a:latin typeface="Times New Roman" panose="02020603050405020304" pitchFamily="18" charset="0"/>
              </a:rPr>
              <a:pPr eaLnBrk="0" hangingPunct="0">
                <a:spcBef>
                  <a:spcPct val="0"/>
                </a:spcBef>
              </a:pPr>
              <a:t>8</a:t>
            </a:fld>
            <a:endParaRPr lang="en-US" altLang="en-US">
              <a:latin typeface="Times New Roman" panose="02020603050405020304" pitchFamily="18" charset="0"/>
            </a:endParaRPr>
          </a:p>
        </p:txBody>
      </p:sp>
      <p:sp>
        <p:nvSpPr>
          <p:cNvPr id="17414" name="Rectangle 2">
            <a:extLst>
              <a:ext uri="{FF2B5EF4-FFF2-40B4-BE49-F238E27FC236}">
                <a16:creationId xmlns:a16="http://schemas.microsoft.com/office/drawing/2014/main" id="{D3402743-3C9D-4EFB-8F09-4DF83FD7F91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5" name="Rectangle 3">
            <a:extLst>
              <a:ext uri="{FF2B5EF4-FFF2-40B4-BE49-F238E27FC236}">
                <a16:creationId xmlns:a16="http://schemas.microsoft.com/office/drawing/2014/main" id="{7837568C-ECA9-4905-A0CC-916D5607E7C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004E140E-8D9A-4D3F-B9CE-F67EEDA93AC8}"/>
              </a:ext>
            </a:extLst>
          </p:cNvPr>
          <p:cNvSpPr>
            <a:spLocks noGrp="1" noChangeArrowheads="1"/>
          </p:cNvSpPr>
          <p:nvPr>
            <p:ph type="hdr" sz="quarter"/>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altLang="en-US">
                <a:latin typeface="Times New Roman" charset="0"/>
              </a:rPr>
              <a:t>Information Systems - Lecture 7</a:t>
            </a:r>
          </a:p>
        </p:txBody>
      </p:sp>
      <p:sp>
        <p:nvSpPr>
          <p:cNvPr id="41987" name="Rectangle 3">
            <a:extLst>
              <a:ext uri="{FF2B5EF4-FFF2-40B4-BE49-F238E27FC236}">
                <a16:creationId xmlns:a16="http://schemas.microsoft.com/office/drawing/2014/main" id="{EACB9D0B-96B1-4315-AFB8-5C01B96EEBDD}"/>
              </a:ext>
            </a:extLst>
          </p:cNvPr>
          <p:cNvSpPr>
            <a:spLocks noGrp="1" noChangeArrowheads="1"/>
          </p:cNvSpPr>
          <p:nvPr>
            <p:ph type="dt" sz="quarter" idx="1"/>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fld id="{60AEABCC-E37A-4AB0-8E80-21E9C1F7B929}" type="datetime1">
              <a:rPr lang="en-GB" altLang="en-US">
                <a:latin typeface="Times New Roman" charset="0"/>
              </a:rPr>
              <a:pPr>
                <a:defRPr/>
              </a:pPr>
              <a:t>30/10/2025</a:t>
            </a:fld>
            <a:endParaRPr lang="en-US" altLang="en-US">
              <a:latin typeface="Times New Roman" charset="0"/>
            </a:endParaRPr>
          </a:p>
        </p:txBody>
      </p:sp>
      <p:sp>
        <p:nvSpPr>
          <p:cNvPr id="41988" name="Rectangle 6">
            <a:extLst>
              <a:ext uri="{FF2B5EF4-FFF2-40B4-BE49-F238E27FC236}">
                <a16:creationId xmlns:a16="http://schemas.microsoft.com/office/drawing/2014/main" id="{8C3A712F-51C7-48F8-9A2B-F33C9703CB5F}"/>
              </a:ext>
            </a:extLst>
          </p:cNvPr>
          <p:cNvSpPr>
            <a:spLocks noGrp="1" noChangeArrowheads="1"/>
          </p:cNvSpPr>
          <p:nvPr>
            <p:ph type="ftr" sz="quarter" idx="4"/>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altLang="en-US">
                <a:latin typeface="Times New Roman" charset="0"/>
              </a:rPr>
              <a:t>Logic Modeling : Structured English</a:t>
            </a:r>
          </a:p>
        </p:txBody>
      </p:sp>
      <p:sp>
        <p:nvSpPr>
          <p:cNvPr id="19461" name="Rectangle 7">
            <a:extLst>
              <a:ext uri="{FF2B5EF4-FFF2-40B4-BE49-F238E27FC236}">
                <a16:creationId xmlns:a16="http://schemas.microsoft.com/office/drawing/2014/main" id="{27BF9816-FD18-46B7-AA34-029222F8C96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0" hangingPunct="0">
              <a:spcBef>
                <a:spcPct val="0"/>
              </a:spcBef>
            </a:pPr>
            <a:fld id="{64AD37FF-FED3-4C7F-A27C-522F1035F09F}" type="slidenum">
              <a:rPr lang="en-US" altLang="en-US">
                <a:latin typeface="Times New Roman" panose="02020603050405020304" pitchFamily="18" charset="0"/>
              </a:rPr>
              <a:pPr eaLnBrk="0" hangingPunct="0">
                <a:spcBef>
                  <a:spcPct val="0"/>
                </a:spcBef>
              </a:pPr>
              <a:t>9</a:t>
            </a:fld>
            <a:endParaRPr lang="en-US" altLang="en-US">
              <a:latin typeface="Times New Roman" panose="02020603050405020304" pitchFamily="18" charset="0"/>
            </a:endParaRPr>
          </a:p>
        </p:txBody>
      </p:sp>
      <p:sp>
        <p:nvSpPr>
          <p:cNvPr id="19462" name="Rectangle 2">
            <a:extLst>
              <a:ext uri="{FF2B5EF4-FFF2-40B4-BE49-F238E27FC236}">
                <a16:creationId xmlns:a16="http://schemas.microsoft.com/office/drawing/2014/main" id="{CFE54BAD-E8A6-4435-8A06-6FBD6D7E4A2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63" name="Rectangle 3">
            <a:extLst>
              <a:ext uri="{FF2B5EF4-FFF2-40B4-BE49-F238E27FC236}">
                <a16:creationId xmlns:a16="http://schemas.microsoft.com/office/drawing/2014/main" id="{D53E3DA4-B626-4039-903E-2899D5FB77A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3E7952DA-CD3A-4AEC-A75F-D1005EAB663C}"/>
              </a:ext>
            </a:extLst>
          </p:cNvPr>
          <p:cNvSpPr>
            <a:spLocks noGrp="1" noChangeArrowheads="1"/>
          </p:cNvSpPr>
          <p:nvPr>
            <p:ph type="hdr" sz="quarter"/>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altLang="en-US">
                <a:latin typeface="Times New Roman" charset="0"/>
              </a:rPr>
              <a:t>Information Systems - Lecture 7</a:t>
            </a:r>
          </a:p>
        </p:txBody>
      </p:sp>
      <p:sp>
        <p:nvSpPr>
          <p:cNvPr id="43011" name="Rectangle 3">
            <a:extLst>
              <a:ext uri="{FF2B5EF4-FFF2-40B4-BE49-F238E27FC236}">
                <a16:creationId xmlns:a16="http://schemas.microsoft.com/office/drawing/2014/main" id="{C47BA1A7-79D7-47F0-8B68-890D1B979EBE}"/>
              </a:ext>
            </a:extLst>
          </p:cNvPr>
          <p:cNvSpPr>
            <a:spLocks noGrp="1" noChangeArrowheads="1"/>
          </p:cNvSpPr>
          <p:nvPr>
            <p:ph type="dt" sz="quarter" idx="1"/>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fld id="{8F230DD6-1478-4D54-AE05-13BF4B42D3C3}" type="datetime1">
              <a:rPr lang="en-GB" altLang="en-US">
                <a:latin typeface="Times New Roman" charset="0"/>
              </a:rPr>
              <a:pPr>
                <a:defRPr/>
              </a:pPr>
              <a:t>30/10/2025</a:t>
            </a:fld>
            <a:endParaRPr lang="en-US" altLang="en-US">
              <a:latin typeface="Times New Roman" charset="0"/>
            </a:endParaRPr>
          </a:p>
        </p:txBody>
      </p:sp>
      <p:sp>
        <p:nvSpPr>
          <p:cNvPr id="43012" name="Rectangle 6">
            <a:extLst>
              <a:ext uri="{FF2B5EF4-FFF2-40B4-BE49-F238E27FC236}">
                <a16:creationId xmlns:a16="http://schemas.microsoft.com/office/drawing/2014/main" id="{261D8E1E-2277-42C5-80A1-697152922E8C}"/>
              </a:ext>
            </a:extLst>
          </p:cNvPr>
          <p:cNvSpPr>
            <a:spLocks noGrp="1" noChangeArrowheads="1"/>
          </p:cNvSpPr>
          <p:nvPr>
            <p:ph type="ftr" sz="quarter" idx="4"/>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altLang="en-US">
                <a:latin typeface="Times New Roman" charset="0"/>
              </a:rPr>
              <a:t>Logic Modeling : Structured English</a:t>
            </a:r>
          </a:p>
        </p:txBody>
      </p:sp>
      <p:sp>
        <p:nvSpPr>
          <p:cNvPr id="21509" name="Rectangle 7">
            <a:extLst>
              <a:ext uri="{FF2B5EF4-FFF2-40B4-BE49-F238E27FC236}">
                <a16:creationId xmlns:a16="http://schemas.microsoft.com/office/drawing/2014/main" id="{28E2F31E-05F3-4D50-B79F-FC3281BF477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0" hangingPunct="0">
              <a:spcBef>
                <a:spcPct val="0"/>
              </a:spcBef>
            </a:pPr>
            <a:fld id="{5813FAFD-C152-4594-9B65-03815D8F7364}" type="slidenum">
              <a:rPr lang="en-US" altLang="en-US">
                <a:latin typeface="Times New Roman" panose="02020603050405020304" pitchFamily="18" charset="0"/>
              </a:rPr>
              <a:pPr eaLnBrk="0" hangingPunct="0">
                <a:spcBef>
                  <a:spcPct val="0"/>
                </a:spcBef>
              </a:pPr>
              <a:t>10</a:t>
            </a:fld>
            <a:endParaRPr lang="en-US" altLang="en-US">
              <a:latin typeface="Times New Roman" panose="02020603050405020304" pitchFamily="18" charset="0"/>
            </a:endParaRPr>
          </a:p>
        </p:txBody>
      </p:sp>
      <p:sp>
        <p:nvSpPr>
          <p:cNvPr id="21510" name="Rectangle 2">
            <a:extLst>
              <a:ext uri="{FF2B5EF4-FFF2-40B4-BE49-F238E27FC236}">
                <a16:creationId xmlns:a16="http://schemas.microsoft.com/office/drawing/2014/main" id="{F6750AAB-39D8-4AF9-A3D1-5D4FAAF75B9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11" name="Rectangle 3">
            <a:extLst>
              <a:ext uri="{FF2B5EF4-FFF2-40B4-BE49-F238E27FC236}">
                <a16:creationId xmlns:a16="http://schemas.microsoft.com/office/drawing/2014/main" id="{B7948EF5-5C9F-4492-BA4C-E8E925FAFFD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9A018611-E1E4-4146-8706-BA7CAF5C9FFF}"/>
              </a:ext>
            </a:extLst>
          </p:cNvPr>
          <p:cNvSpPr>
            <a:spLocks noGrp="1" noChangeArrowheads="1"/>
          </p:cNvSpPr>
          <p:nvPr>
            <p:ph type="hdr" sz="quarter"/>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altLang="en-US">
                <a:latin typeface="Times New Roman" charset="0"/>
              </a:rPr>
              <a:t>Information Systems - Lecture 7</a:t>
            </a:r>
          </a:p>
        </p:txBody>
      </p:sp>
      <p:sp>
        <p:nvSpPr>
          <p:cNvPr id="45059" name="Rectangle 3">
            <a:extLst>
              <a:ext uri="{FF2B5EF4-FFF2-40B4-BE49-F238E27FC236}">
                <a16:creationId xmlns:a16="http://schemas.microsoft.com/office/drawing/2014/main" id="{D84E664A-096D-4BDC-BFB6-62E6D17566BB}"/>
              </a:ext>
            </a:extLst>
          </p:cNvPr>
          <p:cNvSpPr>
            <a:spLocks noGrp="1" noChangeArrowheads="1"/>
          </p:cNvSpPr>
          <p:nvPr>
            <p:ph type="dt" sz="quarter" idx="1"/>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fld id="{06E9516F-E6C3-4F4E-8680-0AF499FC6D44}" type="datetime1">
              <a:rPr lang="en-GB" altLang="en-US">
                <a:latin typeface="Times New Roman" charset="0"/>
              </a:rPr>
              <a:pPr>
                <a:defRPr/>
              </a:pPr>
              <a:t>30/10/2025</a:t>
            </a:fld>
            <a:endParaRPr lang="en-US" altLang="en-US">
              <a:latin typeface="Times New Roman" charset="0"/>
            </a:endParaRPr>
          </a:p>
        </p:txBody>
      </p:sp>
      <p:sp>
        <p:nvSpPr>
          <p:cNvPr id="45060" name="Rectangle 6">
            <a:extLst>
              <a:ext uri="{FF2B5EF4-FFF2-40B4-BE49-F238E27FC236}">
                <a16:creationId xmlns:a16="http://schemas.microsoft.com/office/drawing/2014/main" id="{7F080820-F9A7-4AF1-9C69-38FE109AFCEF}"/>
              </a:ext>
            </a:extLst>
          </p:cNvPr>
          <p:cNvSpPr>
            <a:spLocks noGrp="1" noChangeArrowheads="1"/>
          </p:cNvSpPr>
          <p:nvPr>
            <p:ph type="ftr" sz="quarter" idx="4"/>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altLang="en-US">
                <a:latin typeface="Times New Roman" charset="0"/>
              </a:rPr>
              <a:t>Logic Modeling : Structured English</a:t>
            </a:r>
          </a:p>
        </p:txBody>
      </p:sp>
      <p:sp>
        <p:nvSpPr>
          <p:cNvPr id="23557" name="Rectangle 7">
            <a:extLst>
              <a:ext uri="{FF2B5EF4-FFF2-40B4-BE49-F238E27FC236}">
                <a16:creationId xmlns:a16="http://schemas.microsoft.com/office/drawing/2014/main" id="{B559336B-EACF-4BFD-98B2-84D6CC928A2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0" hangingPunct="0">
              <a:spcBef>
                <a:spcPct val="0"/>
              </a:spcBef>
            </a:pPr>
            <a:fld id="{1EC297DF-877E-4BFA-8A96-B384907B7821}" type="slidenum">
              <a:rPr lang="en-US" altLang="en-US">
                <a:latin typeface="Times New Roman" panose="02020603050405020304" pitchFamily="18" charset="0"/>
              </a:rPr>
              <a:pPr eaLnBrk="0" hangingPunct="0">
                <a:spcBef>
                  <a:spcPct val="0"/>
                </a:spcBef>
              </a:pPr>
              <a:t>11</a:t>
            </a:fld>
            <a:endParaRPr lang="en-US" altLang="en-US">
              <a:latin typeface="Times New Roman" panose="02020603050405020304" pitchFamily="18" charset="0"/>
            </a:endParaRPr>
          </a:p>
        </p:txBody>
      </p:sp>
      <p:sp>
        <p:nvSpPr>
          <p:cNvPr id="23558" name="Rectangle 2">
            <a:extLst>
              <a:ext uri="{FF2B5EF4-FFF2-40B4-BE49-F238E27FC236}">
                <a16:creationId xmlns:a16="http://schemas.microsoft.com/office/drawing/2014/main" id="{596E4411-0055-47FC-BCCC-0C3ABB13342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9" name="Rectangle 3">
            <a:extLst>
              <a:ext uri="{FF2B5EF4-FFF2-40B4-BE49-F238E27FC236}">
                <a16:creationId xmlns:a16="http://schemas.microsoft.com/office/drawing/2014/main" id="{8A4B7967-CF3B-48CD-9D7D-3416B2F666B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C2A62C68-C4C5-42CD-BC8C-9BBA045903AD}"/>
              </a:ext>
            </a:extLst>
          </p:cNvPr>
          <p:cNvSpPr>
            <a:spLocks noGrp="1" noChangeArrowheads="1"/>
          </p:cNvSpPr>
          <p:nvPr>
            <p:ph type="hdr" sz="quarter"/>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altLang="en-US">
                <a:latin typeface="Times New Roman" charset="0"/>
              </a:rPr>
              <a:t>Information Systems - Lecture 7</a:t>
            </a:r>
          </a:p>
        </p:txBody>
      </p:sp>
      <p:sp>
        <p:nvSpPr>
          <p:cNvPr id="46083" name="Rectangle 3">
            <a:extLst>
              <a:ext uri="{FF2B5EF4-FFF2-40B4-BE49-F238E27FC236}">
                <a16:creationId xmlns:a16="http://schemas.microsoft.com/office/drawing/2014/main" id="{9453CBF5-49A9-4FA0-BBDA-14701FA269AB}"/>
              </a:ext>
            </a:extLst>
          </p:cNvPr>
          <p:cNvSpPr>
            <a:spLocks noGrp="1" noChangeArrowheads="1"/>
          </p:cNvSpPr>
          <p:nvPr>
            <p:ph type="dt" sz="quarter" idx="1"/>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fld id="{48EA1B3A-DB41-46DB-BD55-5C142288CC3C}" type="datetime1">
              <a:rPr lang="en-GB" altLang="en-US">
                <a:latin typeface="Times New Roman" charset="0"/>
              </a:rPr>
              <a:pPr>
                <a:defRPr/>
              </a:pPr>
              <a:t>30/10/2025</a:t>
            </a:fld>
            <a:endParaRPr lang="en-US" altLang="en-US">
              <a:latin typeface="Times New Roman" charset="0"/>
            </a:endParaRPr>
          </a:p>
        </p:txBody>
      </p:sp>
      <p:sp>
        <p:nvSpPr>
          <p:cNvPr id="46084" name="Rectangle 6">
            <a:extLst>
              <a:ext uri="{FF2B5EF4-FFF2-40B4-BE49-F238E27FC236}">
                <a16:creationId xmlns:a16="http://schemas.microsoft.com/office/drawing/2014/main" id="{FA7DDA21-0E09-4574-BD07-4FC2A8EE06B0}"/>
              </a:ext>
            </a:extLst>
          </p:cNvPr>
          <p:cNvSpPr>
            <a:spLocks noGrp="1" noChangeArrowheads="1"/>
          </p:cNvSpPr>
          <p:nvPr>
            <p:ph type="ftr" sz="quarter" idx="4"/>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altLang="en-US">
                <a:latin typeface="Times New Roman" charset="0"/>
              </a:rPr>
              <a:t>Logic Modeling : Structured English</a:t>
            </a:r>
          </a:p>
        </p:txBody>
      </p:sp>
      <p:sp>
        <p:nvSpPr>
          <p:cNvPr id="25605" name="Rectangle 7">
            <a:extLst>
              <a:ext uri="{FF2B5EF4-FFF2-40B4-BE49-F238E27FC236}">
                <a16:creationId xmlns:a16="http://schemas.microsoft.com/office/drawing/2014/main" id="{E850489E-4AD3-4506-AEB2-B261DB928C1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0" hangingPunct="0">
              <a:spcBef>
                <a:spcPct val="0"/>
              </a:spcBef>
            </a:pPr>
            <a:fld id="{FA28CDA8-17AD-428F-82B1-F08DC488B0DA}" type="slidenum">
              <a:rPr lang="en-US" altLang="en-US">
                <a:latin typeface="Times New Roman" panose="02020603050405020304" pitchFamily="18" charset="0"/>
              </a:rPr>
              <a:pPr eaLnBrk="0" hangingPunct="0">
                <a:spcBef>
                  <a:spcPct val="0"/>
                </a:spcBef>
              </a:pPr>
              <a:t>12</a:t>
            </a:fld>
            <a:endParaRPr lang="en-US" altLang="en-US">
              <a:latin typeface="Times New Roman" panose="02020603050405020304" pitchFamily="18" charset="0"/>
            </a:endParaRPr>
          </a:p>
        </p:txBody>
      </p:sp>
      <p:sp>
        <p:nvSpPr>
          <p:cNvPr id="25606" name="Rectangle 2">
            <a:extLst>
              <a:ext uri="{FF2B5EF4-FFF2-40B4-BE49-F238E27FC236}">
                <a16:creationId xmlns:a16="http://schemas.microsoft.com/office/drawing/2014/main" id="{709F05DD-5510-48DA-B8CA-EE94ABDE89D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7" name="Rectangle 3">
            <a:extLst>
              <a:ext uri="{FF2B5EF4-FFF2-40B4-BE49-F238E27FC236}">
                <a16:creationId xmlns:a16="http://schemas.microsoft.com/office/drawing/2014/main" id="{92B0719D-BDB7-4469-9921-1E678E27431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13408667-56AF-4C59-9EB2-F130BE74C9A2}"/>
              </a:ext>
            </a:extLst>
          </p:cNvPr>
          <p:cNvSpPr>
            <a:spLocks noGrp="1" noChangeArrowheads="1"/>
          </p:cNvSpPr>
          <p:nvPr>
            <p:ph type="hdr" sz="quarter"/>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altLang="en-US">
                <a:latin typeface="Times New Roman" charset="0"/>
              </a:rPr>
              <a:t>Information Systems - Lecture 7</a:t>
            </a:r>
          </a:p>
        </p:txBody>
      </p:sp>
      <p:sp>
        <p:nvSpPr>
          <p:cNvPr id="47107" name="Rectangle 3">
            <a:extLst>
              <a:ext uri="{FF2B5EF4-FFF2-40B4-BE49-F238E27FC236}">
                <a16:creationId xmlns:a16="http://schemas.microsoft.com/office/drawing/2014/main" id="{441F841F-BA9D-423E-A56D-0A9FB2F22DBC}"/>
              </a:ext>
            </a:extLst>
          </p:cNvPr>
          <p:cNvSpPr>
            <a:spLocks noGrp="1" noChangeArrowheads="1"/>
          </p:cNvSpPr>
          <p:nvPr>
            <p:ph type="dt" sz="quarter" idx="1"/>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fld id="{510D233C-23A5-4240-AB72-5388AA1EEEC5}" type="datetime1">
              <a:rPr lang="en-GB" altLang="en-US">
                <a:latin typeface="Times New Roman" charset="0"/>
              </a:rPr>
              <a:pPr>
                <a:defRPr/>
              </a:pPr>
              <a:t>30/10/2025</a:t>
            </a:fld>
            <a:endParaRPr lang="en-US" altLang="en-US">
              <a:latin typeface="Times New Roman" charset="0"/>
            </a:endParaRPr>
          </a:p>
        </p:txBody>
      </p:sp>
      <p:sp>
        <p:nvSpPr>
          <p:cNvPr id="47108" name="Rectangle 6">
            <a:extLst>
              <a:ext uri="{FF2B5EF4-FFF2-40B4-BE49-F238E27FC236}">
                <a16:creationId xmlns:a16="http://schemas.microsoft.com/office/drawing/2014/main" id="{267C9B6B-0443-4AA6-A2E8-F050CFD93C6C}"/>
              </a:ext>
            </a:extLst>
          </p:cNvPr>
          <p:cNvSpPr>
            <a:spLocks noGrp="1" noChangeArrowheads="1"/>
          </p:cNvSpPr>
          <p:nvPr>
            <p:ph type="ftr" sz="quarter" idx="4"/>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altLang="en-US">
                <a:latin typeface="Times New Roman" charset="0"/>
              </a:rPr>
              <a:t>Logic Modeling : Structured English</a:t>
            </a:r>
          </a:p>
        </p:txBody>
      </p:sp>
      <p:sp>
        <p:nvSpPr>
          <p:cNvPr id="27653" name="Rectangle 7">
            <a:extLst>
              <a:ext uri="{FF2B5EF4-FFF2-40B4-BE49-F238E27FC236}">
                <a16:creationId xmlns:a16="http://schemas.microsoft.com/office/drawing/2014/main" id="{CBEC81FE-9F2F-4785-9749-B80F3948EA1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0" hangingPunct="0">
              <a:spcBef>
                <a:spcPct val="0"/>
              </a:spcBef>
            </a:pPr>
            <a:fld id="{EB27B5FD-91F7-47AE-9EA6-A6D629EBC7E3}" type="slidenum">
              <a:rPr lang="en-US" altLang="en-US">
                <a:latin typeface="Times New Roman" panose="02020603050405020304" pitchFamily="18" charset="0"/>
              </a:rPr>
              <a:pPr eaLnBrk="0" hangingPunct="0">
                <a:spcBef>
                  <a:spcPct val="0"/>
                </a:spcBef>
              </a:pPr>
              <a:t>13</a:t>
            </a:fld>
            <a:endParaRPr lang="en-US" altLang="en-US">
              <a:latin typeface="Times New Roman" panose="02020603050405020304" pitchFamily="18" charset="0"/>
            </a:endParaRPr>
          </a:p>
        </p:txBody>
      </p:sp>
      <p:sp>
        <p:nvSpPr>
          <p:cNvPr id="27654" name="Rectangle 2">
            <a:extLst>
              <a:ext uri="{FF2B5EF4-FFF2-40B4-BE49-F238E27FC236}">
                <a16:creationId xmlns:a16="http://schemas.microsoft.com/office/drawing/2014/main" id="{3BEC0DF0-105A-437F-8263-F417B3570B3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5" name="Rectangle 3">
            <a:extLst>
              <a:ext uri="{FF2B5EF4-FFF2-40B4-BE49-F238E27FC236}">
                <a16:creationId xmlns:a16="http://schemas.microsoft.com/office/drawing/2014/main" id="{C1D00488-A5CF-4566-B5AB-097CF1607E1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xfrm>
            <a:off x="1144588" y="685800"/>
            <a:ext cx="4572000" cy="3429000"/>
          </a:xfrm>
          <a:ln/>
        </p:spPr>
      </p:sp>
      <p:sp>
        <p:nvSpPr>
          <p:cNvPr id="76803" name="Rectangle 3"/>
          <p:cNvSpPr>
            <a:spLocks noGrp="1" noChangeArrowheads="1"/>
          </p:cNvSpPr>
          <p:nvPr>
            <p:ph type="body" idx="1"/>
          </p:nvPr>
        </p:nvSpPr>
        <p:spPr>
          <a:xfrm>
            <a:off x="686121" y="4341977"/>
            <a:ext cx="5485760" cy="4115603"/>
          </a:xfrm>
          <a:noFill/>
        </p:spPr>
        <p:txBody>
          <a:bodyPr/>
          <a:lstStyle/>
          <a:p>
            <a:pPr eaLnBrk="1" hangingPunct="1"/>
            <a:endParaRPr lang="en-US" altLang="en-US"/>
          </a:p>
          <a:p>
            <a:pPr lvl="1" eaLnBrk="1" hangingPunct="1"/>
            <a:r>
              <a:rPr lang="en-GB" altLang="en-US" sz="1600"/>
              <a:t>Compound sentences are discouraged as they frequently create ambiguity</a:t>
            </a:r>
          </a:p>
          <a:p>
            <a:pPr lvl="1" eaLnBrk="1" hangingPunct="1"/>
            <a:r>
              <a:rPr lang="en-GB" altLang="en-US" sz="1600"/>
              <a:t>Use strong action verbs : GET, FIND, CREATE, ADD, DELETE, SORT etc</a:t>
            </a:r>
          </a:p>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xfrm>
            <a:off x="1144588" y="685800"/>
            <a:ext cx="4572000" cy="3429000"/>
          </a:xfrm>
          <a:ln/>
        </p:spPr>
      </p:sp>
      <p:sp>
        <p:nvSpPr>
          <p:cNvPr id="77827" name="Rectangle 3"/>
          <p:cNvSpPr>
            <a:spLocks noGrp="1" noChangeArrowheads="1"/>
          </p:cNvSpPr>
          <p:nvPr>
            <p:ph type="body" idx="1"/>
          </p:nvPr>
        </p:nvSpPr>
        <p:spPr>
          <a:xfrm>
            <a:off x="686121" y="4341977"/>
            <a:ext cx="5485760" cy="4115603"/>
          </a:xfrm>
          <a:noFill/>
        </p:spPr>
        <p:txBody>
          <a:bodyPr/>
          <a:lstStyle/>
          <a:p>
            <a:pPr eaLnBrk="1" hangingPunct="1"/>
            <a:endParaRPr lang="en-US" altLang="en-US"/>
          </a:p>
          <a:p>
            <a:pPr eaLnBrk="1" hangingPunct="1"/>
            <a:r>
              <a:rPr lang="en-GB" altLang="en-US"/>
              <a:t>Good for modelling complex decision logic</a:t>
            </a:r>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1144588" y="685800"/>
            <a:ext cx="4572000" cy="3429000"/>
          </a:xfrm>
          <a:ln/>
        </p:spPr>
      </p:sp>
      <p:sp>
        <p:nvSpPr>
          <p:cNvPr id="78851" name="Rectangle 3"/>
          <p:cNvSpPr>
            <a:spLocks noGrp="1" noChangeArrowheads="1"/>
          </p:cNvSpPr>
          <p:nvPr>
            <p:ph type="body" idx="1"/>
          </p:nvPr>
        </p:nvSpPr>
        <p:spPr>
          <a:xfrm>
            <a:off x="913228" y="4343436"/>
            <a:ext cx="5031546" cy="4114143"/>
          </a:xfrm>
          <a:noFill/>
        </p:spPr>
        <p:txBody>
          <a:bodyPr/>
          <a:lstStyle/>
          <a:p>
            <a:pPr eaLnBrk="1" hangingPunct="1"/>
            <a:endParaRPr lang="en-GB" altLang="en-US"/>
          </a:p>
          <a:p>
            <a:pPr eaLnBrk="1" hangingPunct="1"/>
            <a:r>
              <a:rPr lang="en-GB" altLang="en-US"/>
              <a:t>N=number of conditions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B050"/>
                </a:solidFill>
              </a:rPr>
              <a:t>The example</a:t>
            </a:r>
            <a:r>
              <a:rPr lang="en-US" sz="1200" baseline="0" dirty="0">
                <a:solidFill>
                  <a:srgbClr val="00B050"/>
                </a:solidFill>
              </a:rPr>
              <a:t> from a textbook is ok but it is b</a:t>
            </a:r>
            <a:r>
              <a:rPr lang="en-US" sz="1200" dirty="0">
                <a:solidFill>
                  <a:srgbClr val="00B050"/>
                </a:solidFill>
              </a:rPr>
              <a:t>etter to put “</a:t>
            </a:r>
            <a:r>
              <a:rPr lang="en-US" sz="1200" b="1" dirty="0">
                <a:solidFill>
                  <a:srgbClr val="00B050"/>
                </a:solidFill>
              </a:rPr>
              <a:t>Product is in stock” </a:t>
            </a:r>
            <a:r>
              <a:rPr lang="en-US" sz="1200" dirty="0">
                <a:solidFill>
                  <a:srgbClr val="00B050"/>
                </a:solidFill>
              </a:rPr>
              <a:t>as first condition, as it is a determinant condition (as long as there is no stock, there is no need to bother about credit status).</a:t>
            </a:r>
          </a:p>
          <a:p>
            <a:r>
              <a:rPr lang="en-US" dirty="0"/>
              <a:t>Example: If you want to</a:t>
            </a:r>
            <a:r>
              <a:rPr lang="en-US" baseline="0" dirty="0"/>
              <a:t> buy a product, the salesperson will check if product is in stock first, then only check if your credit status is ok. It will be funny (discriminating) if the salesperson ask you your credit status first (to see if you got money) then only check if got stock.</a:t>
            </a:r>
          </a:p>
          <a:p>
            <a:endParaRPr lang="en-US" baseline="0" dirty="0"/>
          </a:p>
          <a:p>
            <a:r>
              <a:rPr lang="en-US" b="1" i="1" baseline="0" dirty="0">
                <a:solidFill>
                  <a:srgbClr val="FF0000"/>
                </a:solidFill>
              </a:rPr>
              <a:t>(Note: The pic overlapping is my version)</a:t>
            </a:r>
            <a:endParaRPr lang="en-US" b="1" i="1" dirty="0">
              <a:solidFill>
                <a:srgbClr val="FF0000"/>
              </a:solidFill>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4484E0-00B6-4384-A9C6-59CBB5CF413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613717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is better to put the “Product is in stock” as first condition (for easy viewing &amp; understanding).</a:t>
            </a:r>
          </a:p>
          <a:p>
            <a:r>
              <a:rPr lang="en-US" dirty="0"/>
              <a:t>If Credit status is ok, it doesn’t matter if waiver, the order will still be excepted.</a:t>
            </a:r>
          </a:p>
          <a:p>
            <a:r>
              <a:rPr lang="en-US" dirty="0"/>
              <a:t>If Product is not in stock, it doesn’t matter whether</a:t>
            </a:r>
            <a:r>
              <a:rPr lang="en-US" baseline="0" dirty="0"/>
              <a:t> the credit status is ok or whether it is waivered.</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1" i="1" baseline="0" dirty="0">
                <a:solidFill>
                  <a:srgbClr val="FF0000"/>
                </a:solidFill>
              </a:rPr>
              <a:t>(Note: The pic overlapping is my version)</a:t>
            </a:r>
            <a:endParaRPr lang="en-US" b="1" i="1" dirty="0">
              <a:solidFill>
                <a:srgbClr val="FF0000"/>
              </a:solidFill>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24CFDD-88A5-4098-940D-9FA84AA2EA2E}" type="slidenum">
              <a:rPr kumimoji="0" lang="en-GB" alt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alt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031557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xfrm>
            <a:off x="1144588" y="685800"/>
            <a:ext cx="4572000" cy="3429000"/>
          </a:xfrm>
          <a:ln/>
        </p:spPr>
      </p:sp>
      <p:sp>
        <p:nvSpPr>
          <p:cNvPr id="79875" name="Rectangle 3"/>
          <p:cNvSpPr>
            <a:spLocks noGrp="1" noChangeArrowheads="1"/>
          </p:cNvSpPr>
          <p:nvPr>
            <p:ph type="body" idx="1"/>
          </p:nvPr>
        </p:nvSpPr>
        <p:spPr>
          <a:xfrm>
            <a:off x="913228" y="4343436"/>
            <a:ext cx="5031546" cy="4114143"/>
          </a:xfrm>
          <a:noFill/>
        </p:spPr>
        <p:txBody>
          <a:bodyPr/>
          <a:lstStyle/>
          <a:p>
            <a:pPr eaLnBrk="1" hangingPunct="1"/>
            <a:endParaRPr lang="en-GB" altLang="en-US" dirty="0"/>
          </a:p>
          <a:p>
            <a:pPr eaLnBrk="1" hangingPunct="1"/>
            <a:r>
              <a:rPr lang="en-GB" altLang="en-US" dirty="0"/>
              <a:t>N=number of conditions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1144588" y="685800"/>
            <a:ext cx="4572000" cy="3429000"/>
          </a:xfrm>
          <a:ln/>
        </p:spPr>
      </p:sp>
      <p:sp>
        <p:nvSpPr>
          <p:cNvPr id="80899" name="Rectangle 3"/>
          <p:cNvSpPr>
            <a:spLocks noGrp="1" noChangeArrowheads="1"/>
          </p:cNvSpPr>
          <p:nvPr>
            <p:ph type="body" idx="1"/>
          </p:nvPr>
        </p:nvSpPr>
        <p:spPr>
          <a:xfrm>
            <a:off x="913228" y="4343436"/>
            <a:ext cx="5031546" cy="4114143"/>
          </a:xfrm>
          <a:noFill/>
        </p:spPr>
        <p:txBody>
          <a:bodyPr/>
          <a:lstStyle/>
          <a:p>
            <a:pPr eaLnBrk="1" hangingPunct="1"/>
            <a:endParaRPr lang="en-GB"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1144588" y="685800"/>
            <a:ext cx="4572000" cy="3429000"/>
          </a:xfrm>
          <a:ln/>
        </p:spPr>
      </p:sp>
      <p:sp>
        <p:nvSpPr>
          <p:cNvPr id="81923" name="Rectangle 3"/>
          <p:cNvSpPr>
            <a:spLocks noGrp="1" noChangeArrowheads="1"/>
          </p:cNvSpPr>
          <p:nvPr>
            <p:ph type="body" idx="1"/>
          </p:nvPr>
        </p:nvSpPr>
        <p:spPr>
          <a:xfrm>
            <a:off x="913228" y="4343436"/>
            <a:ext cx="5031546" cy="4114143"/>
          </a:xfrm>
          <a:noFill/>
        </p:spPr>
        <p:txBody>
          <a:bodyPr/>
          <a:lstStyle/>
          <a:p>
            <a:pPr eaLnBrk="1" hangingPunct="1"/>
            <a:r>
              <a:rPr lang="en-GB" altLang="en-US" sz="1600" b="1"/>
              <a:t>If answer to first question is N then others irrelevant</a:t>
            </a:r>
            <a:endParaRPr lang="en-GB"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22C688A0-6A4B-4F51-9DAC-45768BB06B71}"/>
              </a:ext>
            </a:extLst>
          </p:cNvPr>
          <p:cNvSpPr>
            <a:spLocks noGrp="1" noChangeArrowheads="1"/>
          </p:cNvSpPr>
          <p:nvPr>
            <p:ph type="hdr" sz="quarter"/>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altLang="en-US">
                <a:latin typeface="Times New Roman" charset="0"/>
              </a:rPr>
              <a:t>Information Systems - Lecture 7</a:t>
            </a:r>
          </a:p>
        </p:txBody>
      </p:sp>
      <p:sp>
        <p:nvSpPr>
          <p:cNvPr id="53251" name="Rectangle 3">
            <a:extLst>
              <a:ext uri="{FF2B5EF4-FFF2-40B4-BE49-F238E27FC236}">
                <a16:creationId xmlns:a16="http://schemas.microsoft.com/office/drawing/2014/main" id="{9A139A69-7227-441F-9FF4-7CBA0C4BD902}"/>
              </a:ext>
            </a:extLst>
          </p:cNvPr>
          <p:cNvSpPr>
            <a:spLocks noGrp="1" noChangeArrowheads="1"/>
          </p:cNvSpPr>
          <p:nvPr>
            <p:ph type="dt" sz="quarter" idx="1"/>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fld id="{B7CD6056-92AC-414A-A16F-5533BB067991}" type="datetime1">
              <a:rPr lang="en-GB" altLang="en-US">
                <a:latin typeface="Times New Roman" charset="0"/>
              </a:rPr>
              <a:pPr>
                <a:defRPr/>
              </a:pPr>
              <a:t>30/10/2025</a:t>
            </a:fld>
            <a:endParaRPr lang="en-US" altLang="en-US">
              <a:latin typeface="Times New Roman" charset="0"/>
            </a:endParaRPr>
          </a:p>
        </p:txBody>
      </p:sp>
      <p:sp>
        <p:nvSpPr>
          <p:cNvPr id="53252" name="Rectangle 6">
            <a:extLst>
              <a:ext uri="{FF2B5EF4-FFF2-40B4-BE49-F238E27FC236}">
                <a16:creationId xmlns:a16="http://schemas.microsoft.com/office/drawing/2014/main" id="{0FBDFDD4-8A93-4174-9307-B8FAAC1EE157}"/>
              </a:ext>
            </a:extLst>
          </p:cNvPr>
          <p:cNvSpPr>
            <a:spLocks noGrp="1" noChangeArrowheads="1"/>
          </p:cNvSpPr>
          <p:nvPr>
            <p:ph type="ftr" sz="quarter" idx="4"/>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altLang="en-US">
                <a:latin typeface="Times New Roman" charset="0"/>
              </a:rPr>
              <a:t>Logic Modeling : Structured English</a:t>
            </a:r>
          </a:p>
        </p:txBody>
      </p:sp>
      <p:sp>
        <p:nvSpPr>
          <p:cNvPr id="43013" name="Rectangle 7">
            <a:extLst>
              <a:ext uri="{FF2B5EF4-FFF2-40B4-BE49-F238E27FC236}">
                <a16:creationId xmlns:a16="http://schemas.microsoft.com/office/drawing/2014/main" id="{6A77D6C9-4B50-4C70-92CD-3FCBD241656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0" hangingPunct="0">
              <a:spcBef>
                <a:spcPct val="0"/>
              </a:spcBef>
            </a:pPr>
            <a:fld id="{EE63732D-9E8D-4F94-9B36-001071A92E1C}" type="slidenum">
              <a:rPr lang="en-US" altLang="en-US">
                <a:latin typeface="Times New Roman" panose="02020603050405020304" pitchFamily="18" charset="0"/>
              </a:rPr>
              <a:pPr eaLnBrk="0" hangingPunct="0">
                <a:spcBef>
                  <a:spcPct val="0"/>
                </a:spcBef>
              </a:pPr>
              <a:t>38</a:t>
            </a:fld>
            <a:endParaRPr lang="en-US" altLang="en-US">
              <a:latin typeface="Times New Roman" panose="02020603050405020304" pitchFamily="18" charset="0"/>
            </a:endParaRPr>
          </a:p>
        </p:txBody>
      </p:sp>
      <p:sp>
        <p:nvSpPr>
          <p:cNvPr id="43014" name="Rectangle 2">
            <a:extLst>
              <a:ext uri="{FF2B5EF4-FFF2-40B4-BE49-F238E27FC236}">
                <a16:creationId xmlns:a16="http://schemas.microsoft.com/office/drawing/2014/main" id="{653F530B-533A-456B-A795-D3B89A4FB36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5" name="Rectangle 3">
            <a:extLst>
              <a:ext uri="{FF2B5EF4-FFF2-40B4-BE49-F238E27FC236}">
                <a16:creationId xmlns:a16="http://schemas.microsoft.com/office/drawing/2014/main" id="{40E7A2C6-6E35-4B4E-B118-DF2BD5D23C8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xfrm>
            <a:off x="1144588" y="685800"/>
            <a:ext cx="4572000" cy="3429000"/>
          </a:xfrm>
          <a:ln/>
        </p:spPr>
      </p:sp>
      <p:sp>
        <p:nvSpPr>
          <p:cNvPr id="83971" name="Rectangle 3"/>
          <p:cNvSpPr>
            <a:spLocks noGrp="1" noChangeArrowheads="1"/>
          </p:cNvSpPr>
          <p:nvPr>
            <p:ph type="body" idx="1"/>
          </p:nvPr>
        </p:nvSpPr>
        <p:spPr>
          <a:xfrm>
            <a:off x="686121" y="4341977"/>
            <a:ext cx="5485760" cy="4115603"/>
          </a:xfrm>
          <a:noFill/>
        </p:spPr>
        <p:txBody>
          <a:bodyPr/>
          <a:lstStyle/>
          <a:p>
            <a:pPr eaLnBrk="1" hangingPunct="1"/>
            <a:endParaRPr lang="en-US" altLang="en-US"/>
          </a:p>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1144588" y="685800"/>
            <a:ext cx="4572000" cy="3429000"/>
          </a:xfrm>
          <a:ln/>
        </p:spPr>
      </p:sp>
      <p:sp>
        <p:nvSpPr>
          <p:cNvPr id="84995" name="Rectangle 3"/>
          <p:cNvSpPr>
            <a:spLocks noGrp="1" noChangeArrowheads="1"/>
          </p:cNvSpPr>
          <p:nvPr>
            <p:ph type="body" idx="1"/>
          </p:nvPr>
        </p:nvSpPr>
        <p:spPr>
          <a:xfrm>
            <a:off x="913228" y="4343436"/>
            <a:ext cx="5031546" cy="4114143"/>
          </a:xfrm>
          <a:noFill/>
        </p:spPr>
        <p:txBody>
          <a:bodyPr/>
          <a:lstStyle/>
          <a:p>
            <a:pPr marL="0" marR="0" indent="0" algn="l" defTabSz="914400" rtl="0" eaLnBrk="1" fontAlgn="auto" latinLnBrk="0" hangingPunct="1">
              <a:lnSpc>
                <a:spcPct val="100000"/>
              </a:lnSpc>
              <a:spcBef>
                <a:spcPts val="0"/>
              </a:spcBef>
              <a:spcAft>
                <a:spcPts val="0"/>
              </a:spcAft>
              <a:buClr>
                <a:schemeClr val="tx1"/>
              </a:buClr>
              <a:buSzPct val="80000"/>
              <a:buFont typeface="Monotype Sorts" charset="2"/>
              <a:buNone/>
              <a:tabLst/>
              <a:defRPr/>
            </a:pPr>
            <a:r>
              <a:rPr lang="en-US" dirty="0"/>
              <a:t>There</a:t>
            </a:r>
            <a:r>
              <a:rPr lang="en-US" baseline="0" dirty="0"/>
              <a:t> are many ways to draw a Decision Tree. We will follow this notations.</a:t>
            </a:r>
            <a:endParaRPr lang="en-US" dirty="0"/>
          </a:p>
          <a:p>
            <a:pPr eaLnBrk="1" hangingPunct="1">
              <a:buClr>
                <a:schemeClr val="tx1"/>
              </a:buClr>
              <a:buSzPct val="80000"/>
              <a:buFont typeface="Monotype Sorts" charset="2"/>
              <a:buNone/>
            </a:pPr>
            <a:r>
              <a:rPr lang="en-US" altLang="en-US" dirty="0">
                <a:latin typeface="Garamond" pitchFamily="18" charset="0"/>
              </a:rPr>
              <a:t>Read from left to right</a:t>
            </a:r>
          </a:p>
          <a:p>
            <a:pPr eaLnBrk="1" hangingPunct="1">
              <a:buClr>
                <a:schemeClr val="tx1"/>
              </a:buClr>
              <a:buSzPct val="80000"/>
              <a:buFont typeface="Monotype Sorts" charset="2"/>
              <a:buNone/>
            </a:pPr>
            <a:r>
              <a:rPr lang="en-US" altLang="en-US" dirty="0">
                <a:latin typeface="Garamond" pitchFamily="18" charset="0"/>
              </a:rPr>
              <a:t>Each node corresponds to a numbered choice on a legend</a:t>
            </a:r>
          </a:p>
          <a:p>
            <a:pPr eaLnBrk="1" hangingPunct="1">
              <a:buClr>
                <a:schemeClr val="tx1"/>
              </a:buClr>
              <a:buSzPct val="80000"/>
              <a:buFont typeface="Monotype Sorts" charset="2"/>
              <a:buNone/>
            </a:pPr>
            <a:r>
              <a:rPr lang="en-US" altLang="en-US" dirty="0">
                <a:latin typeface="Garamond" pitchFamily="18" charset="0"/>
              </a:rPr>
              <a:t>All possible actions are listed on the far right</a:t>
            </a:r>
          </a:p>
          <a:p>
            <a:pPr eaLnBrk="1" hangingPunct="1"/>
            <a:endParaRPr lang="en-GB"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Arial" charset="0"/>
              </a:defRPr>
            </a:lvl1pPr>
            <a:lvl2pPr marL="742950" indent="-285750" defTabSz="912813">
              <a:spcBef>
                <a:spcPct val="30000"/>
              </a:spcBef>
              <a:defRPr sz="1200">
                <a:solidFill>
                  <a:schemeClr val="tx1"/>
                </a:solidFill>
                <a:latin typeface="Arial" charset="0"/>
              </a:defRPr>
            </a:lvl2pPr>
            <a:lvl3pPr marL="1143000" indent="-228600" defTabSz="912813">
              <a:spcBef>
                <a:spcPct val="30000"/>
              </a:spcBef>
              <a:defRPr sz="1200">
                <a:solidFill>
                  <a:schemeClr val="tx1"/>
                </a:solidFill>
                <a:latin typeface="Arial" charset="0"/>
              </a:defRPr>
            </a:lvl3pPr>
            <a:lvl4pPr marL="1600200" indent="-228600" defTabSz="912813">
              <a:spcBef>
                <a:spcPct val="30000"/>
              </a:spcBef>
              <a:defRPr sz="1200">
                <a:solidFill>
                  <a:schemeClr val="tx1"/>
                </a:solidFill>
                <a:latin typeface="Arial" charset="0"/>
              </a:defRPr>
            </a:lvl4pPr>
            <a:lvl5pPr marL="2057400" indent="-228600" defTabSz="912813">
              <a:spcBef>
                <a:spcPct val="30000"/>
              </a:spcBef>
              <a:defRPr sz="1200">
                <a:solidFill>
                  <a:schemeClr val="tx1"/>
                </a:solidFill>
                <a:latin typeface="Arial" charset="0"/>
              </a:defRPr>
            </a:lvl5pPr>
            <a:lvl6pPr marL="2514600" indent="-228600" defTabSz="912813" eaLnBrk="0" fontAlgn="base" hangingPunct="0">
              <a:spcBef>
                <a:spcPct val="30000"/>
              </a:spcBef>
              <a:spcAft>
                <a:spcPct val="0"/>
              </a:spcAft>
              <a:defRPr sz="1200">
                <a:solidFill>
                  <a:schemeClr val="tx1"/>
                </a:solidFill>
                <a:latin typeface="Arial" charset="0"/>
              </a:defRPr>
            </a:lvl6pPr>
            <a:lvl7pPr marL="2971800" indent="-228600" defTabSz="912813" eaLnBrk="0" fontAlgn="base" hangingPunct="0">
              <a:spcBef>
                <a:spcPct val="30000"/>
              </a:spcBef>
              <a:spcAft>
                <a:spcPct val="0"/>
              </a:spcAft>
              <a:defRPr sz="1200">
                <a:solidFill>
                  <a:schemeClr val="tx1"/>
                </a:solidFill>
                <a:latin typeface="Arial" charset="0"/>
              </a:defRPr>
            </a:lvl7pPr>
            <a:lvl8pPr marL="3429000" indent="-228600" defTabSz="912813" eaLnBrk="0" fontAlgn="base" hangingPunct="0">
              <a:spcBef>
                <a:spcPct val="30000"/>
              </a:spcBef>
              <a:spcAft>
                <a:spcPct val="0"/>
              </a:spcAft>
              <a:defRPr sz="1200">
                <a:solidFill>
                  <a:schemeClr val="tx1"/>
                </a:solidFill>
                <a:latin typeface="Arial" charset="0"/>
              </a:defRPr>
            </a:lvl8pPr>
            <a:lvl9pPr marL="3886200" indent="-228600" defTabSz="912813" eaLnBrk="0" fontAlgn="base" hangingPunct="0">
              <a:spcBef>
                <a:spcPct val="30000"/>
              </a:spcBef>
              <a:spcAft>
                <a:spcPct val="0"/>
              </a:spcAft>
              <a:defRPr sz="1200">
                <a:solidFill>
                  <a:schemeClr val="tx1"/>
                </a:solidFill>
                <a:latin typeface="Arial" charset="0"/>
              </a:defRPr>
            </a:lvl9pPr>
          </a:lstStyle>
          <a:p>
            <a:pPr>
              <a:spcBef>
                <a:spcPct val="0"/>
              </a:spcBef>
            </a:pPr>
            <a:r>
              <a:rPr lang="en-US" altLang="en-US" sz="1100">
                <a:solidFill>
                  <a:prstClr val="black"/>
                </a:solidFill>
                <a:latin typeface="Times New Roman" pitchFamily="18" charset="0"/>
              </a:rPr>
              <a:t>Information Systems - Lecture 7</a:t>
            </a:r>
          </a:p>
        </p:txBody>
      </p:sp>
      <p:sp>
        <p:nvSpPr>
          <p:cNvPr id="86019"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Arial" charset="0"/>
              </a:defRPr>
            </a:lvl1pPr>
            <a:lvl2pPr marL="742950" indent="-285750" defTabSz="912813">
              <a:spcBef>
                <a:spcPct val="30000"/>
              </a:spcBef>
              <a:defRPr sz="1200">
                <a:solidFill>
                  <a:schemeClr val="tx1"/>
                </a:solidFill>
                <a:latin typeface="Arial" charset="0"/>
              </a:defRPr>
            </a:lvl2pPr>
            <a:lvl3pPr marL="1143000" indent="-228600" defTabSz="912813">
              <a:spcBef>
                <a:spcPct val="30000"/>
              </a:spcBef>
              <a:defRPr sz="1200">
                <a:solidFill>
                  <a:schemeClr val="tx1"/>
                </a:solidFill>
                <a:latin typeface="Arial" charset="0"/>
              </a:defRPr>
            </a:lvl3pPr>
            <a:lvl4pPr marL="1600200" indent="-228600" defTabSz="912813">
              <a:spcBef>
                <a:spcPct val="30000"/>
              </a:spcBef>
              <a:defRPr sz="1200">
                <a:solidFill>
                  <a:schemeClr val="tx1"/>
                </a:solidFill>
                <a:latin typeface="Arial" charset="0"/>
              </a:defRPr>
            </a:lvl4pPr>
            <a:lvl5pPr marL="2057400" indent="-228600" defTabSz="912813">
              <a:spcBef>
                <a:spcPct val="30000"/>
              </a:spcBef>
              <a:defRPr sz="1200">
                <a:solidFill>
                  <a:schemeClr val="tx1"/>
                </a:solidFill>
                <a:latin typeface="Arial" charset="0"/>
              </a:defRPr>
            </a:lvl5pPr>
            <a:lvl6pPr marL="2514600" indent="-228600" defTabSz="912813" eaLnBrk="0" fontAlgn="base" hangingPunct="0">
              <a:spcBef>
                <a:spcPct val="30000"/>
              </a:spcBef>
              <a:spcAft>
                <a:spcPct val="0"/>
              </a:spcAft>
              <a:defRPr sz="1200">
                <a:solidFill>
                  <a:schemeClr val="tx1"/>
                </a:solidFill>
                <a:latin typeface="Arial" charset="0"/>
              </a:defRPr>
            </a:lvl6pPr>
            <a:lvl7pPr marL="2971800" indent="-228600" defTabSz="912813" eaLnBrk="0" fontAlgn="base" hangingPunct="0">
              <a:spcBef>
                <a:spcPct val="30000"/>
              </a:spcBef>
              <a:spcAft>
                <a:spcPct val="0"/>
              </a:spcAft>
              <a:defRPr sz="1200">
                <a:solidFill>
                  <a:schemeClr val="tx1"/>
                </a:solidFill>
                <a:latin typeface="Arial" charset="0"/>
              </a:defRPr>
            </a:lvl7pPr>
            <a:lvl8pPr marL="3429000" indent="-228600" defTabSz="912813" eaLnBrk="0" fontAlgn="base" hangingPunct="0">
              <a:spcBef>
                <a:spcPct val="30000"/>
              </a:spcBef>
              <a:spcAft>
                <a:spcPct val="0"/>
              </a:spcAft>
              <a:defRPr sz="1200">
                <a:solidFill>
                  <a:schemeClr val="tx1"/>
                </a:solidFill>
                <a:latin typeface="Arial" charset="0"/>
              </a:defRPr>
            </a:lvl8pPr>
            <a:lvl9pPr marL="3886200" indent="-228600" defTabSz="912813" eaLnBrk="0" fontAlgn="base" hangingPunct="0">
              <a:spcBef>
                <a:spcPct val="30000"/>
              </a:spcBef>
              <a:spcAft>
                <a:spcPct val="0"/>
              </a:spcAft>
              <a:defRPr sz="1200">
                <a:solidFill>
                  <a:schemeClr val="tx1"/>
                </a:solidFill>
                <a:latin typeface="Arial" charset="0"/>
              </a:defRPr>
            </a:lvl9pPr>
          </a:lstStyle>
          <a:p>
            <a:pPr>
              <a:spcBef>
                <a:spcPct val="0"/>
              </a:spcBef>
            </a:pPr>
            <a:fld id="{02B03CE9-5530-4A43-9F39-3639B406C679}" type="datetime1">
              <a:rPr lang="en-GB" altLang="en-US" sz="1100">
                <a:solidFill>
                  <a:prstClr val="black"/>
                </a:solidFill>
                <a:latin typeface="Times New Roman" pitchFamily="18" charset="0"/>
              </a:rPr>
              <a:pPr>
                <a:spcBef>
                  <a:spcPct val="0"/>
                </a:spcBef>
              </a:pPr>
              <a:t>30/10/2025</a:t>
            </a:fld>
            <a:endParaRPr lang="en-US" altLang="en-US" sz="1100">
              <a:solidFill>
                <a:prstClr val="black"/>
              </a:solidFill>
              <a:latin typeface="Times New Roman" pitchFamily="18" charset="0"/>
            </a:endParaRPr>
          </a:p>
        </p:txBody>
      </p:sp>
      <p:sp>
        <p:nvSpPr>
          <p:cNvPr id="86020"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Arial" charset="0"/>
              </a:defRPr>
            </a:lvl1pPr>
            <a:lvl2pPr marL="742950" indent="-285750" defTabSz="912813">
              <a:spcBef>
                <a:spcPct val="30000"/>
              </a:spcBef>
              <a:defRPr sz="1200">
                <a:solidFill>
                  <a:schemeClr val="tx1"/>
                </a:solidFill>
                <a:latin typeface="Arial" charset="0"/>
              </a:defRPr>
            </a:lvl2pPr>
            <a:lvl3pPr marL="1143000" indent="-228600" defTabSz="912813">
              <a:spcBef>
                <a:spcPct val="30000"/>
              </a:spcBef>
              <a:defRPr sz="1200">
                <a:solidFill>
                  <a:schemeClr val="tx1"/>
                </a:solidFill>
                <a:latin typeface="Arial" charset="0"/>
              </a:defRPr>
            </a:lvl3pPr>
            <a:lvl4pPr marL="1600200" indent="-228600" defTabSz="912813">
              <a:spcBef>
                <a:spcPct val="30000"/>
              </a:spcBef>
              <a:defRPr sz="1200">
                <a:solidFill>
                  <a:schemeClr val="tx1"/>
                </a:solidFill>
                <a:latin typeface="Arial" charset="0"/>
              </a:defRPr>
            </a:lvl4pPr>
            <a:lvl5pPr marL="2057400" indent="-228600" defTabSz="912813">
              <a:spcBef>
                <a:spcPct val="30000"/>
              </a:spcBef>
              <a:defRPr sz="1200">
                <a:solidFill>
                  <a:schemeClr val="tx1"/>
                </a:solidFill>
                <a:latin typeface="Arial" charset="0"/>
              </a:defRPr>
            </a:lvl5pPr>
            <a:lvl6pPr marL="2514600" indent="-228600" defTabSz="912813" eaLnBrk="0" fontAlgn="base" hangingPunct="0">
              <a:spcBef>
                <a:spcPct val="30000"/>
              </a:spcBef>
              <a:spcAft>
                <a:spcPct val="0"/>
              </a:spcAft>
              <a:defRPr sz="1200">
                <a:solidFill>
                  <a:schemeClr val="tx1"/>
                </a:solidFill>
                <a:latin typeface="Arial" charset="0"/>
              </a:defRPr>
            </a:lvl6pPr>
            <a:lvl7pPr marL="2971800" indent="-228600" defTabSz="912813" eaLnBrk="0" fontAlgn="base" hangingPunct="0">
              <a:spcBef>
                <a:spcPct val="30000"/>
              </a:spcBef>
              <a:spcAft>
                <a:spcPct val="0"/>
              </a:spcAft>
              <a:defRPr sz="1200">
                <a:solidFill>
                  <a:schemeClr val="tx1"/>
                </a:solidFill>
                <a:latin typeface="Arial" charset="0"/>
              </a:defRPr>
            </a:lvl7pPr>
            <a:lvl8pPr marL="3429000" indent="-228600" defTabSz="912813" eaLnBrk="0" fontAlgn="base" hangingPunct="0">
              <a:spcBef>
                <a:spcPct val="30000"/>
              </a:spcBef>
              <a:spcAft>
                <a:spcPct val="0"/>
              </a:spcAft>
              <a:defRPr sz="1200">
                <a:solidFill>
                  <a:schemeClr val="tx1"/>
                </a:solidFill>
                <a:latin typeface="Arial" charset="0"/>
              </a:defRPr>
            </a:lvl8pPr>
            <a:lvl9pPr marL="3886200" indent="-228600" defTabSz="912813" eaLnBrk="0" fontAlgn="base" hangingPunct="0">
              <a:spcBef>
                <a:spcPct val="30000"/>
              </a:spcBef>
              <a:spcAft>
                <a:spcPct val="0"/>
              </a:spcAft>
              <a:defRPr sz="1200">
                <a:solidFill>
                  <a:schemeClr val="tx1"/>
                </a:solidFill>
                <a:latin typeface="Arial" charset="0"/>
              </a:defRPr>
            </a:lvl9pPr>
          </a:lstStyle>
          <a:p>
            <a:pPr>
              <a:spcBef>
                <a:spcPct val="0"/>
              </a:spcBef>
            </a:pPr>
            <a:r>
              <a:rPr lang="en-US" altLang="en-US" sz="1100">
                <a:solidFill>
                  <a:prstClr val="black"/>
                </a:solidFill>
                <a:latin typeface="Times New Roman" pitchFamily="18" charset="0"/>
              </a:rPr>
              <a:t>Logic Modeling : Structured English</a:t>
            </a:r>
          </a:p>
        </p:txBody>
      </p:sp>
      <p:sp>
        <p:nvSpPr>
          <p:cNvPr id="860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Arial" charset="0"/>
              </a:defRPr>
            </a:lvl1pPr>
            <a:lvl2pPr marL="742950" indent="-285750" defTabSz="912813">
              <a:spcBef>
                <a:spcPct val="30000"/>
              </a:spcBef>
              <a:defRPr sz="1200">
                <a:solidFill>
                  <a:schemeClr val="tx1"/>
                </a:solidFill>
                <a:latin typeface="Arial" charset="0"/>
              </a:defRPr>
            </a:lvl2pPr>
            <a:lvl3pPr marL="1143000" indent="-228600" defTabSz="912813">
              <a:spcBef>
                <a:spcPct val="30000"/>
              </a:spcBef>
              <a:defRPr sz="1200">
                <a:solidFill>
                  <a:schemeClr val="tx1"/>
                </a:solidFill>
                <a:latin typeface="Arial" charset="0"/>
              </a:defRPr>
            </a:lvl3pPr>
            <a:lvl4pPr marL="1600200" indent="-228600" defTabSz="912813">
              <a:spcBef>
                <a:spcPct val="30000"/>
              </a:spcBef>
              <a:defRPr sz="1200">
                <a:solidFill>
                  <a:schemeClr val="tx1"/>
                </a:solidFill>
                <a:latin typeface="Arial" charset="0"/>
              </a:defRPr>
            </a:lvl4pPr>
            <a:lvl5pPr marL="2057400" indent="-228600" defTabSz="912813">
              <a:spcBef>
                <a:spcPct val="30000"/>
              </a:spcBef>
              <a:defRPr sz="1200">
                <a:solidFill>
                  <a:schemeClr val="tx1"/>
                </a:solidFill>
                <a:latin typeface="Arial" charset="0"/>
              </a:defRPr>
            </a:lvl5pPr>
            <a:lvl6pPr marL="2514600" indent="-228600" defTabSz="912813" eaLnBrk="0" fontAlgn="base" hangingPunct="0">
              <a:spcBef>
                <a:spcPct val="30000"/>
              </a:spcBef>
              <a:spcAft>
                <a:spcPct val="0"/>
              </a:spcAft>
              <a:defRPr sz="1200">
                <a:solidFill>
                  <a:schemeClr val="tx1"/>
                </a:solidFill>
                <a:latin typeface="Arial" charset="0"/>
              </a:defRPr>
            </a:lvl6pPr>
            <a:lvl7pPr marL="2971800" indent="-228600" defTabSz="912813" eaLnBrk="0" fontAlgn="base" hangingPunct="0">
              <a:spcBef>
                <a:spcPct val="30000"/>
              </a:spcBef>
              <a:spcAft>
                <a:spcPct val="0"/>
              </a:spcAft>
              <a:defRPr sz="1200">
                <a:solidFill>
                  <a:schemeClr val="tx1"/>
                </a:solidFill>
                <a:latin typeface="Arial" charset="0"/>
              </a:defRPr>
            </a:lvl7pPr>
            <a:lvl8pPr marL="3429000" indent="-228600" defTabSz="912813" eaLnBrk="0" fontAlgn="base" hangingPunct="0">
              <a:spcBef>
                <a:spcPct val="30000"/>
              </a:spcBef>
              <a:spcAft>
                <a:spcPct val="0"/>
              </a:spcAft>
              <a:defRPr sz="1200">
                <a:solidFill>
                  <a:schemeClr val="tx1"/>
                </a:solidFill>
                <a:latin typeface="Arial" charset="0"/>
              </a:defRPr>
            </a:lvl8pPr>
            <a:lvl9pPr marL="3886200" indent="-228600" defTabSz="912813" eaLnBrk="0" fontAlgn="base" hangingPunct="0">
              <a:spcBef>
                <a:spcPct val="30000"/>
              </a:spcBef>
              <a:spcAft>
                <a:spcPct val="0"/>
              </a:spcAft>
              <a:defRPr sz="1200">
                <a:solidFill>
                  <a:schemeClr val="tx1"/>
                </a:solidFill>
                <a:latin typeface="Arial" charset="0"/>
              </a:defRPr>
            </a:lvl9pPr>
          </a:lstStyle>
          <a:p>
            <a:pPr>
              <a:spcBef>
                <a:spcPct val="0"/>
              </a:spcBef>
            </a:pPr>
            <a:fld id="{C6122D2F-0E89-4F4A-BE7E-03BA62917EA9}" type="slidenum">
              <a:rPr lang="en-US" altLang="en-US" sz="1100">
                <a:solidFill>
                  <a:prstClr val="black"/>
                </a:solidFill>
                <a:latin typeface="Times New Roman" pitchFamily="18" charset="0"/>
              </a:rPr>
              <a:pPr>
                <a:spcBef>
                  <a:spcPct val="0"/>
                </a:spcBef>
              </a:pPr>
              <a:t>44</a:t>
            </a:fld>
            <a:endParaRPr lang="en-US" altLang="en-US" sz="1100">
              <a:solidFill>
                <a:prstClr val="black"/>
              </a:solidFill>
              <a:latin typeface="Times New Roman" pitchFamily="18" charset="0"/>
            </a:endParaRPr>
          </a:p>
        </p:txBody>
      </p:sp>
      <p:sp>
        <p:nvSpPr>
          <p:cNvPr id="86022" name="Rectangle 2"/>
          <p:cNvSpPr>
            <a:spLocks noGrp="1" noRot="1" noChangeAspect="1" noChangeArrowheads="1" noTextEdit="1"/>
          </p:cNvSpPr>
          <p:nvPr>
            <p:ph type="sldImg"/>
          </p:nvPr>
        </p:nvSpPr>
        <p:spPr>
          <a:ln/>
        </p:spPr>
      </p:sp>
      <p:sp>
        <p:nvSpPr>
          <p:cNvPr id="860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a:ln/>
        </p:spPr>
      </p:sp>
      <p:sp>
        <p:nvSpPr>
          <p:cNvPr id="870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MY" altLang="en-US" dirty="0"/>
              <a:t>Note:</a:t>
            </a:r>
          </a:p>
          <a:p>
            <a:pPr marL="171450" indent="-171450">
              <a:buFont typeface="Arial" panose="020B0604020202020204" pitchFamily="34" charset="0"/>
              <a:buChar char="•"/>
            </a:pPr>
            <a:r>
              <a:rPr lang="en-MY" altLang="en-US" dirty="0"/>
              <a:t>Hours work can either be &lt;40, =40 or &gt;40. So if it is NOT</a:t>
            </a:r>
            <a:r>
              <a:rPr lang="en-MY" altLang="en-US" baseline="0" dirty="0"/>
              <a:t> &lt;40 and NOT =40, it has to be &gt;40, so we don’t have to put a row for condition &gt;40.</a:t>
            </a:r>
          </a:p>
          <a:p>
            <a:pPr marL="171450" indent="-171450">
              <a:buFont typeface="Arial" panose="020B0604020202020204" pitchFamily="34" charset="0"/>
              <a:buChar char="•"/>
            </a:pPr>
            <a:r>
              <a:rPr lang="en-MY" altLang="en-US" dirty="0"/>
              <a:t>For Full Time, it doesn’t</a:t>
            </a:r>
            <a:r>
              <a:rPr lang="en-MY" altLang="en-US" baseline="0" dirty="0"/>
              <a:t> matter on the hours worked, as they will have to work at a fixed time. Hours worked are more for Part Timers.</a:t>
            </a:r>
            <a:endParaRPr lang="en-MY" altLang="en-US" dirty="0"/>
          </a:p>
        </p:txBody>
      </p:sp>
      <p:sp>
        <p:nvSpPr>
          <p:cNvPr id="87044" name="Header Placeholder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Arial" charset="0"/>
              </a:defRPr>
            </a:lvl1pPr>
            <a:lvl2pPr marL="742950" indent="-285750" defTabSz="912813">
              <a:spcBef>
                <a:spcPct val="30000"/>
              </a:spcBef>
              <a:defRPr sz="1200">
                <a:solidFill>
                  <a:schemeClr val="tx1"/>
                </a:solidFill>
                <a:latin typeface="Arial" charset="0"/>
              </a:defRPr>
            </a:lvl2pPr>
            <a:lvl3pPr marL="1143000" indent="-228600" defTabSz="912813">
              <a:spcBef>
                <a:spcPct val="30000"/>
              </a:spcBef>
              <a:defRPr sz="1200">
                <a:solidFill>
                  <a:schemeClr val="tx1"/>
                </a:solidFill>
                <a:latin typeface="Arial" charset="0"/>
              </a:defRPr>
            </a:lvl3pPr>
            <a:lvl4pPr marL="1600200" indent="-228600" defTabSz="912813">
              <a:spcBef>
                <a:spcPct val="30000"/>
              </a:spcBef>
              <a:defRPr sz="1200">
                <a:solidFill>
                  <a:schemeClr val="tx1"/>
                </a:solidFill>
                <a:latin typeface="Arial" charset="0"/>
              </a:defRPr>
            </a:lvl4pPr>
            <a:lvl5pPr marL="2057400" indent="-228600" defTabSz="912813">
              <a:spcBef>
                <a:spcPct val="30000"/>
              </a:spcBef>
              <a:defRPr sz="1200">
                <a:solidFill>
                  <a:schemeClr val="tx1"/>
                </a:solidFill>
                <a:latin typeface="Arial" charset="0"/>
              </a:defRPr>
            </a:lvl5pPr>
            <a:lvl6pPr marL="2514600" indent="-228600" defTabSz="912813" eaLnBrk="0" fontAlgn="base" hangingPunct="0">
              <a:spcBef>
                <a:spcPct val="30000"/>
              </a:spcBef>
              <a:spcAft>
                <a:spcPct val="0"/>
              </a:spcAft>
              <a:defRPr sz="1200">
                <a:solidFill>
                  <a:schemeClr val="tx1"/>
                </a:solidFill>
                <a:latin typeface="Arial" charset="0"/>
              </a:defRPr>
            </a:lvl6pPr>
            <a:lvl7pPr marL="2971800" indent="-228600" defTabSz="912813" eaLnBrk="0" fontAlgn="base" hangingPunct="0">
              <a:spcBef>
                <a:spcPct val="30000"/>
              </a:spcBef>
              <a:spcAft>
                <a:spcPct val="0"/>
              </a:spcAft>
              <a:defRPr sz="1200">
                <a:solidFill>
                  <a:schemeClr val="tx1"/>
                </a:solidFill>
                <a:latin typeface="Arial" charset="0"/>
              </a:defRPr>
            </a:lvl7pPr>
            <a:lvl8pPr marL="3429000" indent="-228600" defTabSz="912813" eaLnBrk="0" fontAlgn="base" hangingPunct="0">
              <a:spcBef>
                <a:spcPct val="30000"/>
              </a:spcBef>
              <a:spcAft>
                <a:spcPct val="0"/>
              </a:spcAft>
              <a:defRPr sz="1200">
                <a:solidFill>
                  <a:schemeClr val="tx1"/>
                </a:solidFill>
                <a:latin typeface="Arial" charset="0"/>
              </a:defRPr>
            </a:lvl8pPr>
            <a:lvl9pPr marL="3886200" indent="-228600" defTabSz="912813" eaLnBrk="0" fontAlgn="base" hangingPunct="0">
              <a:spcBef>
                <a:spcPct val="30000"/>
              </a:spcBef>
              <a:spcAft>
                <a:spcPct val="0"/>
              </a:spcAft>
              <a:defRPr sz="1200">
                <a:solidFill>
                  <a:schemeClr val="tx1"/>
                </a:solidFill>
                <a:latin typeface="Arial" charset="0"/>
              </a:defRPr>
            </a:lvl9pPr>
          </a:lstStyle>
          <a:p>
            <a:pPr>
              <a:spcBef>
                <a:spcPct val="0"/>
              </a:spcBef>
            </a:pPr>
            <a:r>
              <a:rPr lang="en-US" altLang="en-US" sz="1100">
                <a:solidFill>
                  <a:prstClr val="black"/>
                </a:solidFill>
                <a:latin typeface="Times New Roman" pitchFamily="18" charset="0"/>
              </a:rPr>
              <a:t>Information Systems - Lecture 7</a:t>
            </a:r>
          </a:p>
        </p:txBody>
      </p:sp>
      <p:sp>
        <p:nvSpPr>
          <p:cNvPr id="87045" name="Date Placeholder 4"/>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Arial" charset="0"/>
              </a:defRPr>
            </a:lvl1pPr>
            <a:lvl2pPr marL="742950" indent="-285750" defTabSz="912813">
              <a:spcBef>
                <a:spcPct val="30000"/>
              </a:spcBef>
              <a:defRPr sz="1200">
                <a:solidFill>
                  <a:schemeClr val="tx1"/>
                </a:solidFill>
                <a:latin typeface="Arial" charset="0"/>
              </a:defRPr>
            </a:lvl2pPr>
            <a:lvl3pPr marL="1143000" indent="-228600" defTabSz="912813">
              <a:spcBef>
                <a:spcPct val="30000"/>
              </a:spcBef>
              <a:defRPr sz="1200">
                <a:solidFill>
                  <a:schemeClr val="tx1"/>
                </a:solidFill>
                <a:latin typeface="Arial" charset="0"/>
              </a:defRPr>
            </a:lvl3pPr>
            <a:lvl4pPr marL="1600200" indent="-228600" defTabSz="912813">
              <a:spcBef>
                <a:spcPct val="30000"/>
              </a:spcBef>
              <a:defRPr sz="1200">
                <a:solidFill>
                  <a:schemeClr val="tx1"/>
                </a:solidFill>
                <a:latin typeface="Arial" charset="0"/>
              </a:defRPr>
            </a:lvl4pPr>
            <a:lvl5pPr marL="2057400" indent="-228600" defTabSz="912813">
              <a:spcBef>
                <a:spcPct val="30000"/>
              </a:spcBef>
              <a:defRPr sz="1200">
                <a:solidFill>
                  <a:schemeClr val="tx1"/>
                </a:solidFill>
                <a:latin typeface="Arial" charset="0"/>
              </a:defRPr>
            </a:lvl5pPr>
            <a:lvl6pPr marL="2514600" indent="-228600" defTabSz="912813" eaLnBrk="0" fontAlgn="base" hangingPunct="0">
              <a:spcBef>
                <a:spcPct val="30000"/>
              </a:spcBef>
              <a:spcAft>
                <a:spcPct val="0"/>
              </a:spcAft>
              <a:defRPr sz="1200">
                <a:solidFill>
                  <a:schemeClr val="tx1"/>
                </a:solidFill>
                <a:latin typeface="Arial" charset="0"/>
              </a:defRPr>
            </a:lvl6pPr>
            <a:lvl7pPr marL="2971800" indent="-228600" defTabSz="912813" eaLnBrk="0" fontAlgn="base" hangingPunct="0">
              <a:spcBef>
                <a:spcPct val="30000"/>
              </a:spcBef>
              <a:spcAft>
                <a:spcPct val="0"/>
              </a:spcAft>
              <a:defRPr sz="1200">
                <a:solidFill>
                  <a:schemeClr val="tx1"/>
                </a:solidFill>
                <a:latin typeface="Arial" charset="0"/>
              </a:defRPr>
            </a:lvl7pPr>
            <a:lvl8pPr marL="3429000" indent="-228600" defTabSz="912813" eaLnBrk="0" fontAlgn="base" hangingPunct="0">
              <a:spcBef>
                <a:spcPct val="30000"/>
              </a:spcBef>
              <a:spcAft>
                <a:spcPct val="0"/>
              </a:spcAft>
              <a:defRPr sz="1200">
                <a:solidFill>
                  <a:schemeClr val="tx1"/>
                </a:solidFill>
                <a:latin typeface="Arial" charset="0"/>
              </a:defRPr>
            </a:lvl8pPr>
            <a:lvl9pPr marL="3886200" indent="-228600" defTabSz="912813" eaLnBrk="0" fontAlgn="base" hangingPunct="0">
              <a:spcBef>
                <a:spcPct val="30000"/>
              </a:spcBef>
              <a:spcAft>
                <a:spcPct val="0"/>
              </a:spcAft>
              <a:defRPr sz="1200">
                <a:solidFill>
                  <a:schemeClr val="tx1"/>
                </a:solidFill>
                <a:latin typeface="Arial" charset="0"/>
              </a:defRPr>
            </a:lvl9pPr>
          </a:lstStyle>
          <a:p>
            <a:pPr>
              <a:spcBef>
                <a:spcPct val="0"/>
              </a:spcBef>
            </a:pPr>
            <a:fld id="{2F9A36C5-F9E9-496A-98CE-38600289916D}" type="datetime1">
              <a:rPr lang="en-GB" altLang="en-US" sz="1100">
                <a:solidFill>
                  <a:prstClr val="black"/>
                </a:solidFill>
                <a:latin typeface="Times New Roman" pitchFamily="18" charset="0"/>
              </a:rPr>
              <a:pPr>
                <a:spcBef>
                  <a:spcPct val="0"/>
                </a:spcBef>
              </a:pPr>
              <a:t>30/10/2025</a:t>
            </a:fld>
            <a:endParaRPr lang="en-US" altLang="en-US" sz="1100">
              <a:solidFill>
                <a:prstClr val="black"/>
              </a:solidFill>
              <a:latin typeface="Times New Roman" pitchFamily="18" charset="0"/>
            </a:endParaRPr>
          </a:p>
        </p:txBody>
      </p:sp>
      <p:sp>
        <p:nvSpPr>
          <p:cNvPr id="87046" name="Footer Placeholder 5"/>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Arial" charset="0"/>
              </a:defRPr>
            </a:lvl1pPr>
            <a:lvl2pPr marL="742950" indent="-285750" defTabSz="912813">
              <a:spcBef>
                <a:spcPct val="30000"/>
              </a:spcBef>
              <a:defRPr sz="1200">
                <a:solidFill>
                  <a:schemeClr val="tx1"/>
                </a:solidFill>
                <a:latin typeface="Arial" charset="0"/>
              </a:defRPr>
            </a:lvl2pPr>
            <a:lvl3pPr marL="1143000" indent="-228600" defTabSz="912813">
              <a:spcBef>
                <a:spcPct val="30000"/>
              </a:spcBef>
              <a:defRPr sz="1200">
                <a:solidFill>
                  <a:schemeClr val="tx1"/>
                </a:solidFill>
                <a:latin typeface="Arial" charset="0"/>
              </a:defRPr>
            </a:lvl3pPr>
            <a:lvl4pPr marL="1600200" indent="-228600" defTabSz="912813">
              <a:spcBef>
                <a:spcPct val="30000"/>
              </a:spcBef>
              <a:defRPr sz="1200">
                <a:solidFill>
                  <a:schemeClr val="tx1"/>
                </a:solidFill>
                <a:latin typeface="Arial" charset="0"/>
              </a:defRPr>
            </a:lvl4pPr>
            <a:lvl5pPr marL="2057400" indent="-228600" defTabSz="912813">
              <a:spcBef>
                <a:spcPct val="30000"/>
              </a:spcBef>
              <a:defRPr sz="1200">
                <a:solidFill>
                  <a:schemeClr val="tx1"/>
                </a:solidFill>
                <a:latin typeface="Arial" charset="0"/>
              </a:defRPr>
            </a:lvl5pPr>
            <a:lvl6pPr marL="2514600" indent="-228600" defTabSz="912813" eaLnBrk="0" fontAlgn="base" hangingPunct="0">
              <a:spcBef>
                <a:spcPct val="30000"/>
              </a:spcBef>
              <a:spcAft>
                <a:spcPct val="0"/>
              </a:spcAft>
              <a:defRPr sz="1200">
                <a:solidFill>
                  <a:schemeClr val="tx1"/>
                </a:solidFill>
                <a:latin typeface="Arial" charset="0"/>
              </a:defRPr>
            </a:lvl6pPr>
            <a:lvl7pPr marL="2971800" indent="-228600" defTabSz="912813" eaLnBrk="0" fontAlgn="base" hangingPunct="0">
              <a:spcBef>
                <a:spcPct val="30000"/>
              </a:spcBef>
              <a:spcAft>
                <a:spcPct val="0"/>
              </a:spcAft>
              <a:defRPr sz="1200">
                <a:solidFill>
                  <a:schemeClr val="tx1"/>
                </a:solidFill>
                <a:latin typeface="Arial" charset="0"/>
              </a:defRPr>
            </a:lvl7pPr>
            <a:lvl8pPr marL="3429000" indent="-228600" defTabSz="912813" eaLnBrk="0" fontAlgn="base" hangingPunct="0">
              <a:spcBef>
                <a:spcPct val="30000"/>
              </a:spcBef>
              <a:spcAft>
                <a:spcPct val="0"/>
              </a:spcAft>
              <a:defRPr sz="1200">
                <a:solidFill>
                  <a:schemeClr val="tx1"/>
                </a:solidFill>
                <a:latin typeface="Arial" charset="0"/>
              </a:defRPr>
            </a:lvl8pPr>
            <a:lvl9pPr marL="3886200" indent="-228600" defTabSz="912813" eaLnBrk="0" fontAlgn="base" hangingPunct="0">
              <a:spcBef>
                <a:spcPct val="30000"/>
              </a:spcBef>
              <a:spcAft>
                <a:spcPct val="0"/>
              </a:spcAft>
              <a:defRPr sz="1200">
                <a:solidFill>
                  <a:schemeClr val="tx1"/>
                </a:solidFill>
                <a:latin typeface="Arial" charset="0"/>
              </a:defRPr>
            </a:lvl9pPr>
          </a:lstStyle>
          <a:p>
            <a:pPr>
              <a:spcBef>
                <a:spcPct val="0"/>
              </a:spcBef>
            </a:pPr>
            <a:r>
              <a:rPr lang="en-US" altLang="en-US" sz="1100">
                <a:solidFill>
                  <a:prstClr val="black"/>
                </a:solidFill>
                <a:latin typeface="Times New Roman" pitchFamily="18" charset="0"/>
              </a:rPr>
              <a:t>Logic Modeling : Structured English</a:t>
            </a:r>
          </a:p>
        </p:txBody>
      </p:sp>
      <p:sp>
        <p:nvSpPr>
          <p:cNvPr id="87047" name="Slide Number Placeholder 6"/>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Arial" charset="0"/>
              </a:defRPr>
            </a:lvl1pPr>
            <a:lvl2pPr marL="742950" indent="-285750" defTabSz="912813">
              <a:spcBef>
                <a:spcPct val="30000"/>
              </a:spcBef>
              <a:defRPr sz="1200">
                <a:solidFill>
                  <a:schemeClr val="tx1"/>
                </a:solidFill>
                <a:latin typeface="Arial" charset="0"/>
              </a:defRPr>
            </a:lvl2pPr>
            <a:lvl3pPr marL="1143000" indent="-228600" defTabSz="912813">
              <a:spcBef>
                <a:spcPct val="30000"/>
              </a:spcBef>
              <a:defRPr sz="1200">
                <a:solidFill>
                  <a:schemeClr val="tx1"/>
                </a:solidFill>
                <a:latin typeface="Arial" charset="0"/>
              </a:defRPr>
            </a:lvl3pPr>
            <a:lvl4pPr marL="1600200" indent="-228600" defTabSz="912813">
              <a:spcBef>
                <a:spcPct val="30000"/>
              </a:spcBef>
              <a:defRPr sz="1200">
                <a:solidFill>
                  <a:schemeClr val="tx1"/>
                </a:solidFill>
                <a:latin typeface="Arial" charset="0"/>
              </a:defRPr>
            </a:lvl4pPr>
            <a:lvl5pPr marL="2057400" indent="-228600" defTabSz="912813">
              <a:spcBef>
                <a:spcPct val="30000"/>
              </a:spcBef>
              <a:defRPr sz="1200">
                <a:solidFill>
                  <a:schemeClr val="tx1"/>
                </a:solidFill>
                <a:latin typeface="Arial" charset="0"/>
              </a:defRPr>
            </a:lvl5pPr>
            <a:lvl6pPr marL="2514600" indent="-228600" defTabSz="912813" eaLnBrk="0" fontAlgn="base" hangingPunct="0">
              <a:spcBef>
                <a:spcPct val="30000"/>
              </a:spcBef>
              <a:spcAft>
                <a:spcPct val="0"/>
              </a:spcAft>
              <a:defRPr sz="1200">
                <a:solidFill>
                  <a:schemeClr val="tx1"/>
                </a:solidFill>
                <a:latin typeface="Arial" charset="0"/>
              </a:defRPr>
            </a:lvl6pPr>
            <a:lvl7pPr marL="2971800" indent="-228600" defTabSz="912813" eaLnBrk="0" fontAlgn="base" hangingPunct="0">
              <a:spcBef>
                <a:spcPct val="30000"/>
              </a:spcBef>
              <a:spcAft>
                <a:spcPct val="0"/>
              </a:spcAft>
              <a:defRPr sz="1200">
                <a:solidFill>
                  <a:schemeClr val="tx1"/>
                </a:solidFill>
                <a:latin typeface="Arial" charset="0"/>
              </a:defRPr>
            </a:lvl7pPr>
            <a:lvl8pPr marL="3429000" indent="-228600" defTabSz="912813" eaLnBrk="0" fontAlgn="base" hangingPunct="0">
              <a:spcBef>
                <a:spcPct val="30000"/>
              </a:spcBef>
              <a:spcAft>
                <a:spcPct val="0"/>
              </a:spcAft>
              <a:defRPr sz="1200">
                <a:solidFill>
                  <a:schemeClr val="tx1"/>
                </a:solidFill>
                <a:latin typeface="Arial" charset="0"/>
              </a:defRPr>
            </a:lvl8pPr>
            <a:lvl9pPr marL="3886200" indent="-228600" defTabSz="912813" eaLnBrk="0" fontAlgn="base" hangingPunct="0">
              <a:spcBef>
                <a:spcPct val="30000"/>
              </a:spcBef>
              <a:spcAft>
                <a:spcPct val="0"/>
              </a:spcAft>
              <a:defRPr sz="1200">
                <a:solidFill>
                  <a:schemeClr val="tx1"/>
                </a:solidFill>
                <a:latin typeface="Arial" charset="0"/>
              </a:defRPr>
            </a:lvl9pPr>
          </a:lstStyle>
          <a:p>
            <a:pPr>
              <a:spcBef>
                <a:spcPct val="0"/>
              </a:spcBef>
            </a:pPr>
            <a:fld id="{8B16973C-4CC6-4C40-A522-FDF4E3B83DC4}" type="slidenum">
              <a:rPr lang="en-US" altLang="en-US" sz="1100">
                <a:solidFill>
                  <a:prstClr val="black"/>
                </a:solidFill>
                <a:latin typeface="Times New Roman" pitchFamily="18" charset="0"/>
              </a:rPr>
              <a:pPr>
                <a:spcBef>
                  <a:spcPct val="0"/>
                </a:spcBef>
              </a:pPr>
              <a:t>45</a:t>
            </a:fld>
            <a:endParaRPr lang="en-US" altLang="en-US" sz="1100">
              <a:solidFill>
                <a:prstClr val="black"/>
              </a:solidFill>
              <a:latin typeface="Times New Roman"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a:ln/>
        </p:spPr>
      </p:sp>
      <p:sp>
        <p:nvSpPr>
          <p:cNvPr id="870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a:p>
        </p:txBody>
      </p:sp>
      <p:sp>
        <p:nvSpPr>
          <p:cNvPr id="87044" name="Header Placeholder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Arial" charset="0"/>
              </a:defRPr>
            </a:lvl1pPr>
            <a:lvl2pPr marL="742950" indent="-285750" defTabSz="912813">
              <a:spcBef>
                <a:spcPct val="30000"/>
              </a:spcBef>
              <a:defRPr sz="1200">
                <a:solidFill>
                  <a:schemeClr val="tx1"/>
                </a:solidFill>
                <a:latin typeface="Arial" charset="0"/>
              </a:defRPr>
            </a:lvl2pPr>
            <a:lvl3pPr marL="1143000" indent="-228600" defTabSz="912813">
              <a:spcBef>
                <a:spcPct val="30000"/>
              </a:spcBef>
              <a:defRPr sz="1200">
                <a:solidFill>
                  <a:schemeClr val="tx1"/>
                </a:solidFill>
                <a:latin typeface="Arial" charset="0"/>
              </a:defRPr>
            </a:lvl3pPr>
            <a:lvl4pPr marL="1600200" indent="-228600" defTabSz="912813">
              <a:spcBef>
                <a:spcPct val="30000"/>
              </a:spcBef>
              <a:defRPr sz="1200">
                <a:solidFill>
                  <a:schemeClr val="tx1"/>
                </a:solidFill>
                <a:latin typeface="Arial" charset="0"/>
              </a:defRPr>
            </a:lvl4pPr>
            <a:lvl5pPr marL="2057400" indent="-228600" defTabSz="912813">
              <a:spcBef>
                <a:spcPct val="30000"/>
              </a:spcBef>
              <a:defRPr sz="1200">
                <a:solidFill>
                  <a:schemeClr val="tx1"/>
                </a:solidFill>
                <a:latin typeface="Arial" charset="0"/>
              </a:defRPr>
            </a:lvl5pPr>
            <a:lvl6pPr marL="2514600" indent="-228600" defTabSz="912813" eaLnBrk="0" fontAlgn="base" hangingPunct="0">
              <a:spcBef>
                <a:spcPct val="30000"/>
              </a:spcBef>
              <a:spcAft>
                <a:spcPct val="0"/>
              </a:spcAft>
              <a:defRPr sz="1200">
                <a:solidFill>
                  <a:schemeClr val="tx1"/>
                </a:solidFill>
                <a:latin typeface="Arial" charset="0"/>
              </a:defRPr>
            </a:lvl6pPr>
            <a:lvl7pPr marL="2971800" indent="-228600" defTabSz="912813" eaLnBrk="0" fontAlgn="base" hangingPunct="0">
              <a:spcBef>
                <a:spcPct val="30000"/>
              </a:spcBef>
              <a:spcAft>
                <a:spcPct val="0"/>
              </a:spcAft>
              <a:defRPr sz="1200">
                <a:solidFill>
                  <a:schemeClr val="tx1"/>
                </a:solidFill>
                <a:latin typeface="Arial" charset="0"/>
              </a:defRPr>
            </a:lvl7pPr>
            <a:lvl8pPr marL="3429000" indent="-228600" defTabSz="912813" eaLnBrk="0" fontAlgn="base" hangingPunct="0">
              <a:spcBef>
                <a:spcPct val="30000"/>
              </a:spcBef>
              <a:spcAft>
                <a:spcPct val="0"/>
              </a:spcAft>
              <a:defRPr sz="1200">
                <a:solidFill>
                  <a:schemeClr val="tx1"/>
                </a:solidFill>
                <a:latin typeface="Arial" charset="0"/>
              </a:defRPr>
            </a:lvl8pPr>
            <a:lvl9pPr marL="3886200" indent="-228600" defTabSz="912813" eaLnBrk="0" fontAlgn="base" hangingPunct="0">
              <a:spcBef>
                <a:spcPct val="30000"/>
              </a:spcBef>
              <a:spcAft>
                <a:spcPct val="0"/>
              </a:spcAft>
              <a:defRPr sz="1200">
                <a:solidFill>
                  <a:schemeClr val="tx1"/>
                </a:solidFill>
                <a:latin typeface="Arial" charset="0"/>
              </a:defRPr>
            </a:lvl9pPr>
          </a:lstStyle>
          <a:p>
            <a:pPr>
              <a:spcBef>
                <a:spcPct val="0"/>
              </a:spcBef>
            </a:pPr>
            <a:r>
              <a:rPr lang="en-US" altLang="en-US" sz="1100">
                <a:solidFill>
                  <a:prstClr val="black"/>
                </a:solidFill>
                <a:latin typeface="Times New Roman" pitchFamily="18" charset="0"/>
              </a:rPr>
              <a:t>Information Systems - Lecture 7</a:t>
            </a:r>
          </a:p>
        </p:txBody>
      </p:sp>
      <p:sp>
        <p:nvSpPr>
          <p:cNvPr id="87045" name="Date Placeholder 4"/>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Arial" charset="0"/>
              </a:defRPr>
            </a:lvl1pPr>
            <a:lvl2pPr marL="742950" indent="-285750" defTabSz="912813">
              <a:spcBef>
                <a:spcPct val="30000"/>
              </a:spcBef>
              <a:defRPr sz="1200">
                <a:solidFill>
                  <a:schemeClr val="tx1"/>
                </a:solidFill>
                <a:latin typeface="Arial" charset="0"/>
              </a:defRPr>
            </a:lvl2pPr>
            <a:lvl3pPr marL="1143000" indent="-228600" defTabSz="912813">
              <a:spcBef>
                <a:spcPct val="30000"/>
              </a:spcBef>
              <a:defRPr sz="1200">
                <a:solidFill>
                  <a:schemeClr val="tx1"/>
                </a:solidFill>
                <a:latin typeface="Arial" charset="0"/>
              </a:defRPr>
            </a:lvl3pPr>
            <a:lvl4pPr marL="1600200" indent="-228600" defTabSz="912813">
              <a:spcBef>
                <a:spcPct val="30000"/>
              </a:spcBef>
              <a:defRPr sz="1200">
                <a:solidFill>
                  <a:schemeClr val="tx1"/>
                </a:solidFill>
                <a:latin typeface="Arial" charset="0"/>
              </a:defRPr>
            </a:lvl4pPr>
            <a:lvl5pPr marL="2057400" indent="-228600" defTabSz="912813">
              <a:spcBef>
                <a:spcPct val="30000"/>
              </a:spcBef>
              <a:defRPr sz="1200">
                <a:solidFill>
                  <a:schemeClr val="tx1"/>
                </a:solidFill>
                <a:latin typeface="Arial" charset="0"/>
              </a:defRPr>
            </a:lvl5pPr>
            <a:lvl6pPr marL="2514600" indent="-228600" defTabSz="912813" eaLnBrk="0" fontAlgn="base" hangingPunct="0">
              <a:spcBef>
                <a:spcPct val="30000"/>
              </a:spcBef>
              <a:spcAft>
                <a:spcPct val="0"/>
              </a:spcAft>
              <a:defRPr sz="1200">
                <a:solidFill>
                  <a:schemeClr val="tx1"/>
                </a:solidFill>
                <a:latin typeface="Arial" charset="0"/>
              </a:defRPr>
            </a:lvl6pPr>
            <a:lvl7pPr marL="2971800" indent="-228600" defTabSz="912813" eaLnBrk="0" fontAlgn="base" hangingPunct="0">
              <a:spcBef>
                <a:spcPct val="30000"/>
              </a:spcBef>
              <a:spcAft>
                <a:spcPct val="0"/>
              </a:spcAft>
              <a:defRPr sz="1200">
                <a:solidFill>
                  <a:schemeClr val="tx1"/>
                </a:solidFill>
                <a:latin typeface="Arial" charset="0"/>
              </a:defRPr>
            </a:lvl7pPr>
            <a:lvl8pPr marL="3429000" indent="-228600" defTabSz="912813" eaLnBrk="0" fontAlgn="base" hangingPunct="0">
              <a:spcBef>
                <a:spcPct val="30000"/>
              </a:spcBef>
              <a:spcAft>
                <a:spcPct val="0"/>
              </a:spcAft>
              <a:defRPr sz="1200">
                <a:solidFill>
                  <a:schemeClr val="tx1"/>
                </a:solidFill>
                <a:latin typeface="Arial" charset="0"/>
              </a:defRPr>
            </a:lvl8pPr>
            <a:lvl9pPr marL="3886200" indent="-228600" defTabSz="912813" eaLnBrk="0" fontAlgn="base" hangingPunct="0">
              <a:spcBef>
                <a:spcPct val="30000"/>
              </a:spcBef>
              <a:spcAft>
                <a:spcPct val="0"/>
              </a:spcAft>
              <a:defRPr sz="1200">
                <a:solidFill>
                  <a:schemeClr val="tx1"/>
                </a:solidFill>
                <a:latin typeface="Arial" charset="0"/>
              </a:defRPr>
            </a:lvl9pPr>
          </a:lstStyle>
          <a:p>
            <a:pPr>
              <a:spcBef>
                <a:spcPct val="0"/>
              </a:spcBef>
            </a:pPr>
            <a:fld id="{2F9A36C5-F9E9-496A-98CE-38600289916D}" type="datetime1">
              <a:rPr lang="en-GB" altLang="en-US" sz="1100">
                <a:solidFill>
                  <a:prstClr val="black"/>
                </a:solidFill>
                <a:latin typeface="Times New Roman" pitchFamily="18" charset="0"/>
              </a:rPr>
              <a:pPr>
                <a:spcBef>
                  <a:spcPct val="0"/>
                </a:spcBef>
              </a:pPr>
              <a:t>30/10/2025</a:t>
            </a:fld>
            <a:endParaRPr lang="en-US" altLang="en-US" sz="1100">
              <a:solidFill>
                <a:prstClr val="black"/>
              </a:solidFill>
              <a:latin typeface="Times New Roman" pitchFamily="18" charset="0"/>
            </a:endParaRPr>
          </a:p>
        </p:txBody>
      </p:sp>
      <p:sp>
        <p:nvSpPr>
          <p:cNvPr id="87046" name="Footer Placeholder 5"/>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Arial" charset="0"/>
              </a:defRPr>
            </a:lvl1pPr>
            <a:lvl2pPr marL="742950" indent="-285750" defTabSz="912813">
              <a:spcBef>
                <a:spcPct val="30000"/>
              </a:spcBef>
              <a:defRPr sz="1200">
                <a:solidFill>
                  <a:schemeClr val="tx1"/>
                </a:solidFill>
                <a:latin typeface="Arial" charset="0"/>
              </a:defRPr>
            </a:lvl2pPr>
            <a:lvl3pPr marL="1143000" indent="-228600" defTabSz="912813">
              <a:spcBef>
                <a:spcPct val="30000"/>
              </a:spcBef>
              <a:defRPr sz="1200">
                <a:solidFill>
                  <a:schemeClr val="tx1"/>
                </a:solidFill>
                <a:latin typeface="Arial" charset="0"/>
              </a:defRPr>
            </a:lvl3pPr>
            <a:lvl4pPr marL="1600200" indent="-228600" defTabSz="912813">
              <a:spcBef>
                <a:spcPct val="30000"/>
              </a:spcBef>
              <a:defRPr sz="1200">
                <a:solidFill>
                  <a:schemeClr val="tx1"/>
                </a:solidFill>
                <a:latin typeface="Arial" charset="0"/>
              </a:defRPr>
            </a:lvl4pPr>
            <a:lvl5pPr marL="2057400" indent="-228600" defTabSz="912813">
              <a:spcBef>
                <a:spcPct val="30000"/>
              </a:spcBef>
              <a:defRPr sz="1200">
                <a:solidFill>
                  <a:schemeClr val="tx1"/>
                </a:solidFill>
                <a:latin typeface="Arial" charset="0"/>
              </a:defRPr>
            </a:lvl5pPr>
            <a:lvl6pPr marL="2514600" indent="-228600" defTabSz="912813" eaLnBrk="0" fontAlgn="base" hangingPunct="0">
              <a:spcBef>
                <a:spcPct val="30000"/>
              </a:spcBef>
              <a:spcAft>
                <a:spcPct val="0"/>
              </a:spcAft>
              <a:defRPr sz="1200">
                <a:solidFill>
                  <a:schemeClr val="tx1"/>
                </a:solidFill>
                <a:latin typeface="Arial" charset="0"/>
              </a:defRPr>
            </a:lvl6pPr>
            <a:lvl7pPr marL="2971800" indent="-228600" defTabSz="912813" eaLnBrk="0" fontAlgn="base" hangingPunct="0">
              <a:spcBef>
                <a:spcPct val="30000"/>
              </a:spcBef>
              <a:spcAft>
                <a:spcPct val="0"/>
              </a:spcAft>
              <a:defRPr sz="1200">
                <a:solidFill>
                  <a:schemeClr val="tx1"/>
                </a:solidFill>
                <a:latin typeface="Arial" charset="0"/>
              </a:defRPr>
            </a:lvl7pPr>
            <a:lvl8pPr marL="3429000" indent="-228600" defTabSz="912813" eaLnBrk="0" fontAlgn="base" hangingPunct="0">
              <a:spcBef>
                <a:spcPct val="30000"/>
              </a:spcBef>
              <a:spcAft>
                <a:spcPct val="0"/>
              </a:spcAft>
              <a:defRPr sz="1200">
                <a:solidFill>
                  <a:schemeClr val="tx1"/>
                </a:solidFill>
                <a:latin typeface="Arial" charset="0"/>
              </a:defRPr>
            </a:lvl8pPr>
            <a:lvl9pPr marL="3886200" indent="-228600" defTabSz="912813" eaLnBrk="0" fontAlgn="base" hangingPunct="0">
              <a:spcBef>
                <a:spcPct val="30000"/>
              </a:spcBef>
              <a:spcAft>
                <a:spcPct val="0"/>
              </a:spcAft>
              <a:defRPr sz="1200">
                <a:solidFill>
                  <a:schemeClr val="tx1"/>
                </a:solidFill>
                <a:latin typeface="Arial" charset="0"/>
              </a:defRPr>
            </a:lvl9pPr>
          </a:lstStyle>
          <a:p>
            <a:pPr>
              <a:spcBef>
                <a:spcPct val="0"/>
              </a:spcBef>
            </a:pPr>
            <a:r>
              <a:rPr lang="en-US" altLang="en-US" sz="1100">
                <a:solidFill>
                  <a:prstClr val="black"/>
                </a:solidFill>
                <a:latin typeface="Times New Roman" pitchFamily="18" charset="0"/>
              </a:rPr>
              <a:t>Logic Modeling : Structured English</a:t>
            </a:r>
          </a:p>
        </p:txBody>
      </p:sp>
      <p:sp>
        <p:nvSpPr>
          <p:cNvPr id="87047" name="Slide Number Placeholder 6"/>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Arial" charset="0"/>
              </a:defRPr>
            </a:lvl1pPr>
            <a:lvl2pPr marL="742950" indent="-285750" defTabSz="912813">
              <a:spcBef>
                <a:spcPct val="30000"/>
              </a:spcBef>
              <a:defRPr sz="1200">
                <a:solidFill>
                  <a:schemeClr val="tx1"/>
                </a:solidFill>
                <a:latin typeface="Arial" charset="0"/>
              </a:defRPr>
            </a:lvl2pPr>
            <a:lvl3pPr marL="1143000" indent="-228600" defTabSz="912813">
              <a:spcBef>
                <a:spcPct val="30000"/>
              </a:spcBef>
              <a:defRPr sz="1200">
                <a:solidFill>
                  <a:schemeClr val="tx1"/>
                </a:solidFill>
                <a:latin typeface="Arial" charset="0"/>
              </a:defRPr>
            </a:lvl3pPr>
            <a:lvl4pPr marL="1600200" indent="-228600" defTabSz="912813">
              <a:spcBef>
                <a:spcPct val="30000"/>
              </a:spcBef>
              <a:defRPr sz="1200">
                <a:solidFill>
                  <a:schemeClr val="tx1"/>
                </a:solidFill>
                <a:latin typeface="Arial" charset="0"/>
              </a:defRPr>
            </a:lvl4pPr>
            <a:lvl5pPr marL="2057400" indent="-228600" defTabSz="912813">
              <a:spcBef>
                <a:spcPct val="30000"/>
              </a:spcBef>
              <a:defRPr sz="1200">
                <a:solidFill>
                  <a:schemeClr val="tx1"/>
                </a:solidFill>
                <a:latin typeface="Arial" charset="0"/>
              </a:defRPr>
            </a:lvl5pPr>
            <a:lvl6pPr marL="2514600" indent="-228600" defTabSz="912813" eaLnBrk="0" fontAlgn="base" hangingPunct="0">
              <a:spcBef>
                <a:spcPct val="30000"/>
              </a:spcBef>
              <a:spcAft>
                <a:spcPct val="0"/>
              </a:spcAft>
              <a:defRPr sz="1200">
                <a:solidFill>
                  <a:schemeClr val="tx1"/>
                </a:solidFill>
                <a:latin typeface="Arial" charset="0"/>
              </a:defRPr>
            </a:lvl6pPr>
            <a:lvl7pPr marL="2971800" indent="-228600" defTabSz="912813" eaLnBrk="0" fontAlgn="base" hangingPunct="0">
              <a:spcBef>
                <a:spcPct val="30000"/>
              </a:spcBef>
              <a:spcAft>
                <a:spcPct val="0"/>
              </a:spcAft>
              <a:defRPr sz="1200">
                <a:solidFill>
                  <a:schemeClr val="tx1"/>
                </a:solidFill>
                <a:latin typeface="Arial" charset="0"/>
              </a:defRPr>
            </a:lvl7pPr>
            <a:lvl8pPr marL="3429000" indent="-228600" defTabSz="912813" eaLnBrk="0" fontAlgn="base" hangingPunct="0">
              <a:spcBef>
                <a:spcPct val="30000"/>
              </a:spcBef>
              <a:spcAft>
                <a:spcPct val="0"/>
              </a:spcAft>
              <a:defRPr sz="1200">
                <a:solidFill>
                  <a:schemeClr val="tx1"/>
                </a:solidFill>
                <a:latin typeface="Arial" charset="0"/>
              </a:defRPr>
            </a:lvl8pPr>
            <a:lvl9pPr marL="3886200" indent="-228600" defTabSz="912813" eaLnBrk="0" fontAlgn="base" hangingPunct="0">
              <a:spcBef>
                <a:spcPct val="30000"/>
              </a:spcBef>
              <a:spcAft>
                <a:spcPct val="0"/>
              </a:spcAft>
              <a:defRPr sz="1200">
                <a:solidFill>
                  <a:schemeClr val="tx1"/>
                </a:solidFill>
                <a:latin typeface="Arial" charset="0"/>
              </a:defRPr>
            </a:lvl9pPr>
          </a:lstStyle>
          <a:p>
            <a:pPr>
              <a:spcBef>
                <a:spcPct val="0"/>
              </a:spcBef>
            </a:pPr>
            <a:fld id="{8B16973C-4CC6-4C40-A522-FDF4E3B83DC4}" type="slidenum">
              <a:rPr lang="en-US" altLang="en-US" sz="1100">
                <a:solidFill>
                  <a:prstClr val="black"/>
                </a:solidFill>
                <a:latin typeface="Times New Roman" pitchFamily="18" charset="0"/>
              </a:rPr>
              <a:pPr>
                <a:spcBef>
                  <a:spcPct val="0"/>
                </a:spcBef>
              </a:pPr>
              <a:t>46</a:t>
            </a:fld>
            <a:endParaRPr lang="en-US" altLang="en-US" sz="1100">
              <a:solidFill>
                <a:prstClr val="black"/>
              </a:solidFill>
              <a:latin typeface="Times New Roman"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Arial" charset="0"/>
              </a:defRPr>
            </a:lvl1pPr>
            <a:lvl2pPr marL="742950" indent="-285750" defTabSz="912813">
              <a:spcBef>
                <a:spcPct val="30000"/>
              </a:spcBef>
              <a:defRPr sz="1200">
                <a:solidFill>
                  <a:schemeClr val="tx1"/>
                </a:solidFill>
                <a:latin typeface="Arial" charset="0"/>
              </a:defRPr>
            </a:lvl2pPr>
            <a:lvl3pPr marL="1143000" indent="-228600" defTabSz="912813">
              <a:spcBef>
                <a:spcPct val="30000"/>
              </a:spcBef>
              <a:defRPr sz="1200">
                <a:solidFill>
                  <a:schemeClr val="tx1"/>
                </a:solidFill>
                <a:latin typeface="Arial" charset="0"/>
              </a:defRPr>
            </a:lvl3pPr>
            <a:lvl4pPr marL="1600200" indent="-228600" defTabSz="912813">
              <a:spcBef>
                <a:spcPct val="30000"/>
              </a:spcBef>
              <a:defRPr sz="1200">
                <a:solidFill>
                  <a:schemeClr val="tx1"/>
                </a:solidFill>
                <a:latin typeface="Arial" charset="0"/>
              </a:defRPr>
            </a:lvl4pPr>
            <a:lvl5pPr marL="2057400" indent="-228600" defTabSz="912813">
              <a:spcBef>
                <a:spcPct val="30000"/>
              </a:spcBef>
              <a:defRPr sz="1200">
                <a:solidFill>
                  <a:schemeClr val="tx1"/>
                </a:solidFill>
                <a:latin typeface="Arial" charset="0"/>
              </a:defRPr>
            </a:lvl5pPr>
            <a:lvl6pPr marL="2514600" indent="-228600" defTabSz="912813" eaLnBrk="0" fontAlgn="base" hangingPunct="0">
              <a:spcBef>
                <a:spcPct val="30000"/>
              </a:spcBef>
              <a:spcAft>
                <a:spcPct val="0"/>
              </a:spcAft>
              <a:defRPr sz="1200">
                <a:solidFill>
                  <a:schemeClr val="tx1"/>
                </a:solidFill>
                <a:latin typeface="Arial" charset="0"/>
              </a:defRPr>
            </a:lvl6pPr>
            <a:lvl7pPr marL="2971800" indent="-228600" defTabSz="912813" eaLnBrk="0" fontAlgn="base" hangingPunct="0">
              <a:spcBef>
                <a:spcPct val="30000"/>
              </a:spcBef>
              <a:spcAft>
                <a:spcPct val="0"/>
              </a:spcAft>
              <a:defRPr sz="1200">
                <a:solidFill>
                  <a:schemeClr val="tx1"/>
                </a:solidFill>
                <a:latin typeface="Arial" charset="0"/>
              </a:defRPr>
            </a:lvl7pPr>
            <a:lvl8pPr marL="3429000" indent="-228600" defTabSz="912813" eaLnBrk="0" fontAlgn="base" hangingPunct="0">
              <a:spcBef>
                <a:spcPct val="30000"/>
              </a:spcBef>
              <a:spcAft>
                <a:spcPct val="0"/>
              </a:spcAft>
              <a:defRPr sz="1200">
                <a:solidFill>
                  <a:schemeClr val="tx1"/>
                </a:solidFill>
                <a:latin typeface="Arial" charset="0"/>
              </a:defRPr>
            </a:lvl8pPr>
            <a:lvl9pPr marL="3886200" indent="-228600" defTabSz="912813" eaLnBrk="0" fontAlgn="base" hangingPunct="0">
              <a:spcBef>
                <a:spcPct val="30000"/>
              </a:spcBef>
              <a:spcAft>
                <a:spcPct val="0"/>
              </a:spcAft>
              <a:defRPr sz="1200">
                <a:solidFill>
                  <a:schemeClr val="tx1"/>
                </a:solidFill>
                <a:latin typeface="Arial" charset="0"/>
              </a:defRPr>
            </a:lvl9pPr>
          </a:lstStyle>
          <a:p>
            <a:pPr>
              <a:spcBef>
                <a:spcPct val="0"/>
              </a:spcBef>
            </a:pPr>
            <a:r>
              <a:rPr lang="en-US" altLang="en-US" sz="1100">
                <a:solidFill>
                  <a:prstClr val="black"/>
                </a:solidFill>
                <a:latin typeface="Times New Roman" pitchFamily="18" charset="0"/>
              </a:rPr>
              <a:t>Information Systems - Lecture 7</a:t>
            </a:r>
          </a:p>
        </p:txBody>
      </p:sp>
      <p:sp>
        <p:nvSpPr>
          <p:cNvPr id="8806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Arial" charset="0"/>
              </a:defRPr>
            </a:lvl1pPr>
            <a:lvl2pPr marL="742950" indent="-285750" defTabSz="912813">
              <a:spcBef>
                <a:spcPct val="30000"/>
              </a:spcBef>
              <a:defRPr sz="1200">
                <a:solidFill>
                  <a:schemeClr val="tx1"/>
                </a:solidFill>
                <a:latin typeface="Arial" charset="0"/>
              </a:defRPr>
            </a:lvl2pPr>
            <a:lvl3pPr marL="1143000" indent="-228600" defTabSz="912813">
              <a:spcBef>
                <a:spcPct val="30000"/>
              </a:spcBef>
              <a:defRPr sz="1200">
                <a:solidFill>
                  <a:schemeClr val="tx1"/>
                </a:solidFill>
                <a:latin typeface="Arial" charset="0"/>
              </a:defRPr>
            </a:lvl3pPr>
            <a:lvl4pPr marL="1600200" indent="-228600" defTabSz="912813">
              <a:spcBef>
                <a:spcPct val="30000"/>
              </a:spcBef>
              <a:defRPr sz="1200">
                <a:solidFill>
                  <a:schemeClr val="tx1"/>
                </a:solidFill>
                <a:latin typeface="Arial" charset="0"/>
              </a:defRPr>
            </a:lvl4pPr>
            <a:lvl5pPr marL="2057400" indent="-228600" defTabSz="912813">
              <a:spcBef>
                <a:spcPct val="30000"/>
              </a:spcBef>
              <a:defRPr sz="1200">
                <a:solidFill>
                  <a:schemeClr val="tx1"/>
                </a:solidFill>
                <a:latin typeface="Arial" charset="0"/>
              </a:defRPr>
            </a:lvl5pPr>
            <a:lvl6pPr marL="2514600" indent="-228600" defTabSz="912813" eaLnBrk="0" fontAlgn="base" hangingPunct="0">
              <a:spcBef>
                <a:spcPct val="30000"/>
              </a:spcBef>
              <a:spcAft>
                <a:spcPct val="0"/>
              </a:spcAft>
              <a:defRPr sz="1200">
                <a:solidFill>
                  <a:schemeClr val="tx1"/>
                </a:solidFill>
                <a:latin typeface="Arial" charset="0"/>
              </a:defRPr>
            </a:lvl6pPr>
            <a:lvl7pPr marL="2971800" indent="-228600" defTabSz="912813" eaLnBrk="0" fontAlgn="base" hangingPunct="0">
              <a:spcBef>
                <a:spcPct val="30000"/>
              </a:spcBef>
              <a:spcAft>
                <a:spcPct val="0"/>
              </a:spcAft>
              <a:defRPr sz="1200">
                <a:solidFill>
                  <a:schemeClr val="tx1"/>
                </a:solidFill>
                <a:latin typeface="Arial" charset="0"/>
              </a:defRPr>
            </a:lvl7pPr>
            <a:lvl8pPr marL="3429000" indent="-228600" defTabSz="912813" eaLnBrk="0" fontAlgn="base" hangingPunct="0">
              <a:spcBef>
                <a:spcPct val="30000"/>
              </a:spcBef>
              <a:spcAft>
                <a:spcPct val="0"/>
              </a:spcAft>
              <a:defRPr sz="1200">
                <a:solidFill>
                  <a:schemeClr val="tx1"/>
                </a:solidFill>
                <a:latin typeface="Arial" charset="0"/>
              </a:defRPr>
            </a:lvl8pPr>
            <a:lvl9pPr marL="3886200" indent="-228600" defTabSz="912813" eaLnBrk="0" fontAlgn="base" hangingPunct="0">
              <a:spcBef>
                <a:spcPct val="30000"/>
              </a:spcBef>
              <a:spcAft>
                <a:spcPct val="0"/>
              </a:spcAft>
              <a:defRPr sz="1200">
                <a:solidFill>
                  <a:schemeClr val="tx1"/>
                </a:solidFill>
                <a:latin typeface="Arial" charset="0"/>
              </a:defRPr>
            </a:lvl9pPr>
          </a:lstStyle>
          <a:p>
            <a:pPr>
              <a:spcBef>
                <a:spcPct val="0"/>
              </a:spcBef>
            </a:pPr>
            <a:fld id="{87BCF16C-BC18-4647-8808-0B95B92E00E9}" type="datetime1">
              <a:rPr lang="en-GB" altLang="en-US" sz="1100">
                <a:solidFill>
                  <a:prstClr val="black"/>
                </a:solidFill>
                <a:latin typeface="Times New Roman" pitchFamily="18" charset="0"/>
              </a:rPr>
              <a:pPr>
                <a:spcBef>
                  <a:spcPct val="0"/>
                </a:spcBef>
              </a:pPr>
              <a:t>30/10/2025</a:t>
            </a:fld>
            <a:endParaRPr lang="en-US" altLang="en-US" sz="1100">
              <a:solidFill>
                <a:prstClr val="black"/>
              </a:solidFill>
              <a:latin typeface="Times New Roman" pitchFamily="18" charset="0"/>
            </a:endParaRPr>
          </a:p>
        </p:txBody>
      </p:sp>
      <p:sp>
        <p:nvSpPr>
          <p:cNvPr id="8806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Arial" charset="0"/>
              </a:defRPr>
            </a:lvl1pPr>
            <a:lvl2pPr marL="742950" indent="-285750" defTabSz="912813">
              <a:spcBef>
                <a:spcPct val="30000"/>
              </a:spcBef>
              <a:defRPr sz="1200">
                <a:solidFill>
                  <a:schemeClr val="tx1"/>
                </a:solidFill>
                <a:latin typeface="Arial" charset="0"/>
              </a:defRPr>
            </a:lvl2pPr>
            <a:lvl3pPr marL="1143000" indent="-228600" defTabSz="912813">
              <a:spcBef>
                <a:spcPct val="30000"/>
              </a:spcBef>
              <a:defRPr sz="1200">
                <a:solidFill>
                  <a:schemeClr val="tx1"/>
                </a:solidFill>
                <a:latin typeface="Arial" charset="0"/>
              </a:defRPr>
            </a:lvl3pPr>
            <a:lvl4pPr marL="1600200" indent="-228600" defTabSz="912813">
              <a:spcBef>
                <a:spcPct val="30000"/>
              </a:spcBef>
              <a:defRPr sz="1200">
                <a:solidFill>
                  <a:schemeClr val="tx1"/>
                </a:solidFill>
                <a:latin typeface="Arial" charset="0"/>
              </a:defRPr>
            </a:lvl4pPr>
            <a:lvl5pPr marL="2057400" indent="-228600" defTabSz="912813">
              <a:spcBef>
                <a:spcPct val="30000"/>
              </a:spcBef>
              <a:defRPr sz="1200">
                <a:solidFill>
                  <a:schemeClr val="tx1"/>
                </a:solidFill>
                <a:latin typeface="Arial" charset="0"/>
              </a:defRPr>
            </a:lvl5pPr>
            <a:lvl6pPr marL="2514600" indent="-228600" defTabSz="912813" eaLnBrk="0" fontAlgn="base" hangingPunct="0">
              <a:spcBef>
                <a:spcPct val="30000"/>
              </a:spcBef>
              <a:spcAft>
                <a:spcPct val="0"/>
              </a:spcAft>
              <a:defRPr sz="1200">
                <a:solidFill>
                  <a:schemeClr val="tx1"/>
                </a:solidFill>
                <a:latin typeface="Arial" charset="0"/>
              </a:defRPr>
            </a:lvl6pPr>
            <a:lvl7pPr marL="2971800" indent="-228600" defTabSz="912813" eaLnBrk="0" fontAlgn="base" hangingPunct="0">
              <a:spcBef>
                <a:spcPct val="30000"/>
              </a:spcBef>
              <a:spcAft>
                <a:spcPct val="0"/>
              </a:spcAft>
              <a:defRPr sz="1200">
                <a:solidFill>
                  <a:schemeClr val="tx1"/>
                </a:solidFill>
                <a:latin typeface="Arial" charset="0"/>
              </a:defRPr>
            </a:lvl7pPr>
            <a:lvl8pPr marL="3429000" indent="-228600" defTabSz="912813" eaLnBrk="0" fontAlgn="base" hangingPunct="0">
              <a:spcBef>
                <a:spcPct val="30000"/>
              </a:spcBef>
              <a:spcAft>
                <a:spcPct val="0"/>
              </a:spcAft>
              <a:defRPr sz="1200">
                <a:solidFill>
                  <a:schemeClr val="tx1"/>
                </a:solidFill>
                <a:latin typeface="Arial" charset="0"/>
              </a:defRPr>
            </a:lvl8pPr>
            <a:lvl9pPr marL="3886200" indent="-228600" defTabSz="912813" eaLnBrk="0" fontAlgn="base" hangingPunct="0">
              <a:spcBef>
                <a:spcPct val="30000"/>
              </a:spcBef>
              <a:spcAft>
                <a:spcPct val="0"/>
              </a:spcAft>
              <a:defRPr sz="1200">
                <a:solidFill>
                  <a:schemeClr val="tx1"/>
                </a:solidFill>
                <a:latin typeface="Arial" charset="0"/>
              </a:defRPr>
            </a:lvl9pPr>
          </a:lstStyle>
          <a:p>
            <a:pPr>
              <a:spcBef>
                <a:spcPct val="0"/>
              </a:spcBef>
            </a:pPr>
            <a:r>
              <a:rPr lang="en-US" altLang="en-US" sz="1100">
                <a:solidFill>
                  <a:prstClr val="black"/>
                </a:solidFill>
                <a:latin typeface="Times New Roman" pitchFamily="18" charset="0"/>
              </a:rPr>
              <a:t>Logic Modeling : Structured English</a:t>
            </a:r>
          </a:p>
        </p:txBody>
      </p:sp>
      <p:sp>
        <p:nvSpPr>
          <p:cNvPr id="880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spcBef>
                <a:spcPct val="30000"/>
              </a:spcBef>
              <a:defRPr sz="1200">
                <a:solidFill>
                  <a:schemeClr val="tx1"/>
                </a:solidFill>
                <a:latin typeface="Arial" charset="0"/>
              </a:defRPr>
            </a:lvl1pPr>
            <a:lvl2pPr marL="742950" indent="-285750" defTabSz="912813">
              <a:spcBef>
                <a:spcPct val="30000"/>
              </a:spcBef>
              <a:defRPr sz="1200">
                <a:solidFill>
                  <a:schemeClr val="tx1"/>
                </a:solidFill>
                <a:latin typeface="Arial" charset="0"/>
              </a:defRPr>
            </a:lvl2pPr>
            <a:lvl3pPr marL="1143000" indent="-228600" defTabSz="912813">
              <a:spcBef>
                <a:spcPct val="30000"/>
              </a:spcBef>
              <a:defRPr sz="1200">
                <a:solidFill>
                  <a:schemeClr val="tx1"/>
                </a:solidFill>
                <a:latin typeface="Arial" charset="0"/>
              </a:defRPr>
            </a:lvl3pPr>
            <a:lvl4pPr marL="1600200" indent="-228600" defTabSz="912813">
              <a:spcBef>
                <a:spcPct val="30000"/>
              </a:spcBef>
              <a:defRPr sz="1200">
                <a:solidFill>
                  <a:schemeClr val="tx1"/>
                </a:solidFill>
                <a:latin typeface="Arial" charset="0"/>
              </a:defRPr>
            </a:lvl4pPr>
            <a:lvl5pPr marL="2057400" indent="-228600" defTabSz="912813">
              <a:spcBef>
                <a:spcPct val="30000"/>
              </a:spcBef>
              <a:defRPr sz="1200">
                <a:solidFill>
                  <a:schemeClr val="tx1"/>
                </a:solidFill>
                <a:latin typeface="Arial" charset="0"/>
              </a:defRPr>
            </a:lvl5pPr>
            <a:lvl6pPr marL="2514600" indent="-228600" defTabSz="912813" eaLnBrk="0" fontAlgn="base" hangingPunct="0">
              <a:spcBef>
                <a:spcPct val="30000"/>
              </a:spcBef>
              <a:spcAft>
                <a:spcPct val="0"/>
              </a:spcAft>
              <a:defRPr sz="1200">
                <a:solidFill>
                  <a:schemeClr val="tx1"/>
                </a:solidFill>
                <a:latin typeface="Arial" charset="0"/>
              </a:defRPr>
            </a:lvl6pPr>
            <a:lvl7pPr marL="2971800" indent="-228600" defTabSz="912813" eaLnBrk="0" fontAlgn="base" hangingPunct="0">
              <a:spcBef>
                <a:spcPct val="30000"/>
              </a:spcBef>
              <a:spcAft>
                <a:spcPct val="0"/>
              </a:spcAft>
              <a:defRPr sz="1200">
                <a:solidFill>
                  <a:schemeClr val="tx1"/>
                </a:solidFill>
                <a:latin typeface="Arial" charset="0"/>
              </a:defRPr>
            </a:lvl7pPr>
            <a:lvl8pPr marL="3429000" indent="-228600" defTabSz="912813" eaLnBrk="0" fontAlgn="base" hangingPunct="0">
              <a:spcBef>
                <a:spcPct val="30000"/>
              </a:spcBef>
              <a:spcAft>
                <a:spcPct val="0"/>
              </a:spcAft>
              <a:defRPr sz="1200">
                <a:solidFill>
                  <a:schemeClr val="tx1"/>
                </a:solidFill>
                <a:latin typeface="Arial" charset="0"/>
              </a:defRPr>
            </a:lvl8pPr>
            <a:lvl9pPr marL="3886200" indent="-228600" defTabSz="912813" eaLnBrk="0" fontAlgn="base" hangingPunct="0">
              <a:spcBef>
                <a:spcPct val="30000"/>
              </a:spcBef>
              <a:spcAft>
                <a:spcPct val="0"/>
              </a:spcAft>
              <a:defRPr sz="1200">
                <a:solidFill>
                  <a:schemeClr val="tx1"/>
                </a:solidFill>
                <a:latin typeface="Arial" charset="0"/>
              </a:defRPr>
            </a:lvl9pPr>
          </a:lstStyle>
          <a:p>
            <a:pPr>
              <a:spcBef>
                <a:spcPct val="0"/>
              </a:spcBef>
            </a:pPr>
            <a:fld id="{88C2D271-49E5-4350-9843-C001D28D0168}" type="slidenum">
              <a:rPr lang="en-US" altLang="en-US" sz="1100">
                <a:solidFill>
                  <a:prstClr val="black"/>
                </a:solidFill>
                <a:latin typeface="Times New Roman" pitchFamily="18" charset="0"/>
              </a:rPr>
              <a:pPr>
                <a:spcBef>
                  <a:spcPct val="0"/>
                </a:spcBef>
              </a:pPr>
              <a:t>47</a:t>
            </a:fld>
            <a:endParaRPr lang="en-US" altLang="en-US" sz="1100">
              <a:solidFill>
                <a:prstClr val="black"/>
              </a:solidFill>
              <a:latin typeface="Times New Roman" pitchFamily="18" charset="0"/>
            </a:endParaRPr>
          </a:p>
        </p:txBody>
      </p:sp>
      <p:sp>
        <p:nvSpPr>
          <p:cNvPr id="88070" name="Rectangle 2"/>
          <p:cNvSpPr>
            <a:spLocks noGrp="1" noRot="1" noChangeAspect="1" noChangeArrowheads="1" noTextEdit="1"/>
          </p:cNvSpPr>
          <p:nvPr>
            <p:ph type="sldImg"/>
          </p:nvPr>
        </p:nvSpPr>
        <p:spPr>
          <a:ln/>
        </p:spPr>
      </p:sp>
      <p:sp>
        <p:nvSpPr>
          <p:cNvPr id="880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D6A2B52F-8B2D-4DCC-9A71-C53975AC36B5}"/>
              </a:ext>
            </a:extLst>
          </p:cNvPr>
          <p:cNvSpPr>
            <a:spLocks noGrp="1" noChangeArrowheads="1"/>
          </p:cNvSpPr>
          <p:nvPr>
            <p:ph type="hdr" sz="quarter"/>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altLang="en-US">
                <a:latin typeface="Times New Roman" charset="0"/>
              </a:rPr>
              <a:t>Information Systems - Lecture 7</a:t>
            </a:r>
          </a:p>
        </p:txBody>
      </p:sp>
      <p:sp>
        <p:nvSpPr>
          <p:cNvPr id="58371" name="Rectangle 3">
            <a:extLst>
              <a:ext uri="{FF2B5EF4-FFF2-40B4-BE49-F238E27FC236}">
                <a16:creationId xmlns:a16="http://schemas.microsoft.com/office/drawing/2014/main" id="{AD9EDB27-4A93-4C23-8AB6-0EFB70F3E5C1}"/>
              </a:ext>
            </a:extLst>
          </p:cNvPr>
          <p:cNvSpPr>
            <a:spLocks noGrp="1" noChangeArrowheads="1"/>
          </p:cNvSpPr>
          <p:nvPr>
            <p:ph type="dt" sz="quarter" idx="1"/>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fld id="{23B87613-B3B0-4BB2-BB56-4D51CE428564}" type="datetime1">
              <a:rPr lang="en-GB" altLang="en-US">
                <a:latin typeface="Times New Roman" charset="0"/>
              </a:rPr>
              <a:pPr>
                <a:defRPr/>
              </a:pPr>
              <a:t>30/10/2025</a:t>
            </a:fld>
            <a:endParaRPr lang="en-US" altLang="en-US">
              <a:latin typeface="Times New Roman" charset="0"/>
            </a:endParaRPr>
          </a:p>
        </p:txBody>
      </p:sp>
      <p:sp>
        <p:nvSpPr>
          <p:cNvPr id="58372" name="Rectangle 6">
            <a:extLst>
              <a:ext uri="{FF2B5EF4-FFF2-40B4-BE49-F238E27FC236}">
                <a16:creationId xmlns:a16="http://schemas.microsoft.com/office/drawing/2014/main" id="{D23A7121-C1FB-4336-B80E-79ABE6AD0219}"/>
              </a:ext>
            </a:extLst>
          </p:cNvPr>
          <p:cNvSpPr>
            <a:spLocks noGrp="1" noChangeArrowheads="1"/>
          </p:cNvSpPr>
          <p:nvPr>
            <p:ph type="ftr" sz="quarter" idx="4"/>
          </p:nvPr>
        </p:nvSpPr>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altLang="en-US">
                <a:latin typeface="Times New Roman" charset="0"/>
              </a:rPr>
              <a:t>Logic Modeling : Structured English</a:t>
            </a:r>
          </a:p>
        </p:txBody>
      </p:sp>
      <p:sp>
        <p:nvSpPr>
          <p:cNvPr id="54277" name="Rectangle 7">
            <a:extLst>
              <a:ext uri="{FF2B5EF4-FFF2-40B4-BE49-F238E27FC236}">
                <a16:creationId xmlns:a16="http://schemas.microsoft.com/office/drawing/2014/main" id="{21EF2877-0DBD-4CA9-9410-04774FCC0AC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0" hangingPunct="0">
              <a:spcBef>
                <a:spcPct val="0"/>
              </a:spcBef>
            </a:pPr>
            <a:fld id="{817E947A-A3AF-4EF9-BDCC-17B5B8B720F3}" type="slidenum">
              <a:rPr lang="en-US" altLang="en-US">
                <a:latin typeface="Times New Roman" panose="02020603050405020304" pitchFamily="18" charset="0"/>
              </a:rPr>
              <a:pPr eaLnBrk="0" hangingPunct="0">
                <a:spcBef>
                  <a:spcPct val="0"/>
                </a:spcBef>
              </a:pPr>
              <a:t>49</a:t>
            </a:fld>
            <a:endParaRPr lang="en-US" altLang="en-US">
              <a:latin typeface="Times New Roman" panose="02020603050405020304" pitchFamily="18" charset="0"/>
            </a:endParaRPr>
          </a:p>
        </p:txBody>
      </p:sp>
      <p:sp>
        <p:nvSpPr>
          <p:cNvPr id="54278" name="Rectangle 2">
            <a:extLst>
              <a:ext uri="{FF2B5EF4-FFF2-40B4-BE49-F238E27FC236}">
                <a16:creationId xmlns:a16="http://schemas.microsoft.com/office/drawing/2014/main" id="{34601DC0-2CAC-47F6-BB89-C0F9BC498C0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9" name="Rectangle 3">
            <a:extLst>
              <a:ext uri="{FF2B5EF4-FFF2-40B4-BE49-F238E27FC236}">
                <a16:creationId xmlns:a16="http://schemas.microsoft.com/office/drawing/2014/main" id="{89EB8C74-7329-4095-8A3F-84B19298D64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38200"/>
            <a:ext cx="7772400" cy="3429000"/>
          </a:xfrm>
        </p:spPr>
        <p:txBody>
          <a:bodyPr/>
          <a:lstStyle>
            <a:lvl1pPr>
              <a:defRPr sz="3200" b="1"/>
            </a:lvl1pPr>
          </a:lstStyle>
          <a:p>
            <a:r>
              <a:rPr lang="en-US"/>
              <a:t>Click to edit Master title style</a:t>
            </a:r>
            <a:endParaRPr lang="en-US" dirty="0"/>
          </a:p>
        </p:txBody>
      </p:sp>
      <p:sp>
        <p:nvSpPr>
          <p:cNvPr id="3" name="Subtitle 2"/>
          <p:cNvSpPr>
            <a:spLocks noGrp="1"/>
          </p:cNvSpPr>
          <p:nvPr>
            <p:ph type="subTitle" idx="1"/>
          </p:nvPr>
        </p:nvSpPr>
        <p:spPr>
          <a:xfrm>
            <a:off x="304800" y="4953000"/>
            <a:ext cx="8534400" cy="685800"/>
          </a:xfrm>
        </p:spPr>
        <p:txBody>
          <a:bodyPr/>
          <a:lstStyle>
            <a:lvl1pPr marL="0" indent="0" algn="ctr">
              <a:buNone/>
              <a:defRPr sz="32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1378E44-BD79-4B5A-81DE-FADA4FDE13D7}"/>
              </a:ext>
            </a:extLst>
          </p:cNvPr>
          <p:cNvSpPr>
            <a:spLocks noGrp="1"/>
          </p:cNvSpPr>
          <p:nvPr>
            <p:ph type="dt" sz="half" idx="10"/>
          </p:nvPr>
        </p:nvSpPr>
        <p:spPr>
          <a:xfrm>
            <a:off x="457200" y="6356350"/>
            <a:ext cx="152400" cy="365125"/>
          </a:xfrm>
        </p:spPr>
        <p:txBody>
          <a:bodyPr/>
          <a:lstStyle>
            <a:lvl1pPr>
              <a:defRPr/>
            </a:lvl1pPr>
          </a:lstStyle>
          <a:p>
            <a:pPr>
              <a:defRPr/>
            </a:pPr>
            <a:r>
              <a:rPr lang="en-US" altLang="en-US"/>
              <a:t> </a:t>
            </a:r>
          </a:p>
        </p:txBody>
      </p:sp>
      <p:sp>
        <p:nvSpPr>
          <p:cNvPr id="5" name="Footer Placeholder 4">
            <a:extLst>
              <a:ext uri="{FF2B5EF4-FFF2-40B4-BE49-F238E27FC236}">
                <a16:creationId xmlns:a16="http://schemas.microsoft.com/office/drawing/2014/main" id="{94364CB3-6B5E-48EE-9F9A-8F5E472746DF}"/>
              </a:ext>
            </a:extLst>
          </p:cNvPr>
          <p:cNvSpPr>
            <a:spLocks noGrp="1"/>
          </p:cNvSpPr>
          <p:nvPr>
            <p:ph type="ftr" sz="quarter" idx="11"/>
          </p:nvPr>
        </p:nvSpPr>
        <p:spPr/>
        <p:txBody>
          <a:bodyPr/>
          <a:lstStyle>
            <a:lvl1pPr>
              <a:defRPr/>
            </a:lvl1pPr>
          </a:lstStyle>
          <a:p>
            <a:pPr>
              <a:defRPr/>
            </a:pPr>
            <a:r>
              <a:rPr lang="en-US"/>
              <a:t>© Copyright 2011 John Wiley &amp; Sons, Inc.</a:t>
            </a:r>
          </a:p>
        </p:txBody>
      </p:sp>
      <p:sp>
        <p:nvSpPr>
          <p:cNvPr id="6" name="Slide Number Placeholder 5">
            <a:extLst>
              <a:ext uri="{FF2B5EF4-FFF2-40B4-BE49-F238E27FC236}">
                <a16:creationId xmlns:a16="http://schemas.microsoft.com/office/drawing/2014/main" id="{34CC3123-F99B-447D-A7E3-CCC3FF40C4CE}"/>
              </a:ext>
            </a:extLst>
          </p:cNvPr>
          <p:cNvSpPr>
            <a:spLocks noGrp="1"/>
          </p:cNvSpPr>
          <p:nvPr>
            <p:ph type="sldNum" sz="quarter" idx="12"/>
          </p:nvPr>
        </p:nvSpPr>
        <p:spPr/>
        <p:txBody>
          <a:bodyPr/>
          <a:lstStyle>
            <a:lvl1pPr>
              <a:defRPr/>
            </a:lvl1pPr>
          </a:lstStyle>
          <a:p>
            <a:r>
              <a:rPr lang="en-US" altLang="en-US"/>
              <a:t>5-</a:t>
            </a:r>
            <a:fld id="{F5E7A6BB-88A4-4731-B0FF-D14D37D2A92D}" type="slidenum">
              <a:rPr lang="en-US" altLang="en-US"/>
              <a:pPr/>
              <a:t>‹#›</a:t>
            </a:fld>
            <a:endParaRPr lang="en-US" altLang="en-US"/>
          </a:p>
        </p:txBody>
      </p:sp>
    </p:spTree>
    <p:extLst>
      <p:ext uri="{BB962C8B-B14F-4D97-AF65-F5344CB8AC3E}">
        <p14:creationId xmlns:p14="http://schemas.microsoft.com/office/powerpoint/2010/main" val="773876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D2FE76C-32D7-4CB9-9D3A-8F879CE46A00}"/>
              </a:ext>
            </a:extLst>
          </p:cNvPr>
          <p:cNvCxnSpPr/>
          <p:nvPr userDrawn="1"/>
        </p:nvCxnSpPr>
        <p:spPr>
          <a:xfrm>
            <a:off x="457200" y="1447800"/>
            <a:ext cx="8229600" cy="0"/>
          </a:xfrm>
          <a:prstGeom prst="line">
            <a:avLst/>
          </a:prstGeom>
          <a:ln w="762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b="1"/>
            </a:lvl1pPr>
          </a:lstStyle>
          <a:p>
            <a:r>
              <a:rPr lang="en-US" dirty="0"/>
              <a:t>Click to edit Master title style</a:t>
            </a:r>
          </a:p>
        </p:txBody>
      </p:sp>
      <p:sp>
        <p:nvSpPr>
          <p:cNvPr id="3" name="Content Placeholder 2"/>
          <p:cNvSpPr>
            <a:spLocks noGrp="1"/>
          </p:cNvSpPr>
          <p:nvPr>
            <p:ph idx="1"/>
          </p:nvPr>
        </p:nvSpPr>
        <p:spPr/>
        <p:txBody>
          <a:bodyPr/>
          <a:lstStyle>
            <a:lvl1pPr>
              <a:spcBef>
                <a:spcPts val="0"/>
              </a:spcBef>
              <a:buClr>
                <a:srgbClr val="0070C0"/>
              </a:buClr>
              <a:buSzPct val="150000"/>
              <a:buFont typeface="Wingdings" pitchFamily="2" charset="2"/>
              <a:buChar char="§"/>
              <a:defRPr sz="40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EE7B43CE-A337-4A29-A575-F6F8E6A73934}"/>
              </a:ext>
            </a:extLst>
          </p:cNvPr>
          <p:cNvSpPr>
            <a:spLocks noGrp="1"/>
          </p:cNvSpPr>
          <p:nvPr>
            <p:ph type="dt" sz="half" idx="10"/>
          </p:nvPr>
        </p:nvSpPr>
        <p:spPr/>
        <p:txBody>
          <a:bodyPr/>
          <a:lstStyle>
            <a:lvl1pPr>
              <a:defRPr/>
            </a:lvl1pPr>
          </a:lstStyle>
          <a:p>
            <a:pPr>
              <a:defRPr/>
            </a:pPr>
            <a:r>
              <a:rPr lang="en-US" altLang="en-US"/>
              <a:t> </a:t>
            </a:r>
          </a:p>
        </p:txBody>
      </p:sp>
      <p:sp>
        <p:nvSpPr>
          <p:cNvPr id="6" name="Footer Placeholder 4">
            <a:extLst>
              <a:ext uri="{FF2B5EF4-FFF2-40B4-BE49-F238E27FC236}">
                <a16:creationId xmlns:a16="http://schemas.microsoft.com/office/drawing/2014/main" id="{AD306ACC-A0E3-403B-800A-BA44E8A70D93}"/>
              </a:ext>
            </a:extLst>
          </p:cNvPr>
          <p:cNvSpPr>
            <a:spLocks noGrp="1"/>
          </p:cNvSpPr>
          <p:nvPr>
            <p:ph type="ftr" sz="quarter" idx="11"/>
          </p:nvPr>
        </p:nvSpPr>
        <p:spPr/>
        <p:txBody>
          <a:bodyPr/>
          <a:lstStyle>
            <a:lvl1pPr>
              <a:defRPr/>
            </a:lvl1pPr>
          </a:lstStyle>
          <a:p>
            <a:pPr>
              <a:defRPr/>
            </a:pPr>
            <a:r>
              <a:rPr lang="en-US"/>
              <a:t>© Copyright 2011 John Wiley &amp; Sons, Inc.</a:t>
            </a:r>
          </a:p>
        </p:txBody>
      </p:sp>
      <p:sp>
        <p:nvSpPr>
          <p:cNvPr id="7" name="Slide Number Placeholder 5">
            <a:extLst>
              <a:ext uri="{FF2B5EF4-FFF2-40B4-BE49-F238E27FC236}">
                <a16:creationId xmlns:a16="http://schemas.microsoft.com/office/drawing/2014/main" id="{9B52FBE5-69D5-4C8C-9CFE-E4BDBB691225}"/>
              </a:ext>
            </a:extLst>
          </p:cNvPr>
          <p:cNvSpPr>
            <a:spLocks noGrp="1"/>
          </p:cNvSpPr>
          <p:nvPr>
            <p:ph type="sldNum" sz="quarter" idx="12"/>
          </p:nvPr>
        </p:nvSpPr>
        <p:spPr/>
        <p:txBody>
          <a:bodyPr/>
          <a:lstStyle>
            <a:lvl1pPr>
              <a:defRPr/>
            </a:lvl1pPr>
          </a:lstStyle>
          <a:p>
            <a:r>
              <a:rPr lang="en-US" altLang="en-US"/>
              <a:t>5-</a:t>
            </a:r>
            <a:fld id="{D96D4E97-AA31-4073-BC9D-110FB7C324B7}" type="slidenum">
              <a:rPr lang="en-US" altLang="en-US"/>
              <a:pPr/>
              <a:t>‹#›</a:t>
            </a:fld>
            <a:endParaRPr lang="en-US" altLang="en-US"/>
          </a:p>
        </p:txBody>
      </p:sp>
    </p:spTree>
    <p:extLst>
      <p:ext uri="{BB962C8B-B14F-4D97-AF65-F5344CB8AC3E}">
        <p14:creationId xmlns:p14="http://schemas.microsoft.com/office/powerpoint/2010/main" val="1121957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680C2C-4F2A-4A4C-91A4-9DF331BF8B15}"/>
              </a:ext>
            </a:extLst>
          </p:cNvPr>
          <p:cNvSpPr>
            <a:spLocks noGrp="1"/>
          </p:cNvSpPr>
          <p:nvPr>
            <p:ph type="dt" sz="half" idx="10"/>
          </p:nvPr>
        </p:nvSpPr>
        <p:spPr/>
        <p:txBody>
          <a:bodyPr/>
          <a:lstStyle>
            <a:lvl1pPr>
              <a:defRPr/>
            </a:lvl1pPr>
          </a:lstStyle>
          <a:p>
            <a:pPr>
              <a:defRPr/>
            </a:pPr>
            <a:r>
              <a:rPr lang="en-US" altLang="en-US"/>
              <a:t> </a:t>
            </a:r>
          </a:p>
        </p:txBody>
      </p:sp>
      <p:sp>
        <p:nvSpPr>
          <p:cNvPr id="6" name="Footer Placeholder 5">
            <a:extLst>
              <a:ext uri="{FF2B5EF4-FFF2-40B4-BE49-F238E27FC236}">
                <a16:creationId xmlns:a16="http://schemas.microsoft.com/office/drawing/2014/main" id="{E45F063B-D01B-4518-8494-21E9B9F13FCF}"/>
              </a:ext>
            </a:extLst>
          </p:cNvPr>
          <p:cNvSpPr>
            <a:spLocks noGrp="1"/>
          </p:cNvSpPr>
          <p:nvPr>
            <p:ph type="ftr" sz="quarter" idx="11"/>
          </p:nvPr>
        </p:nvSpPr>
        <p:spPr/>
        <p:txBody>
          <a:bodyPr/>
          <a:lstStyle>
            <a:lvl1pPr>
              <a:defRPr/>
            </a:lvl1pPr>
          </a:lstStyle>
          <a:p>
            <a:pPr>
              <a:defRPr/>
            </a:pPr>
            <a:r>
              <a:rPr lang="en-US"/>
              <a:t>© Copyright 2011 John Wiley &amp; Sons, Inc.</a:t>
            </a:r>
          </a:p>
        </p:txBody>
      </p:sp>
      <p:sp>
        <p:nvSpPr>
          <p:cNvPr id="7" name="Slide Number Placeholder 6">
            <a:extLst>
              <a:ext uri="{FF2B5EF4-FFF2-40B4-BE49-F238E27FC236}">
                <a16:creationId xmlns:a16="http://schemas.microsoft.com/office/drawing/2014/main" id="{CEE77929-9606-44A7-9B2F-730A0F4E7B62}"/>
              </a:ext>
            </a:extLst>
          </p:cNvPr>
          <p:cNvSpPr>
            <a:spLocks noGrp="1"/>
          </p:cNvSpPr>
          <p:nvPr>
            <p:ph type="sldNum" sz="quarter" idx="12"/>
          </p:nvPr>
        </p:nvSpPr>
        <p:spPr/>
        <p:txBody>
          <a:bodyPr/>
          <a:lstStyle>
            <a:lvl1pPr>
              <a:defRPr/>
            </a:lvl1pPr>
          </a:lstStyle>
          <a:p>
            <a:fld id="{75FABE99-7880-4F43-B9FB-21E41894CC81}" type="slidenum">
              <a:rPr lang="en-US" altLang="en-US"/>
              <a:pPr/>
              <a:t>‹#›</a:t>
            </a:fld>
            <a:endParaRPr lang="en-US" altLang="en-US"/>
          </a:p>
        </p:txBody>
      </p:sp>
    </p:spTree>
    <p:extLst>
      <p:ext uri="{BB962C8B-B14F-4D97-AF65-F5344CB8AC3E}">
        <p14:creationId xmlns:p14="http://schemas.microsoft.com/office/powerpoint/2010/main" val="99543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A9DFE6FF-BFF6-4314-A8A5-CC7C20C6A338}"/>
              </a:ext>
            </a:extLst>
          </p:cNvPr>
          <p:cNvSpPr>
            <a:spLocks noGrp="1"/>
          </p:cNvSpPr>
          <p:nvPr>
            <p:ph type="ftr" sz="quarter" idx="10"/>
          </p:nvPr>
        </p:nvSpPr>
        <p:spPr/>
        <p:txBody>
          <a:bodyPr lIns="0" tIns="0" rIns="0" bIns="0"/>
          <a:lstStyle>
            <a:lvl1pPr marL="12700">
              <a:lnSpc>
                <a:spcPts val="1105"/>
              </a:lnSpc>
              <a:defRPr sz="1000" b="0" i="0" spc="-5">
                <a:solidFill>
                  <a:schemeClr val="tx1"/>
                </a:solidFill>
                <a:latin typeface="Arial"/>
                <a:cs typeface="Arial"/>
              </a:defRPr>
            </a:lvl1pPr>
          </a:lstStyle>
          <a:p>
            <a:pPr>
              <a:defRPr/>
            </a:pPr>
            <a:r>
              <a:t>Lecture 7 - Logic Modeling : Structured</a:t>
            </a:r>
            <a:r>
              <a:rPr spc="-65"/>
              <a:t> </a:t>
            </a:r>
            <a:r>
              <a:t>English</a:t>
            </a:r>
          </a:p>
        </p:txBody>
      </p:sp>
      <p:sp>
        <p:nvSpPr>
          <p:cNvPr id="3" name="Holder 3">
            <a:extLst>
              <a:ext uri="{FF2B5EF4-FFF2-40B4-BE49-F238E27FC236}">
                <a16:creationId xmlns:a16="http://schemas.microsoft.com/office/drawing/2014/main" id="{597DA7F0-E8A6-4865-B36E-35480AFC44BC}"/>
              </a:ext>
            </a:extLst>
          </p:cNvPr>
          <p:cNvSpPr>
            <a:spLocks noGrp="1"/>
          </p:cNvSpPr>
          <p:nvPr>
            <p:ph type="dt" sz="half" idx="11"/>
          </p:nvPr>
        </p:nvSpPr>
        <p:spPr/>
        <p:txBody>
          <a:bodyPr lIns="0" tIns="0" rIns="0" bIns="0"/>
          <a:lstStyle>
            <a:lvl1pPr marL="12700">
              <a:lnSpc>
                <a:spcPts val="1105"/>
              </a:lnSpc>
              <a:defRPr sz="1000" b="0" i="0" spc="-10">
                <a:solidFill>
                  <a:schemeClr val="tx1"/>
                </a:solidFill>
                <a:latin typeface="Arial"/>
                <a:cs typeface="Arial"/>
              </a:defRPr>
            </a:lvl1pPr>
          </a:lstStyle>
          <a:p>
            <a:pPr>
              <a:defRPr/>
            </a:pPr>
            <a:r>
              <a:t>23/11/2010</a:t>
            </a:r>
          </a:p>
        </p:txBody>
      </p:sp>
      <p:sp>
        <p:nvSpPr>
          <p:cNvPr id="4" name="Holder 4">
            <a:extLst>
              <a:ext uri="{FF2B5EF4-FFF2-40B4-BE49-F238E27FC236}">
                <a16:creationId xmlns:a16="http://schemas.microsoft.com/office/drawing/2014/main" id="{84B9137B-3551-4FC7-AE3F-3089533FB967}"/>
              </a:ext>
            </a:extLst>
          </p:cNvPr>
          <p:cNvSpPr>
            <a:spLocks noGrp="1"/>
          </p:cNvSpPr>
          <p:nvPr>
            <p:ph type="sldNum" sz="quarter" idx="12"/>
          </p:nvPr>
        </p:nvSpPr>
        <p:spPr/>
        <p:txBody>
          <a:bodyPr lIns="0" tIns="0" rIns="0" bIns="0"/>
          <a:lstStyle>
            <a:lvl1pPr marL="95250">
              <a:lnSpc>
                <a:spcPts val="1100"/>
              </a:lnSpc>
              <a:defRPr sz="1000">
                <a:solidFill>
                  <a:schemeClr val="tx1"/>
                </a:solidFill>
                <a:latin typeface="Arial" panose="020B0604020202020204" pitchFamily="34" charset="0"/>
              </a:defRPr>
            </a:lvl1pPr>
          </a:lstStyle>
          <a:p>
            <a:fld id="{EC8B4D06-BEE5-4401-8EC1-A9E596A1CD13}" type="slidenum">
              <a:rPr lang="en-US" altLang="en-US"/>
              <a:pPr/>
              <a:t>‹#›</a:t>
            </a:fld>
            <a:endParaRPr lang="en-US" altLang="en-US"/>
          </a:p>
        </p:txBody>
      </p:sp>
    </p:spTree>
    <p:extLst>
      <p:ext uri="{BB962C8B-B14F-4D97-AF65-F5344CB8AC3E}">
        <p14:creationId xmlns:p14="http://schemas.microsoft.com/office/powerpoint/2010/main" val="3743359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7813"/>
            <a:ext cx="7772400" cy="1143000"/>
          </a:xfrm>
        </p:spPr>
        <p:txBody>
          <a:bodyPr/>
          <a:lstStyle/>
          <a:p>
            <a:r>
              <a:rPr lang="en-US"/>
              <a:t>Click to edit Master title style</a:t>
            </a:r>
            <a:endParaRPr lang="en-MY"/>
          </a:p>
        </p:txBody>
      </p:sp>
      <p:sp>
        <p:nvSpPr>
          <p:cNvPr id="3" name="Table Placeholder 2"/>
          <p:cNvSpPr>
            <a:spLocks noGrp="1"/>
          </p:cNvSpPr>
          <p:nvPr>
            <p:ph type="tbl" idx="1"/>
          </p:nvPr>
        </p:nvSpPr>
        <p:spPr>
          <a:xfrm>
            <a:off x="914400" y="1600200"/>
            <a:ext cx="7772400" cy="4530725"/>
          </a:xfrm>
        </p:spPr>
        <p:txBody>
          <a:bodyPr/>
          <a:lstStyle/>
          <a:p>
            <a:pPr lvl="0"/>
            <a:endParaRPr lang="en-MY" noProof="0"/>
          </a:p>
        </p:txBody>
      </p:sp>
      <p:sp>
        <p:nvSpPr>
          <p:cNvPr id="4" name="Rectangle 9">
            <a:extLst>
              <a:ext uri="{FF2B5EF4-FFF2-40B4-BE49-F238E27FC236}">
                <a16:creationId xmlns:a16="http://schemas.microsoft.com/office/drawing/2014/main" id="{D8B9C12E-A87E-4AAE-B3F0-C9848BA6A454}"/>
              </a:ext>
            </a:extLst>
          </p:cNvPr>
          <p:cNvSpPr>
            <a:spLocks noGrp="1" noChangeArrowheads="1"/>
          </p:cNvSpPr>
          <p:nvPr>
            <p:ph type="dt" sz="half" idx="10"/>
          </p:nvPr>
        </p:nvSpPr>
        <p:spPr/>
        <p:txBody>
          <a:bodyPr/>
          <a:lstStyle>
            <a:lvl1pPr>
              <a:defRPr/>
            </a:lvl1pPr>
          </a:lstStyle>
          <a:p>
            <a:pPr>
              <a:defRPr/>
            </a:pPr>
            <a:fld id="{90195FD1-199A-43B2-9906-37F9B93258F8}" type="datetime1">
              <a:rPr lang="en-GB"/>
              <a:pPr>
                <a:defRPr/>
              </a:pPr>
              <a:t>30/10/2025</a:t>
            </a:fld>
            <a:endParaRPr lang="en-US"/>
          </a:p>
        </p:txBody>
      </p:sp>
      <p:sp>
        <p:nvSpPr>
          <p:cNvPr id="5" name="Rectangle 10">
            <a:extLst>
              <a:ext uri="{FF2B5EF4-FFF2-40B4-BE49-F238E27FC236}">
                <a16:creationId xmlns:a16="http://schemas.microsoft.com/office/drawing/2014/main" id="{A64E3DD0-8BDC-46A4-BAF2-4D4D14485109}"/>
              </a:ext>
            </a:extLst>
          </p:cNvPr>
          <p:cNvSpPr>
            <a:spLocks noGrp="1" noChangeArrowheads="1"/>
          </p:cNvSpPr>
          <p:nvPr>
            <p:ph type="ftr" sz="quarter" idx="11"/>
          </p:nvPr>
        </p:nvSpPr>
        <p:spPr/>
        <p:txBody>
          <a:bodyPr/>
          <a:lstStyle>
            <a:lvl1pPr>
              <a:defRPr/>
            </a:lvl1pPr>
          </a:lstStyle>
          <a:p>
            <a:pPr>
              <a:defRPr/>
            </a:pPr>
            <a:r>
              <a:rPr lang="en-US"/>
              <a:t>Lecture 7 - Logic Modeling : Structured English</a:t>
            </a:r>
          </a:p>
        </p:txBody>
      </p:sp>
      <p:sp>
        <p:nvSpPr>
          <p:cNvPr id="6" name="Rectangle 11">
            <a:extLst>
              <a:ext uri="{FF2B5EF4-FFF2-40B4-BE49-F238E27FC236}">
                <a16:creationId xmlns:a16="http://schemas.microsoft.com/office/drawing/2014/main" id="{994ED558-9CE5-4C41-B8A5-960E8A9BFE3E}"/>
              </a:ext>
            </a:extLst>
          </p:cNvPr>
          <p:cNvSpPr>
            <a:spLocks noGrp="1" noChangeArrowheads="1"/>
          </p:cNvSpPr>
          <p:nvPr>
            <p:ph type="sldNum" sz="quarter" idx="12"/>
          </p:nvPr>
        </p:nvSpPr>
        <p:spPr/>
        <p:txBody>
          <a:bodyPr/>
          <a:lstStyle>
            <a:lvl1pPr>
              <a:defRPr/>
            </a:lvl1pPr>
          </a:lstStyle>
          <a:p>
            <a:fld id="{E5D6EFC0-8154-4CBE-92D9-16B1C18D39B3}" type="slidenum">
              <a:rPr lang="en-US" altLang="en-US"/>
              <a:pPr/>
              <a:t>‹#›</a:t>
            </a:fld>
            <a:endParaRPr lang="en-US" altLang="en-US"/>
          </a:p>
        </p:txBody>
      </p:sp>
    </p:spTree>
    <p:extLst>
      <p:ext uri="{BB962C8B-B14F-4D97-AF65-F5344CB8AC3E}">
        <p14:creationId xmlns:p14="http://schemas.microsoft.com/office/powerpoint/2010/main" val="3771525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305800" cy="10668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381000" y="1447800"/>
            <a:ext cx="4076700" cy="1401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10100" y="1447800"/>
            <a:ext cx="4076700" cy="1401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0"/>
          <p:cNvSpPr>
            <a:spLocks noGrp="1" noChangeArrowheads="1"/>
          </p:cNvSpPr>
          <p:nvPr>
            <p:ph type="ftr" sz="quarter" idx="10"/>
          </p:nvPr>
        </p:nvSpPr>
        <p:spPr>
          <a:ln/>
        </p:spPr>
        <p:txBody>
          <a:bodyPr/>
          <a:lstStyle>
            <a:lvl1pPr>
              <a:defRPr/>
            </a:lvl1pPr>
          </a:lstStyle>
          <a:p>
            <a:pPr>
              <a:defRPr/>
            </a:pPr>
            <a:r>
              <a:rPr lang="en-US"/>
              <a:t>Introduction to Outcome-based Module Design</a:t>
            </a:r>
          </a:p>
        </p:txBody>
      </p:sp>
    </p:spTree>
    <p:extLst>
      <p:ext uri="{BB962C8B-B14F-4D97-AF65-F5344CB8AC3E}">
        <p14:creationId xmlns:p14="http://schemas.microsoft.com/office/powerpoint/2010/main" val="1680292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
          <p:cNvSpPr>
            <a:spLocks noChangeArrowheads="1"/>
          </p:cNvSpPr>
          <p:nvPr userDrawn="1"/>
        </p:nvSpPr>
        <p:spPr bwMode="auto">
          <a:xfrm>
            <a:off x="152400" y="3073400"/>
            <a:ext cx="8839200" cy="3635375"/>
          </a:xfrm>
          <a:prstGeom prst="rect">
            <a:avLst/>
          </a:prstGeom>
          <a:solidFill>
            <a:schemeClr val="accent1">
              <a:lumMod val="50000"/>
            </a:schemeClr>
          </a:solidFill>
          <a:ln w="9525">
            <a:noFill/>
            <a:miter lim="800000"/>
            <a:headEnd/>
            <a:tailEnd/>
          </a:ln>
          <a:effectLst/>
        </p:spPr>
        <p:txBody>
          <a:bodyPr wrap="none" anchor="ctr"/>
          <a:lstStyle/>
          <a:p>
            <a:pPr algn="ctr" eaLnBrk="0" fontAlgn="base" hangingPunct="0">
              <a:spcBef>
                <a:spcPct val="0"/>
              </a:spcBef>
              <a:spcAft>
                <a:spcPct val="0"/>
              </a:spcAft>
              <a:defRPr/>
            </a:pPr>
            <a:endParaRPr lang="en-US" sz="2400">
              <a:solidFill>
                <a:srgbClr val="000000"/>
              </a:solidFill>
              <a:latin typeface="Times" pitchFamily="48" charset="0"/>
              <a:cs typeface="Arial" charset="0"/>
            </a:endParaRPr>
          </a:p>
        </p:txBody>
      </p:sp>
      <p:pic>
        <p:nvPicPr>
          <p:cNvPr id="5" name="Picture 2" descr="Systems Analysis 64"/>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82563" y="1130300"/>
            <a:ext cx="8796337"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9" descr="nav_logo_medium"/>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578600" y="76200"/>
            <a:ext cx="2370138"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9187" name="Rectangle 3"/>
          <p:cNvSpPr>
            <a:spLocks noGrp="1" noChangeArrowheads="1"/>
          </p:cNvSpPr>
          <p:nvPr>
            <p:ph type="ctrTitle"/>
          </p:nvPr>
        </p:nvSpPr>
        <p:spPr>
          <a:xfrm>
            <a:off x="685800" y="4000500"/>
            <a:ext cx="7772400" cy="990600"/>
          </a:xfrm>
        </p:spPr>
        <p:txBody>
          <a:bodyPr/>
          <a:lstStyle>
            <a:lvl1pPr>
              <a:defRPr sz="2400">
                <a:solidFill>
                  <a:schemeClr val="bg1"/>
                </a:solidFill>
              </a:defRPr>
            </a:lvl1pPr>
          </a:lstStyle>
          <a:p>
            <a:pPr lvl="0"/>
            <a:r>
              <a:rPr lang="en-GB" noProof="0"/>
              <a:t>Click to edit Master title style</a:t>
            </a:r>
          </a:p>
        </p:txBody>
      </p:sp>
      <p:sp>
        <p:nvSpPr>
          <p:cNvPr id="349188" name="Rectangle 4"/>
          <p:cNvSpPr>
            <a:spLocks noGrp="1" noChangeArrowheads="1"/>
          </p:cNvSpPr>
          <p:nvPr>
            <p:ph type="subTitle" idx="1"/>
          </p:nvPr>
        </p:nvSpPr>
        <p:spPr>
          <a:xfrm>
            <a:off x="685800" y="4991100"/>
            <a:ext cx="7772400" cy="762000"/>
          </a:xfrm>
        </p:spPr>
        <p:txBody>
          <a:bodyPr/>
          <a:lstStyle>
            <a:lvl1pPr marL="0" indent="0">
              <a:buFontTx/>
              <a:buNone/>
              <a:defRPr>
                <a:solidFill>
                  <a:schemeClr val="bg1"/>
                </a:solidFill>
              </a:defRPr>
            </a:lvl1pPr>
          </a:lstStyle>
          <a:p>
            <a:pPr lvl="0"/>
            <a:r>
              <a:rPr lang="en-GB" noProof="0"/>
              <a:t>Click to edit Master subtitle style</a:t>
            </a:r>
          </a:p>
        </p:txBody>
      </p:sp>
    </p:spTree>
    <p:extLst>
      <p:ext uri="{BB962C8B-B14F-4D97-AF65-F5344CB8AC3E}">
        <p14:creationId xmlns:p14="http://schemas.microsoft.com/office/powerpoint/2010/main" val="995131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0"/>
          <p:cNvSpPr>
            <a:spLocks noGrp="1" noChangeArrowheads="1"/>
          </p:cNvSpPr>
          <p:nvPr>
            <p:ph type="ftr" sz="quarter" idx="10"/>
          </p:nvPr>
        </p:nvSpPr>
        <p:spPr>
          <a:ln/>
        </p:spPr>
        <p:txBody>
          <a:bodyPr/>
          <a:lstStyle>
            <a:lvl1pPr>
              <a:defRPr/>
            </a:lvl1pPr>
          </a:lstStyle>
          <a:p>
            <a:pPr>
              <a:defRPr/>
            </a:pPr>
            <a:r>
              <a:rPr lang="en-US"/>
              <a:t>Introduction to Outcome-based Module Design</a:t>
            </a:r>
          </a:p>
        </p:txBody>
      </p:sp>
    </p:spTree>
    <p:extLst>
      <p:ext uri="{BB962C8B-B14F-4D97-AF65-F5344CB8AC3E}">
        <p14:creationId xmlns:p14="http://schemas.microsoft.com/office/powerpoint/2010/main" val="3895460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
          <p:cNvSpPr>
            <a:spLocks noGrp="1" noChangeArrowheads="1"/>
          </p:cNvSpPr>
          <p:nvPr>
            <p:ph type="ftr" sz="quarter" idx="10"/>
          </p:nvPr>
        </p:nvSpPr>
        <p:spPr>
          <a:ln/>
        </p:spPr>
        <p:txBody>
          <a:bodyPr/>
          <a:lstStyle>
            <a:lvl1pPr>
              <a:defRPr/>
            </a:lvl1pPr>
          </a:lstStyle>
          <a:p>
            <a:pPr>
              <a:defRPr/>
            </a:pPr>
            <a:r>
              <a:rPr lang="en-US"/>
              <a:t>Introduction to Outcome-based Module Design</a:t>
            </a:r>
          </a:p>
        </p:txBody>
      </p:sp>
    </p:spTree>
    <p:extLst>
      <p:ext uri="{BB962C8B-B14F-4D97-AF65-F5344CB8AC3E}">
        <p14:creationId xmlns:p14="http://schemas.microsoft.com/office/powerpoint/2010/main" val="1254535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381000" y="1447800"/>
            <a:ext cx="4076700" cy="1401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10100" y="1447800"/>
            <a:ext cx="4076700" cy="1401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0"/>
          <p:cNvSpPr>
            <a:spLocks noGrp="1" noChangeArrowheads="1"/>
          </p:cNvSpPr>
          <p:nvPr>
            <p:ph type="ftr" sz="quarter" idx="10"/>
          </p:nvPr>
        </p:nvSpPr>
        <p:spPr>
          <a:ln/>
        </p:spPr>
        <p:txBody>
          <a:bodyPr/>
          <a:lstStyle>
            <a:lvl1pPr>
              <a:defRPr/>
            </a:lvl1pPr>
          </a:lstStyle>
          <a:p>
            <a:pPr>
              <a:defRPr/>
            </a:pPr>
            <a:r>
              <a:rPr lang="en-US"/>
              <a:t>Introduction to Outcome-based Module Design</a:t>
            </a:r>
          </a:p>
        </p:txBody>
      </p:sp>
    </p:spTree>
    <p:extLst>
      <p:ext uri="{BB962C8B-B14F-4D97-AF65-F5344CB8AC3E}">
        <p14:creationId xmlns:p14="http://schemas.microsoft.com/office/powerpoint/2010/main" val="746711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10"/>
          <p:cNvSpPr>
            <a:spLocks noGrp="1" noChangeArrowheads="1"/>
          </p:cNvSpPr>
          <p:nvPr>
            <p:ph type="ftr" sz="quarter" idx="10"/>
          </p:nvPr>
        </p:nvSpPr>
        <p:spPr>
          <a:ln/>
        </p:spPr>
        <p:txBody>
          <a:bodyPr/>
          <a:lstStyle>
            <a:lvl1pPr>
              <a:defRPr/>
            </a:lvl1pPr>
          </a:lstStyle>
          <a:p>
            <a:pPr>
              <a:defRPr/>
            </a:pPr>
            <a:r>
              <a:rPr lang="en-US"/>
              <a:t>Introduction to Outcome-based Module Design</a:t>
            </a:r>
          </a:p>
        </p:txBody>
      </p:sp>
    </p:spTree>
    <p:extLst>
      <p:ext uri="{BB962C8B-B14F-4D97-AF65-F5344CB8AC3E}">
        <p14:creationId xmlns:p14="http://schemas.microsoft.com/office/powerpoint/2010/main" val="16285260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10"/>
          <p:cNvSpPr>
            <a:spLocks noGrp="1" noChangeArrowheads="1"/>
          </p:cNvSpPr>
          <p:nvPr>
            <p:ph type="ftr" sz="quarter" idx="10"/>
          </p:nvPr>
        </p:nvSpPr>
        <p:spPr>
          <a:ln/>
        </p:spPr>
        <p:txBody>
          <a:bodyPr/>
          <a:lstStyle>
            <a:lvl1pPr>
              <a:defRPr/>
            </a:lvl1pPr>
          </a:lstStyle>
          <a:p>
            <a:pPr>
              <a:defRPr/>
            </a:pPr>
            <a:r>
              <a:rPr lang="en-US"/>
              <a:t>Introduction to Outcome-based Module Design</a:t>
            </a:r>
          </a:p>
        </p:txBody>
      </p:sp>
    </p:spTree>
    <p:extLst>
      <p:ext uri="{BB962C8B-B14F-4D97-AF65-F5344CB8AC3E}">
        <p14:creationId xmlns:p14="http://schemas.microsoft.com/office/powerpoint/2010/main" val="34886262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
          <p:cNvSpPr>
            <a:spLocks noGrp="1" noChangeArrowheads="1"/>
          </p:cNvSpPr>
          <p:nvPr>
            <p:ph type="ftr" sz="quarter" idx="10"/>
          </p:nvPr>
        </p:nvSpPr>
        <p:spPr>
          <a:ln/>
        </p:spPr>
        <p:txBody>
          <a:bodyPr/>
          <a:lstStyle>
            <a:lvl1pPr>
              <a:defRPr/>
            </a:lvl1pPr>
          </a:lstStyle>
          <a:p>
            <a:pPr>
              <a:defRPr/>
            </a:pPr>
            <a:r>
              <a:rPr lang="en-US"/>
              <a:t>Introduction to Outcome-based Module Design</a:t>
            </a:r>
          </a:p>
        </p:txBody>
      </p:sp>
    </p:spTree>
    <p:extLst>
      <p:ext uri="{BB962C8B-B14F-4D97-AF65-F5344CB8AC3E}">
        <p14:creationId xmlns:p14="http://schemas.microsoft.com/office/powerpoint/2010/main" val="40190017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
          <p:cNvSpPr>
            <a:spLocks noGrp="1" noChangeArrowheads="1"/>
          </p:cNvSpPr>
          <p:nvPr>
            <p:ph type="ftr" sz="quarter" idx="10"/>
          </p:nvPr>
        </p:nvSpPr>
        <p:spPr>
          <a:ln/>
        </p:spPr>
        <p:txBody>
          <a:bodyPr/>
          <a:lstStyle>
            <a:lvl1pPr>
              <a:defRPr/>
            </a:lvl1pPr>
          </a:lstStyle>
          <a:p>
            <a:pPr>
              <a:defRPr/>
            </a:pPr>
            <a:r>
              <a:rPr lang="en-US"/>
              <a:t>Introduction to Outcome-based Module Design</a:t>
            </a:r>
          </a:p>
        </p:txBody>
      </p:sp>
    </p:spTree>
    <p:extLst>
      <p:ext uri="{BB962C8B-B14F-4D97-AF65-F5344CB8AC3E}">
        <p14:creationId xmlns:p14="http://schemas.microsoft.com/office/powerpoint/2010/main" val="7730628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
          <p:cNvSpPr>
            <a:spLocks noGrp="1" noChangeArrowheads="1"/>
          </p:cNvSpPr>
          <p:nvPr>
            <p:ph type="ftr" sz="quarter" idx="10"/>
          </p:nvPr>
        </p:nvSpPr>
        <p:spPr>
          <a:ln/>
        </p:spPr>
        <p:txBody>
          <a:bodyPr/>
          <a:lstStyle>
            <a:lvl1pPr>
              <a:defRPr/>
            </a:lvl1pPr>
          </a:lstStyle>
          <a:p>
            <a:pPr>
              <a:defRPr/>
            </a:pPr>
            <a:r>
              <a:rPr lang="en-US"/>
              <a:t>Introduction to Outcome-based Module Design</a:t>
            </a:r>
          </a:p>
        </p:txBody>
      </p:sp>
    </p:spTree>
    <p:extLst>
      <p:ext uri="{BB962C8B-B14F-4D97-AF65-F5344CB8AC3E}">
        <p14:creationId xmlns:p14="http://schemas.microsoft.com/office/powerpoint/2010/main" val="36341566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0"/>
          <p:cNvSpPr>
            <a:spLocks noGrp="1" noChangeArrowheads="1"/>
          </p:cNvSpPr>
          <p:nvPr>
            <p:ph type="ftr" sz="quarter" idx="10"/>
          </p:nvPr>
        </p:nvSpPr>
        <p:spPr>
          <a:ln/>
        </p:spPr>
        <p:txBody>
          <a:bodyPr/>
          <a:lstStyle>
            <a:lvl1pPr>
              <a:defRPr/>
            </a:lvl1pPr>
          </a:lstStyle>
          <a:p>
            <a:pPr>
              <a:defRPr/>
            </a:pPr>
            <a:r>
              <a:rPr lang="en-US"/>
              <a:t>Introduction to Outcome-based Module Design</a:t>
            </a:r>
          </a:p>
        </p:txBody>
      </p:sp>
    </p:spTree>
    <p:extLst>
      <p:ext uri="{BB962C8B-B14F-4D97-AF65-F5344CB8AC3E}">
        <p14:creationId xmlns:p14="http://schemas.microsoft.com/office/powerpoint/2010/main" val="23263716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381000"/>
            <a:ext cx="2076450" cy="2468563"/>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81000" y="381000"/>
            <a:ext cx="6076950" cy="24685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0"/>
          <p:cNvSpPr>
            <a:spLocks noGrp="1" noChangeArrowheads="1"/>
          </p:cNvSpPr>
          <p:nvPr>
            <p:ph type="ftr" sz="quarter" idx="10"/>
          </p:nvPr>
        </p:nvSpPr>
        <p:spPr>
          <a:ln/>
        </p:spPr>
        <p:txBody>
          <a:bodyPr/>
          <a:lstStyle>
            <a:lvl1pPr>
              <a:defRPr/>
            </a:lvl1pPr>
          </a:lstStyle>
          <a:p>
            <a:pPr>
              <a:defRPr/>
            </a:pPr>
            <a:r>
              <a:rPr lang="en-US"/>
              <a:t>Introduction to Outcome-based Module Design</a:t>
            </a:r>
          </a:p>
        </p:txBody>
      </p:sp>
    </p:spTree>
    <p:extLst>
      <p:ext uri="{BB962C8B-B14F-4D97-AF65-F5344CB8AC3E}">
        <p14:creationId xmlns:p14="http://schemas.microsoft.com/office/powerpoint/2010/main" val="24887739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305800" cy="10668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381000" y="1447800"/>
            <a:ext cx="4076700" cy="1401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10100" y="1447800"/>
            <a:ext cx="4076700" cy="1401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0"/>
          <p:cNvSpPr>
            <a:spLocks noGrp="1" noChangeArrowheads="1"/>
          </p:cNvSpPr>
          <p:nvPr>
            <p:ph type="ftr" sz="quarter" idx="10"/>
          </p:nvPr>
        </p:nvSpPr>
        <p:spPr>
          <a:ln/>
        </p:spPr>
        <p:txBody>
          <a:bodyPr/>
          <a:lstStyle>
            <a:lvl1pPr>
              <a:defRPr/>
            </a:lvl1pPr>
          </a:lstStyle>
          <a:p>
            <a:pPr>
              <a:defRPr/>
            </a:pPr>
            <a:r>
              <a:rPr lang="en-US"/>
              <a:t>Introduction to Outcome-based Module Design</a:t>
            </a:r>
          </a:p>
        </p:txBody>
      </p:sp>
    </p:spTree>
    <p:extLst>
      <p:ext uri="{BB962C8B-B14F-4D97-AF65-F5344CB8AC3E}">
        <p14:creationId xmlns:p14="http://schemas.microsoft.com/office/powerpoint/2010/main" val="37477899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7813"/>
            <a:ext cx="7772400" cy="1143000"/>
          </a:xfrm>
        </p:spPr>
        <p:txBody>
          <a:bodyPr/>
          <a:lstStyle/>
          <a:p>
            <a:r>
              <a:rPr lang="en-US"/>
              <a:t>Click to edit Master title style</a:t>
            </a:r>
            <a:endParaRPr lang="en-MY"/>
          </a:p>
        </p:txBody>
      </p:sp>
      <p:sp>
        <p:nvSpPr>
          <p:cNvPr id="3" name="Table Placeholder 2"/>
          <p:cNvSpPr>
            <a:spLocks noGrp="1"/>
          </p:cNvSpPr>
          <p:nvPr>
            <p:ph type="tbl" idx="1"/>
          </p:nvPr>
        </p:nvSpPr>
        <p:spPr>
          <a:xfrm>
            <a:off x="914400" y="1600200"/>
            <a:ext cx="7772400" cy="4530725"/>
          </a:xfrm>
        </p:spPr>
        <p:txBody>
          <a:bodyPr/>
          <a:lstStyle/>
          <a:p>
            <a:pPr lvl="0"/>
            <a:endParaRPr lang="en-MY" noProof="0"/>
          </a:p>
        </p:txBody>
      </p:sp>
      <p:sp>
        <p:nvSpPr>
          <p:cNvPr id="4" name="Rectangle 9"/>
          <p:cNvSpPr>
            <a:spLocks noGrp="1" noChangeArrowheads="1"/>
          </p:cNvSpPr>
          <p:nvPr>
            <p:ph type="dt" sz="half" idx="10"/>
          </p:nvPr>
        </p:nvSpPr>
        <p:spPr>
          <a:xfrm>
            <a:off x="457200" y="6356350"/>
            <a:ext cx="2133600" cy="365125"/>
          </a:xfrm>
          <a:prstGeom prst="rect">
            <a:avLst/>
          </a:prstGeom>
        </p:spPr>
        <p:txBody>
          <a:bodyPr/>
          <a:lstStyle>
            <a:lvl1pPr>
              <a:defRPr/>
            </a:lvl1pPr>
          </a:lstStyle>
          <a:p>
            <a:pPr eaLnBrk="0" fontAlgn="base" hangingPunct="0">
              <a:spcBef>
                <a:spcPct val="0"/>
              </a:spcBef>
              <a:spcAft>
                <a:spcPct val="0"/>
              </a:spcAft>
              <a:defRPr/>
            </a:pPr>
            <a:fld id="{9AC6E323-273A-4B8B-A175-C7C396FD0224}" type="datetime1">
              <a:rPr lang="en-GB" sz="1000">
                <a:solidFill>
                  <a:srgbClr val="004D75"/>
                </a:solidFill>
                <a:cs typeface="Arial" charset="0"/>
              </a:rPr>
              <a:pPr eaLnBrk="0" fontAlgn="base" hangingPunct="0">
                <a:spcBef>
                  <a:spcPct val="0"/>
                </a:spcBef>
                <a:spcAft>
                  <a:spcPct val="0"/>
                </a:spcAft>
                <a:defRPr/>
              </a:pPr>
              <a:t>30/10/2025</a:t>
            </a:fld>
            <a:endParaRPr lang="en-US" sz="1000">
              <a:solidFill>
                <a:srgbClr val="004D75"/>
              </a:solidFill>
              <a:cs typeface="Arial" charset="0"/>
            </a:endParaRPr>
          </a:p>
        </p:txBody>
      </p:sp>
      <p:sp>
        <p:nvSpPr>
          <p:cNvPr id="5" name="Rectangle 10"/>
          <p:cNvSpPr>
            <a:spLocks noGrp="1" noChangeArrowheads="1"/>
          </p:cNvSpPr>
          <p:nvPr>
            <p:ph type="ftr" sz="quarter" idx="11"/>
          </p:nvPr>
        </p:nvSpPr>
        <p:spPr/>
        <p:txBody>
          <a:bodyPr/>
          <a:lstStyle>
            <a:lvl1pPr>
              <a:defRPr/>
            </a:lvl1pPr>
          </a:lstStyle>
          <a:p>
            <a:pPr>
              <a:defRPr/>
            </a:pPr>
            <a:r>
              <a:rPr lang="en-US"/>
              <a:t>Lecture 7 - Logic Modeling : Structured English</a:t>
            </a:r>
          </a:p>
        </p:txBody>
      </p:sp>
      <p:sp>
        <p:nvSpPr>
          <p:cNvPr id="6" name="Rectangle 11"/>
          <p:cNvSpPr>
            <a:spLocks noGrp="1" noChangeArrowheads="1"/>
          </p:cNvSpPr>
          <p:nvPr>
            <p:ph type="sldNum" sz="quarter" idx="12"/>
          </p:nvPr>
        </p:nvSpPr>
        <p:spPr>
          <a:xfrm>
            <a:off x="6553200" y="6356350"/>
            <a:ext cx="2133600" cy="365125"/>
          </a:xfrm>
          <a:prstGeom prst="rect">
            <a:avLst/>
          </a:prstGeom>
        </p:spPr>
        <p:txBody>
          <a:bodyPr/>
          <a:lstStyle>
            <a:lvl1pPr>
              <a:defRPr/>
            </a:lvl1pPr>
          </a:lstStyle>
          <a:p>
            <a:pPr eaLnBrk="0" fontAlgn="base" hangingPunct="0">
              <a:spcBef>
                <a:spcPct val="0"/>
              </a:spcBef>
              <a:spcAft>
                <a:spcPct val="0"/>
              </a:spcAft>
              <a:defRPr/>
            </a:pPr>
            <a:fld id="{86F0D8B7-4788-4003-AAE8-4ABFCA48A61E}" type="slidenum">
              <a:rPr lang="en-US" sz="1000">
                <a:solidFill>
                  <a:srgbClr val="004D75"/>
                </a:solidFill>
                <a:cs typeface="Arial" charset="0"/>
              </a:rPr>
              <a:pPr eaLnBrk="0" fontAlgn="base" hangingPunct="0">
                <a:spcBef>
                  <a:spcPct val="0"/>
                </a:spcBef>
                <a:spcAft>
                  <a:spcPct val="0"/>
                </a:spcAft>
                <a:defRPr/>
              </a:pPr>
              <a:t>‹#›</a:t>
            </a:fld>
            <a:endParaRPr lang="en-US" sz="1000">
              <a:solidFill>
                <a:srgbClr val="004D75"/>
              </a:solidFill>
              <a:cs typeface="Arial" charset="0"/>
            </a:endParaRPr>
          </a:p>
        </p:txBody>
      </p:sp>
    </p:spTree>
    <p:extLst>
      <p:ext uri="{BB962C8B-B14F-4D97-AF65-F5344CB8AC3E}">
        <p14:creationId xmlns:p14="http://schemas.microsoft.com/office/powerpoint/2010/main" val="3448610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EDD81D13-CCD9-4603-93CA-58C0E3F7173E}"/>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535DD7D7-8569-4D59-97CC-CCF6855CBAC2}"/>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03E35046-399C-467D-AB09-6784D4C7E3D2}"/>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anose="020F0502020204030204" pitchFamily="34" charset="0"/>
              </a:defRPr>
            </a:lvl1pPr>
          </a:lstStyle>
          <a:p>
            <a:pPr>
              <a:defRPr/>
            </a:pPr>
            <a:r>
              <a:rPr lang="en-US" altLang="en-US"/>
              <a:t> </a:t>
            </a:r>
          </a:p>
        </p:txBody>
      </p:sp>
      <p:sp>
        <p:nvSpPr>
          <p:cNvPr id="5" name="Footer Placeholder 4">
            <a:extLst>
              <a:ext uri="{FF2B5EF4-FFF2-40B4-BE49-F238E27FC236}">
                <a16:creationId xmlns:a16="http://schemas.microsoft.com/office/drawing/2014/main" id="{8B54FA77-5C1B-4E66-9665-3B80BDAB42B0}"/>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r>
              <a:rPr lang="en-US"/>
              <a:t>© Copyright 2011 John Wiley &amp; Sons, Inc.</a:t>
            </a:r>
          </a:p>
        </p:txBody>
      </p:sp>
      <p:sp>
        <p:nvSpPr>
          <p:cNvPr id="6" name="Slide Number Placeholder 5">
            <a:extLst>
              <a:ext uri="{FF2B5EF4-FFF2-40B4-BE49-F238E27FC236}">
                <a16:creationId xmlns:a16="http://schemas.microsoft.com/office/drawing/2014/main" id="{BF6554B6-143C-4C26-84C6-52DE4B943511}"/>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r>
              <a:rPr lang="en-US" altLang="en-US"/>
              <a:t>5-</a:t>
            </a:r>
            <a:fld id="{B9E0465C-69AA-4DA2-BBB3-E6F565B62AA8}"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87" r:id="rId6"/>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381000"/>
            <a:ext cx="83058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a:t>Click to edit Master title style</a:t>
            </a:r>
          </a:p>
        </p:txBody>
      </p:sp>
      <p:sp>
        <p:nvSpPr>
          <p:cNvPr id="1027" name="Rectangle 3"/>
          <p:cNvSpPr>
            <a:spLocks noGrp="1" noChangeArrowheads="1"/>
          </p:cNvSpPr>
          <p:nvPr>
            <p:ph type="body" idx="1"/>
          </p:nvPr>
        </p:nvSpPr>
        <p:spPr bwMode="auto">
          <a:xfrm>
            <a:off x="381000" y="1447800"/>
            <a:ext cx="8305800" cy="1401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28" name="Line 5"/>
          <p:cNvSpPr>
            <a:spLocks noChangeShapeType="1"/>
          </p:cNvSpPr>
          <p:nvPr/>
        </p:nvSpPr>
        <p:spPr bwMode="auto">
          <a:xfrm flipH="1">
            <a:off x="457200" y="6019800"/>
            <a:ext cx="8229600" cy="0"/>
          </a:xfrm>
          <a:prstGeom prst="line">
            <a:avLst/>
          </a:prstGeom>
          <a:noFill/>
          <a:ln w="15875">
            <a:solidFill>
              <a:srgbClr val="B2C9D5"/>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1000">
              <a:solidFill>
                <a:srgbClr val="004D75"/>
              </a:solidFill>
              <a:cs typeface="Arial" charset="0"/>
            </a:endParaRPr>
          </a:p>
        </p:txBody>
      </p:sp>
      <p:sp>
        <p:nvSpPr>
          <p:cNvPr id="1030" name="Text Box 6"/>
          <p:cNvSpPr txBox="1">
            <a:spLocks noChangeArrowheads="1"/>
          </p:cNvSpPr>
          <p:nvPr/>
        </p:nvSpPr>
        <p:spPr bwMode="auto">
          <a:xfrm>
            <a:off x="395288" y="6165850"/>
            <a:ext cx="10080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spcBef>
                <a:spcPct val="50000"/>
              </a:spcBef>
              <a:spcAft>
                <a:spcPct val="0"/>
              </a:spcAft>
              <a:defRPr/>
            </a:pPr>
            <a:endParaRPr lang="en-US" altLang="en-US" sz="2400">
              <a:solidFill>
                <a:srgbClr val="000000"/>
              </a:solidFill>
              <a:latin typeface="Times" pitchFamily="48" charset="0"/>
            </a:endParaRPr>
          </a:p>
        </p:txBody>
      </p:sp>
      <p:sp>
        <p:nvSpPr>
          <p:cNvPr id="348170" name="Rectangle 10"/>
          <p:cNvSpPr>
            <a:spLocks noGrp="1" noChangeArrowheads="1"/>
          </p:cNvSpPr>
          <p:nvPr>
            <p:ph type="ftr" sz="quarter" idx="3"/>
          </p:nvPr>
        </p:nvSpPr>
        <p:spPr bwMode="auto">
          <a:xfrm>
            <a:off x="482600" y="6126163"/>
            <a:ext cx="525621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vl1pPr>
          </a:lstStyle>
          <a:p>
            <a:pPr fontAlgn="base">
              <a:spcBef>
                <a:spcPct val="0"/>
              </a:spcBef>
              <a:spcAft>
                <a:spcPct val="0"/>
              </a:spcAft>
              <a:defRPr/>
            </a:pPr>
            <a:r>
              <a:rPr lang="en-US">
                <a:solidFill>
                  <a:srgbClr val="004D75"/>
                </a:solidFill>
                <a:cs typeface="Arial" charset="0"/>
              </a:rPr>
              <a:t>Introduction to Outcome-based Module Design</a:t>
            </a:r>
          </a:p>
        </p:txBody>
      </p:sp>
    </p:spTree>
    <p:extLst>
      <p:ext uri="{BB962C8B-B14F-4D97-AF65-F5344CB8AC3E}">
        <p14:creationId xmlns:p14="http://schemas.microsoft.com/office/powerpoint/2010/main" val="182067643"/>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Lst>
  <p:txStyles>
    <p:titleStyle>
      <a:lvl1pPr algn="l" rtl="0" eaLnBrk="0" fontAlgn="base" hangingPunct="0">
        <a:spcBef>
          <a:spcPct val="0"/>
        </a:spcBef>
        <a:spcAft>
          <a:spcPct val="0"/>
        </a:spcAft>
        <a:defRPr sz="2800">
          <a:solidFill>
            <a:srgbClr val="004D75"/>
          </a:solidFill>
          <a:latin typeface="+mj-lt"/>
          <a:ea typeface="+mj-ea"/>
          <a:cs typeface="+mj-cs"/>
        </a:defRPr>
      </a:lvl1pPr>
      <a:lvl2pPr algn="l" rtl="0" eaLnBrk="0" fontAlgn="base" hangingPunct="0">
        <a:spcBef>
          <a:spcPct val="0"/>
        </a:spcBef>
        <a:spcAft>
          <a:spcPct val="0"/>
        </a:spcAft>
        <a:defRPr sz="2800">
          <a:solidFill>
            <a:srgbClr val="004D75"/>
          </a:solidFill>
          <a:latin typeface="Verdana" pitchFamily="34" charset="0"/>
        </a:defRPr>
      </a:lvl2pPr>
      <a:lvl3pPr algn="l" rtl="0" eaLnBrk="0" fontAlgn="base" hangingPunct="0">
        <a:spcBef>
          <a:spcPct val="0"/>
        </a:spcBef>
        <a:spcAft>
          <a:spcPct val="0"/>
        </a:spcAft>
        <a:defRPr sz="2800">
          <a:solidFill>
            <a:srgbClr val="004D75"/>
          </a:solidFill>
          <a:latin typeface="Verdana" pitchFamily="34" charset="0"/>
        </a:defRPr>
      </a:lvl3pPr>
      <a:lvl4pPr algn="l" rtl="0" eaLnBrk="0" fontAlgn="base" hangingPunct="0">
        <a:spcBef>
          <a:spcPct val="0"/>
        </a:spcBef>
        <a:spcAft>
          <a:spcPct val="0"/>
        </a:spcAft>
        <a:defRPr sz="2800">
          <a:solidFill>
            <a:srgbClr val="004D75"/>
          </a:solidFill>
          <a:latin typeface="Verdana" pitchFamily="34" charset="0"/>
        </a:defRPr>
      </a:lvl4pPr>
      <a:lvl5pPr algn="l" rtl="0" eaLnBrk="0" fontAlgn="base" hangingPunct="0">
        <a:spcBef>
          <a:spcPct val="0"/>
        </a:spcBef>
        <a:spcAft>
          <a:spcPct val="0"/>
        </a:spcAft>
        <a:defRPr sz="2800">
          <a:solidFill>
            <a:srgbClr val="004D75"/>
          </a:solidFill>
          <a:latin typeface="Verdana" pitchFamily="34" charset="0"/>
        </a:defRPr>
      </a:lvl5pPr>
      <a:lvl6pPr marL="457200" algn="l" rtl="0" fontAlgn="base">
        <a:spcBef>
          <a:spcPct val="0"/>
        </a:spcBef>
        <a:spcAft>
          <a:spcPct val="0"/>
        </a:spcAft>
        <a:defRPr sz="2800">
          <a:solidFill>
            <a:srgbClr val="004D75"/>
          </a:solidFill>
          <a:latin typeface="Verdana" pitchFamily="34" charset="0"/>
        </a:defRPr>
      </a:lvl6pPr>
      <a:lvl7pPr marL="914400" algn="l" rtl="0" fontAlgn="base">
        <a:spcBef>
          <a:spcPct val="0"/>
        </a:spcBef>
        <a:spcAft>
          <a:spcPct val="0"/>
        </a:spcAft>
        <a:defRPr sz="2800">
          <a:solidFill>
            <a:srgbClr val="004D75"/>
          </a:solidFill>
          <a:latin typeface="Verdana" pitchFamily="34" charset="0"/>
        </a:defRPr>
      </a:lvl7pPr>
      <a:lvl8pPr marL="1371600" algn="l" rtl="0" fontAlgn="base">
        <a:spcBef>
          <a:spcPct val="0"/>
        </a:spcBef>
        <a:spcAft>
          <a:spcPct val="0"/>
        </a:spcAft>
        <a:defRPr sz="2800">
          <a:solidFill>
            <a:srgbClr val="004D75"/>
          </a:solidFill>
          <a:latin typeface="Verdana" pitchFamily="34" charset="0"/>
        </a:defRPr>
      </a:lvl8pPr>
      <a:lvl9pPr marL="1828800" algn="l" rtl="0" fontAlgn="base">
        <a:spcBef>
          <a:spcPct val="0"/>
        </a:spcBef>
        <a:spcAft>
          <a:spcPct val="0"/>
        </a:spcAft>
        <a:defRPr sz="2800">
          <a:solidFill>
            <a:srgbClr val="004D75"/>
          </a:solidFill>
          <a:latin typeface="Verdana" pitchFamily="34" charset="0"/>
        </a:defRPr>
      </a:lvl9pPr>
    </p:titleStyle>
    <p:bodyStyle>
      <a:lvl1pPr marL="188913" indent="-188913" algn="l" rtl="0" eaLnBrk="0" fontAlgn="base" hangingPunct="0">
        <a:lnSpc>
          <a:spcPct val="110000"/>
        </a:lnSpc>
        <a:spcBef>
          <a:spcPct val="30000"/>
        </a:spcBef>
        <a:spcAft>
          <a:spcPct val="20000"/>
        </a:spcAft>
        <a:buChar char="•"/>
        <a:defRPr>
          <a:solidFill>
            <a:srgbClr val="004D75"/>
          </a:solidFill>
          <a:latin typeface="+mn-lt"/>
          <a:ea typeface="+mn-ea"/>
          <a:cs typeface="+mn-cs"/>
        </a:defRPr>
      </a:lvl1pPr>
      <a:lvl2pPr marL="379413" indent="-188913" algn="l" rtl="0" eaLnBrk="0" fontAlgn="base" hangingPunct="0">
        <a:lnSpc>
          <a:spcPct val="90000"/>
        </a:lnSpc>
        <a:spcBef>
          <a:spcPct val="20000"/>
        </a:spcBef>
        <a:spcAft>
          <a:spcPct val="10000"/>
        </a:spcAft>
        <a:buChar char="–"/>
        <a:defRPr sz="1500">
          <a:solidFill>
            <a:srgbClr val="004D75"/>
          </a:solidFill>
          <a:latin typeface="+mn-lt"/>
        </a:defRPr>
      </a:lvl2pPr>
      <a:lvl3pPr marL="530225" indent="-149225" algn="l" rtl="0" eaLnBrk="0" fontAlgn="base" hangingPunct="0">
        <a:lnSpc>
          <a:spcPct val="90000"/>
        </a:lnSpc>
        <a:spcBef>
          <a:spcPct val="20000"/>
        </a:spcBef>
        <a:spcAft>
          <a:spcPct val="20000"/>
        </a:spcAft>
        <a:buChar char="•"/>
        <a:defRPr sz="1200">
          <a:solidFill>
            <a:srgbClr val="004D75"/>
          </a:solidFill>
          <a:latin typeface="+mn-lt"/>
        </a:defRPr>
      </a:lvl3pPr>
      <a:lvl4pPr marL="862013" indent="-141288" algn="l" rtl="0" eaLnBrk="0" fontAlgn="base" hangingPunct="0">
        <a:lnSpc>
          <a:spcPct val="90000"/>
        </a:lnSpc>
        <a:spcBef>
          <a:spcPct val="20000"/>
        </a:spcBef>
        <a:spcAft>
          <a:spcPct val="20000"/>
        </a:spcAft>
        <a:buChar char="–"/>
        <a:defRPr sz="1200">
          <a:solidFill>
            <a:srgbClr val="004D75"/>
          </a:solidFill>
          <a:latin typeface="+mn-lt"/>
        </a:defRPr>
      </a:lvl4pPr>
      <a:lvl5pPr marL="1235075" indent="-182563" algn="l" rtl="0" eaLnBrk="0" fontAlgn="base" hangingPunct="0">
        <a:lnSpc>
          <a:spcPct val="90000"/>
        </a:lnSpc>
        <a:spcBef>
          <a:spcPct val="20000"/>
        </a:spcBef>
        <a:spcAft>
          <a:spcPct val="20000"/>
        </a:spcAft>
        <a:buChar char="»"/>
        <a:defRPr sz="1200">
          <a:solidFill>
            <a:srgbClr val="004D75"/>
          </a:solidFill>
          <a:latin typeface="+mn-lt"/>
        </a:defRPr>
      </a:lvl5pPr>
      <a:lvl6pPr marL="1692275" indent="-182563" algn="l" rtl="0" fontAlgn="base">
        <a:lnSpc>
          <a:spcPct val="90000"/>
        </a:lnSpc>
        <a:spcBef>
          <a:spcPct val="20000"/>
        </a:spcBef>
        <a:spcAft>
          <a:spcPct val="20000"/>
        </a:spcAft>
        <a:buChar char="»"/>
        <a:defRPr sz="1200">
          <a:solidFill>
            <a:srgbClr val="004D75"/>
          </a:solidFill>
          <a:latin typeface="+mn-lt"/>
        </a:defRPr>
      </a:lvl6pPr>
      <a:lvl7pPr marL="2149475" indent="-182563" algn="l" rtl="0" fontAlgn="base">
        <a:lnSpc>
          <a:spcPct val="90000"/>
        </a:lnSpc>
        <a:spcBef>
          <a:spcPct val="20000"/>
        </a:spcBef>
        <a:spcAft>
          <a:spcPct val="20000"/>
        </a:spcAft>
        <a:buChar char="»"/>
        <a:defRPr sz="1200">
          <a:solidFill>
            <a:srgbClr val="004D75"/>
          </a:solidFill>
          <a:latin typeface="+mn-lt"/>
        </a:defRPr>
      </a:lvl7pPr>
      <a:lvl8pPr marL="2606675" indent="-182563" algn="l" rtl="0" fontAlgn="base">
        <a:lnSpc>
          <a:spcPct val="90000"/>
        </a:lnSpc>
        <a:spcBef>
          <a:spcPct val="20000"/>
        </a:spcBef>
        <a:spcAft>
          <a:spcPct val="20000"/>
        </a:spcAft>
        <a:buChar char="»"/>
        <a:defRPr sz="1200">
          <a:solidFill>
            <a:srgbClr val="004D75"/>
          </a:solidFill>
          <a:latin typeface="+mn-lt"/>
        </a:defRPr>
      </a:lvl8pPr>
      <a:lvl9pPr marL="3063875" indent="-182563" algn="l" rtl="0" fontAlgn="base">
        <a:lnSpc>
          <a:spcPct val="90000"/>
        </a:lnSpc>
        <a:spcBef>
          <a:spcPct val="20000"/>
        </a:spcBef>
        <a:spcAft>
          <a:spcPct val="20000"/>
        </a:spcAft>
        <a:buChar char="»"/>
        <a:defRPr sz="1200">
          <a:solidFill>
            <a:srgbClr val="004D75"/>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phTgadEg6QU&amp;t=58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hyperlink" Target="https://www.youtube.com/watch?v=aryLIJvvp7I&amp;feature=youtu.be"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6.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youtube.com/watch?v=Yl463_pRvbw"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69263-F17F-458A-809B-2C367F0A8834}"/>
              </a:ext>
            </a:extLst>
          </p:cNvPr>
          <p:cNvSpPr>
            <a:spLocks noGrp="1"/>
          </p:cNvSpPr>
          <p:nvPr>
            <p:ph type="ctrTitle"/>
          </p:nvPr>
        </p:nvSpPr>
        <p:spPr>
          <a:xfrm>
            <a:off x="685800" y="1066800"/>
            <a:ext cx="7772400" cy="2819400"/>
          </a:xfrm>
        </p:spPr>
        <p:txBody>
          <a:bodyPr rtlCol="0">
            <a:normAutofit/>
          </a:bodyPr>
          <a:lstStyle/>
          <a:p>
            <a:pPr eaLnBrk="1" fontAlgn="auto" hangingPunct="1">
              <a:spcAft>
                <a:spcPts val="0"/>
              </a:spcAft>
              <a:defRPr/>
            </a:pPr>
            <a:r>
              <a:rPr lang="en-US" sz="4800" dirty="0">
                <a:solidFill>
                  <a:schemeClr val="tx2">
                    <a:lumMod val="75000"/>
                  </a:schemeClr>
                </a:solidFill>
                <a:effectLst>
                  <a:outerShdw blurRad="38100" dist="38100" dir="2700000" algn="tl">
                    <a:srgbClr val="000000">
                      <a:alpha val="43137"/>
                    </a:srgbClr>
                  </a:outerShdw>
                </a:effectLst>
              </a:rPr>
              <a:t>Systems Analysis and Design</a:t>
            </a:r>
            <a:br>
              <a:rPr lang="en-US" dirty="0">
                <a:solidFill>
                  <a:schemeClr val="tx2">
                    <a:lumMod val="75000"/>
                  </a:schemeClr>
                </a:solidFill>
                <a:effectLst>
                  <a:outerShdw blurRad="38100" dist="38100" dir="2700000" algn="tl">
                    <a:srgbClr val="C0C0C0"/>
                  </a:outerShdw>
                </a:effectLst>
              </a:rPr>
            </a:br>
            <a:br>
              <a:rPr lang="en-US" sz="2800" dirty="0">
                <a:solidFill>
                  <a:schemeClr val="tx2">
                    <a:lumMod val="75000"/>
                  </a:schemeClr>
                </a:solidFill>
                <a:effectLst>
                  <a:outerShdw blurRad="38100" dist="38100" dir="2700000" algn="tl">
                    <a:srgbClr val="C0C0C0"/>
                  </a:outerShdw>
                </a:effectLst>
              </a:rPr>
            </a:br>
            <a:br>
              <a:rPr lang="en-US" sz="2800" dirty="0">
                <a:solidFill>
                  <a:schemeClr val="tx2">
                    <a:lumMod val="75000"/>
                  </a:schemeClr>
                </a:solidFill>
                <a:effectLst>
                  <a:outerShdw blurRad="38100" dist="38100" dir="2700000" algn="tl">
                    <a:srgbClr val="C0C0C0"/>
                  </a:outerShdw>
                </a:effectLst>
              </a:rPr>
            </a:br>
            <a:r>
              <a:rPr lang="en-US" sz="4000" dirty="0">
                <a:solidFill>
                  <a:schemeClr val="tx2">
                    <a:lumMod val="75000"/>
                  </a:schemeClr>
                </a:solidFill>
                <a:effectLst>
                  <a:outerShdw blurRad="38100" dist="38100" dir="2700000" algn="tl">
                    <a:srgbClr val="C0C0C0"/>
                  </a:outerShdw>
                </a:effectLst>
              </a:rPr>
              <a:t>Chapter 6. Logic Modeling</a:t>
            </a:r>
            <a:endParaRPr lang="en-US" sz="4000" dirty="0">
              <a:solidFill>
                <a:schemeClr val="tx2">
                  <a:lumMod val="75000"/>
                </a:schemeClr>
              </a:solidFill>
            </a:endParaRPr>
          </a:p>
        </p:txBody>
      </p:sp>
      <p:sp>
        <p:nvSpPr>
          <p:cNvPr id="8195" name="Slide Number Placeholder 3">
            <a:extLst>
              <a:ext uri="{FF2B5EF4-FFF2-40B4-BE49-F238E27FC236}">
                <a16:creationId xmlns:a16="http://schemas.microsoft.com/office/drawing/2014/main" id="{F0D20118-463B-42A4-9C3B-43EB77B75DC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5-</a:t>
            </a:r>
            <a:fld id="{8FD97038-FBD1-4CB3-8ACF-AF72C25A9270}" type="slidenum">
              <a:rPr lang="en-US" altLang="en-US" sz="1200">
                <a:solidFill>
                  <a:srgbClr val="898989"/>
                </a:solidFill>
              </a:rPr>
              <a:pPr>
                <a:spcBef>
                  <a:spcPct val="0"/>
                </a:spcBef>
                <a:buFontTx/>
                <a:buNone/>
              </a:pPr>
              <a:t>0</a:t>
            </a:fld>
            <a:endParaRPr lang="en-US" altLang="en-US" sz="1200">
              <a:solidFill>
                <a:srgbClr val="898989"/>
              </a:solidFill>
            </a:endParaRPr>
          </a:p>
        </p:txBody>
      </p:sp>
      <p:sp>
        <p:nvSpPr>
          <p:cNvPr id="4" name="Subtitle 3">
            <a:extLst>
              <a:ext uri="{FF2B5EF4-FFF2-40B4-BE49-F238E27FC236}">
                <a16:creationId xmlns:a16="http://schemas.microsoft.com/office/drawing/2014/main" id="{36FBA7F0-CB4A-4537-A8A4-65A70B00BFED}"/>
              </a:ext>
            </a:extLst>
          </p:cNvPr>
          <p:cNvSpPr>
            <a:spLocks noGrp="1"/>
          </p:cNvSpPr>
          <p:nvPr>
            <p:ph type="subTitle" idx="1"/>
          </p:nvPr>
        </p:nvSpPr>
        <p:spPr/>
        <p:txBody>
          <a:bodyPr/>
          <a:lstStyle/>
          <a:p>
            <a:pPr>
              <a:defRPr/>
            </a:pPr>
            <a:endParaRPr lang="en-MY"/>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81000" y="381000"/>
            <a:ext cx="8305800" cy="546100"/>
          </a:xfrm>
        </p:spPr>
        <p:txBody>
          <a:bodyPr/>
          <a:lstStyle/>
          <a:p>
            <a:pPr eaLnBrk="1" hangingPunct="1"/>
            <a:r>
              <a:rPr lang="en-GB" altLang="en-US" sz="3200" b="1"/>
              <a:t>Overview</a:t>
            </a:r>
          </a:p>
        </p:txBody>
      </p:sp>
      <p:sp>
        <p:nvSpPr>
          <p:cNvPr id="6147" name="Rectangle 22"/>
          <p:cNvSpPr>
            <a:spLocks noChangeArrowheads="1"/>
          </p:cNvSpPr>
          <p:nvPr/>
        </p:nvSpPr>
        <p:spPr bwMode="auto">
          <a:xfrm>
            <a:off x="1136650" y="1733550"/>
            <a:ext cx="2116138" cy="1847850"/>
          </a:xfrm>
          <a:prstGeom prst="rect">
            <a:avLst/>
          </a:prstGeom>
          <a:solidFill>
            <a:schemeClr val="accent1"/>
          </a:soli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98000" tIns="154800" rIns="198000" bIns="154800"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fontAlgn="base">
              <a:lnSpc>
                <a:spcPct val="110000"/>
              </a:lnSpc>
              <a:spcBef>
                <a:spcPct val="30000"/>
              </a:spcBef>
              <a:spcAft>
                <a:spcPct val="20000"/>
              </a:spcAft>
            </a:pPr>
            <a:r>
              <a:rPr lang="en-GB" altLang="en-US" sz="2000" dirty="0"/>
              <a:t>1</a:t>
            </a:r>
          </a:p>
          <a:p>
            <a:pPr fontAlgn="base">
              <a:lnSpc>
                <a:spcPct val="110000"/>
              </a:lnSpc>
              <a:spcBef>
                <a:spcPct val="30000"/>
              </a:spcBef>
              <a:spcAft>
                <a:spcPct val="20000"/>
              </a:spcAft>
            </a:pPr>
            <a:r>
              <a:rPr lang="en-GB" altLang="en-US" sz="2000" dirty="0"/>
              <a:t>Introduction to Logic Modelling</a:t>
            </a:r>
          </a:p>
        </p:txBody>
      </p:sp>
      <p:sp>
        <p:nvSpPr>
          <p:cNvPr id="6148" name="Rectangle 3"/>
          <p:cNvSpPr>
            <a:spLocks noChangeArrowheads="1"/>
          </p:cNvSpPr>
          <p:nvPr/>
        </p:nvSpPr>
        <p:spPr bwMode="auto">
          <a:xfrm>
            <a:off x="4665663" y="1657350"/>
            <a:ext cx="2116137" cy="1847850"/>
          </a:xfrm>
          <a:prstGeom prst="rect">
            <a:avLst/>
          </a:prstGeom>
          <a:solidFill>
            <a:srgbClr val="74C7B8"/>
          </a:solidFill>
          <a:ln w="9525">
            <a:solidFill>
              <a:srgbClr val="74C7B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98000" tIns="154800" rIns="198000" bIns="154800"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lnSpc>
                <a:spcPct val="140000"/>
              </a:lnSpc>
              <a:spcBef>
                <a:spcPct val="0"/>
              </a:spcBef>
              <a:spcAft>
                <a:spcPct val="0"/>
              </a:spcAft>
            </a:pPr>
            <a:r>
              <a:rPr lang="en-GB" altLang="en-US" sz="1800" dirty="0"/>
              <a:t>2</a:t>
            </a:r>
          </a:p>
          <a:p>
            <a:pPr eaLnBrk="0" fontAlgn="base" hangingPunct="0">
              <a:lnSpc>
                <a:spcPct val="140000"/>
              </a:lnSpc>
              <a:spcBef>
                <a:spcPct val="0"/>
              </a:spcBef>
              <a:spcAft>
                <a:spcPct val="0"/>
              </a:spcAft>
            </a:pPr>
            <a:r>
              <a:rPr lang="en-GB" altLang="en-US" sz="1800" dirty="0"/>
              <a:t>Structured English</a:t>
            </a:r>
          </a:p>
        </p:txBody>
      </p:sp>
      <p:sp>
        <p:nvSpPr>
          <p:cNvPr id="6149" name="Rectangle 45"/>
          <p:cNvSpPr>
            <a:spLocks noChangeArrowheads="1"/>
          </p:cNvSpPr>
          <p:nvPr/>
        </p:nvSpPr>
        <p:spPr bwMode="auto">
          <a:xfrm>
            <a:off x="1162050" y="3703638"/>
            <a:ext cx="2116138" cy="1847850"/>
          </a:xfrm>
          <a:prstGeom prst="rect">
            <a:avLst/>
          </a:prstGeom>
          <a:solidFill>
            <a:srgbClr val="CC99FF"/>
          </a:solidFill>
          <a:ln>
            <a:noFill/>
          </a:ln>
          <a:effectLst/>
          <a:extLs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8000" tIns="154800" rIns="198000" bIns="154800"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fontAlgn="base">
              <a:lnSpc>
                <a:spcPct val="110000"/>
              </a:lnSpc>
              <a:spcBef>
                <a:spcPct val="30000"/>
              </a:spcBef>
              <a:spcAft>
                <a:spcPct val="20000"/>
              </a:spcAft>
            </a:pPr>
            <a:r>
              <a:rPr lang="en-GB" altLang="en-US" sz="2000"/>
              <a:t>3</a:t>
            </a:r>
          </a:p>
          <a:p>
            <a:pPr fontAlgn="base">
              <a:lnSpc>
                <a:spcPct val="110000"/>
              </a:lnSpc>
              <a:spcBef>
                <a:spcPct val="30000"/>
              </a:spcBef>
              <a:spcAft>
                <a:spcPct val="20000"/>
              </a:spcAft>
            </a:pPr>
            <a:r>
              <a:rPr lang="en-GB" altLang="en-US" sz="1800"/>
              <a:t>Decision Table</a:t>
            </a:r>
          </a:p>
        </p:txBody>
      </p:sp>
      <p:sp>
        <p:nvSpPr>
          <p:cNvPr id="6150" name="Rectangle 46"/>
          <p:cNvSpPr>
            <a:spLocks noChangeArrowheads="1"/>
          </p:cNvSpPr>
          <p:nvPr/>
        </p:nvSpPr>
        <p:spPr bwMode="auto">
          <a:xfrm>
            <a:off x="4691063" y="3703638"/>
            <a:ext cx="2116137" cy="1847850"/>
          </a:xfrm>
          <a:prstGeom prst="rect">
            <a:avLst/>
          </a:prstGeom>
          <a:solidFill>
            <a:srgbClr val="FFCC99"/>
          </a:solidFill>
          <a:ln>
            <a:noFill/>
          </a:ln>
          <a:effectLst/>
          <a:extLst>
            <a:ext uri="{91240B29-F687-4F45-9708-019B960494DF}">
              <a14:hiddenLine xmlns:a14="http://schemas.microsoft.com/office/drawing/2010/main" w="9525">
                <a:solidFill>
                  <a:srgbClr val="74C7B8"/>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8000" tIns="154800" rIns="198000" bIns="154800"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lnSpc>
                <a:spcPct val="140000"/>
              </a:lnSpc>
              <a:spcBef>
                <a:spcPct val="0"/>
              </a:spcBef>
              <a:spcAft>
                <a:spcPct val="0"/>
              </a:spcAft>
            </a:pPr>
            <a:r>
              <a:rPr lang="en-GB" altLang="en-US" sz="1800"/>
              <a:t>4</a:t>
            </a:r>
          </a:p>
          <a:p>
            <a:pPr eaLnBrk="0" fontAlgn="base" hangingPunct="0">
              <a:lnSpc>
                <a:spcPct val="140000"/>
              </a:lnSpc>
              <a:spcBef>
                <a:spcPct val="0"/>
              </a:spcBef>
              <a:spcAft>
                <a:spcPct val="0"/>
              </a:spcAft>
            </a:pPr>
            <a:r>
              <a:rPr lang="en-GB" altLang="en-US" sz="1800"/>
              <a:t>Decision Tree</a:t>
            </a:r>
          </a:p>
        </p:txBody>
      </p:sp>
    </p:spTree>
    <p:extLst>
      <p:ext uri="{BB962C8B-B14F-4D97-AF65-F5344CB8AC3E}">
        <p14:creationId xmlns:p14="http://schemas.microsoft.com/office/powerpoint/2010/main" val="160864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81000" y="381000"/>
            <a:ext cx="8305800" cy="749300"/>
          </a:xfrm>
        </p:spPr>
        <p:txBody>
          <a:bodyPr/>
          <a:lstStyle/>
          <a:p>
            <a:pPr eaLnBrk="1" hangingPunct="1"/>
            <a:r>
              <a:rPr lang="en-GB" altLang="en-US" b="1"/>
              <a:t>Specifying Processing Logic</a:t>
            </a:r>
          </a:p>
        </p:txBody>
      </p:sp>
      <p:sp>
        <p:nvSpPr>
          <p:cNvPr id="7171" name="Rectangle 3"/>
          <p:cNvSpPr>
            <a:spLocks noGrp="1" noChangeArrowheads="1"/>
          </p:cNvSpPr>
          <p:nvPr>
            <p:ph type="body" idx="1"/>
          </p:nvPr>
        </p:nvSpPr>
        <p:spPr>
          <a:xfrm>
            <a:off x="381000" y="1447800"/>
            <a:ext cx="8305800" cy="4349750"/>
          </a:xfrm>
        </p:spPr>
        <p:txBody>
          <a:bodyPr/>
          <a:lstStyle/>
          <a:p>
            <a:pPr eaLnBrk="1" hangingPunct="1"/>
            <a:endParaRPr lang="en-GB" altLang="en-US" sz="2000" dirty="0"/>
          </a:p>
          <a:p>
            <a:pPr eaLnBrk="1" hangingPunct="1"/>
            <a:r>
              <a:rPr lang="en-GB" altLang="en-US" sz="2000" dirty="0"/>
              <a:t>Data flow diagrams (DFDs) prove very effective tools for identifying processes and data flow within an information system </a:t>
            </a:r>
          </a:p>
          <a:p>
            <a:pPr eaLnBrk="1" hangingPunct="1"/>
            <a:endParaRPr lang="en-GB" altLang="en-US" sz="2000" dirty="0"/>
          </a:p>
          <a:p>
            <a:pPr eaLnBrk="1" hangingPunct="1"/>
            <a:r>
              <a:rPr lang="en-GB" altLang="en-US" sz="2000" b="1" dirty="0"/>
              <a:t>BUT</a:t>
            </a:r>
            <a:r>
              <a:rPr lang="en-GB" altLang="en-US" sz="2000" dirty="0"/>
              <a:t> DFDs do NOT tell us : </a:t>
            </a:r>
          </a:p>
          <a:p>
            <a:pPr lvl="1" eaLnBrk="1" hangingPunct="1"/>
            <a:r>
              <a:rPr lang="en-GB" altLang="en-US" sz="1700" dirty="0"/>
              <a:t>the processing logic inside each process</a:t>
            </a:r>
          </a:p>
          <a:p>
            <a:pPr lvl="1" eaLnBrk="1" hangingPunct="1"/>
            <a:r>
              <a:rPr lang="en-GB" altLang="en-US" sz="1700" dirty="0"/>
              <a:t>when processes run</a:t>
            </a:r>
          </a:p>
          <a:p>
            <a:pPr eaLnBrk="1" hangingPunct="1"/>
            <a:endParaRPr lang="en-GB" altLang="en-US" sz="2000" dirty="0"/>
          </a:p>
          <a:p>
            <a:pPr eaLnBrk="1" hangingPunct="1"/>
            <a:r>
              <a:rPr lang="en-GB" altLang="en-US" sz="2000" dirty="0"/>
              <a:t>We need to specify detailed instructions for the elementary or </a:t>
            </a:r>
            <a:r>
              <a:rPr lang="en-GB" altLang="en-US" sz="2000" i="1" dirty="0"/>
              <a:t>primitive</a:t>
            </a:r>
            <a:r>
              <a:rPr lang="en-GB" altLang="en-US" sz="2000" dirty="0"/>
              <a:t> DFD processes</a:t>
            </a:r>
          </a:p>
          <a:p>
            <a:pPr lvl="1" eaLnBrk="1" hangingPunct="1"/>
            <a:r>
              <a:rPr lang="en-GB" altLang="en-US" sz="1700" dirty="0"/>
              <a:t>elementary process descriptions</a:t>
            </a:r>
          </a:p>
          <a:p>
            <a:pPr lvl="1" eaLnBrk="1" hangingPunct="1"/>
            <a:endParaRPr lang="en-GB" altLang="en-US" sz="1700" dirty="0"/>
          </a:p>
          <a:p>
            <a:pPr eaLnBrk="1" hangingPunct="1"/>
            <a:r>
              <a:rPr lang="en-US" sz="2000" dirty="0"/>
              <a:t>When you analyze a functional primitive, you break the processing steps down into smaller units in a process called modular design.</a:t>
            </a:r>
          </a:p>
          <a:p>
            <a:pPr marL="457200" lvl="1" indent="0" eaLnBrk="1" hangingPunct="1">
              <a:buNone/>
            </a:pPr>
            <a:endParaRPr lang="en-GB" altLang="en-US" sz="1700" dirty="0"/>
          </a:p>
        </p:txBody>
      </p:sp>
    </p:spTree>
    <p:extLst>
      <p:ext uri="{BB962C8B-B14F-4D97-AF65-F5344CB8AC3E}">
        <p14:creationId xmlns:p14="http://schemas.microsoft.com/office/powerpoint/2010/main" val="28345747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2554288" y="266700"/>
            <a:ext cx="45339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r>
              <a:rPr lang="en-GB" altLang="en-US" sz="3000" b="1">
                <a:solidFill>
                  <a:srgbClr val="000000"/>
                </a:solidFill>
                <a:latin typeface="Times New Roman" pitchFamily="18" charset="0"/>
              </a:rPr>
              <a:t>DFD Levels of Abstraction</a:t>
            </a:r>
          </a:p>
        </p:txBody>
      </p:sp>
      <p:sp>
        <p:nvSpPr>
          <p:cNvPr id="943107" name="Text Box 3"/>
          <p:cNvSpPr txBox="1">
            <a:spLocks noChangeArrowheads="1"/>
          </p:cNvSpPr>
          <p:nvPr/>
        </p:nvSpPr>
        <p:spPr bwMode="auto">
          <a:xfrm>
            <a:off x="450850" y="6237288"/>
            <a:ext cx="8020050" cy="438150"/>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spcBef>
                <a:spcPct val="0"/>
              </a:spcBef>
              <a:spcAft>
                <a:spcPct val="0"/>
              </a:spcAft>
              <a:buFont typeface="Symbol" pitchFamily="18" charset="2"/>
              <a:buNone/>
            </a:pPr>
            <a:r>
              <a:rPr lang="en-GB" altLang="en-US" sz="1400" b="1">
                <a:solidFill>
                  <a:srgbClr val="000000"/>
                </a:solidFill>
                <a:latin typeface="Times New Roman" pitchFamily="18" charset="0"/>
              </a:rPr>
              <a:t>See :</a:t>
            </a:r>
            <a:r>
              <a:rPr lang="en-GB" altLang="en-US" sz="1400">
                <a:solidFill>
                  <a:srgbClr val="000000"/>
                </a:solidFill>
                <a:latin typeface="Times New Roman" pitchFamily="18" charset="0"/>
              </a:rPr>
              <a:t> </a:t>
            </a:r>
            <a:r>
              <a:rPr lang="en-US" altLang="en-US" sz="1400">
                <a:solidFill>
                  <a:srgbClr val="000000"/>
                </a:solidFill>
                <a:latin typeface="Times New Roman" pitchFamily="18" charset="0"/>
              </a:rPr>
              <a:t>Lejk, M., and Deeks, D. (2002). </a:t>
            </a:r>
            <a:r>
              <a:rPr lang="en-US" altLang="en-US" sz="1400" i="1">
                <a:solidFill>
                  <a:srgbClr val="000000"/>
                </a:solidFill>
                <a:latin typeface="Times New Roman" pitchFamily="18" charset="0"/>
              </a:rPr>
              <a:t>An Introduction to Systems Analysis Techniques</a:t>
            </a:r>
            <a:r>
              <a:rPr lang="en-US" altLang="en-US" sz="1400">
                <a:solidFill>
                  <a:srgbClr val="000000"/>
                </a:solidFill>
                <a:latin typeface="Times New Roman" pitchFamily="18" charset="0"/>
              </a:rPr>
              <a:t>. 2nd Edition, PP 67, Pearson Education, ISBN: 0201797135. </a:t>
            </a:r>
            <a:endParaRPr lang="en-GB" altLang="en-US" sz="1400">
              <a:solidFill>
                <a:srgbClr val="000000"/>
              </a:solidFill>
              <a:latin typeface="Times New Roman" pitchFamily="18" charset="0"/>
            </a:endParaRPr>
          </a:p>
        </p:txBody>
      </p:sp>
      <p:sp>
        <p:nvSpPr>
          <p:cNvPr id="943108" name="Text Box 4"/>
          <p:cNvSpPr txBox="1">
            <a:spLocks noChangeArrowheads="1"/>
          </p:cNvSpPr>
          <p:nvPr/>
        </p:nvSpPr>
        <p:spPr bwMode="auto">
          <a:xfrm>
            <a:off x="166688" y="5427663"/>
            <a:ext cx="8789987" cy="708025"/>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spcBef>
                <a:spcPct val="0"/>
              </a:spcBef>
              <a:spcAft>
                <a:spcPct val="0"/>
              </a:spcAft>
              <a:buFont typeface="Symbol" pitchFamily="18" charset="2"/>
              <a:buNone/>
            </a:pPr>
            <a:r>
              <a:rPr lang="en-GB" altLang="en-US" sz="2000">
                <a:latin typeface="Times New Roman" pitchFamily="18" charset="0"/>
              </a:rPr>
              <a:t>An elementary process is a DFD process at its lowest level where ALL of its data flows have been revealed.  A description of its logic is then required for that process.</a:t>
            </a:r>
            <a:endParaRPr lang="en-GB" altLang="en-US" sz="1400">
              <a:latin typeface="Times New Roman" pitchFamily="18" charset="0"/>
            </a:endParaRPr>
          </a:p>
        </p:txBody>
      </p:sp>
      <p:grpSp>
        <p:nvGrpSpPr>
          <p:cNvPr id="943109" name="Group 5"/>
          <p:cNvGrpSpPr>
            <a:grpSpLocks/>
          </p:cNvGrpSpPr>
          <p:nvPr/>
        </p:nvGrpSpPr>
        <p:grpSpPr bwMode="auto">
          <a:xfrm>
            <a:off x="1346200" y="1663700"/>
            <a:ext cx="698500" cy="3416300"/>
            <a:chOff x="848" y="1048"/>
            <a:chExt cx="440" cy="2152"/>
          </a:xfrm>
        </p:grpSpPr>
        <p:sp>
          <p:nvSpPr>
            <p:cNvPr id="8290" name="Line 6"/>
            <p:cNvSpPr>
              <a:spLocks noChangeShapeType="1"/>
            </p:cNvSpPr>
            <p:nvPr/>
          </p:nvSpPr>
          <p:spPr bwMode="auto">
            <a:xfrm flipV="1">
              <a:off x="848" y="1048"/>
              <a:ext cx="402" cy="760"/>
            </a:xfrm>
            <a:prstGeom prst="line">
              <a:avLst/>
            </a:prstGeom>
            <a:noFill/>
            <a:ln w="12700">
              <a:solidFill>
                <a:schemeClr val="tx1"/>
              </a:solidFill>
              <a:prstDash val="sysDot"/>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0" fontAlgn="base" hangingPunct="0">
                <a:spcBef>
                  <a:spcPct val="0"/>
                </a:spcBef>
                <a:spcAft>
                  <a:spcPct val="0"/>
                </a:spcAft>
              </a:pPr>
              <a:endParaRPr lang="en-US" sz="1000">
                <a:solidFill>
                  <a:srgbClr val="004D75"/>
                </a:solidFill>
                <a:cs typeface="Arial" charset="0"/>
              </a:endParaRPr>
            </a:p>
          </p:txBody>
        </p:sp>
        <p:sp>
          <p:nvSpPr>
            <p:cNvPr id="8291" name="Line 7"/>
            <p:cNvSpPr>
              <a:spLocks noChangeShapeType="1"/>
            </p:cNvSpPr>
            <p:nvPr/>
          </p:nvSpPr>
          <p:spPr bwMode="auto">
            <a:xfrm>
              <a:off x="864" y="2416"/>
              <a:ext cx="424" cy="784"/>
            </a:xfrm>
            <a:prstGeom prst="line">
              <a:avLst/>
            </a:prstGeom>
            <a:noFill/>
            <a:ln w="12700">
              <a:solidFill>
                <a:schemeClr val="tx1"/>
              </a:solidFill>
              <a:prstDash val="sysDot"/>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0" fontAlgn="base" hangingPunct="0">
                <a:spcBef>
                  <a:spcPct val="0"/>
                </a:spcBef>
                <a:spcAft>
                  <a:spcPct val="0"/>
                </a:spcAft>
              </a:pPr>
              <a:endParaRPr lang="en-US" sz="1000">
                <a:solidFill>
                  <a:srgbClr val="004D75"/>
                </a:solidFill>
                <a:cs typeface="Arial" charset="0"/>
              </a:endParaRPr>
            </a:p>
          </p:txBody>
        </p:sp>
      </p:grpSp>
      <p:grpSp>
        <p:nvGrpSpPr>
          <p:cNvPr id="943112" name="Group 8"/>
          <p:cNvGrpSpPr>
            <a:grpSpLocks/>
          </p:cNvGrpSpPr>
          <p:nvPr/>
        </p:nvGrpSpPr>
        <p:grpSpPr bwMode="auto">
          <a:xfrm>
            <a:off x="3136900" y="1536700"/>
            <a:ext cx="635000" cy="3467100"/>
            <a:chOff x="1976" y="968"/>
            <a:chExt cx="400" cy="2184"/>
          </a:xfrm>
        </p:grpSpPr>
        <p:sp>
          <p:nvSpPr>
            <p:cNvPr id="8288" name="Line 9"/>
            <p:cNvSpPr>
              <a:spLocks noChangeShapeType="1"/>
            </p:cNvSpPr>
            <p:nvPr/>
          </p:nvSpPr>
          <p:spPr bwMode="auto">
            <a:xfrm flipV="1">
              <a:off x="1976" y="968"/>
              <a:ext cx="400" cy="864"/>
            </a:xfrm>
            <a:prstGeom prst="line">
              <a:avLst/>
            </a:prstGeom>
            <a:noFill/>
            <a:ln w="12700">
              <a:solidFill>
                <a:schemeClr val="tx1"/>
              </a:solidFill>
              <a:prstDash val="sysDot"/>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0" fontAlgn="base" hangingPunct="0">
                <a:spcBef>
                  <a:spcPct val="0"/>
                </a:spcBef>
                <a:spcAft>
                  <a:spcPct val="0"/>
                </a:spcAft>
              </a:pPr>
              <a:endParaRPr lang="en-US" sz="1000">
                <a:solidFill>
                  <a:srgbClr val="004D75"/>
                </a:solidFill>
                <a:cs typeface="Arial" charset="0"/>
              </a:endParaRPr>
            </a:p>
          </p:txBody>
        </p:sp>
        <p:sp>
          <p:nvSpPr>
            <p:cNvPr id="8289" name="Line 10"/>
            <p:cNvSpPr>
              <a:spLocks noChangeShapeType="1"/>
            </p:cNvSpPr>
            <p:nvPr/>
          </p:nvSpPr>
          <p:spPr bwMode="auto">
            <a:xfrm>
              <a:off x="1976" y="2408"/>
              <a:ext cx="400" cy="744"/>
            </a:xfrm>
            <a:prstGeom prst="line">
              <a:avLst/>
            </a:prstGeom>
            <a:noFill/>
            <a:ln w="12700">
              <a:solidFill>
                <a:schemeClr val="tx1"/>
              </a:solidFill>
              <a:prstDash val="sysDot"/>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0" fontAlgn="base" hangingPunct="0">
                <a:spcBef>
                  <a:spcPct val="0"/>
                </a:spcBef>
                <a:spcAft>
                  <a:spcPct val="0"/>
                </a:spcAft>
              </a:pPr>
              <a:endParaRPr lang="en-US" sz="1000">
                <a:solidFill>
                  <a:srgbClr val="004D75"/>
                </a:solidFill>
                <a:cs typeface="Arial" charset="0"/>
              </a:endParaRPr>
            </a:p>
          </p:txBody>
        </p:sp>
      </p:grpSp>
      <p:grpSp>
        <p:nvGrpSpPr>
          <p:cNvPr id="943115" name="Group 11"/>
          <p:cNvGrpSpPr>
            <a:grpSpLocks/>
          </p:cNvGrpSpPr>
          <p:nvPr/>
        </p:nvGrpSpPr>
        <p:grpSpPr bwMode="auto">
          <a:xfrm>
            <a:off x="5016500" y="1498600"/>
            <a:ext cx="596900" cy="3479800"/>
            <a:chOff x="3160" y="944"/>
            <a:chExt cx="376" cy="2192"/>
          </a:xfrm>
        </p:grpSpPr>
        <p:sp>
          <p:nvSpPr>
            <p:cNvPr id="8286" name="Line 12"/>
            <p:cNvSpPr>
              <a:spLocks noChangeShapeType="1"/>
            </p:cNvSpPr>
            <p:nvPr/>
          </p:nvSpPr>
          <p:spPr bwMode="auto">
            <a:xfrm flipV="1">
              <a:off x="3160" y="944"/>
              <a:ext cx="376" cy="1000"/>
            </a:xfrm>
            <a:prstGeom prst="line">
              <a:avLst/>
            </a:prstGeom>
            <a:noFill/>
            <a:ln w="12700">
              <a:solidFill>
                <a:schemeClr val="tx1"/>
              </a:solidFill>
              <a:prstDash val="sysDot"/>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0" fontAlgn="base" hangingPunct="0">
                <a:spcBef>
                  <a:spcPct val="0"/>
                </a:spcBef>
                <a:spcAft>
                  <a:spcPct val="0"/>
                </a:spcAft>
              </a:pPr>
              <a:endParaRPr lang="en-US" sz="1000">
                <a:solidFill>
                  <a:srgbClr val="004D75"/>
                </a:solidFill>
                <a:cs typeface="Arial" charset="0"/>
              </a:endParaRPr>
            </a:p>
          </p:txBody>
        </p:sp>
        <p:sp>
          <p:nvSpPr>
            <p:cNvPr id="8287" name="Line 13"/>
            <p:cNvSpPr>
              <a:spLocks noChangeShapeType="1"/>
            </p:cNvSpPr>
            <p:nvPr/>
          </p:nvSpPr>
          <p:spPr bwMode="auto">
            <a:xfrm>
              <a:off x="3168" y="2488"/>
              <a:ext cx="368" cy="648"/>
            </a:xfrm>
            <a:prstGeom prst="line">
              <a:avLst/>
            </a:prstGeom>
            <a:noFill/>
            <a:ln w="12700">
              <a:solidFill>
                <a:schemeClr val="tx1"/>
              </a:solidFill>
              <a:prstDash val="sysDot"/>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0" fontAlgn="base" hangingPunct="0">
                <a:spcBef>
                  <a:spcPct val="0"/>
                </a:spcBef>
                <a:spcAft>
                  <a:spcPct val="0"/>
                </a:spcAft>
              </a:pPr>
              <a:endParaRPr lang="en-US" sz="1000">
                <a:solidFill>
                  <a:srgbClr val="004D75"/>
                </a:solidFill>
                <a:cs typeface="Arial" charset="0"/>
              </a:endParaRPr>
            </a:p>
          </p:txBody>
        </p:sp>
      </p:grpSp>
      <p:grpSp>
        <p:nvGrpSpPr>
          <p:cNvPr id="943118" name="Group 14"/>
          <p:cNvGrpSpPr>
            <a:grpSpLocks/>
          </p:cNvGrpSpPr>
          <p:nvPr/>
        </p:nvGrpSpPr>
        <p:grpSpPr bwMode="auto">
          <a:xfrm>
            <a:off x="236538" y="906463"/>
            <a:ext cx="1179512" cy="4529137"/>
            <a:chOff x="149" y="571"/>
            <a:chExt cx="743" cy="2853"/>
          </a:xfrm>
        </p:grpSpPr>
        <p:sp>
          <p:nvSpPr>
            <p:cNvPr id="8272" name="Line 15"/>
            <p:cNvSpPr>
              <a:spLocks noChangeShapeType="1"/>
            </p:cNvSpPr>
            <p:nvPr/>
          </p:nvSpPr>
          <p:spPr bwMode="auto">
            <a:xfrm flipH="1">
              <a:off x="552" y="2448"/>
              <a:ext cx="0" cy="448"/>
            </a:xfrm>
            <a:prstGeom prst="line">
              <a:avLst/>
            </a:prstGeom>
            <a:noFill/>
            <a:ln w="254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0" fontAlgn="base" hangingPunct="0">
                <a:spcBef>
                  <a:spcPct val="0"/>
                </a:spcBef>
                <a:spcAft>
                  <a:spcPct val="0"/>
                </a:spcAft>
              </a:pPr>
              <a:endParaRPr lang="en-US" sz="1000">
                <a:solidFill>
                  <a:srgbClr val="004D75"/>
                </a:solidFill>
                <a:cs typeface="Arial" charset="0"/>
              </a:endParaRPr>
            </a:p>
          </p:txBody>
        </p:sp>
        <p:sp>
          <p:nvSpPr>
            <p:cNvPr id="8273" name="Line 16"/>
            <p:cNvSpPr>
              <a:spLocks noChangeShapeType="1"/>
            </p:cNvSpPr>
            <p:nvPr/>
          </p:nvSpPr>
          <p:spPr bwMode="auto">
            <a:xfrm flipH="1">
              <a:off x="544" y="1344"/>
              <a:ext cx="8" cy="440"/>
            </a:xfrm>
            <a:prstGeom prst="line">
              <a:avLst/>
            </a:prstGeom>
            <a:noFill/>
            <a:ln w="254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0" fontAlgn="base" hangingPunct="0">
                <a:spcBef>
                  <a:spcPct val="0"/>
                </a:spcBef>
                <a:spcAft>
                  <a:spcPct val="0"/>
                </a:spcAft>
              </a:pPr>
              <a:endParaRPr lang="en-US" sz="1000">
                <a:solidFill>
                  <a:srgbClr val="004D75"/>
                </a:solidFill>
                <a:cs typeface="Arial" charset="0"/>
              </a:endParaRPr>
            </a:p>
          </p:txBody>
        </p:sp>
        <p:sp>
          <p:nvSpPr>
            <p:cNvPr id="8274" name="Text Box 17"/>
            <p:cNvSpPr txBox="1">
              <a:spLocks noChangeArrowheads="1"/>
            </p:cNvSpPr>
            <p:nvPr/>
          </p:nvSpPr>
          <p:spPr bwMode="auto">
            <a:xfrm>
              <a:off x="278" y="571"/>
              <a:ext cx="602" cy="192"/>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spcBef>
                  <a:spcPct val="0"/>
                </a:spcBef>
                <a:spcAft>
                  <a:spcPct val="0"/>
                </a:spcAft>
              </a:pPr>
              <a:r>
                <a:rPr lang="en-GB" altLang="en-US" sz="1400">
                  <a:solidFill>
                    <a:srgbClr val="000000"/>
                  </a:solidFill>
                  <a:latin typeface="Times New Roman" pitchFamily="18" charset="0"/>
                </a:rPr>
                <a:t>Context</a:t>
              </a:r>
              <a:endParaRPr lang="en-GB" altLang="en-US" sz="1400" i="1">
                <a:solidFill>
                  <a:srgbClr val="000000"/>
                </a:solidFill>
                <a:latin typeface="Times New Roman" pitchFamily="18" charset="0"/>
              </a:endParaRPr>
            </a:p>
          </p:txBody>
        </p:sp>
        <p:grpSp>
          <p:nvGrpSpPr>
            <p:cNvPr id="8275" name="Group 18"/>
            <p:cNvGrpSpPr>
              <a:grpSpLocks/>
            </p:cNvGrpSpPr>
            <p:nvPr/>
          </p:nvGrpSpPr>
          <p:grpSpPr bwMode="auto">
            <a:xfrm>
              <a:off x="149" y="1784"/>
              <a:ext cx="743" cy="667"/>
              <a:chOff x="1125" y="2864"/>
              <a:chExt cx="743" cy="667"/>
            </a:xfrm>
          </p:grpSpPr>
          <p:sp>
            <p:nvSpPr>
              <p:cNvPr id="8282" name="Text Box 19"/>
              <p:cNvSpPr txBox="1">
                <a:spLocks noChangeArrowheads="1"/>
              </p:cNvSpPr>
              <p:nvPr/>
            </p:nvSpPr>
            <p:spPr bwMode="auto">
              <a:xfrm>
                <a:off x="1236" y="2874"/>
                <a:ext cx="534" cy="114"/>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r>
                  <a:rPr lang="en-GB" altLang="en-US" sz="1200" b="1">
                    <a:solidFill>
                      <a:srgbClr val="000000"/>
                    </a:solidFill>
                    <a:latin typeface="Times New Roman" pitchFamily="18" charset="0"/>
                  </a:rPr>
                  <a:t>0</a:t>
                </a:r>
              </a:p>
            </p:txBody>
          </p:sp>
          <p:sp>
            <p:nvSpPr>
              <p:cNvPr id="8283" name="Text Box 20"/>
              <p:cNvSpPr txBox="1">
                <a:spLocks noChangeArrowheads="1"/>
              </p:cNvSpPr>
              <p:nvPr/>
            </p:nvSpPr>
            <p:spPr bwMode="auto">
              <a:xfrm>
                <a:off x="1125" y="3106"/>
                <a:ext cx="743" cy="425"/>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r>
                  <a:rPr lang="en-GB" altLang="en-US" sz="1200" b="1">
                    <a:solidFill>
                      <a:srgbClr val="000000"/>
                    </a:solidFill>
                    <a:latin typeface="Times New Roman" pitchFamily="18" charset="0"/>
                  </a:rPr>
                  <a:t>System</a:t>
                </a:r>
              </a:p>
            </p:txBody>
          </p:sp>
          <p:sp>
            <p:nvSpPr>
              <p:cNvPr id="8284" name="AutoShape 21"/>
              <p:cNvSpPr>
                <a:spLocks noChangeArrowheads="1"/>
              </p:cNvSpPr>
              <p:nvPr/>
            </p:nvSpPr>
            <p:spPr bwMode="auto">
              <a:xfrm>
                <a:off x="1166" y="2864"/>
                <a:ext cx="690" cy="664"/>
              </a:xfrm>
              <a:prstGeom prst="flowChartAlternateProcess">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spcBef>
                    <a:spcPct val="0"/>
                  </a:spcBef>
                  <a:spcAft>
                    <a:spcPct val="0"/>
                  </a:spcAft>
                </a:pPr>
                <a:endParaRPr lang="en-US" altLang="en-US"/>
              </a:p>
            </p:txBody>
          </p:sp>
          <p:sp>
            <p:nvSpPr>
              <p:cNvPr id="8285" name="Line 22"/>
              <p:cNvSpPr>
                <a:spLocks noChangeShapeType="1"/>
              </p:cNvSpPr>
              <p:nvPr/>
            </p:nvSpPr>
            <p:spPr bwMode="auto">
              <a:xfrm>
                <a:off x="1160" y="3000"/>
                <a:ext cx="6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1000">
                  <a:solidFill>
                    <a:srgbClr val="004D75"/>
                  </a:solidFill>
                  <a:cs typeface="Arial" charset="0"/>
                </a:endParaRPr>
              </a:p>
            </p:txBody>
          </p:sp>
        </p:grpSp>
        <p:grpSp>
          <p:nvGrpSpPr>
            <p:cNvPr id="8276" name="Group 23"/>
            <p:cNvGrpSpPr>
              <a:grpSpLocks/>
            </p:cNvGrpSpPr>
            <p:nvPr/>
          </p:nvGrpSpPr>
          <p:grpSpPr bwMode="auto">
            <a:xfrm>
              <a:off x="240" y="2888"/>
              <a:ext cx="648" cy="536"/>
              <a:chOff x="864" y="872"/>
              <a:chExt cx="944" cy="728"/>
            </a:xfrm>
          </p:grpSpPr>
          <p:sp>
            <p:nvSpPr>
              <p:cNvPr id="8280" name="Text Box 24"/>
              <p:cNvSpPr txBox="1">
                <a:spLocks noChangeArrowheads="1"/>
              </p:cNvSpPr>
              <p:nvPr/>
            </p:nvSpPr>
            <p:spPr bwMode="auto">
              <a:xfrm>
                <a:off x="913" y="996"/>
                <a:ext cx="854" cy="396"/>
              </a:xfrm>
              <a:prstGeom prst="rect">
                <a:avLst/>
              </a:prstGeom>
              <a:solidFill>
                <a:schemeClr val="bg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endParaRPr lang="en-GB" altLang="en-US" sz="1200" b="1">
                  <a:solidFill>
                    <a:srgbClr val="000000"/>
                  </a:solidFill>
                  <a:latin typeface="Times New Roman" pitchFamily="18" charset="0"/>
                </a:endParaRPr>
              </a:p>
              <a:p>
                <a:pPr algn="ctr" eaLnBrk="0" fontAlgn="base" hangingPunct="0">
                  <a:spcBef>
                    <a:spcPct val="0"/>
                  </a:spcBef>
                  <a:spcAft>
                    <a:spcPct val="0"/>
                  </a:spcAft>
                </a:pPr>
                <a:r>
                  <a:rPr lang="en-GB" altLang="en-US" sz="1200" b="1">
                    <a:solidFill>
                      <a:srgbClr val="000000"/>
                    </a:solidFill>
                    <a:latin typeface="Times New Roman" pitchFamily="18" charset="0"/>
                  </a:rPr>
                  <a:t>Agent</a:t>
                </a:r>
              </a:p>
            </p:txBody>
          </p:sp>
          <p:sp>
            <p:nvSpPr>
              <p:cNvPr id="8281" name="Rectangle 25"/>
              <p:cNvSpPr>
                <a:spLocks noChangeArrowheads="1"/>
              </p:cNvSpPr>
              <p:nvPr/>
            </p:nvSpPr>
            <p:spPr bwMode="auto">
              <a:xfrm>
                <a:off x="864" y="872"/>
                <a:ext cx="944" cy="7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spcBef>
                    <a:spcPct val="0"/>
                  </a:spcBef>
                  <a:spcAft>
                    <a:spcPct val="0"/>
                  </a:spcAft>
                </a:pPr>
                <a:endParaRPr lang="en-US" altLang="en-US"/>
              </a:p>
            </p:txBody>
          </p:sp>
        </p:grpSp>
        <p:grpSp>
          <p:nvGrpSpPr>
            <p:cNvPr id="8277" name="Group 26"/>
            <p:cNvGrpSpPr>
              <a:grpSpLocks/>
            </p:cNvGrpSpPr>
            <p:nvPr/>
          </p:nvGrpSpPr>
          <p:grpSpPr bwMode="auto">
            <a:xfrm>
              <a:off x="232" y="808"/>
              <a:ext cx="648" cy="536"/>
              <a:chOff x="864" y="872"/>
              <a:chExt cx="944" cy="728"/>
            </a:xfrm>
          </p:grpSpPr>
          <p:sp>
            <p:nvSpPr>
              <p:cNvPr id="8278" name="Text Box 27"/>
              <p:cNvSpPr txBox="1">
                <a:spLocks noChangeArrowheads="1"/>
              </p:cNvSpPr>
              <p:nvPr/>
            </p:nvSpPr>
            <p:spPr bwMode="auto">
              <a:xfrm>
                <a:off x="913" y="996"/>
                <a:ext cx="854" cy="396"/>
              </a:xfrm>
              <a:prstGeom prst="rect">
                <a:avLst/>
              </a:prstGeom>
              <a:solidFill>
                <a:schemeClr val="bg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endParaRPr lang="en-GB" altLang="en-US" sz="1200" b="1">
                  <a:solidFill>
                    <a:srgbClr val="000000"/>
                  </a:solidFill>
                  <a:latin typeface="Times New Roman" pitchFamily="18" charset="0"/>
                </a:endParaRPr>
              </a:p>
              <a:p>
                <a:pPr algn="ctr" eaLnBrk="0" fontAlgn="base" hangingPunct="0">
                  <a:spcBef>
                    <a:spcPct val="0"/>
                  </a:spcBef>
                  <a:spcAft>
                    <a:spcPct val="0"/>
                  </a:spcAft>
                </a:pPr>
                <a:r>
                  <a:rPr lang="en-GB" altLang="en-US" sz="1200" b="1">
                    <a:solidFill>
                      <a:srgbClr val="000000"/>
                    </a:solidFill>
                    <a:latin typeface="Times New Roman" pitchFamily="18" charset="0"/>
                  </a:rPr>
                  <a:t>Agent</a:t>
                </a:r>
              </a:p>
            </p:txBody>
          </p:sp>
          <p:sp>
            <p:nvSpPr>
              <p:cNvPr id="8279" name="Rectangle 28"/>
              <p:cNvSpPr>
                <a:spLocks noChangeArrowheads="1"/>
              </p:cNvSpPr>
              <p:nvPr/>
            </p:nvSpPr>
            <p:spPr bwMode="auto">
              <a:xfrm>
                <a:off x="864" y="872"/>
                <a:ext cx="944" cy="7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spcBef>
                    <a:spcPct val="0"/>
                  </a:spcBef>
                  <a:spcAft>
                    <a:spcPct val="0"/>
                  </a:spcAft>
                </a:pPr>
                <a:endParaRPr lang="en-US" altLang="en-US"/>
              </a:p>
            </p:txBody>
          </p:sp>
        </p:grpSp>
      </p:grpSp>
      <p:grpSp>
        <p:nvGrpSpPr>
          <p:cNvPr id="943133" name="Group 29"/>
          <p:cNvGrpSpPr>
            <a:grpSpLocks/>
          </p:cNvGrpSpPr>
          <p:nvPr/>
        </p:nvGrpSpPr>
        <p:grpSpPr bwMode="auto">
          <a:xfrm>
            <a:off x="1925638" y="906463"/>
            <a:ext cx="1319212" cy="4267200"/>
            <a:chOff x="1213" y="571"/>
            <a:chExt cx="831" cy="2688"/>
          </a:xfrm>
        </p:grpSpPr>
        <p:sp>
          <p:nvSpPr>
            <p:cNvPr id="8256" name="Text Box 30"/>
            <p:cNvSpPr txBox="1">
              <a:spLocks noChangeArrowheads="1"/>
            </p:cNvSpPr>
            <p:nvPr/>
          </p:nvSpPr>
          <p:spPr bwMode="auto">
            <a:xfrm>
              <a:off x="1358" y="571"/>
              <a:ext cx="466" cy="192"/>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spcBef>
                  <a:spcPct val="0"/>
                </a:spcBef>
                <a:spcAft>
                  <a:spcPct val="0"/>
                </a:spcAft>
              </a:pPr>
              <a:r>
                <a:rPr lang="en-GB" altLang="en-US" sz="1400">
                  <a:solidFill>
                    <a:srgbClr val="000000"/>
                  </a:solidFill>
                  <a:latin typeface="Times New Roman" pitchFamily="18" charset="0"/>
                </a:rPr>
                <a:t>Level 0</a:t>
              </a:r>
              <a:endParaRPr lang="en-GB" altLang="en-US" sz="1400" i="1">
                <a:solidFill>
                  <a:srgbClr val="000000"/>
                </a:solidFill>
                <a:latin typeface="Times New Roman" pitchFamily="18" charset="0"/>
              </a:endParaRPr>
            </a:p>
          </p:txBody>
        </p:sp>
        <p:grpSp>
          <p:nvGrpSpPr>
            <p:cNvPr id="8257" name="Group 31"/>
            <p:cNvGrpSpPr>
              <a:grpSpLocks/>
            </p:cNvGrpSpPr>
            <p:nvPr/>
          </p:nvGrpSpPr>
          <p:grpSpPr bwMode="auto">
            <a:xfrm>
              <a:off x="1213" y="1016"/>
              <a:ext cx="799" cy="635"/>
              <a:chOff x="1125" y="2864"/>
              <a:chExt cx="743" cy="667"/>
            </a:xfrm>
          </p:grpSpPr>
          <p:sp>
            <p:nvSpPr>
              <p:cNvPr id="8268" name="Text Box 32"/>
              <p:cNvSpPr txBox="1">
                <a:spLocks noChangeArrowheads="1"/>
              </p:cNvSpPr>
              <p:nvPr/>
            </p:nvSpPr>
            <p:spPr bwMode="auto">
              <a:xfrm>
                <a:off x="1236" y="2874"/>
                <a:ext cx="534" cy="114"/>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r>
                  <a:rPr lang="en-GB" altLang="en-US" sz="1200" b="1">
                    <a:solidFill>
                      <a:srgbClr val="000000"/>
                    </a:solidFill>
                    <a:latin typeface="Times New Roman" pitchFamily="18" charset="0"/>
                  </a:rPr>
                  <a:t>1</a:t>
                </a:r>
              </a:p>
            </p:txBody>
          </p:sp>
          <p:sp>
            <p:nvSpPr>
              <p:cNvPr id="8269" name="Text Box 33"/>
              <p:cNvSpPr txBox="1">
                <a:spLocks noChangeArrowheads="1"/>
              </p:cNvSpPr>
              <p:nvPr/>
            </p:nvSpPr>
            <p:spPr bwMode="auto">
              <a:xfrm>
                <a:off x="1125" y="3106"/>
                <a:ext cx="743" cy="425"/>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r>
                  <a:rPr lang="en-GB" altLang="en-US" sz="1200" b="1">
                    <a:solidFill>
                      <a:srgbClr val="000000"/>
                    </a:solidFill>
                    <a:latin typeface="Times New Roman" pitchFamily="18" charset="0"/>
                  </a:rPr>
                  <a:t>Process</a:t>
                </a:r>
              </a:p>
            </p:txBody>
          </p:sp>
          <p:sp>
            <p:nvSpPr>
              <p:cNvPr id="8270" name="AutoShape 34"/>
              <p:cNvSpPr>
                <a:spLocks noChangeArrowheads="1"/>
              </p:cNvSpPr>
              <p:nvPr/>
            </p:nvSpPr>
            <p:spPr bwMode="auto">
              <a:xfrm>
                <a:off x="1166" y="2864"/>
                <a:ext cx="690" cy="664"/>
              </a:xfrm>
              <a:prstGeom prst="flowChartAlternateProcess">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spcBef>
                    <a:spcPct val="0"/>
                  </a:spcBef>
                  <a:spcAft>
                    <a:spcPct val="0"/>
                  </a:spcAft>
                </a:pPr>
                <a:endParaRPr lang="en-US" altLang="en-US"/>
              </a:p>
            </p:txBody>
          </p:sp>
          <p:sp>
            <p:nvSpPr>
              <p:cNvPr id="8271" name="Line 35"/>
              <p:cNvSpPr>
                <a:spLocks noChangeShapeType="1"/>
              </p:cNvSpPr>
              <p:nvPr/>
            </p:nvSpPr>
            <p:spPr bwMode="auto">
              <a:xfrm>
                <a:off x="1160" y="3000"/>
                <a:ext cx="6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1000">
                  <a:solidFill>
                    <a:srgbClr val="004D75"/>
                  </a:solidFill>
                  <a:cs typeface="Arial" charset="0"/>
                </a:endParaRPr>
              </a:p>
            </p:txBody>
          </p:sp>
        </p:grpSp>
        <p:grpSp>
          <p:nvGrpSpPr>
            <p:cNvPr id="8258" name="Group 36"/>
            <p:cNvGrpSpPr>
              <a:grpSpLocks/>
            </p:cNvGrpSpPr>
            <p:nvPr/>
          </p:nvGrpSpPr>
          <p:grpSpPr bwMode="auto">
            <a:xfrm>
              <a:off x="1213" y="1816"/>
              <a:ext cx="799" cy="635"/>
              <a:chOff x="1125" y="2864"/>
              <a:chExt cx="743" cy="667"/>
            </a:xfrm>
          </p:grpSpPr>
          <p:sp>
            <p:nvSpPr>
              <p:cNvPr id="8264" name="Text Box 37"/>
              <p:cNvSpPr txBox="1">
                <a:spLocks noChangeArrowheads="1"/>
              </p:cNvSpPr>
              <p:nvPr/>
            </p:nvSpPr>
            <p:spPr bwMode="auto">
              <a:xfrm>
                <a:off x="1236" y="2874"/>
                <a:ext cx="534" cy="114"/>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r>
                  <a:rPr lang="en-GB" altLang="en-US" sz="1200" b="1">
                    <a:solidFill>
                      <a:srgbClr val="000000"/>
                    </a:solidFill>
                    <a:latin typeface="Times New Roman" pitchFamily="18" charset="0"/>
                  </a:rPr>
                  <a:t>2</a:t>
                </a:r>
              </a:p>
            </p:txBody>
          </p:sp>
          <p:sp>
            <p:nvSpPr>
              <p:cNvPr id="8265" name="Text Box 38"/>
              <p:cNvSpPr txBox="1">
                <a:spLocks noChangeArrowheads="1"/>
              </p:cNvSpPr>
              <p:nvPr/>
            </p:nvSpPr>
            <p:spPr bwMode="auto">
              <a:xfrm>
                <a:off x="1125" y="3106"/>
                <a:ext cx="743" cy="425"/>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r>
                  <a:rPr lang="en-GB" altLang="en-US" sz="1200" b="1">
                    <a:solidFill>
                      <a:srgbClr val="000000"/>
                    </a:solidFill>
                    <a:latin typeface="Times New Roman" pitchFamily="18" charset="0"/>
                  </a:rPr>
                  <a:t>Process</a:t>
                </a:r>
              </a:p>
            </p:txBody>
          </p:sp>
          <p:sp>
            <p:nvSpPr>
              <p:cNvPr id="8266" name="AutoShape 39"/>
              <p:cNvSpPr>
                <a:spLocks noChangeArrowheads="1"/>
              </p:cNvSpPr>
              <p:nvPr/>
            </p:nvSpPr>
            <p:spPr bwMode="auto">
              <a:xfrm>
                <a:off x="1166" y="2864"/>
                <a:ext cx="690" cy="664"/>
              </a:xfrm>
              <a:prstGeom prst="flowChartAlternateProcess">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spcBef>
                    <a:spcPct val="0"/>
                  </a:spcBef>
                  <a:spcAft>
                    <a:spcPct val="0"/>
                  </a:spcAft>
                </a:pPr>
                <a:endParaRPr lang="en-US" altLang="en-US"/>
              </a:p>
            </p:txBody>
          </p:sp>
          <p:sp>
            <p:nvSpPr>
              <p:cNvPr id="8267" name="Line 40"/>
              <p:cNvSpPr>
                <a:spLocks noChangeShapeType="1"/>
              </p:cNvSpPr>
              <p:nvPr/>
            </p:nvSpPr>
            <p:spPr bwMode="auto">
              <a:xfrm>
                <a:off x="1160" y="3000"/>
                <a:ext cx="6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1000">
                  <a:solidFill>
                    <a:srgbClr val="004D75"/>
                  </a:solidFill>
                  <a:cs typeface="Arial" charset="0"/>
                </a:endParaRPr>
              </a:p>
            </p:txBody>
          </p:sp>
        </p:grpSp>
        <p:grpSp>
          <p:nvGrpSpPr>
            <p:cNvPr id="8259" name="Group 41"/>
            <p:cNvGrpSpPr>
              <a:grpSpLocks/>
            </p:cNvGrpSpPr>
            <p:nvPr/>
          </p:nvGrpSpPr>
          <p:grpSpPr bwMode="auto">
            <a:xfrm>
              <a:off x="1245" y="2624"/>
              <a:ext cx="799" cy="635"/>
              <a:chOff x="1125" y="2864"/>
              <a:chExt cx="743" cy="667"/>
            </a:xfrm>
          </p:grpSpPr>
          <p:sp>
            <p:nvSpPr>
              <p:cNvPr id="8260" name="Text Box 42"/>
              <p:cNvSpPr txBox="1">
                <a:spLocks noChangeArrowheads="1"/>
              </p:cNvSpPr>
              <p:nvPr/>
            </p:nvSpPr>
            <p:spPr bwMode="auto">
              <a:xfrm>
                <a:off x="1236" y="2874"/>
                <a:ext cx="534" cy="114"/>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r>
                  <a:rPr lang="en-GB" altLang="en-US" sz="1200" b="1">
                    <a:solidFill>
                      <a:srgbClr val="000000"/>
                    </a:solidFill>
                    <a:latin typeface="Times New Roman" pitchFamily="18" charset="0"/>
                  </a:rPr>
                  <a:t>3</a:t>
                </a:r>
              </a:p>
            </p:txBody>
          </p:sp>
          <p:sp>
            <p:nvSpPr>
              <p:cNvPr id="8261" name="Text Box 43"/>
              <p:cNvSpPr txBox="1">
                <a:spLocks noChangeArrowheads="1"/>
              </p:cNvSpPr>
              <p:nvPr/>
            </p:nvSpPr>
            <p:spPr bwMode="auto">
              <a:xfrm>
                <a:off x="1125" y="3106"/>
                <a:ext cx="743" cy="425"/>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r>
                  <a:rPr lang="en-GB" altLang="en-US" sz="1200" b="1">
                    <a:solidFill>
                      <a:srgbClr val="000000"/>
                    </a:solidFill>
                    <a:latin typeface="Times New Roman" pitchFamily="18" charset="0"/>
                  </a:rPr>
                  <a:t>Process</a:t>
                </a:r>
              </a:p>
            </p:txBody>
          </p:sp>
          <p:sp>
            <p:nvSpPr>
              <p:cNvPr id="8262" name="AutoShape 44"/>
              <p:cNvSpPr>
                <a:spLocks noChangeArrowheads="1"/>
              </p:cNvSpPr>
              <p:nvPr/>
            </p:nvSpPr>
            <p:spPr bwMode="auto">
              <a:xfrm>
                <a:off x="1166" y="2864"/>
                <a:ext cx="690" cy="664"/>
              </a:xfrm>
              <a:prstGeom prst="flowChartAlternateProcess">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spcBef>
                    <a:spcPct val="0"/>
                  </a:spcBef>
                  <a:spcAft>
                    <a:spcPct val="0"/>
                  </a:spcAft>
                </a:pPr>
                <a:endParaRPr lang="en-US" altLang="en-US"/>
              </a:p>
            </p:txBody>
          </p:sp>
          <p:sp>
            <p:nvSpPr>
              <p:cNvPr id="8263" name="Line 45"/>
              <p:cNvSpPr>
                <a:spLocks noChangeShapeType="1"/>
              </p:cNvSpPr>
              <p:nvPr/>
            </p:nvSpPr>
            <p:spPr bwMode="auto">
              <a:xfrm>
                <a:off x="1160" y="3000"/>
                <a:ext cx="6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1000">
                  <a:solidFill>
                    <a:srgbClr val="004D75"/>
                  </a:solidFill>
                  <a:cs typeface="Arial" charset="0"/>
                </a:endParaRPr>
              </a:p>
            </p:txBody>
          </p:sp>
        </p:grpSp>
      </p:grpSp>
      <p:grpSp>
        <p:nvGrpSpPr>
          <p:cNvPr id="943150" name="Group 46"/>
          <p:cNvGrpSpPr>
            <a:grpSpLocks/>
          </p:cNvGrpSpPr>
          <p:nvPr/>
        </p:nvGrpSpPr>
        <p:grpSpPr bwMode="auto">
          <a:xfrm>
            <a:off x="3794125" y="906463"/>
            <a:ext cx="1557338" cy="4264025"/>
            <a:chOff x="2390" y="571"/>
            <a:chExt cx="981" cy="2686"/>
          </a:xfrm>
        </p:grpSpPr>
        <p:sp>
          <p:nvSpPr>
            <p:cNvPr id="8236" name="Text Box 47"/>
            <p:cNvSpPr txBox="1">
              <a:spLocks noChangeArrowheads="1"/>
            </p:cNvSpPr>
            <p:nvPr/>
          </p:nvSpPr>
          <p:spPr bwMode="auto">
            <a:xfrm>
              <a:off x="2590" y="571"/>
              <a:ext cx="466" cy="192"/>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spcBef>
                  <a:spcPct val="0"/>
                </a:spcBef>
                <a:spcAft>
                  <a:spcPct val="0"/>
                </a:spcAft>
              </a:pPr>
              <a:r>
                <a:rPr lang="en-GB" altLang="en-US" sz="1400">
                  <a:solidFill>
                    <a:srgbClr val="000000"/>
                  </a:solidFill>
                  <a:latin typeface="Times New Roman" pitchFamily="18" charset="0"/>
                </a:rPr>
                <a:t>Level 1</a:t>
              </a:r>
              <a:endParaRPr lang="en-GB" altLang="en-US" sz="1400" i="1">
                <a:solidFill>
                  <a:srgbClr val="000000"/>
                </a:solidFill>
                <a:latin typeface="Times New Roman" pitchFamily="18" charset="0"/>
              </a:endParaRPr>
            </a:p>
          </p:txBody>
        </p:sp>
        <p:sp>
          <p:nvSpPr>
            <p:cNvPr id="8237" name="Text Box 48"/>
            <p:cNvSpPr txBox="1">
              <a:spLocks noChangeArrowheads="1"/>
            </p:cNvSpPr>
            <p:nvPr/>
          </p:nvSpPr>
          <p:spPr bwMode="auto">
            <a:xfrm>
              <a:off x="2497" y="979"/>
              <a:ext cx="753" cy="141"/>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r>
                <a:rPr lang="en-GB" altLang="en-US" sz="1200" b="1">
                  <a:solidFill>
                    <a:srgbClr val="000000"/>
                  </a:solidFill>
                  <a:latin typeface="Times New Roman" pitchFamily="18" charset="0"/>
                </a:rPr>
                <a:t>2</a:t>
              </a:r>
            </a:p>
          </p:txBody>
        </p:sp>
        <p:grpSp>
          <p:nvGrpSpPr>
            <p:cNvPr id="8238" name="Group 49"/>
            <p:cNvGrpSpPr>
              <a:grpSpLocks/>
            </p:cNvGrpSpPr>
            <p:nvPr/>
          </p:nvGrpSpPr>
          <p:grpSpPr bwMode="auto">
            <a:xfrm>
              <a:off x="2390" y="944"/>
              <a:ext cx="981" cy="2313"/>
              <a:chOff x="2390" y="944"/>
              <a:chExt cx="981" cy="2313"/>
            </a:xfrm>
          </p:grpSpPr>
          <p:sp>
            <p:nvSpPr>
              <p:cNvPr id="8254" name="AutoShape 50"/>
              <p:cNvSpPr>
                <a:spLocks noChangeArrowheads="1"/>
              </p:cNvSpPr>
              <p:nvPr/>
            </p:nvSpPr>
            <p:spPr bwMode="auto">
              <a:xfrm>
                <a:off x="2399" y="944"/>
                <a:ext cx="972" cy="2313"/>
              </a:xfrm>
              <a:prstGeom prst="flowChartAlternateProcess">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spcBef>
                    <a:spcPct val="0"/>
                  </a:spcBef>
                  <a:spcAft>
                    <a:spcPct val="0"/>
                  </a:spcAft>
                </a:pPr>
                <a:endParaRPr lang="en-US" altLang="en-US"/>
              </a:p>
            </p:txBody>
          </p:sp>
          <p:sp>
            <p:nvSpPr>
              <p:cNvPr id="8255" name="Line 51"/>
              <p:cNvSpPr>
                <a:spLocks noChangeShapeType="1"/>
              </p:cNvSpPr>
              <p:nvPr/>
            </p:nvSpPr>
            <p:spPr bwMode="auto">
              <a:xfrm>
                <a:off x="2390" y="1170"/>
                <a:ext cx="97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1000">
                  <a:solidFill>
                    <a:srgbClr val="004D75"/>
                  </a:solidFill>
                  <a:cs typeface="Arial" charset="0"/>
                </a:endParaRPr>
              </a:p>
            </p:txBody>
          </p:sp>
        </p:grpSp>
        <p:grpSp>
          <p:nvGrpSpPr>
            <p:cNvPr id="8239" name="Group 52"/>
            <p:cNvGrpSpPr>
              <a:grpSpLocks/>
            </p:cNvGrpSpPr>
            <p:nvPr/>
          </p:nvGrpSpPr>
          <p:grpSpPr bwMode="auto">
            <a:xfrm>
              <a:off x="2493" y="1225"/>
              <a:ext cx="695" cy="626"/>
              <a:chOff x="4917" y="3145"/>
              <a:chExt cx="695" cy="626"/>
            </a:xfrm>
          </p:grpSpPr>
          <p:sp>
            <p:nvSpPr>
              <p:cNvPr id="8250" name="Text Box 53"/>
              <p:cNvSpPr txBox="1">
                <a:spLocks noChangeArrowheads="1"/>
              </p:cNvSpPr>
              <p:nvPr/>
            </p:nvSpPr>
            <p:spPr bwMode="auto">
              <a:xfrm>
                <a:off x="5013" y="3145"/>
                <a:ext cx="499" cy="105"/>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r>
                  <a:rPr lang="en-GB" altLang="en-US" sz="1200" b="1">
                    <a:solidFill>
                      <a:srgbClr val="000000"/>
                    </a:solidFill>
                    <a:latin typeface="Times New Roman" pitchFamily="18" charset="0"/>
                  </a:rPr>
                  <a:t>2.1</a:t>
                </a:r>
              </a:p>
            </p:txBody>
          </p:sp>
          <p:sp>
            <p:nvSpPr>
              <p:cNvPr id="8251" name="Text Box 54"/>
              <p:cNvSpPr txBox="1">
                <a:spLocks noChangeArrowheads="1"/>
              </p:cNvSpPr>
              <p:nvPr/>
            </p:nvSpPr>
            <p:spPr bwMode="auto">
              <a:xfrm>
                <a:off x="4917" y="3382"/>
                <a:ext cx="695" cy="389"/>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r>
                  <a:rPr lang="en-GB" altLang="en-US" sz="1200" b="1">
                    <a:solidFill>
                      <a:srgbClr val="000000"/>
                    </a:solidFill>
                    <a:latin typeface="Times New Roman" pitchFamily="18" charset="0"/>
                  </a:rPr>
                  <a:t>Sub-Process</a:t>
                </a:r>
              </a:p>
            </p:txBody>
          </p:sp>
          <p:sp>
            <p:nvSpPr>
              <p:cNvPr id="8252" name="AutoShape 55"/>
              <p:cNvSpPr>
                <a:spLocks noChangeArrowheads="1"/>
              </p:cNvSpPr>
              <p:nvPr/>
            </p:nvSpPr>
            <p:spPr bwMode="auto">
              <a:xfrm>
                <a:off x="4955" y="3160"/>
                <a:ext cx="646" cy="608"/>
              </a:xfrm>
              <a:prstGeom prst="flowChartAlternateProcess">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spcBef>
                    <a:spcPct val="0"/>
                  </a:spcBef>
                  <a:spcAft>
                    <a:spcPct val="0"/>
                  </a:spcAft>
                </a:pPr>
                <a:endParaRPr lang="en-US" altLang="en-US"/>
              </a:p>
            </p:txBody>
          </p:sp>
          <p:sp>
            <p:nvSpPr>
              <p:cNvPr id="8253" name="Line 56"/>
              <p:cNvSpPr>
                <a:spLocks noChangeShapeType="1"/>
              </p:cNvSpPr>
              <p:nvPr/>
            </p:nvSpPr>
            <p:spPr bwMode="auto">
              <a:xfrm>
                <a:off x="4950" y="3285"/>
                <a:ext cx="6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1000">
                  <a:solidFill>
                    <a:srgbClr val="004D75"/>
                  </a:solidFill>
                  <a:cs typeface="Arial" charset="0"/>
                </a:endParaRPr>
              </a:p>
            </p:txBody>
          </p:sp>
        </p:grpSp>
        <p:grpSp>
          <p:nvGrpSpPr>
            <p:cNvPr id="8240" name="Group 57"/>
            <p:cNvGrpSpPr>
              <a:grpSpLocks/>
            </p:cNvGrpSpPr>
            <p:nvPr/>
          </p:nvGrpSpPr>
          <p:grpSpPr bwMode="auto">
            <a:xfrm>
              <a:off x="2501" y="1897"/>
              <a:ext cx="695" cy="626"/>
              <a:chOff x="4917" y="3145"/>
              <a:chExt cx="695" cy="626"/>
            </a:xfrm>
          </p:grpSpPr>
          <p:sp>
            <p:nvSpPr>
              <p:cNvPr id="8246" name="Text Box 58"/>
              <p:cNvSpPr txBox="1">
                <a:spLocks noChangeArrowheads="1"/>
              </p:cNvSpPr>
              <p:nvPr/>
            </p:nvSpPr>
            <p:spPr bwMode="auto">
              <a:xfrm>
                <a:off x="5013" y="3145"/>
                <a:ext cx="499" cy="105"/>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r>
                  <a:rPr lang="en-GB" altLang="en-US" sz="1200" b="1">
                    <a:solidFill>
                      <a:srgbClr val="000000"/>
                    </a:solidFill>
                    <a:latin typeface="Times New Roman" pitchFamily="18" charset="0"/>
                  </a:rPr>
                  <a:t>2.2</a:t>
                </a:r>
              </a:p>
            </p:txBody>
          </p:sp>
          <p:sp>
            <p:nvSpPr>
              <p:cNvPr id="8247" name="Text Box 59"/>
              <p:cNvSpPr txBox="1">
                <a:spLocks noChangeArrowheads="1"/>
              </p:cNvSpPr>
              <p:nvPr/>
            </p:nvSpPr>
            <p:spPr bwMode="auto">
              <a:xfrm>
                <a:off x="4917" y="3382"/>
                <a:ext cx="695" cy="389"/>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r>
                  <a:rPr lang="en-GB" altLang="en-US" sz="1200" b="1">
                    <a:solidFill>
                      <a:srgbClr val="000000"/>
                    </a:solidFill>
                    <a:latin typeface="Times New Roman" pitchFamily="18" charset="0"/>
                  </a:rPr>
                  <a:t>Sub-Process</a:t>
                </a:r>
              </a:p>
            </p:txBody>
          </p:sp>
          <p:sp>
            <p:nvSpPr>
              <p:cNvPr id="8248" name="AutoShape 60"/>
              <p:cNvSpPr>
                <a:spLocks noChangeArrowheads="1"/>
              </p:cNvSpPr>
              <p:nvPr/>
            </p:nvSpPr>
            <p:spPr bwMode="auto">
              <a:xfrm>
                <a:off x="4955" y="3160"/>
                <a:ext cx="646" cy="608"/>
              </a:xfrm>
              <a:prstGeom prst="flowChartAlternateProcess">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spcBef>
                    <a:spcPct val="0"/>
                  </a:spcBef>
                  <a:spcAft>
                    <a:spcPct val="0"/>
                  </a:spcAft>
                </a:pPr>
                <a:endParaRPr lang="en-US" altLang="en-US"/>
              </a:p>
            </p:txBody>
          </p:sp>
          <p:sp>
            <p:nvSpPr>
              <p:cNvPr id="8249" name="Line 61"/>
              <p:cNvSpPr>
                <a:spLocks noChangeShapeType="1"/>
              </p:cNvSpPr>
              <p:nvPr/>
            </p:nvSpPr>
            <p:spPr bwMode="auto">
              <a:xfrm>
                <a:off x="4950" y="3285"/>
                <a:ext cx="6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1000">
                  <a:solidFill>
                    <a:srgbClr val="004D75"/>
                  </a:solidFill>
                  <a:cs typeface="Arial" charset="0"/>
                </a:endParaRPr>
              </a:p>
            </p:txBody>
          </p:sp>
        </p:grpSp>
        <p:grpSp>
          <p:nvGrpSpPr>
            <p:cNvPr id="8241" name="Group 62"/>
            <p:cNvGrpSpPr>
              <a:grpSpLocks/>
            </p:cNvGrpSpPr>
            <p:nvPr/>
          </p:nvGrpSpPr>
          <p:grpSpPr bwMode="auto">
            <a:xfrm>
              <a:off x="2509" y="2585"/>
              <a:ext cx="695" cy="626"/>
              <a:chOff x="4917" y="3145"/>
              <a:chExt cx="695" cy="626"/>
            </a:xfrm>
          </p:grpSpPr>
          <p:sp>
            <p:nvSpPr>
              <p:cNvPr id="8242" name="Text Box 63"/>
              <p:cNvSpPr txBox="1">
                <a:spLocks noChangeArrowheads="1"/>
              </p:cNvSpPr>
              <p:nvPr/>
            </p:nvSpPr>
            <p:spPr bwMode="auto">
              <a:xfrm>
                <a:off x="5013" y="3145"/>
                <a:ext cx="499" cy="105"/>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r>
                  <a:rPr lang="en-GB" altLang="en-US" sz="1200" b="1">
                    <a:solidFill>
                      <a:srgbClr val="000000"/>
                    </a:solidFill>
                    <a:latin typeface="Times New Roman" pitchFamily="18" charset="0"/>
                  </a:rPr>
                  <a:t>2.3</a:t>
                </a:r>
              </a:p>
            </p:txBody>
          </p:sp>
          <p:sp>
            <p:nvSpPr>
              <p:cNvPr id="8243" name="Text Box 64"/>
              <p:cNvSpPr txBox="1">
                <a:spLocks noChangeArrowheads="1"/>
              </p:cNvSpPr>
              <p:nvPr/>
            </p:nvSpPr>
            <p:spPr bwMode="auto">
              <a:xfrm>
                <a:off x="4917" y="3382"/>
                <a:ext cx="695" cy="389"/>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r>
                  <a:rPr lang="en-GB" altLang="en-US" sz="1200" b="1">
                    <a:solidFill>
                      <a:srgbClr val="000000"/>
                    </a:solidFill>
                    <a:latin typeface="Times New Roman" pitchFamily="18" charset="0"/>
                  </a:rPr>
                  <a:t>Sub-Process</a:t>
                </a:r>
              </a:p>
            </p:txBody>
          </p:sp>
          <p:sp>
            <p:nvSpPr>
              <p:cNvPr id="8244" name="AutoShape 65"/>
              <p:cNvSpPr>
                <a:spLocks noChangeArrowheads="1"/>
              </p:cNvSpPr>
              <p:nvPr/>
            </p:nvSpPr>
            <p:spPr bwMode="auto">
              <a:xfrm>
                <a:off x="4955" y="3160"/>
                <a:ext cx="646" cy="608"/>
              </a:xfrm>
              <a:prstGeom prst="flowChartAlternateProcess">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spcBef>
                    <a:spcPct val="0"/>
                  </a:spcBef>
                  <a:spcAft>
                    <a:spcPct val="0"/>
                  </a:spcAft>
                </a:pPr>
                <a:endParaRPr lang="en-US" altLang="en-US"/>
              </a:p>
            </p:txBody>
          </p:sp>
          <p:sp>
            <p:nvSpPr>
              <p:cNvPr id="8245" name="Line 66"/>
              <p:cNvSpPr>
                <a:spLocks noChangeShapeType="1"/>
              </p:cNvSpPr>
              <p:nvPr/>
            </p:nvSpPr>
            <p:spPr bwMode="auto">
              <a:xfrm>
                <a:off x="4950" y="3285"/>
                <a:ext cx="6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1000">
                  <a:solidFill>
                    <a:srgbClr val="004D75"/>
                  </a:solidFill>
                  <a:cs typeface="Arial" charset="0"/>
                </a:endParaRPr>
              </a:p>
            </p:txBody>
          </p:sp>
        </p:grpSp>
      </p:grpSp>
      <p:grpSp>
        <p:nvGrpSpPr>
          <p:cNvPr id="943171" name="Group 67"/>
          <p:cNvGrpSpPr>
            <a:grpSpLocks/>
          </p:cNvGrpSpPr>
          <p:nvPr/>
        </p:nvGrpSpPr>
        <p:grpSpPr bwMode="auto">
          <a:xfrm>
            <a:off x="6794500" y="1498600"/>
            <a:ext cx="596900" cy="3543300"/>
            <a:chOff x="4280" y="944"/>
            <a:chExt cx="376" cy="2232"/>
          </a:xfrm>
        </p:grpSpPr>
        <p:sp>
          <p:nvSpPr>
            <p:cNvPr id="8234" name="Line 68"/>
            <p:cNvSpPr>
              <a:spLocks noChangeShapeType="1"/>
            </p:cNvSpPr>
            <p:nvPr/>
          </p:nvSpPr>
          <p:spPr bwMode="auto">
            <a:xfrm flipV="1">
              <a:off x="4280" y="944"/>
              <a:ext cx="376" cy="1000"/>
            </a:xfrm>
            <a:prstGeom prst="line">
              <a:avLst/>
            </a:prstGeom>
            <a:noFill/>
            <a:ln w="12700">
              <a:solidFill>
                <a:schemeClr val="tx1"/>
              </a:solidFill>
              <a:prstDash val="sysDot"/>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0" fontAlgn="base" hangingPunct="0">
                <a:spcBef>
                  <a:spcPct val="0"/>
                </a:spcBef>
                <a:spcAft>
                  <a:spcPct val="0"/>
                </a:spcAft>
              </a:pPr>
              <a:endParaRPr lang="en-US" sz="1000">
                <a:solidFill>
                  <a:srgbClr val="004D75"/>
                </a:solidFill>
                <a:cs typeface="Arial" charset="0"/>
              </a:endParaRPr>
            </a:p>
          </p:txBody>
        </p:sp>
        <p:sp>
          <p:nvSpPr>
            <p:cNvPr id="8235" name="Line 69"/>
            <p:cNvSpPr>
              <a:spLocks noChangeShapeType="1"/>
            </p:cNvSpPr>
            <p:nvPr/>
          </p:nvSpPr>
          <p:spPr bwMode="auto">
            <a:xfrm>
              <a:off x="4288" y="2488"/>
              <a:ext cx="360" cy="688"/>
            </a:xfrm>
            <a:prstGeom prst="line">
              <a:avLst/>
            </a:prstGeom>
            <a:noFill/>
            <a:ln w="12700">
              <a:solidFill>
                <a:schemeClr val="tx1"/>
              </a:solidFill>
              <a:prstDash val="sysDot"/>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0" fontAlgn="base" hangingPunct="0">
                <a:spcBef>
                  <a:spcPct val="0"/>
                </a:spcBef>
                <a:spcAft>
                  <a:spcPct val="0"/>
                </a:spcAft>
              </a:pPr>
              <a:endParaRPr lang="en-US" sz="1000">
                <a:solidFill>
                  <a:srgbClr val="004D75"/>
                </a:solidFill>
                <a:cs typeface="Arial" charset="0"/>
              </a:endParaRPr>
            </a:p>
          </p:txBody>
        </p:sp>
      </p:grpSp>
      <p:grpSp>
        <p:nvGrpSpPr>
          <p:cNvPr id="943174" name="Group 70"/>
          <p:cNvGrpSpPr>
            <a:grpSpLocks/>
          </p:cNvGrpSpPr>
          <p:nvPr/>
        </p:nvGrpSpPr>
        <p:grpSpPr bwMode="auto">
          <a:xfrm>
            <a:off x="5572125" y="906463"/>
            <a:ext cx="1557338" cy="4264025"/>
            <a:chOff x="3510" y="571"/>
            <a:chExt cx="981" cy="2686"/>
          </a:xfrm>
        </p:grpSpPr>
        <p:sp>
          <p:nvSpPr>
            <p:cNvPr id="8214" name="Text Box 71"/>
            <p:cNvSpPr txBox="1">
              <a:spLocks noChangeArrowheads="1"/>
            </p:cNvSpPr>
            <p:nvPr/>
          </p:nvSpPr>
          <p:spPr bwMode="auto">
            <a:xfrm>
              <a:off x="3710" y="571"/>
              <a:ext cx="466" cy="192"/>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spcBef>
                  <a:spcPct val="0"/>
                </a:spcBef>
                <a:spcAft>
                  <a:spcPct val="0"/>
                </a:spcAft>
              </a:pPr>
              <a:r>
                <a:rPr lang="en-GB" altLang="en-US" sz="1400">
                  <a:solidFill>
                    <a:srgbClr val="000000"/>
                  </a:solidFill>
                  <a:latin typeface="Times New Roman" pitchFamily="18" charset="0"/>
                </a:rPr>
                <a:t>Level 2</a:t>
              </a:r>
              <a:endParaRPr lang="en-GB" altLang="en-US" sz="1400" i="1">
                <a:solidFill>
                  <a:srgbClr val="000000"/>
                </a:solidFill>
                <a:latin typeface="Times New Roman" pitchFamily="18" charset="0"/>
              </a:endParaRPr>
            </a:p>
          </p:txBody>
        </p:sp>
        <p:sp>
          <p:nvSpPr>
            <p:cNvPr id="8215" name="Text Box 72"/>
            <p:cNvSpPr txBox="1">
              <a:spLocks noChangeArrowheads="1"/>
            </p:cNvSpPr>
            <p:nvPr/>
          </p:nvSpPr>
          <p:spPr bwMode="auto">
            <a:xfrm>
              <a:off x="3617" y="979"/>
              <a:ext cx="753" cy="141"/>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r>
                <a:rPr lang="en-GB" altLang="en-US" sz="1200" b="1">
                  <a:solidFill>
                    <a:srgbClr val="000000"/>
                  </a:solidFill>
                  <a:latin typeface="Times New Roman" pitchFamily="18" charset="0"/>
                </a:rPr>
                <a:t>2.2</a:t>
              </a:r>
            </a:p>
          </p:txBody>
        </p:sp>
        <p:grpSp>
          <p:nvGrpSpPr>
            <p:cNvPr id="8216" name="Group 73"/>
            <p:cNvGrpSpPr>
              <a:grpSpLocks/>
            </p:cNvGrpSpPr>
            <p:nvPr/>
          </p:nvGrpSpPr>
          <p:grpSpPr bwMode="auto">
            <a:xfrm>
              <a:off x="3510" y="944"/>
              <a:ext cx="981" cy="2313"/>
              <a:chOff x="2390" y="944"/>
              <a:chExt cx="981" cy="2313"/>
            </a:xfrm>
          </p:grpSpPr>
          <p:sp>
            <p:nvSpPr>
              <p:cNvPr id="8232" name="AutoShape 74"/>
              <p:cNvSpPr>
                <a:spLocks noChangeArrowheads="1"/>
              </p:cNvSpPr>
              <p:nvPr/>
            </p:nvSpPr>
            <p:spPr bwMode="auto">
              <a:xfrm>
                <a:off x="2399" y="944"/>
                <a:ext cx="972" cy="2313"/>
              </a:xfrm>
              <a:prstGeom prst="flowChartAlternateProcess">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spcBef>
                    <a:spcPct val="0"/>
                  </a:spcBef>
                  <a:spcAft>
                    <a:spcPct val="0"/>
                  </a:spcAft>
                </a:pPr>
                <a:endParaRPr lang="en-US" altLang="en-US"/>
              </a:p>
            </p:txBody>
          </p:sp>
          <p:sp>
            <p:nvSpPr>
              <p:cNvPr id="8233" name="Line 75"/>
              <p:cNvSpPr>
                <a:spLocks noChangeShapeType="1"/>
              </p:cNvSpPr>
              <p:nvPr/>
            </p:nvSpPr>
            <p:spPr bwMode="auto">
              <a:xfrm>
                <a:off x="2390" y="1170"/>
                <a:ext cx="97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1000">
                  <a:solidFill>
                    <a:srgbClr val="004D75"/>
                  </a:solidFill>
                  <a:cs typeface="Arial" charset="0"/>
                </a:endParaRPr>
              </a:p>
            </p:txBody>
          </p:sp>
        </p:grpSp>
        <p:grpSp>
          <p:nvGrpSpPr>
            <p:cNvPr id="8217" name="Group 76"/>
            <p:cNvGrpSpPr>
              <a:grpSpLocks/>
            </p:cNvGrpSpPr>
            <p:nvPr/>
          </p:nvGrpSpPr>
          <p:grpSpPr bwMode="auto">
            <a:xfrm>
              <a:off x="3613" y="1225"/>
              <a:ext cx="695" cy="626"/>
              <a:chOff x="4917" y="3145"/>
              <a:chExt cx="695" cy="626"/>
            </a:xfrm>
          </p:grpSpPr>
          <p:sp>
            <p:nvSpPr>
              <p:cNvPr id="8228" name="Text Box 77"/>
              <p:cNvSpPr txBox="1">
                <a:spLocks noChangeArrowheads="1"/>
              </p:cNvSpPr>
              <p:nvPr/>
            </p:nvSpPr>
            <p:spPr bwMode="auto">
              <a:xfrm>
                <a:off x="5013" y="3145"/>
                <a:ext cx="499" cy="105"/>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r>
                  <a:rPr lang="en-GB" altLang="en-US" sz="1200" b="1">
                    <a:solidFill>
                      <a:srgbClr val="000000"/>
                    </a:solidFill>
                    <a:latin typeface="Times New Roman" pitchFamily="18" charset="0"/>
                  </a:rPr>
                  <a:t>2.2.1</a:t>
                </a:r>
              </a:p>
            </p:txBody>
          </p:sp>
          <p:sp>
            <p:nvSpPr>
              <p:cNvPr id="8229" name="Text Box 78"/>
              <p:cNvSpPr txBox="1">
                <a:spLocks noChangeArrowheads="1"/>
              </p:cNvSpPr>
              <p:nvPr/>
            </p:nvSpPr>
            <p:spPr bwMode="auto">
              <a:xfrm>
                <a:off x="4917" y="3382"/>
                <a:ext cx="695" cy="389"/>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r>
                  <a:rPr lang="en-GB" altLang="en-US" sz="1200" b="1">
                    <a:solidFill>
                      <a:srgbClr val="000000"/>
                    </a:solidFill>
                    <a:latin typeface="Times New Roman" pitchFamily="18" charset="0"/>
                  </a:rPr>
                  <a:t>Sub-Sub-Process</a:t>
                </a:r>
              </a:p>
            </p:txBody>
          </p:sp>
          <p:sp>
            <p:nvSpPr>
              <p:cNvPr id="8230" name="AutoShape 79"/>
              <p:cNvSpPr>
                <a:spLocks noChangeArrowheads="1"/>
              </p:cNvSpPr>
              <p:nvPr/>
            </p:nvSpPr>
            <p:spPr bwMode="auto">
              <a:xfrm>
                <a:off x="4955" y="3160"/>
                <a:ext cx="646" cy="608"/>
              </a:xfrm>
              <a:prstGeom prst="flowChartAlternateProcess">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spcBef>
                    <a:spcPct val="0"/>
                  </a:spcBef>
                  <a:spcAft>
                    <a:spcPct val="0"/>
                  </a:spcAft>
                </a:pPr>
                <a:endParaRPr lang="en-US" altLang="en-US"/>
              </a:p>
            </p:txBody>
          </p:sp>
          <p:sp>
            <p:nvSpPr>
              <p:cNvPr id="8231" name="Line 80"/>
              <p:cNvSpPr>
                <a:spLocks noChangeShapeType="1"/>
              </p:cNvSpPr>
              <p:nvPr/>
            </p:nvSpPr>
            <p:spPr bwMode="auto">
              <a:xfrm>
                <a:off x="4950" y="3285"/>
                <a:ext cx="6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1000">
                  <a:solidFill>
                    <a:srgbClr val="004D75"/>
                  </a:solidFill>
                  <a:cs typeface="Arial" charset="0"/>
                </a:endParaRPr>
              </a:p>
            </p:txBody>
          </p:sp>
        </p:grpSp>
        <p:grpSp>
          <p:nvGrpSpPr>
            <p:cNvPr id="8218" name="Group 81"/>
            <p:cNvGrpSpPr>
              <a:grpSpLocks/>
            </p:cNvGrpSpPr>
            <p:nvPr/>
          </p:nvGrpSpPr>
          <p:grpSpPr bwMode="auto">
            <a:xfrm>
              <a:off x="3621" y="1897"/>
              <a:ext cx="695" cy="626"/>
              <a:chOff x="4917" y="3145"/>
              <a:chExt cx="695" cy="626"/>
            </a:xfrm>
          </p:grpSpPr>
          <p:sp>
            <p:nvSpPr>
              <p:cNvPr id="8224" name="Text Box 82"/>
              <p:cNvSpPr txBox="1">
                <a:spLocks noChangeArrowheads="1"/>
              </p:cNvSpPr>
              <p:nvPr/>
            </p:nvSpPr>
            <p:spPr bwMode="auto">
              <a:xfrm>
                <a:off x="5013" y="3145"/>
                <a:ext cx="499" cy="105"/>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r>
                  <a:rPr lang="en-GB" altLang="en-US" sz="1200" b="1">
                    <a:solidFill>
                      <a:srgbClr val="000000"/>
                    </a:solidFill>
                    <a:latin typeface="Times New Roman" pitchFamily="18" charset="0"/>
                  </a:rPr>
                  <a:t>2.2.2</a:t>
                </a:r>
              </a:p>
            </p:txBody>
          </p:sp>
          <p:sp>
            <p:nvSpPr>
              <p:cNvPr id="8225" name="Text Box 83"/>
              <p:cNvSpPr txBox="1">
                <a:spLocks noChangeArrowheads="1"/>
              </p:cNvSpPr>
              <p:nvPr/>
            </p:nvSpPr>
            <p:spPr bwMode="auto">
              <a:xfrm>
                <a:off x="4917" y="3382"/>
                <a:ext cx="695" cy="389"/>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r>
                  <a:rPr lang="en-GB" altLang="en-US" sz="1200" b="1">
                    <a:solidFill>
                      <a:srgbClr val="000000"/>
                    </a:solidFill>
                    <a:latin typeface="Times New Roman" pitchFamily="18" charset="0"/>
                  </a:rPr>
                  <a:t>Sub-Sub-Process</a:t>
                </a:r>
              </a:p>
            </p:txBody>
          </p:sp>
          <p:sp>
            <p:nvSpPr>
              <p:cNvPr id="8226" name="AutoShape 84"/>
              <p:cNvSpPr>
                <a:spLocks noChangeArrowheads="1"/>
              </p:cNvSpPr>
              <p:nvPr/>
            </p:nvSpPr>
            <p:spPr bwMode="auto">
              <a:xfrm>
                <a:off x="4955" y="3160"/>
                <a:ext cx="646" cy="608"/>
              </a:xfrm>
              <a:prstGeom prst="flowChartAlternateProcess">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spcBef>
                    <a:spcPct val="0"/>
                  </a:spcBef>
                  <a:spcAft>
                    <a:spcPct val="0"/>
                  </a:spcAft>
                </a:pPr>
                <a:endParaRPr lang="en-US" altLang="en-US"/>
              </a:p>
            </p:txBody>
          </p:sp>
          <p:sp>
            <p:nvSpPr>
              <p:cNvPr id="8227" name="Line 85"/>
              <p:cNvSpPr>
                <a:spLocks noChangeShapeType="1"/>
              </p:cNvSpPr>
              <p:nvPr/>
            </p:nvSpPr>
            <p:spPr bwMode="auto">
              <a:xfrm>
                <a:off x="4950" y="3285"/>
                <a:ext cx="6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1000">
                  <a:solidFill>
                    <a:srgbClr val="004D75"/>
                  </a:solidFill>
                  <a:cs typeface="Arial" charset="0"/>
                </a:endParaRPr>
              </a:p>
            </p:txBody>
          </p:sp>
        </p:grpSp>
        <p:grpSp>
          <p:nvGrpSpPr>
            <p:cNvPr id="8219" name="Group 86"/>
            <p:cNvGrpSpPr>
              <a:grpSpLocks/>
            </p:cNvGrpSpPr>
            <p:nvPr/>
          </p:nvGrpSpPr>
          <p:grpSpPr bwMode="auto">
            <a:xfrm>
              <a:off x="3629" y="2585"/>
              <a:ext cx="695" cy="626"/>
              <a:chOff x="4917" y="3145"/>
              <a:chExt cx="695" cy="626"/>
            </a:xfrm>
          </p:grpSpPr>
          <p:sp>
            <p:nvSpPr>
              <p:cNvPr id="8220" name="Text Box 87"/>
              <p:cNvSpPr txBox="1">
                <a:spLocks noChangeArrowheads="1"/>
              </p:cNvSpPr>
              <p:nvPr/>
            </p:nvSpPr>
            <p:spPr bwMode="auto">
              <a:xfrm>
                <a:off x="5013" y="3145"/>
                <a:ext cx="499" cy="105"/>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r>
                  <a:rPr lang="en-GB" altLang="en-US" sz="1200" b="1">
                    <a:solidFill>
                      <a:srgbClr val="000000"/>
                    </a:solidFill>
                    <a:latin typeface="Times New Roman" pitchFamily="18" charset="0"/>
                  </a:rPr>
                  <a:t>2.2.3</a:t>
                </a:r>
              </a:p>
            </p:txBody>
          </p:sp>
          <p:sp>
            <p:nvSpPr>
              <p:cNvPr id="8221" name="Text Box 88"/>
              <p:cNvSpPr txBox="1">
                <a:spLocks noChangeArrowheads="1"/>
              </p:cNvSpPr>
              <p:nvPr/>
            </p:nvSpPr>
            <p:spPr bwMode="auto">
              <a:xfrm>
                <a:off x="4917" y="3382"/>
                <a:ext cx="695" cy="389"/>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r>
                  <a:rPr lang="en-GB" altLang="en-US" sz="1200" b="1">
                    <a:solidFill>
                      <a:srgbClr val="000000"/>
                    </a:solidFill>
                    <a:latin typeface="Times New Roman" pitchFamily="18" charset="0"/>
                  </a:rPr>
                  <a:t>Sub-Sub-Process</a:t>
                </a:r>
              </a:p>
            </p:txBody>
          </p:sp>
          <p:sp>
            <p:nvSpPr>
              <p:cNvPr id="8222" name="AutoShape 89"/>
              <p:cNvSpPr>
                <a:spLocks noChangeArrowheads="1"/>
              </p:cNvSpPr>
              <p:nvPr/>
            </p:nvSpPr>
            <p:spPr bwMode="auto">
              <a:xfrm>
                <a:off x="4955" y="3160"/>
                <a:ext cx="646" cy="608"/>
              </a:xfrm>
              <a:prstGeom prst="flowChartAlternateProcess">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spcBef>
                    <a:spcPct val="0"/>
                  </a:spcBef>
                  <a:spcAft>
                    <a:spcPct val="0"/>
                  </a:spcAft>
                </a:pPr>
                <a:endParaRPr lang="en-US" altLang="en-US"/>
              </a:p>
            </p:txBody>
          </p:sp>
          <p:sp>
            <p:nvSpPr>
              <p:cNvPr id="8223" name="Line 90"/>
              <p:cNvSpPr>
                <a:spLocks noChangeShapeType="1"/>
              </p:cNvSpPr>
              <p:nvPr/>
            </p:nvSpPr>
            <p:spPr bwMode="auto">
              <a:xfrm>
                <a:off x="4950" y="3285"/>
                <a:ext cx="6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1000">
                  <a:solidFill>
                    <a:srgbClr val="004D75"/>
                  </a:solidFill>
                  <a:cs typeface="Arial" charset="0"/>
                </a:endParaRPr>
              </a:p>
            </p:txBody>
          </p:sp>
        </p:grpSp>
      </p:grpSp>
      <p:grpSp>
        <p:nvGrpSpPr>
          <p:cNvPr id="943195" name="Group 91"/>
          <p:cNvGrpSpPr>
            <a:grpSpLocks/>
          </p:cNvGrpSpPr>
          <p:nvPr/>
        </p:nvGrpSpPr>
        <p:grpSpPr bwMode="auto">
          <a:xfrm>
            <a:off x="7350125" y="906463"/>
            <a:ext cx="1565275" cy="4225925"/>
            <a:chOff x="4630" y="571"/>
            <a:chExt cx="986" cy="2662"/>
          </a:xfrm>
        </p:grpSpPr>
        <p:grpSp>
          <p:nvGrpSpPr>
            <p:cNvPr id="8206" name="Group 92"/>
            <p:cNvGrpSpPr>
              <a:grpSpLocks/>
            </p:cNvGrpSpPr>
            <p:nvPr/>
          </p:nvGrpSpPr>
          <p:grpSpPr bwMode="auto">
            <a:xfrm>
              <a:off x="4713" y="1180"/>
              <a:ext cx="903" cy="1875"/>
              <a:chOff x="4689" y="980"/>
              <a:chExt cx="903" cy="1875"/>
            </a:xfrm>
          </p:grpSpPr>
          <p:sp>
            <p:nvSpPr>
              <p:cNvPr id="8212" name="Text Box 93"/>
              <p:cNvSpPr txBox="1">
                <a:spLocks noChangeArrowheads="1"/>
              </p:cNvSpPr>
              <p:nvPr/>
            </p:nvSpPr>
            <p:spPr bwMode="auto">
              <a:xfrm>
                <a:off x="4781" y="1012"/>
                <a:ext cx="811" cy="199"/>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endParaRPr lang="en-US" altLang="en-US" sz="1200" b="1">
                  <a:solidFill>
                    <a:srgbClr val="000000"/>
                  </a:solidFill>
                  <a:latin typeface="Times New Roman" pitchFamily="18" charset="0"/>
                </a:endParaRPr>
              </a:p>
            </p:txBody>
          </p:sp>
          <p:sp>
            <p:nvSpPr>
              <p:cNvPr id="8213" name="Text Box 94"/>
              <p:cNvSpPr txBox="1">
                <a:spLocks noChangeArrowheads="1"/>
              </p:cNvSpPr>
              <p:nvPr/>
            </p:nvSpPr>
            <p:spPr bwMode="auto">
              <a:xfrm>
                <a:off x="4689" y="980"/>
                <a:ext cx="839" cy="1875"/>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spcBef>
                    <a:spcPct val="0"/>
                  </a:spcBef>
                  <a:spcAft>
                    <a:spcPct val="0"/>
                  </a:spcAft>
                </a:pPr>
                <a:r>
                  <a:rPr lang="en-GB" altLang="en-US" sz="1200" b="1" dirty="0">
                    <a:solidFill>
                      <a:srgbClr val="000000"/>
                    </a:solidFill>
                    <a:latin typeface="Times New Roman" pitchFamily="18" charset="0"/>
                  </a:rPr>
                  <a:t>Elementary Process Description</a:t>
                </a:r>
              </a:p>
              <a:p>
                <a:pPr eaLnBrk="0" fontAlgn="base" hangingPunct="0">
                  <a:spcBef>
                    <a:spcPct val="0"/>
                  </a:spcBef>
                  <a:spcAft>
                    <a:spcPct val="0"/>
                  </a:spcAft>
                </a:pPr>
                <a:r>
                  <a:rPr lang="en-GB" altLang="en-US" sz="1200" i="1" dirty="0">
                    <a:solidFill>
                      <a:srgbClr val="000000"/>
                    </a:solidFill>
                    <a:latin typeface="Times New Roman" pitchFamily="18" charset="0"/>
                  </a:rPr>
                  <a:t>(Logic Modelling)</a:t>
                </a:r>
              </a:p>
              <a:p>
                <a:pPr eaLnBrk="0" fontAlgn="base" hangingPunct="0">
                  <a:spcBef>
                    <a:spcPct val="0"/>
                  </a:spcBef>
                  <a:spcAft>
                    <a:spcPct val="0"/>
                  </a:spcAft>
                </a:pPr>
                <a:endParaRPr lang="en-GB" altLang="en-US" sz="1200" dirty="0">
                  <a:solidFill>
                    <a:srgbClr val="000000"/>
                  </a:solidFill>
                  <a:latin typeface="Times New Roman" pitchFamily="18" charset="0"/>
                </a:endParaRPr>
              </a:p>
              <a:p>
                <a:pPr eaLnBrk="0" fontAlgn="base" hangingPunct="0">
                  <a:spcBef>
                    <a:spcPct val="0"/>
                  </a:spcBef>
                  <a:spcAft>
                    <a:spcPct val="0"/>
                  </a:spcAft>
                  <a:buFontTx/>
                  <a:buChar char="•"/>
                </a:pPr>
                <a:r>
                  <a:rPr lang="en-GB" altLang="en-US" sz="1200" dirty="0">
                    <a:solidFill>
                      <a:srgbClr val="000000"/>
                    </a:solidFill>
                    <a:latin typeface="Times New Roman" pitchFamily="18" charset="0"/>
                  </a:rPr>
                  <a:t> Decision tables</a:t>
                </a:r>
              </a:p>
              <a:p>
                <a:pPr eaLnBrk="0" fontAlgn="base" hangingPunct="0">
                  <a:spcBef>
                    <a:spcPct val="0"/>
                  </a:spcBef>
                  <a:spcAft>
                    <a:spcPct val="0"/>
                  </a:spcAft>
                  <a:buFontTx/>
                  <a:buChar char="•"/>
                </a:pPr>
                <a:r>
                  <a:rPr lang="en-GB" altLang="en-US" sz="1200" dirty="0">
                    <a:solidFill>
                      <a:srgbClr val="000000"/>
                    </a:solidFill>
                    <a:latin typeface="Times New Roman" pitchFamily="18" charset="0"/>
                  </a:rPr>
                  <a:t> Decision trees</a:t>
                </a:r>
              </a:p>
              <a:p>
                <a:pPr eaLnBrk="0" fontAlgn="base" hangingPunct="0">
                  <a:spcBef>
                    <a:spcPct val="0"/>
                  </a:spcBef>
                  <a:spcAft>
                    <a:spcPct val="0"/>
                  </a:spcAft>
                  <a:buFontTx/>
                  <a:buChar char="•"/>
                </a:pPr>
                <a:r>
                  <a:rPr lang="en-GB" altLang="en-US" sz="1200" dirty="0">
                    <a:solidFill>
                      <a:srgbClr val="000000"/>
                    </a:solidFill>
                    <a:latin typeface="Times New Roman" pitchFamily="18" charset="0"/>
                  </a:rPr>
                  <a:t> Structured</a:t>
                </a:r>
              </a:p>
              <a:p>
                <a:pPr eaLnBrk="0" fontAlgn="base" hangingPunct="0">
                  <a:spcBef>
                    <a:spcPct val="0"/>
                  </a:spcBef>
                  <a:spcAft>
                    <a:spcPct val="0"/>
                  </a:spcAft>
                </a:pPr>
                <a:r>
                  <a:rPr lang="en-GB" altLang="en-US" sz="1200" dirty="0">
                    <a:solidFill>
                      <a:srgbClr val="000000"/>
                    </a:solidFill>
                    <a:latin typeface="Times New Roman" pitchFamily="18" charset="0"/>
                  </a:rPr>
                  <a:t>  English</a:t>
                </a:r>
                <a:endParaRPr lang="en-GB" altLang="en-US" sz="1200" b="1" dirty="0">
                  <a:solidFill>
                    <a:srgbClr val="000000"/>
                  </a:solidFill>
                  <a:latin typeface="Times New Roman" pitchFamily="18" charset="0"/>
                </a:endParaRPr>
              </a:p>
            </p:txBody>
          </p:sp>
        </p:grpSp>
        <p:sp>
          <p:nvSpPr>
            <p:cNvPr id="8207" name="Text Box 95"/>
            <p:cNvSpPr txBox="1">
              <a:spLocks noChangeArrowheads="1"/>
            </p:cNvSpPr>
            <p:nvPr/>
          </p:nvSpPr>
          <p:spPr bwMode="auto">
            <a:xfrm>
              <a:off x="4902" y="571"/>
              <a:ext cx="466" cy="194"/>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spcBef>
                  <a:spcPct val="0"/>
                </a:spcBef>
                <a:spcAft>
                  <a:spcPct val="0"/>
                </a:spcAft>
              </a:pPr>
              <a:r>
                <a:rPr lang="en-GB" altLang="en-US" sz="1400" dirty="0">
                  <a:solidFill>
                    <a:srgbClr val="000000"/>
                  </a:solidFill>
                  <a:latin typeface="Times New Roman" pitchFamily="18" charset="0"/>
                </a:rPr>
                <a:t>Level n</a:t>
              </a:r>
              <a:endParaRPr lang="en-GB" altLang="en-US" sz="1400" i="1" dirty="0">
                <a:solidFill>
                  <a:srgbClr val="000000"/>
                </a:solidFill>
                <a:latin typeface="Times New Roman" pitchFamily="18" charset="0"/>
              </a:endParaRPr>
            </a:p>
          </p:txBody>
        </p:sp>
        <p:grpSp>
          <p:nvGrpSpPr>
            <p:cNvPr id="8208" name="Group 96"/>
            <p:cNvGrpSpPr>
              <a:grpSpLocks/>
            </p:cNvGrpSpPr>
            <p:nvPr/>
          </p:nvGrpSpPr>
          <p:grpSpPr bwMode="auto">
            <a:xfrm>
              <a:off x="4630" y="920"/>
              <a:ext cx="981" cy="2313"/>
              <a:chOff x="2390" y="944"/>
              <a:chExt cx="981" cy="2313"/>
            </a:xfrm>
          </p:grpSpPr>
          <p:sp>
            <p:nvSpPr>
              <p:cNvPr id="8210" name="AutoShape 97"/>
              <p:cNvSpPr>
                <a:spLocks noChangeArrowheads="1"/>
              </p:cNvSpPr>
              <p:nvPr/>
            </p:nvSpPr>
            <p:spPr bwMode="auto">
              <a:xfrm>
                <a:off x="2399" y="944"/>
                <a:ext cx="972" cy="2313"/>
              </a:xfrm>
              <a:prstGeom prst="flowChartAlternateProcess">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spcBef>
                    <a:spcPct val="0"/>
                  </a:spcBef>
                  <a:spcAft>
                    <a:spcPct val="0"/>
                  </a:spcAft>
                </a:pPr>
                <a:endParaRPr lang="en-US" altLang="en-US"/>
              </a:p>
            </p:txBody>
          </p:sp>
          <p:sp>
            <p:nvSpPr>
              <p:cNvPr id="8211" name="Line 98"/>
              <p:cNvSpPr>
                <a:spLocks noChangeShapeType="1"/>
              </p:cNvSpPr>
              <p:nvPr/>
            </p:nvSpPr>
            <p:spPr bwMode="auto">
              <a:xfrm>
                <a:off x="2390" y="1170"/>
                <a:ext cx="97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1000">
                  <a:solidFill>
                    <a:srgbClr val="004D75"/>
                  </a:solidFill>
                  <a:cs typeface="Arial" charset="0"/>
                </a:endParaRPr>
              </a:p>
            </p:txBody>
          </p:sp>
        </p:grpSp>
        <p:sp>
          <p:nvSpPr>
            <p:cNvPr id="8209" name="Text Box 99"/>
            <p:cNvSpPr txBox="1">
              <a:spLocks noChangeArrowheads="1"/>
            </p:cNvSpPr>
            <p:nvPr/>
          </p:nvSpPr>
          <p:spPr bwMode="auto">
            <a:xfrm>
              <a:off x="4737" y="955"/>
              <a:ext cx="753" cy="141"/>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r>
                <a:rPr lang="en-GB" altLang="en-US" sz="1200" b="1">
                  <a:solidFill>
                    <a:srgbClr val="000000"/>
                  </a:solidFill>
                  <a:latin typeface="Times New Roman" pitchFamily="18" charset="0"/>
                </a:rPr>
                <a:t>2.2.2</a:t>
              </a:r>
            </a:p>
          </p:txBody>
        </p:sp>
      </p:grpSp>
    </p:spTree>
    <p:extLst>
      <p:ext uri="{BB962C8B-B14F-4D97-AF65-F5344CB8AC3E}">
        <p14:creationId xmlns:p14="http://schemas.microsoft.com/office/powerpoint/2010/main" val="33908291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943118"/>
                                        </p:tgtEl>
                                        <p:attrNameLst>
                                          <p:attrName>style.visibility</p:attrName>
                                        </p:attrNameLst>
                                      </p:cBhvr>
                                      <p:to>
                                        <p:strVal val="visible"/>
                                      </p:to>
                                    </p:set>
                                    <p:animEffect transition="in" filter="fade">
                                      <p:cBhvr>
                                        <p:cTn id="7" dur="2000"/>
                                        <p:tgtEl>
                                          <p:spTgt spid="9431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43109"/>
                                        </p:tgtEl>
                                        <p:attrNameLst>
                                          <p:attrName>style.visibility</p:attrName>
                                        </p:attrNameLst>
                                      </p:cBhvr>
                                      <p:to>
                                        <p:strVal val="visible"/>
                                      </p:to>
                                    </p:set>
                                    <p:animEffect transition="in" filter="wipe(left)">
                                      <p:cBhvr>
                                        <p:cTn id="12" dur="500"/>
                                        <p:tgtEl>
                                          <p:spTgt spid="943109"/>
                                        </p:tgtEl>
                                      </p:cBhvr>
                                    </p:animEffect>
                                  </p:childTnLst>
                                </p:cTn>
                              </p:par>
                            </p:childTnLst>
                          </p:cTn>
                        </p:par>
                        <p:par>
                          <p:cTn id="13" fill="hold" nodeType="afterGroup">
                            <p:stCondLst>
                              <p:cond delay="500"/>
                            </p:stCondLst>
                            <p:childTnLst>
                              <p:par>
                                <p:cTn id="14" presetID="10" presetClass="entr" presetSubtype="0" fill="hold" nodeType="afterEffect">
                                  <p:stCondLst>
                                    <p:cond delay="0"/>
                                  </p:stCondLst>
                                  <p:childTnLst>
                                    <p:set>
                                      <p:cBhvr>
                                        <p:cTn id="15" dur="1" fill="hold">
                                          <p:stCondLst>
                                            <p:cond delay="0"/>
                                          </p:stCondLst>
                                        </p:cTn>
                                        <p:tgtEl>
                                          <p:spTgt spid="943133"/>
                                        </p:tgtEl>
                                        <p:attrNameLst>
                                          <p:attrName>style.visibility</p:attrName>
                                        </p:attrNameLst>
                                      </p:cBhvr>
                                      <p:to>
                                        <p:strVal val="visible"/>
                                      </p:to>
                                    </p:set>
                                    <p:animEffect transition="in" filter="fade">
                                      <p:cBhvr>
                                        <p:cTn id="16" dur="2000"/>
                                        <p:tgtEl>
                                          <p:spTgt spid="94313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943112"/>
                                        </p:tgtEl>
                                        <p:attrNameLst>
                                          <p:attrName>style.visibility</p:attrName>
                                        </p:attrNameLst>
                                      </p:cBhvr>
                                      <p:to>
                                        <p:strVal val="visible"/>
                                      </p:to>
                                    </p:set>
                                    <p:animEffect transition="in" filter="wipe(left)">
                                      <p:cBhvr>
                                        <p:cTn id="21" dur="500"/>
                                        <p:tgtEl>
                                          <p:spTgt spid="943112"/>
                                        </p:tgtEl>
                                      </p:cBhvr>
                                    </p:animEffect>
                                  </p:childTnLst>
                                </p:cTn>
                              </p:par>
                            </p:childTnLst>
                          </p:cTn>
                        </p:par>
                        <p:par>
                          <p:cTn id="22" fill="hold" nodeType="afterGroup">
                            <p:stCondLst>
                              <p:cond delay="500"/>
                            </p:stCondLst>
                            <p:childTnLst>
                              <p:par>
                                <p:cTn id="23" presetID="10" presetClass="entr" presetSubtype="0" fill="hold" nodeType="afterEffect">
                                  <p:stCondLst>
                                    <p:cond delay="0"/>
                                  </p:stCondLst>
                                  <p:childTnLst>
                                    <p:set>
                                      <p:cBhvr>
                                        <p:cTn id="24" dur="1" fill="hold">
                                          <p:stCondLst>
                                            <p:cond delay="0"/>
                                          </p:stCondLst>
                                        </p:cTn>
                                        <p:tgtEl>
                                          <p:spTgt spid="943150"/>
                                        </p:tgtEl>
                                        <p:attrNameLst>
                                          <p:attrName>style.visibility</p:attrName>
                                        </p:attrNameLst>
                                      </p:cBhvr>
                                      <p:to>
                                        <p:strVal val="visible"/>
                                      </p:to>
                                    </p:set>
                                    <p:animEffect transition="in" filter="fade">
                                      <p:cBhvr>
                                        <p:cTn id="25" dur="2000"/>
                                        <p:tgtEl>
                                          <p:spTgt spid="94315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943115"/>
                                        </p:tgtEl>
                                        <p:attrNameLst>
                                          <p:attrName>style.visibility</p:attrName>
                                        </p:attrNameLst>
                                      </p:cBhvr>
                                      <p:to>
                                        <p:strVal val="visible"/>
                                      </p:to>
                                    </p:set>
                                    <p:animEffect transition="in" filter="wipe(left)">
                                      <p:cBhvr>
                                        <p:cTn id="30" dur="500"/>
                                        <p:tgtEl>
                                          <p:spTgt spid="943115"/>
                                        </p:tgtEl>
                                      </p:cBhvr>
                                    </p:animEffect>
                                  </p:childTnLst>
                                </p:cTn>
                              </p:par>
                            </p:childTnLst>
                          </p:cTn>
                        </p:par>
                        <p:par>
                          <p:cTn id="31" fill="hold" nodeType="afterGroup">
                            <p:stCondLst>
                              <p:cond delay="500"/>
                            </p:stCondLst>
                            <p:childTnLst>
                              <p:par>
                                <p:cTn id="32" presetID="10" presetClass="entr" presetSubtype="0" fill="hold" nodeType="afterEffect">
                                  <p:stCondLst>
                                    <p:cond delay="0"/>
                                  </p:stCondLst>
                                  <p:childTnLst>
                                    <p:set>
                                      <p:cBhvr>
                                        <p:cTn id="33" dur="1" fill="hold">
                                          <p:stCondLst>
                                            <p:cond delay="0"/>
                                          </p:stCondLst>
                                        </p:cTn>
                                        <p:tgtEl>
                                          <p:spTgt spid="943174"/>
                                        </p:tgtEl>
                                        <p:attrNameLst>
                                          <p:attrName>style.visibility</p:attrName>
                                        </p:attrNameLst>
                                      </p:cBhvr>
                                      <p:to>
                                        <p:strVal val="visible"/>
                                      </p:to>
                                    </p:set>
                                    <p:animEffect transition="in" filter="fade">
                                      <p:cBhvr>
                                        <p:cTn id="34" dur="2000"/>
                                        <p:tgtEl>
                                          <p:spTgt spid="943174"/>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943171"/>
                                        </p:tgtEl>
                                        <p:attrNameLst>
                                          <p:attrName>style.visibility</p:attrName>
                                        </p:attrNameLst>
                                      </p:cBhvr>
                                      <p:to>
                                        <p:strVal val="visible"/>
                                      </p:to>
                                    </p:set>
                                    <p:animEffect transition="in" filter="wipe(left)">
                                      <p:cBhvr>
                                        <p:cTn id="39" dur="500"/>
                                        <p:tgtEl>
                                          <p:spTgt spid="943171"/>
                                        </p:tgtEl>
                                      </p:cBhvr>
                                    </p:animEffect>
                                  </p:childTnLst>
                                </p:cTn>
                              </p:par>
                            </p:childTnLst>
                          </p:cTn>
                        </p:par>
                        <p:par>
                          <p:cTn id="40" fill="hold" nodeType="afterGroup">
                            <p:stCondLst>
                              <p:cond delay="500"/>
                            </p:stCondLst>
                            <p:childTnLst>
                              <p:par>
                                <p:cTn id="41" presetID="10" presetClass="entr" presetSubtype="0" fill="hold" nodeType="afterEffect">
                                  <p:stCondLst>
                                    <p:cond delay="0"/>
                                  </p:stCondLst>
                                  <p:childTnLst>
                                    <p:set>
                                      <p:cBhvr>
                                        <p:cTn id="42" dur="1" fill="hold">
                                          <p:stCondLst>
                                            <p:cond delay="0"/>
                                          </p:stCondLst>
                                        </p:cTn>
                                        <p:tgtEl>
                                          <p:spTgt spid="943195"/>
                                        </p:tgtEl>
                                        <p:attrNameLst>
                                          <p:attrName>style.visibility</p:attrName>
                                        </p:attrNameLst>
                                      </p:cBhvr>
                                      <p:to>
                                        <p:strVal val="visible"/>
                                      </p:to>
                                    </p:set>
                                    <p:animEffect transition="in" filter="fade">
                                      <p:cBhvr>
                                        <p:cTn id="43" dur="2000"/>
                                        <p:tgtEl>
                                          <p:spTgt spid="943195"/>
                                        </p:tgtEl>
                                      </p:cBhvr>
                                    </p:animEffect>
                                  </p:childTnLst>
                                </p:cTn>
                              </p:par>
                            </p:childTnLst>
                          </p:cTn>
                        </p:par>
                        <p:par>
                          <p:cTn id="44" fill="hold" nodeType="afterGroup">
                            <p:stCondLst>
                              <p:cond delay="2500"/>
                            </p:stCondLst>
                            <p:childTnLst>
                              <p:par>
                                <p:cTn id="45" presetID="27" presetClass="entr" presetSubtype="0" fill="hold" grpId="0" nodeType="afterEffect">
                                  <p:stCondLst>
                                    <p:cond delay="0"/>
                                  </p:stCondLst>
                                  <p:iterate type="lt">
                                    <p:tmPct val="50000"/>
                                  </p:iterate>
                                  <p:childTnLst>
                                    <p:set>
                                      <p:cBhvr>
                                        <p:cTn id="46" dur="1" fill="hold">
                                          <p:stCondLst>
                                            <p:cond delay="0"/>
                                          </p:stCondLst>
                                        </p:cTn>
                                        <p:tgtEl>
                                          <p:spTgt spid="943108"/>
                                        </p:tgtEl>
                                        <p:attrNameLst>
                                          <p:attrName>style.visibility</p:attrName>
                                        </p:attrNameLst>
                                      </p:cBhvr>
                                      <p:to>
                                        <p:strVal val="visible"/>
                                      </p:to>
                                    </p:set>
                                    <p:anim calcmode="discrete" valueType="clr">
                                      <p:cBhvr override="childStyle">
                                        <p:cTn id="47" dur="80"/>
                                        <p:tgtEl>
                                          <p:spTgt spid="943108"/>
                                        </p:tgtEl>
                                        <p:attrNameLst>
                                          <p:attrName>style.color</p:attrName>
                                        </p:attrNameLst>
                                      </p:cBhvr>
                                      <p:tavLst>
                                        <p:tav tm="0">
                                          <p:val>
                                            <p:clrVal>
                                              <a:schemeClr val="accent2"/>
                                            </p:clrVal>
                                          </p:val>
                                        </p:tav>
                                        <p:tav tm="50000">
                                          <p:val>
                                            <p:clrVal>
                                              <a:schemeClr val="hlink"/>
                                            </p:clrVal>
                                          </p:val>
                                        </p:tav>
                                      </p:tavLst>
                                    </p:anim>
                                    <p:anim calcmode="discrete" valueType="clr">
                                      <p:cBhvr>
                                        <p:cTn id="48" dur="80"/>
                                        <p:tgtEl>
                                          <p:spTgt spid="943108"/>
                                        </p:tgtEl>
                                        <p:attrNameLst>
                                          <p:attrName>fillcolor</p:attrName>
                                        </p:attrNameLst>
                                      </p:cBhvr>
                                      <p:tavLst>
                                        <p:tav tm="0">
                                          <p:val>
                                            <p:clrVal>
                                              <a:schemeClr val="accent2"/>
                                            </p:clrVal>
                                          </p:val>
                                        </p:tav>
                                        <p:tav tm="50000">
                                          <p:val>
                                            <p:clrVal>
                                              <a:schemeClr val="hlink"/>
                                            </p:clrVal>
                                          </p:val>
                                        </p:tav>
                                      </p:tavLst>
                                    </p:anim>
                                    <p:set>
                                      <p:cBhvr>
                                        <p:cTn id="49" dur="80"/>
                                        <p:tgtEl>
                                          <p:spTgt spid="943108"/>
                                        </p:tgtEl>
                                        <p:attrNameLst>
                                          <p:attrName>fill.type</p:attrName>
                                        </p:attrNameLst>
                                      </p:cBhvr>
                                      <p:to>
                                        <p:strVal val="solid"/>
                                      </p:to>
                                    </p:set>
                                  </p:childTnLst>
                                </p:cTn>
                              </p:par>
                            </p:childTnLst>
                          </p:cTn>
                        </p:par>
                        <p:par>
                          <p:cTn id="50" fill="hold" nodeType="afterGroup">
                            <p:stCondLst>
                              <p:cond delay="8060"/>
                            </p:stCondLst>
                            <p:childTnLst>
                              <p:par>
                                <p:cTn id="51" presetID="10" presetClass="entr" presetSubtype="0" fill="hold" grpId="0" nodeType="afterEffect">
                                  <p:stCondLst>
                                    <p:cond delay="0"/>
                                  </p:stCondLst>
                                  <p:childTnLst>
                                    <p:set>
                                      <p:cBhvr>
                                        <p:cTn id="52" dur="1" fill="hold">
                                          <p:stCondLst>
                                            <p:cond delay="0"/>
                                          </p:stCondLst>
                                        </p:cTn>
                                        <p:tgtEl>
                                          <p:spTgt spid="943107"/>
                                        </p:tgtEl>
                                        <p:attrNameLst>
                                          <p:attrName>style.visibility</p:attrName>
                                        </p:attrNameLst>
                                      </p:cBhvr>
                                      <p:to>
                                        <p:strVal val="visible"/>
                                      </p:to>
                                    </p:set>
                                    <p:animEffect transition="in" filter="fade">
                                      <p:cBhvr>
                                        <p:cTn id="53" dur="2000"/>
                                        <p:tgtEl>
                                          <p:spTgt spid="943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3107" grpId="0"/>
      <p:bldP spid="94310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381000" y="381000"/>
            <a:ext cx="8305800" cy="711200"/>
          </a:xfrm>
        </p:spPr>
        <p:txBody>
          <a:bodyPr/>
          <a:lstStyle/>
          <a:p>
            <a:pPr eaLnBrk="1" hangingPunct="1"/>
            <a:r>
              <a:rPr lang="en-GB" altLang="en-US" sz="3200" b="1"/>
              <a:t>Logic Modelling</a:t>
            </a:r>
          </a:p>
        </p:txBody>
      </p:sp>
      <p:sp>
        <p:nvSpPr>
          <p:cNvPr id="9219" name="Rectangle 3"/>
          <p:cNvSpPr>
            <a:spLocks noGrp="1" noChangeArrowheads="1"/>
          </p:cNvSpPr>
          <p:nvPr>
            <p:ph type="body" idx="1"/>
          </p:nvPr>
        </p:nvSpPr>
        <p:spPr>
          <a:xfrm>
            <a:off x="381000" y="1447800"/>
            <a:ext cx="8305800" cy="4259628"/>
          </a:xfrm>
        </p:spPr>
        <p:txBody>
          <a:bodyPr/>
          <a:lstStyle/>
          <a:p>
            <a:pPr eaLnBrk="1" hangingPunct="1"/>
            <a:endParaRPr lang="en-GB" altLang="en-US" sz="2400" b="1" dirty="0">
              <a:solidFill>
                <a:srgbClr val="FF0000"/>
              </a:solidFill>
            </a:endParaRPr>
          </a:p>
          <a:p>
            <a:pPr eaLnBrk="1" hangingPunct="1"/>
            <a:r>
              <a:rPr lang="en-GB" altLang="en-US" sz="2400" b="1" dirty="0">
                <a:solidFill>
                  <a:srgbClr val="0070C0"/>
                </a:solidFill>
              </a:rPr>
              <a:t>Logic modelling</a:t>
            </a:r>
            <a:r>
              <a:rPr lang="en-GB" altLang="en-US" sz="2400" dirty="0">
                <a:solidFill>
                  <a:srgbClr val="0070C0"/>
                </a:solidFill>
              </a:rPr>
              <a:t> is a technique for </a:t>
            </a:r>
            <a:r>
              <a:rPr lang="en-GB" altLang="en-US" sz="2400" b="1" dirty="0">
                <a:solidFill>
                  <a:srgbClr val="0070C0"/>
                </a:solidFill>
              </a:rPr>
              <a:t>specifying</a:t>
            </a:r>
            <a:r>
              <a:rPr lang="en-GB" altLang="en-US" sz="2400" dirty="0">
                <a:solidFill>
                  <a:srgbClr val="0070C0"/>
                </a:solidFill>
              </a:rPr>
              <a:t> and documenting the </a:t>
            </a:r>
            <a:r>
              <a:rPr lang="en-GB" altLang="en-US" sz="2400" b="1" dirty="0">
                <a:solidFill>
                  <a:srgbClr val="0070C0"/>
                </a:solidFill>
              </a:rPr>
              <a:t>processing logic </a:t>
            </a:r>
            <a:r>
              <a:rPr lang="en-GB" altLang="en-US" sz="2400" dirty="0">
                <a:solidFill>
                  <a:srgbClr val="0070C0"/>
                </a:solidFill>
              </a:rPr>
              <a:t>of the elementary processes within a logical DFD</a:t>
            </a:r>
          </a:p>
          <a:p>
            <a:pPr eaLnBrk="1" hangingPunct="1"/>
            <a:endParaRPr lang="en-GB" altLang="en-US" sz="2400" dirty="0"/>
          </a:p>
          <a:p>
            <a:pPr eaLnBrk="1" hangingPunct="1"/>
            <a:r>
              <a:rPr lang="en-GB" altLang="en-US" sz="2400" dirty="0"/>
              <a:t>A logic model should be equally effective for communicating with users </a:t>
            </a:r>
            <a:r>
              <a:rPr lang="en-GB" altLang="en-US" sz="2400" i="1" dirty="0"/>
              <a:t>and </a:t>
            </a:r>
            <a:r>
              <a:rPr lang="en-GB" altLang="en-US" sz="2400" dirty="0"/>
              <a:t>programmers  </a:t>
            </a:r>
          </a:p>
          <a:p>
            <a:pPr marL="368300" lvl="1" indent="-177800" eaLnBrk="1" hangingPunct="1"/>
            <a:r>
              <a:rPr lang="en-GB" altLang="en-US" sz="1900" dirty="0"/>
              <a:t>Users must verify business accuracy of the logic</a:t>
            </a:r>
          </a:p>
          <a:p>
            <a:pPr marL="368300" lvl="1" indent="-177800" eaLnBrk="1" hangingPunct="1"/>
            <a:r>
              <a:rPr lang="en-GB" altLang="en-US" sz="1900" dirty="0"/>
              <a:t>Programmers must be able to implement the business logic in any given programming language</a:t>
            </a:r>
          </a:p>
          <a:p>
            <a:pPr marL="368300" lvl="1" indent="-177800" eaLnBrk="1" hangingPunct="1"/>
            <a:r>
              <a:rPr lang="en-GB" altLang="en-US" sz="1900" dirty="0"/>
              <a:t>The logic model MUST NOT be programming language specific</a:t>
            </a:r>
          </a:p>
        </p:txBody>
      </p:sp>
    </p:spTree>
    <p:extLst>
      <p:ext uri="{BB962C8B-B14F-4D97-AF65-F5344CB8AC3E}">
        <p14:creationId xmlns:p14="http://schemas.microsoft.com/office/powerpoint/2010/main" val="39459825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381000" y="381000"/>
            <a:ext cx="8305800" cy="711200"/>
          </a:xfrm>
        </p:spPr>
        <p:txBody>
          <a:bodyPr/>
          <a:lstStyle/>
          <a:p>
            <a:pPr eaLnBrk="1" hangingPunct="1"/>
            <a:r>
              <a:rPr lang="en-GB" altLang="en-US" sz="3200" b="1"/>
              <a:t>Logic Modelling</a:t>
            </a:r>
          </a:p>
        </p:txBody>
      </p:sp>
      <p:sp>
        <p:nvSpPr>
          <p:cNvPr id="10243" name="Rectangle 3"/>
          <p:cNvSpPr>
            <a:spLocks noGrp="1" noChangeArrowheads="1"/>
          </p:cNvSpPr>
          <p:nvPr>
            <p:ph type="body" idx="1"/>
          </p:nvPr>
        </p:nvSpPr>
        <p:spPr>
          <a:xfrm>
            <a:off x="381000" y="1447800"/>
            <a:ext cx="8305800" cy="2240613"/>
          </a:xfrm>
        </p:spPr>
        <p:txBody>
          <a:bodyPr/>
          <a:lstStyle/>
          <a:p>
            <a:pPr eaLnBrk="1" hangingPunct="1"/>
            <a:endParaRPr lang="en-GB" altLang="en-US" sz="3200" dirty="0"/>
          </a:p>
          <a:p>
            <a:pPr marL="0" indent="0" eaLnBrk="1" hangingPunct="1">
              <a:buNone/>
            </a:pPr>
            <a:r>
              <a:rPr lang="en-GB" altLang="en-US" sz="3200" dirty="0"/>
              <a:t>Deliverables and Outcomes</a:t>
            </a:r>
          </a:p>
          <a:p>
            <a:pPr marL="647700" lvl="1" indent="-457200" eaLnBrk="1" hangingPunct="1">
              <a:buFont typeface="Verdana" pitchFamily="34" charset="0"/>
              <a:buAutoNum type="arabicPeriod"/>
            </a:pPr>
            <a:r>
              <a:rPr lang="en-GB" altLang="en-US" sz="2800" b="1" dirty="0"/>
              <a:t>Structured English</a:t>
            </a:r>
          </a:p>
          <a:p>
            <a:pPr marL="647700" lvl="1" indent="-457200" eaLnBrk="1" hangingPunct="1">
              <a:buFont typeface="Verdana" pitchFamily="34" charset="0"/>
              <a:buAutoNum type="arabicPeriod"/>
            </a:pPr>
            <a:r>
              <a:rPr lang="en-GB" altLang="en-US" sz="2800" b="1" dirty="0"/>
              <a:t>Decision Tables</a:t>
            </a:r>
          </a:p>
          <a:p>
            <a:pPr marL="647700" lvl="1" indent="-457200" eaLnBrk="1" hangingPunct="1">
              <a:buFont typeface="Verdana" pitchFamily="34" charset="0"/>
              <a:buAutoNum type="arabicPeriod"/>
            </a:pPr>
            <a:r>
              <a:rPr lang="en-GB" altLang="en-US" sz="2800" b="1" dirty="0"/>
              <a:t>Decision Trees</a:t>
            </a:r>
          </a:p>
        </p:txBody>
      </p:sp>
    </p:spTree>
    <p:extLst>
      <p:ext uri="{BB962C8B-B14F-4D97-AF65-F5344CB8AC3E}">
        <p14:creationId xmlns:p14="http://schemas.microsoft.com/office/powerpoint/2010/main" val="302747942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8B84D59D-7DFB-49AD-B856-BBE13268A12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EA47E15-7300-453E-8FC0-763E5BF3E296}" type="slidenum">
              <a:rPr lang="en-US" altLang="en-US" sz="1200">
                <a:latin typeface="Arial" panose="020B0604020202020204" pitchFamily="34" charset="0"/>
              </a:rPr>
              <a:pPr>
                <a:spcBef>
                  <a:spcPct val="0"/>
                </a:spcBef>
                <a:buFontTx/>
                <a:buNone/>
              </a:pPr>
              <a:t>6</a:t>
            </a:fld>
            <a:endParaRPr lang="en-US" altLang="en-US" sz="1200">
              <a:latin typeface="Arial" panose="020B0604020202020204" pitchFamily="34" charset="0"/>
            </a:endParaRPr>
          </a:p>
        </p:txBody>
      </p:sp>
      <p:sp>
        <p:nvSpPr>
          <p:cNvPr id="12291" name="Rectangle 2">
            <a:extLst>
              <a:ext uri="{FF2B5EF4-FFF2-40B4-BE49-F238E27FC236}">
                <a16:creationId xmlns:a16="http://schemas.microsoft.com/office/drawing/2014/main" id="{42A9B8FD-ADB1-4398-A303-847E0A50DBD0}"/>
              </a:ext>
            </a:extLst>
          </p:cNvPr>
          <p:cNvSpPr>
            <a:spLocks noGrp="1"/>
          </p:cNvSpPr>
          <p:nvPr>
            <p:ph type="title"/>
          </p:nvPr>
        </p:nvSpPr>
        <p:spPr/>
        <p:txBody>
          <a:bodyPr/>
          <a:lstStyle/>
          <a:p>
            <a:pPr eaLnBrk="1" hangingPunct="1"/>
            <a:r>
              <a:rPr lang="en-GB" altLang="en-US" sz="3600"/>
              <a:t>1. STRUCTURED ENGLISH</a:t>
            </a:r>
          </a:p>
        </p:txBody>
      </p:sp>
      <p:sp>
        <p:nvSpPr>
          <p:cNvPr id="12292" name="Rectangle 3">
            <a:extLst>
              <a:ext uri="{FF2B5EF4-FFF2-40B4-BE49-F238E27FC236}">
                <a16:creationId xmlns:a16="http://schemas.microsoft.com/office/drawing/2014/main" id="{15EC1A8C-43C1-499F-B19B-DA5ADB39AA94}"/>
              </a:ext>
            </a:extLst>
          </p:cNvPr>
          <p:cNvSpPr>
            <a:spLocks noGrp="1"/>
          </p:cNvSpPr>
          <p:nvPr>
            <p:ph type="body" idx="1"/>
          </p:nvPr>
        </p:nvSpPr>
        <p:spPr>
          <a:xfrm>
            <a:off x="533400" y="1663700"/>
            <a:ext cx="8229600" cy="4813300"/>
          </a:xfrm>
        </p:spPr>
        <p:txBody>
          <a:bodyPr/>
          <a:lstStyle/>
          <a:p>
            <a:pPr eaLnBrk="1" hangingPunct="1"/>
            <a:r>
              <a:rPr lang="en-GB" altLang="en-US" sz="2400" dirty="0"/>
              <a:t>SE is a language and syntax based on the relative strengths of </a:t>
            </a:r>
            <a:r>
              <a:rPr lang="en-GB" altLang="en-US" sz="2400" b="1" dirty="0"/>
              <a:t>structured programming</a:t>
            </a:r>
            <a:r>
              <a:rPr lang="en-GB" altLang="en-US" sz="2400" dirty="0"/>
              <a:t> </a:t>
            </a:r>
            <a:r>
              <a:rPr lang="en-GB" altLang="en-US" sz="2400" b="1" dirty="0"/>
              <a:t>and</a:t>
            </a:r>
            <a:r>
              <a:rPr lang="en-GB" altLang="en-US" sz="2400" dirty="0"/>
              <a:t> </a:t>
            </a:r>
            <a:r>
              <a:rPr lang="en-GB" altLang="en-US" sz="2400" b="1" dirty="0"/>
              <a:t>natural English</a:t>
            </a:r>
            <a:r>
              <a:rPr lang="en-GB" altLang="en-US" sz="2400" dirty="0"/>
              <a:t> for specifying the processing logic of elementary DFD processes</a:t>
            </a:r>
          </a:p>
          <a:p>
            <a:pPr eaLnBrk="1" hangingPunct="1"/>
            <a:r>
              <a:rPr lang="en-GB" altLang="en-US" sz="2400" dirty="0"/>
              <a:t>SE borrows logical constructs of structured programming to overcome the lack of structure &amp; precision in the English language</a:t>
            </a:r>
          </a:p>
          <a:p>
            <a:pPr eaLnBrk="1" hangingPunct="1"/>
            <a:r>
              <a:rPr lang="en-GB" altLang="en-US" sz="2400" dirty="0"/>
              <a:t>SE is </a:t>
            </a:r>
            <a:r>
              <a:rPr lang="en-GB" altLang="en-US" sz="2400" b="1" dirty="0"/>
              <a:t>NOT pseudocode</a:t>
            </a:r>
            <a:r>
              <a:rPr lang="en-GB" altLang="en-US" sz="2400" dirty="0"/>
              <a:t> because it does NOT concern itself with programming-specific issues</a:t>
            </a:r>
          </a:p>
          <a:p>
            <a:pPr marL="476250" lvl="1" eaLnBrk="1" hangingPunct="1"/>
            <a:r>
              <a:rPr lang="en-GB" altLang="en-US" sz="1900" dirty="0"/>
              <a:t>Declarations</a:t>
            </a:r>
          </a:p>
          <a:p>
            <a:pPr marL="476250" lvl="1" eaLnBrk="1" hangingPunct="1"/>
            <a:r>
              <a:rPr lang="en-GB" altLang="en-US" sz="1900" dirty="0"/>
              <a:t>Initialisation</a:t>
            </a:r>
          </a:p>
          <a:p>
            <a:pPr marL="476250" lvl="1" eaLnBrk="1" hangingPunct="1"/>
            <a:r>
              <a:rPr lang="en-GB" altLang="en-US" sz="1900" dirty="0"/>
              <a:t>Linking</a:t>
            </a:r>
          </a:p>
          <a:p>
            <a:pPr marL="476250" lvl="1" eaLnBrk="1" hangingPunct="1"/>
            <a:r>
              <a:rPr lang="en-GB" altLang="en-US" sz="1900" dirty="0"/>
              <a:t>Technical/implementation issues</a:t>
            </a:r>
          </a:p>
          <a:p>
            <a:pPr marL="476250" lvl="1" eaLnBrk="1" hangingPunct="1"/>
            <a:endParaRPr lang="en-GB" altLang="en-US" sz="1900" dirty="0"/>
          </a:p>
          <a:p>
            <a:pPr marL="476250" lvl="1" eaLnBrk="1" hangingPunct="1"/>
            <a:r>
              <a:rPr lang="en-GB" altLang="en-US" sz="1900" dirty="0">
                <a:hlinkClick r:id="rId3"/>
              </a:rPr>
              <a:t>https://www.youtube.com/watch?v=phTgadEg6QU&amp;t=58s</a:t>
            </a:r>
            <a:r>
              <a:rPr lang="en-GB" altLang="en-US" sz="1900" dirty="0"/>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EE98594A-870D-496D-812A-5B5DA7B6215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41C83F5-2C96-498A-BC69-E129C3A29EB2}" type="slidenum">
              <a:rPr lang="en-US" altLang="en-US" sz="1200">
                <a:latin typeface="Arial" panose="020B0604020202020204" pitchFamily="34" charset="0"/>
              </a:rPr>
              <a:pPr>
                <a:spcBef>
                  <a:spcPct val="0"/>
                </a:spcBef>
                <a:buFontTx/>
                <a:buNone/>
              </a:pPr>
              <a:t>7</a:t>
            </a:fld>
            <a:endParaRPr lang="en-US" altLang="en-US" sz="1200">
              <a:latin typeface="Arial" panose="020B0604020202020204" pitchFamily="34" charset="0"/>
            </a:endParaRPr>
          </a:p>
        </p:txBody>
      </p:sp>
      <p:sp>
        <p:nvSpPr>
          <p:cNvPr id="14339" name="Rectangle 2050">
            <a:extLst>
              <a:ext uri="{FF2B5EF4-FFF2-40B4-BE49-F238E27FC236}">
                <a16:creationId xmlns:a16="http://schemas.microsoft.com/office/drawing/2014/main" id="{0E6FE4FC-3C83-485C-AA10-2346C76782AA}"/>
              </a:ext>
            </a:extLst>
          </p:cNvPr>
          <p:cNvSpPr>
            <a:spLocks noGrp="1"/>
          </p:cNvSpPr>
          <p:nvPr>
            <p:ph type="title"/>
          </p:nvPr>
        </p:nvSpPr>
        <p:spPr/>
        <p:txBody>
          <a:bodyPr/>
          <a:lstStyle/>
          <a:p>
            <a:pPr eaLnBrk="1" hangingPunct="1"/>
            <a:r>
              <a:rPr lang="en-GB" altLang="en-US" sz="3400"/>
              <a:t>Logical Constructs in Structured English</a:t>
            </a:r>
            <a:endParaRPr lang="en-GB" altLang="en-US"/>
          </a:p>
        </p:txBody>
      </p:sp>
      <p:sp>
        <p:nvSpPr>
          <p:cNvPr id="14340" name="Rectangle 2051">
            <a:extLst>
              <a:ext uri="{FF2B5EF4-FFF2-40B4-BE49-F238E27FC236}">
                <a16:creationId xmlns:a16="http://schemas.microsoft.com/office/drawing/2014/main" id="{8AC51013-398D-4F7D-8BD4-51EF444D568F}"/>
              </a:ext>
            </a:extLst>
          </p:cNvPr>
          <p:cNvSpPr>
            <a:spLocks noGrp="1"/>
          </p:cNvSpPr>
          <p:nvPr>
            <p:ph type="body" idx="1"/>
          </p:nvPr>
        </p:nvSpPr>
        <p:spPr>
          <a:xfrm>
            <a:off x="457200" y="2068513"/>
            <a:ext cx="8229600" cy="2436812"/>
          </a:xfrm>
        </p:spPr>
        <p:txBody>
          <a:bodyPr/>
          <a:lstStyle/>
          <a:p>
            <a:pPr eaLnBrk="1" hangingPunct="1">
              <a:lnSpc>
                <a:spcPct val="90000"/>
              </a:lnSpc>
              <a:spcBef>
                <a:spcPct val="0"/>
              </a:spcBef>
              <a:buClr>
                <a:schemeClr val="tx1"/>
              </a:buClr>
              <a:buSzPct val="80000"/>
              <a:buFont typeface="Monotype Sorts"/>
              <a:buChar char="u"/>
            </a:pPr>
            <a:r>
              <a:rPr lang="en-GB" altLang="en-US" sz="2400"/>
              <a:t>Recall from any Programming lectures that </a:t>
            </a:r>
            <a:r>
              <a:rPr lang="en-GB" altLang="en-US" sz="2400" b="1"/>
              <a:t>ALL</a:t>
            </a:r>
            <a:r>
              <a:rPr lang="en-GB" altLang="en-US" sz="2400"/>
              <a:t> logic can be expressed by using 3 basic constructs :</a:t>
            </a:r>
            <a:endParaRPr lang="en-GB" altLang="en-US" sz="2400" i="1"/>
          </a:p>
          <a:p>
            <a:pPr lvl="1" eaLnBrk="1" hangingPunct="1">
              <a:lnSpc>
                <a:spcPct val="90000"/>
              </a:lnSpc>
              <a:buClr>
                <a:schemeClr val="tx1"/>
              </a:buClr>
              <a:buSzPct val="80000"/>
              <a:buFont typeface="Wingdings" panose="05000000000000000000" pitchFamily="2" charset="2"/>
              <a:buChar char="Ø"/>
            </a:pPr>
            <a:r>
              <a:rPr lang="en-GB" altLang="en-US" sz="3000" i="1"/>
              <a:t>Sequence</a:t>
            </a:r>
          </a:p>
          <a:p>
            <a:pPr lvl="1" eaLnBrk="1" hangingPunct="1">
              <a:lnSpc>
                <a:spcPct val="90000"/>
              </a:lnSpc>
              <a:buClr>
                <a:schemeClr val="tx1"/>
              </a:buClr>
              <a:buSzPct val="80000"/>
              <a:buFont typeface="Wingdings" panose="05000000000000000000" pitchFamily="2" charset="2"/>
              <a:buChar char="Ø"/>
            </a:pPr>
            <a:r>
              <a:rPr lang="en-GB" altLang="en-US" sz="3000" i="1"/>
              <a:t>Selection</a:t>
            </a:r>
          </a:p>
          <a:p>
            <a:pPr lvl="1" eaLnBrk="1" hangingPunct="1">
              <a:lnSpc>
                <a:spcPct val="90000"/>
              </a:lnSpc>
              <a:buClr>
                <a:schemeClr val="tx1"/>
              </a:buClr>
              <a:buSzPct val="80000"/>
              <a:buFont typeface="Wingdings" panose="05000000000000000000" pitchFamily="2" charset="2"/>
              <a:buChar char="Ø"/>
            </a:pPr>
            <a:r>
              <a:rPr lang="en-GB" altLang="en-US" sz="3000" i="1"/>
              <a:t>Iteration</a:t>
            </a:r>
            <a:endParaRPr lang="en-GB" altLang="en-US" sz="3000"/>
          </a:p>
          <a:p>
            <a:pPr lvl="1" eaLnBrk="1" hangingPunct="1">
              <a:lnSpc>
                <a:spcPct val="90000"/>
              </a:lnSpc>
              <a:buClr>
                <a:schemeClr val="tx1"/>
              </a:buClr>
              <a:buSzPct val="80000"/>
              <a:buFont typeface="Wingdings" panose="05000000000000000000" pitchFamily="2" charset="2"/>
              <a:buChar char="Ø"/>
            </a:pPr>
            <a:endParaRPr lang="en-GB" altLang="en-US" sz="3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E89CDB2F-28AC-49D3-945D-7C6C329E0E9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5472F7E-7007-4D0F-B498-693CA8AEF972}" type="slidenum">
              <a:rPr lang="en-US" altLang="en-US" sz="1200">
                <a:latin typeface="Arial" panose="020B0604020202020204" pitchFamily="34" charset="0"/>
              </a:rPr>
              <a:pPr>
                <a:spcBef>
                  <a:spcPct val="0"/>
                </a:spcBef>
                <a:buFontTx/>
                <a:buNone/>
              </a:pPr>
              <a:t>8</a:t>
            </a:fld>
            <a:endParaRPr lang="en-US" altLang="en-US" sz="1200">
              <a:latin typeface="Arial" panose="020B0604020202020204" pitchFamily="34" charset="0"/>
            </a:endParaRPr>
          </a:p>
        </p:txBody>
      </p:sp>
      <p:sp>
        <p:nvSpPr>
          <p:cNvPr id="16387" name="Rectangle 2">
            <a:extLst>
              <a:ext uri="{FF2B5EF4-FFF2-40B4-BE49-F238E27FC236}">
                <a16:creationId xmlns:a16="http://schemas.microsoft.com/office/drawing/2014/main" id="{52784083-44A4-40F0-86C7-6F8C20BD9552}"/>
              </a:ext>
            </a:extLst>
          </p:cNvPr>
          <p:cNvSpPr>
            <a:spLocks noGrp="1"/>
          </p:cNvSpPr>
          <p:nvPr>
            <p:ph type="title"/>
          </p:nvPr>
        </p:nvSpPr>
        <p:spPr/>
        <p:txBody>
          <a:bodyPr/>
          <a:lstStyle/>
          <a:p>
            <a:pPr eaLnBrk="1" hangingPunct="1"/>
            <a:r>
              <a:rPr lang="en-GB" altLang="en-US" sz="3400" dirty="0"/>
              <a:t>Sequence Constructs</a:t>
            </a:r>
            <a:endParaRPr lang="en-GB" altLang="en-US" dirty="0"/>
          </a:p>
        </p:txBody>
      </p:sp>
      <p:sp>
        <p:nvSpPr>
          <p:cNvPr id="16388" name="Rectangle 3">
            <a:extLst>
              <a:ext uri="{FF2B5EF4-FFF2-40B4-BE49-F238E27FC236}">
                <a16:creationId xmlns:a16="http://schemas.microsoft.com/office/drawing/2014/main" id="{945D9FEF-D596-419D-BDF0-9B8591A92099}"/>
              </a:ext>
            </a:extLst>
          </p:cNvPr>
          <p:cNvSpPr>
            <a:spLocks noGrp="1"/>
          </p:cNvSpPr>
          <p:nvPr>
            <p:ph type="body" idx="1"/>
          </p:nvPr>
        </p:nvSpPr>
        <p:spPr>
          <a:xfrm>
            <a:off x="457200" y="1600200"/>
            <a:ext cx="8229600" cy="4581525"/>
          </a:xfrm>
        </p:spPr>
        <p:txBody>
          <a:bodyPr/>
          <a:lstStyle/>
          <a:p>
            <a:pPr eaLnBrk="1" hangingPunct="1">
              <a:lnSpc>
                <a:spcPct val="90000"/>
              </a:lnSpc>
              <a:spcBef>
                <a:spcPct val="0"/>
              </a:spcBef>
              <a:buClr>
                <a:schemeClr val="tx1"/>
              </a:buClr>
              <a:buSzPct val="80000"/>
              <a:buFont typeface="Monotype Sorts"/>
              <a:buChar char="u"/>
            </a:pPr>
            <a:r>
              <a:rPr lang="en-GB" altLang="en-US" sz="2000" dirty="0"/>
              <a:t>A </a:t>
            </a:r>
            <a:r>
              <a:rPr lang="en-GB" altLang="en-US" sz="2000" b="1" dirty="0"/>
              <a:t>sequence </a:t>
            </a:r>
            <a:r>
              <a:rPr lang="en-GB" altLang="en-US" sz="2000" dirty="0"/>
              <a:t>construct is simply an </a:t>
            </a:r>
            <a:r>
              <a:rPr lang="en-GB" altLang="en-US" sz="2000" i="1" u="sng" dirty="0"/>
              <a:t>ordered</a:t>
            </a:r>
            <a:r>
              <a:rPr lang="en-GB" altLang="en-US" sz="2000" u="sng" dirty="0"/>
              <a:t> list of one or more actions or events</a:t>
            </a:r>
            <a:endParaRPr lang="en-GB" altLang="en-US" sz="2200" u="sng" dirty="0"/>
          </a:p>
          <a:p>
            <a:pPr eaLnBrk="1" hangingPunct="1">
              <a:lnSpc>
                <a:spcPct val="90000"/>
              </a:lnSpc>
              <a:spcBef>
                <a:spcPct val="0"/>
              </a:spcBef>
              <a:buClr>
                <a:schemeClr val="tx1"/>
              </a:buClr>
              <a:buSzPct val="80000"/>
              <a:buFont typeface="Monotype Sorts"/>
              <a:buChar char="u"/>
            </a:pPr>
            <a:endParaRPr lang="en-GB" altLang="en-US" sz="1000" u="sng" dirty="0"/>
          </a:p>
          <a:p>
            <a:pPr eaLnBrk="1" hangingPunct="1">
              <a:lnSpc>
                <a:spcPct val="90000"/>
              </a:lnSpc>
              <a:spcBef>
                <a:spcPct val="0"/>
              </a:spcBef>
              <a:buClr>
                <a:schemeClr val="tx1"/>
              </a:buClr>
              <a:buSzPct val="80000"/>
              <a:buFont typeface="Monotype Sorts"/>
              <a:buChar char="u"/>
            </a:pPr>
            <a:r>
              <a:rPr lang="en-GB" altLang="en-US" sz="2000" dirty="0"/>
              <a:t>In SE it is a sequence of </a:t>
            </a:r>
            <a:r>
              <a:rPr lang="en-GB" altLang="en-US" sz="2000" u="sng" dirty="0"/>
              <a:t>simple, declarative sentences</a:t>
            </a:r>
            <a:endParaRPr lang="en-GB" altLang="en-US" sz="1800" u="sng" dirty="0"/>
          </a:p>
          <a:p>
            <a:pPr lvl="1" eaLnBrk="1" hangingPunct="1">
              <a:lnSpc>
                <a:spcPct val="90000"/>
              </a:lnSpc>
              <a:buClr>
                <a:schemeClr val="tx1"/>
              </a:buClr>
              <a:buSzPct val="80000"/>
              <a:buFont typeface="Wingdings" panose="05000000000000000000" pitchFamily="2" charset="2"/>
              <a:buChar char="Ø"/>
            </a:pPr>
            <a:r>
              <a:rPr lang="en-GB" altLang="en-US" sz="1700" b="1" i="1" dirty="0"/>
              <a:t>Compound sentences are discouraged as they frequently create uncertainty</a:t>
            </a:r>
          </a:p>
          <a:p>
            <a:pPr lvl="1" eaLnBrk="1" hangingPunct="1">
              <a:lnSpc>
                <a:spcPct val="90000"/>
              </a:lnSpc>
              <a:buClr>
                <a:schemeClr val="tx1"/>
              </a:buClr>
              <a:buSzPct val="80000"/>
              <a:buFont typeface="Wingdings" panose="05000000000000000000" pitchFamily="2" charset="2"/>
              <a:buChar char="Ø"/>
            </a:pPr>
            <a:r>
              <a:rPr lang="en-GB" altLang="en-US" sz="1700" b="1" i="1" dirty="0"/>
              <a:t>Use strong action verbs : GET, FIND, CREATE, ADD, DELETE, SORT etc</a:t>
            </a:r>
          </a:p>
        </p:txBody>
      </p:sp>
      <p:sp>
        <p:nvSpPr>
          <p:cNvPr id="16389" name="Text Box 4">
            <a:extLst>
              <a:ext uri="{FF2B5EF4-FFF2-40B4-BE49-F238E27FC236}">
                <a16:creationId xmlns:a16="http://schemas.microsoft.com/office/drawing/2014/main" id="{40AAD5FC-CA07-4729-B7B4-31BA63B1CC56}"/>
              </a:ext>
            </a:extLst>
          </p:cNvPr>
          <p:cNvSpPr txBox="1">
            <a:spLocks noChangeArrowheads="1"/>
          </p:cNvSpPr>
          <p:nvPr/>
        </p:nvSpPr>
        <p:spPr bwMode="auto">
          <a:xfrm>
            <a:off x="457200" y="3429000"/>
            <a:ext cx="7604125" cy="210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GB" altLang="en-US" sz="1800" b="1">
                <a:latin typeface="Times New Roman" panose="02020603050405020304" pitchFamily="18" charset="0"/>
              </a:rPr>
              <a:t>Example</a:t>
            </a:r>
            <a:endParaRPr lang="en-GB" altLang="en-US" sz="2000" b="1">
              <a:latin typeface="Times New Roman" panose="02020603050405020304" pitchFamily="18" charset="0"/>
            </a:endParaRPr>
          </a:p>
          <a:p>
            <a:pPr>
              <a:spcBef>
                <a:spcPct val="0"/>
              </a:spcBef>
              <a:buFontTx/>
              <a:buNone/>
            </a:pPr>
            <a:r>
              <a:rPr lang="en-GB" altLang="en-US" sz="1600" b="1">
                <a:latin typeface="Times New Roman" panose="02020603050405020304" pitchFamily="18" charset="0"/>
              </a:rPr>
              <a:t>		Multiply Price by Quantity_Sold giving Net_Price</a:t>
            </a:r>
          </a:p>
          <a:p>
            <a:pPr>
              <a:spcBef>
                <a:spcPct val="0"/>
              </a:spcBef>
              <a:buFontTx/>
              <a:buNone/>
            </a:pPr>
            <a:r>
              <a:rPr lang="en-GB" altLang="en-US" sz="1600" b="1">
                <a:latin typeface="Times New Roman" panose="02020603050405020304" pitchFamily="18" charset="0"/>
              </a:rPr>
              <a:t>		Multiply Net_Price by 0.175 giving VAT</a:t>
            </a:r>
          </a:p>
          <a:p>
            <a:pPr>
              <a:spcBef>
                <a:spcPct val="0"/>
              </a:spcBef>
              <a:buFontTx/>
              <a:buNone/>
            </a:pPr>
            <a:r>
              <a:rPr lang="en-GB" altLang="en-US" sz="1600" b="1">
                <a:latin typeface="Times New Roman" panose="02020603050405020304" pitchFamily="18" charset="0"/>
              </a:rPr>
              <a:t>		Add VAT to Net_Price giving Gross_Price   </a:t>
            </a:r>
          </a:p>
          <a:p>
            <a:pPr>
              <a:spcBef>
                <a:spcPct val="0"/>
              </a:spcBef>
              <a:buFontTx/>
              <a:buNone/>
            </a:pPr>
            <a:r>
              <a:rPr lang="en-GB" altLang="en-US" sz="1800" b="1">
                <a:latin typeface="Times New Roman" panose="02020603050405020304" pitchFamily="18" charset="0"/>
              </a:rPr>
              <a:t>				OR</a:t>
            </a:r>
          </a:p>
          <a:p>
            <a:pPr>
              <a:spcBef>
                <a:spcPct val="0"/>
              </a:spcBef>
              <a:buFontTx/>
              <a:buNone/>
            </a:pPr>
            <a:r>
              <a:rPr lang="en-GB" altLang="en-US" sz="1600" b="1">
                <a:latin typeface="Times New Roman" panose="02020603050405020304" pitchFamily="18" charset="0"/>
              </a:rPr>
              <a:t>		Calculate Net_Price = Price * Quantity_Sold</a:t>
            </a:r>
          </a:p>
          <a:p>
            <a:pPr>
              <a:spcBef>
                <a:spcPct val="0"/>
              </a:spcBef>
              <a:buFontTx/>
              <a:buNone/>
            </a:pPr>
            <a:r>
              <a:rPr lang="en-GB" altLang="en-US" sz="1600" b="1">
                <a:latin typeface="Times New Roman" panose="02020603050405020304" pitchFamily="18" charset="0"/>
              </a:rPr>
              <a:t>		Calculate VAT = Net_Price * 0.175</a:t>
            </a:r>
          </a:p>
          <a:p>
            <a:pPr>
              <a:spcBef>
                <a:spcPct val="0"/>
              </a:spcBef>
              <a:buFontTx/>
              <a:buNone/>
            </a:pPr>
            <a:r>
              <a:rPr lang="en-GB" altLang="en-US" sz="1600" b="1">
                <a:latin typeface="Times New Roman" panose="02020603050405020304" pitchFamily="18" charset="0"/>
              </a:rPr>
              <a:t>		Calculate Gross_Price = Net_Price + VAT</a:t>
            </a:r>
            <a:endParaRPr lang="en-GB" altLang="en-US" sz="2000" b="1">
              <a:latin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Slide Number Placeholder 5">
            <a:extLst>
              <a:ext uri="{FF2B5EF4-FFF2-40B4-BE49-F238E27FC236}">
                <a16:creationId xmlns:a16="http://schemas.microsoft.com/office/drawing/2014/main" id="{6CD9F813-E16D-4F9C-B25B-C72851A360C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C4DDCAF-1649-4E36-BACC-4D258AE977F4}" type="slidenum">
              <a:rPr lang="en-US" altLang="en-US" sz="1200">
                <a:latin typeface="Arial" panose="020B0604020202020204" pitchFamily="34" charset="0"/>
              </a:rPr>
              <a:pPr>
                <a:spcBef>
                  <a:spcPct val="0"/>
                </a:spcBef>
                <a:buFontTx/>
                <a:buNone/>
              </a:pPr>
              <a:t>9</a:t>
            </a:fld>
            <a:endParaRPr lang="en-US" altLang="en-US" sz="1200">
              <a:latin typeface="Arial" panose="020B0604020202020204" pitchFamily="34" charset="0"/>
            </a:endParaRPr>
          </a:p>
        </p:txBody>
      </p:sp>
      <p:sp>
        <p:nvSpPr>
          <p:cNvPr id="18435" name="Rectangle 2">
            <a:extLst>
              <a:ext uri="{FF2B5EF4-FFF2-40B4-BE49-F238E27FC236}">
                <a16:creationId xmlns:a16="http://schemas.microsoft.com/office/drawing/2014/main" id="{557D866F-B52C-4F41-BB80-7A1ACB1DD241}"/>
              </a:ext>
            </a:extLst>
          </p:cNvPr>
          <p:cNvSpPr>
            <a:spLocks noGrp="1"/>
          </p:cNvSpPr>
          <p:nvPr>
            <p:ph type="title"/>
          </p:nvPr>
        </p:nvSpPr>
        <p:spPr/>
        <p:txBody>
          <a:bodyPr/>
          <a:lstStyle/>
          <a:p>
            <a:pPr eaLnBrk="1" hangingPunct="1"/>
            <a:r>
              <a:rPr lang="en-GB" altLang="en-US" sz="3400" dirty="0"/>
              <a:t>Selection Constructs</a:t>
            </a:r>
            <a:endParaRPr lang="en-GB" altLang="en-US" dirty="0"/>
          </a:p>
        </p:txBody>
      </p:sp>
      <p:sp>
        <p:nvSpPr>
          <p:cNvPr id="18436" name="Rectangle 3">
            <a:extLst>
              <a:ext uri="{FF2B5EF4-FFF2-40B4-BE49-F238E27FC236}">
                <a16:creationId xmlns:a16="http://schemas.microsoft.com/office/drawing/2014/main" id="{8419DB17-2CF4-4943-80EE-5D0CB9ED2184}"/>
              </a:ext>
            </a:extLst>
          </p:cNvPr>
          <p:cNvSpPr>
            <a:spLocks noGrp="1"/>
          </p:cNvSpPr>
          <p:nvPr>
            <p:ph type="body" idx="1"/>
          </p:nvPr>
        </p:nvSpPr>
        <p:spPr>
          <a:xfrm>
            <a:off x="457200" y="1600200"/>
            <a:ext cx="8229600" cy="4446588"/>
          </a:xfrm>
        </p:spPr>
        <p:txBody>
          <a:bodyPr/>
          <a:lstStyle/>
          <a:p>
            <a:pPr eaLnBrk="1" hangingPunct="1">
              <a:lnSpc>
                <a:spcPct val="90000"/>
              </a:lnSpc>
              <a:spcBef>
                <a:spcPct val="0"/>
              </a:spcBef>
              <a:buClr>
                <a:schemeClr val="tx1"/>
              </a:buClr>
              <a:buSzPct val="80000"/>
              <a:buFont typeface="Monotype Sorts"/>
              <a:buChar char="u"/>
            </a:pPr>
            <a:r>
              <a:rPr lang="en-GB" altLang="en-US" sz="2800" dirty="0"/>
              <a:t>A </a:t>
            </a:r>
            <a:r>
              <a:rPr lang="en-GB" altLang="en-US" sz="2800" b="1" dirty="0"/>
              <a:t>selection </a:t>
            </a:r>
            <a:r>
              <a:rPr lang="en-GB" altLang="en-US" sz="2800" dirty="0"/>
              <a:t>construct (</a:t>
            </a:r>
            <a:r>
              <a:rPr lang="en-GB" altLang="en-US" sz="2800" dirty="0" err="1"/>
              <a:t>a.k.a</a:t>
            </a:r>
            <a:r>
              <a:rPr lang="en-GB" altLang="en-US" sz="2800" dirty="0"/>
              <a:t> </a:t>
            </a:r>
            <a:r>
              <a:rPr lang="en-GB" altLang="en-US" sz="2800" i="1" dirty="0"/>
              <a:t>conditional </a:t>
            </a:r>
            <a:r>
              <a:rPr lang="en-GB" altLang="en-US" sz="2800" dirty="0"/>
              <a:t>or </a:t>
            </a:r>
            <a:r>
              <a:rPr lang="en-GB" altLang="en-US" sz="2800" i="1" dirty="0"/>
              <a:t>decision </a:t>
            </a:r>
            <a:r>
              <a:rPr lang="en-GB" altLang="en-US" sz="2800" dirty="0"/>
              <a:t>constructs) </a:t>
            </a:r>
            <a:r>
              <a:rPr lang="en-GB" altLang="en-US" sz="2800" u="sng" dirty="0"/>
              <a:t>indicates that a process must perform different steps under well-specified conditions</a:t>
            </a:r>
          </a:p>
          <a:p>
            <a:pPr eaLnBrk="1" hangingPunct="1">
              <a:lnSpc>
                <a:spcPct val="90000"/>
              </a:lnSpc>
              <a:spcBef>
                <a:spcPct val="0"/>
              </a:spcBef>
              <a:buClr>
                <a:schemeClr val="tx1"/>
              </a:buClr>
              <a:buSzPct val="80000"/>
              <a:buFont typeface="Monotype Sorts"/>
              <a:buChar char="u"/>
            </a:pPr>
            <a:endParaRPr lang="en-GB" altLang="en-US" sz="1400" dirty="0"/>
          </a:p>
          <a:p>
            <a:pPr eaLnBrk="1" hangingPunct="1">
              <a:lnSpc>
                <a:spcPct val="90000"/>
              </a:lnSpc>
              <a:spcBef>
                <a:spcPct val="0"/>
              </a:spcBef>
              <a:buClr>
                <a:schemeClr val="tx1"/>
              </a:buClr>
              <a:buSzPct val="80000"/>
              <a:buFont typeface="Monotype Sorts"/>
              <a:buChar char="u"/>
            </a:pPr>
            <a:r>
              <a:rPr lang="en-GB" altLang="en-US" sz="2800" dirty="0"/>
              <a:t>Two Types :</a:t>
            </a:r>
            <a:endParaRPr lang="en-GB" altLang="en-US" sz="2400" dirty="0"/>
          </a:p>
          <a:p>
            <a:pPr lvl="1" eaLnBrk="1" hangingPunct="1">
              <a:lnSpc>
                <a:spcPct val="90000"/>
              </a:lnSpc>
              <a:buClr>
                <a:schemeClr val="tx1"/>
              </a:buClr>
              <a:buSzPct val="80000"/>
              <a:buFont typeface="Wingdings" panose="05000000000000000000" pitchFamily="2" charset="2"/>
              <a:buChar char="Ø"/>
            </a:pPr>
            <a:r>
              <a:rPr lang="en-GB" altLang="en-US" sz="2000" b="1" i="1" dirty="0">
                <a:solidFill>
                  <a:srgbClr val="00B0F0"/>
                </a:solidFill>
              </a:rPr>
              <a:t>IF-THEN-ELSE</a:t>
            </a:r>
            <a:r>
              <a:rPr lang="en-GB" altLang="en-US" sz="2000" b="1" i="1" dirty="0"/>
              <a:t> </a:t>
            </a:r>
            <a:r>
              <a:rPr lang="en-GB" altLang="en-US" sz="2000" b="1" i="1" dirty="0">
                <a:solidFill>
                  <a:srgbClr val="00B0F0"/>
                </a:solidFill>
              </a:rPr>
              <a:t>constructs</a:t>
            </a:r>
            <a:r>
              <a:rPr lang="en-GB" altLang="en-US" sz="2000" b="1" i="1" dirty="0"/>
              <a:t> </a:t>
            </a:r>
            <a:r>
              <a:rPr lang="en-GB" altLang="en-US" sz="2000" i="1" dirty="0"/>
              <a:t>specifies that one set of steps should be taken if a specified condition is true BUT a different set of steps should be specified if the condition is false. </a:t>
            </a:r>
            <a:endParaRPr lang="en-GB" altLang="en-US" sz="3200" i="1" dirty="0"/>
          </a:p>
          <a:p>
            <a:pPr lvl="2" eaLnBrk="1" hangingPunct="1">
              <a:lnSpc>
                <a:spcPct val="90000"/>
              </a:lnSpc>
              <a:buClr>
                <a:schemeClr val="tx1"/>
              </a:buClr>
              <a:buSzPct val="80000"/>
              <a:buFont typeface="Symbol" panose="05050102010706020507" pitchFamily="18" charset="2"/>
              <a:buChar char="®"/>
            </a:pPr>
            <a:r>
              <a:rPr lang="en-GB" altLang="en-US" dirty="0"/>
              <a:t>Steps are sequences of sentences</a:t>
            </a:r>
            <a:endParaRPr lang="en-GB" altLang="en-US" sz="2000" i="1" dirty="0"/>
          </a:p>
          <a:p>
            <a:pPr lvl="1" eaLnBrk="1" hangingPunct="1">
              <a:lnSpc>
                <a:spcPct val="90000"/>
              </a:lnSpc>
              <a:buClr>
                <a:schemeClr val="tx1"/>
              </a:buClr>
              <a:buSzPct val="80000"/>
              <a:buFont typeface="Wingdings" panose="05000000000000000000" pitchFamily="2" charset="2"/>
              <a:buChar char="Ø"/>
            </a:pPr>
            <a:endParaRPr lang="en-GB" altLang="en-US" sz="2000" b="1" i="1" dirty="0"/>
          </a:p>
          <a:p>
            <a:pPr lvl="1" eaLnBrk="1" hangingPunct="1">
              <a:lnSpc>
                <a:spcPct val="90000"/>
              </a:lnSpc>
              <a:buClr>
                <a:schemeClr val="tx1"/>
              </a:buClr>
              <a:buSzPct val="80000"/>
              <a:buFont typeface="Wingdings" panose="05000000000000000000" pitchFamily="2" charset="2"/>
              <a:buChar char="Ø"/>
            </a:pPr>
            <a:r>
              <a:rPr lang="en-GB" altLang="en-US" sz="2000" b="1" i="1" dirty="0">
                <a:solidFill>
                  <a:srgbClr val="00B0F0"/>
                </a:solidFill>
              </a:rPr>
              <a:t>CASE</a:t>
            </a:r>
            <a:r>
              <a:rPr lang="en-GB" altLang="en-US" sz="2000" b="1" i="1" dirty="0"/>
              <a:t> </a:t>
            </a:r>
            <a:r>
              <a:rPr lang="en-GB" altLang="en-US" sz="2000" b="1" i="1" dirty="0">
                <a:solidFill>
                  <a:srgbClr val="00B0F0"/>
                </a:solidFill>
              </a:rPr>
              <a:t>constructs</a:t>
            </a:r>
            <a:r>
              <a:rPr lang="en-GB" altLang="en-US" sz="2000" b="1" i="1" dirty="0"/>
              <a:t> </a:t>
            </a:r>
            <a:r>
              <a:rPr lang="en-GB" altLang="en-US" sz="2000" i="1" dirty="0"/>
              <a:t>are used when there are more than 2 steps to chose from - it is an elegant substitute for IF-THEN-ELSE-IF-THEN-ELSE.. (nested IF) constructs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id="{89974F1F-D9EF-4F85-A4F4-710B03A7BE5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6091EF1-CEF0-42B6-95F9-6BD2488D7E56}" type="slidenum">
              <a:rPr lang="en-US" altLang="en-US" sz="1200">
                <a:latin typeface="Arial" panose="020B0604020202020204" pitchFamily="34" charset="0"/>
              </a:rPr>
              <a:pPr>
                <a:spcBef>
                  <a:spcPct val="0"/>
                </a:spcBef>
                <a:buFontTx/>
                <a:buNone/>
              </a:pPr>
              <a:t>10</a:t>
            </a:fld>
            <a:endParaRPr lang="en-US" altLang="en-US" sz="1200">
              <a:latin typeface="Arial" panose="020B0604020202020204" pitchFamily="34" charset="0"/>
            </a:endParaRPr>
          </a:p>
        </p:txBody>
      </p:sp>
      <p:sp>
        <p:nvSpPr>
          <p:cNvPr id="20483" name="Rectangle 2">
            <a:extLst>
              <a:ext uri="{FF2B5EF4-FFF2-40B4-BE49-F238E27FC236}">
                <a16:creationId xmlns:a16="http://schemas.microsoft.com/office/drawing/2014/main" id="{4637AD75-27DD-4922-B3B6-B9AE82FAB94E}"/>
              </a:ext>
            </a:extLst>
          </p:cNvPr>
          <p:cNvSpPr>
            <a:spLocks noGrp="1"/>
          </p:cNvSpPr>
          <p:nvPr>
            <p:ph type="title"/>
          </p:nvPr>
        </p:nvSpPr>
        <p:spPr/>
        <p:txBody>
          <a:bodyPr/>
          <a:lstStyle/>
          <a:p>
            <a:pPr eaLnBrk="1" hangingPunct="1"/>
            <a:r>
              <a:rPr lang="en-GB" altLang="en-US" sz="3400"/>
              <a:t>IF-THEN-ELSE</a:t>
            </a:r>
            <a:endParaRPr lang="en-GB" altLang="en-US"/>
          </a:p>
        </p:txBody>
      </p:sp>
      <p:sp>
        <p:nvSpPr>
          <p:cNvPr id="439299" name="Text Box 3">
            <a:extLst>
              <a:ext uri="{FF2B5EF4-FFF2-40B4-BE49-F238E27FC236}">
                <a16:creationId xmlns:a16="http://schemas.microsoft.com/office/drawing/2014/main" id="{8171034F-2C8E-4B30-BA6F-0A50F8B0A657}"/>
              </a:ext>
            </a:extLst>
          </p:cNvPr>
          <p:cNvSpPr txBox="1">
            <a:spLocks noChangeArrowheads="1"/>
          </p:cNvSpPr>
          <p:nvPr/>
        </p:nvSpPr>
        <p:spPr bwMode="auto">
          <a:xfrm>
            <a:off x="876300" y="1803400"/>
            <a:ext cx="3187700" cy="2834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80000"/>
              </a:lnSpc>
              <a:spcBef>
                <a:spcPct val="50000"/>
              </a:spcBef>
              <a:buFontTx/>
              <a:buNone/>
            </a:pPr>
            <a:r>
              <a:rPr lang="en-GB" altLang="en-US" sz="1800" b="1" i="1" dirty="0">
                <a:latin typeface="Times New Roman" panose="02020603050405020304" pitchFamily="18" charset="0"/>
              </a:rPr>
              <a:t>If</a:t>
            </a:r>
            <a:r>
              <a:rPr lang="en-GB" altLang="en-US" sz="1800" i="1" dirty="0">
                <a:latin typeface="Times New Roman" panose="02020603050405020304" pitchFamily="18" charset="0"/>
              </a:rPr>
              <a:t> [truth-condition] </a:t>
            </a:r>
            <a:r>
              <a:rPr lang="en-GB" altLang="en-US" sz="1800" b="1" i="1" dirty="0">
                <a:latin typeface="Times New Roman" panose="02020603050405020304" pitchFamily="18" charset="0"/>
              </a:rPr>
              <a:t>then</a:t>
            </a:r>
            <a:endParaRPr lang="en-GB" altLang="en-US" sz="1800" i="1" dirty="0">
              <a:latin typeface="Times New Roman" panose="02020603050405020304" pitchFamily="18" charset="0"/>
            </a:endParaRPr>
          </a:p>
          <a:p>
            <a:pPr>
              <a:lnSpc>
                <a:spcPct val="80000"/>
              </a:lnSpc>
              <a:spcBef>
                <a:spcPct val="50000"/>
              </a:spcBef>
              <a:buFontTx/>
              <a:buNone/>
            </a:pPr>
            <a:r>
              <a:rPr lang="en-GB" altLang="en-US" sz="1800" i="1" dirty="0">
                <a:latin typeface="Times New Roman" panose="02020603050405020304" pitchFamily="18" charset="0"/>
              </a:rPr>
              <a:t>      [sequence of steps or other</a:t>
            </a:r>
          </a:p>
          <a:p>
            <a:pPr>
              <a:lnSpc>
                <a:spcPct val="80000"/>
              </a:lnSpc>
              <a:spcBef>
                <a:spcPct val="50000"/>
              </a:spcBef>
              <a:buFontTx/>
              <a:buNone/>
            </a:pPr>
            <a:r>
              <a:rPr lang="en-GB" altLang="en-US" sz="1800" i="1" dirty="0">
                <a:latin typeface="Times New Roman" panose="02020603050405020304" pitchFamily="18" charset="0"/>
              </a:rPr>
              <a:t>       conditional steps] </a:t>
            </a:r>
          </a:p>
          <a:p>
            <a:pPr>
              <a:lnSpc>
                <a:spcPct val="80000"/>
              </a:lnSpc>
              <a:spcBef>
                <a:spcPct val="50000"/>
              </a:spcBef>
              <a:buFontTx/>
              <a:buNone/>
            </a:pPr>
            <a:r>
              <a:rPr lang="en-GB" altLang="en-US" sz="1800" b="1" i="1" dirty="0">
                <a:latin typeface="Times New Roman" panose="02020603050405020304" pitchFamily="18" charset="0"/>
              </a:rPr>
              <a:t>else</a:t>
            </a:r>
            <a:endParaRPr lang="en-GB" altLang="en-US" sz="1800" i="1" dirty="0">
              <a:latin typeface="Times New Roman" panose="02020603050405020304" pitchFamily="18" charset="0"/>
            </a:endParaRPr>
          </a:p>
          <a:p>
            <a:pPr>
              <a:lnSpc>
                <a:spcPct val="80000"/>
              </a:lnSpc>
              <a:spcBef>
                <a:spcPct val="50000"/>
              </a:spcBef>
              <a:buFontTx/>
              <a:buNone/>
            </a:pPr>
            <a:r>
              <a:rPr lang="en-GB" altLang="en-US" sz="1800" i="1" dirty="0">
                <a:latin typeface="Times New Roman" panose="02020603050405020304" pitchFamily="18" charset="0"/>
              </a:rPr>
              <a:t>      [sequence of steps or other</a:t>
            </a:r>
          </a:p>
          <a:p>
            <a:pPr>
              <a:lnSpc>
                <a:spcPct val="80000"/>
              </a:lnSpc>
              <a:spcBef>
                <a:spcPct val="50000"/>
              </a:spcBef>
              <a:buFontTx/>
              <a:buNone/>
            </a:pPr>
            <a:r>
              <a:rPr lang="en-GB" altLang="en-US" sz="1800" i="1" dirty="0">
                <a:latin typeface="Times New Roman" panose="02020603050405020304" pitchFamily="18" charset="0"/>
              </a:rPr>
              <a:t>       conditional steps] </a:t>
            </a:r>
          </a:p>
          <a:p>
            <a:pPr>
              <a:lnSpc>
                <a:spcPct val="80000"/>
              </a:lnSpc>
              <a:spcBef>
                <a:spcPct val="50000"/>
              </a:spcBef>
              <a:buFontTx/>
              <a:buNone/>
            </a:pPr>
            <a:r>
              <a:rPr lang="en-GB" altLang="en-US" sz="1800" b="1" i="1" dirty="0">
                <a:latin typeface="Times New Roman" panose="02020603050405020304" pitchFamily="18" charset="0"/>
              </a:rPr>
              <a:t>endif</a:t>
            </a:r>
            <a:endParaRPr lang="en-GB" altLang="en-US" sz="1800" i="1" dirty="0">
              <a:latin typeface="Times New Roman" panose="02020603050405020304" pitchFamily="18" charset="0"/>
            </a:endParaRPr>
          </a:p>
          <a:p>
            <a:pPr>
              <a:lnSpc>
                <a:spcPct val="80000"/>
              </a:lnSpc>
              <a:spcBef>
                <a:spcPct val="50000"/>
              </a:spcBef>
              <a:buFontTx/>
              <a:buNone/>
            </a:pPr>
            <a:r>
              <a:rPr lang="en-GB" altLang="en-US" sz="1800" b="1" i="1" dirty="0">
                <a:latin typeface="Times New Roman" panose="02020603050405020304" pitchFamily="18" charset="0"/>
              </a:rPr>
              <a:t>  </a:t>
            </a:r>
            <a:endParaRPr lang="en-GB" altLang="en-US" sz="1800" i="1" dirty="0">
              <a:latin typeface="Times New Roman" panose="02020603050405020304" pitchFamily="18" charset="0"/>
            </a:endParaRPr>
          </a:p>
        </p:txBody>
      </p:sp>
      <p:grpSp>
        <p:nvGrpSpPr>
          <p:cNvPr id="2" name="Group 10">
            <a:extLst>
              <a:ext uri="{FF2B5EF4-FFF2-40B4-BE49-F238E27FC236}">
                <a16:creationId xmlns:a16="http://schemas.microsoft.com/office/drawing/2014/main" id="{66F9EE6B-9B1F-478B-AB4B-F2A8163CDBD3}"/>
              </a:ext>
            </a:extLst>
          </p:cNvPr>
          <p:cNvGrpSpPr>
            <a:grpSpLocks/>
          </p:cNvGrpSpPr>
          <p:nvPr/>
        </p:nvGrpSpPr>
        <p:grpSpPr bwMode="auto">
          <a:xfrm>
            <a:off x="876300" y="4546600"/>
            <a:ext cx="2298700" cy="1447800"/>
            <a:chOff x="552" y="2864"/>
            <a:chExt cx="1448" cy="912"/>
          </a:xfrm>
        </p:grpSpPr>
        <p:sp>
          <p:nvSpPr>
            <p:cNvPr id="20487" name="Text Box 5">
              <a:extLst>
                <a:ext uri="{FF2B5EF4-FFF2-40B4-BE49-F238E27FC236}">
                  <a16:creationId xmlns:a16="http://schemas.microsoft.com/office/drawing/2014/main" id="{F71F2B2A-A601-41B7-B0C9-AA2211A296D9}"/>
                </a:ext>
              </a:extLst>
            </p:cNvPr>
            <p:cNvSpPr txBox="1">
              <a:spLocks noChangeArrowheads="1"/>
            </p:cNvSpPr>
            <p:nvPr/>
          </p:nvSpPr>
          <p:spPr bwMode="auto">
            <a:xfrm>
              <a:off x="552" y="3256"/>
              <a:ext cx="1448"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1600" i="1">
                  <a:latin typeface="Times New Roman" panose="02020603050405020304" pitchFamily="18" charset="0"/>
                </a:rPr>
                <a:t>Optional - may make it look too much like an actual program!</a:t>
              </a:r>
              <a:endParaRPr lang="en-GB" altLang="en-US" sz="2400" i="1">
                <a:latin typeface="Times New Roman" panose="02020603050405020304" pitchFamily="18" charset="0"/>
              </a:endParaRPr>
            </a:p>
          </p:txBody>
        </p:sp>
        <p:sp>
          <p:nvSpPr>
            <p:cNvPr id="20488" name="AutoShape 8">
              <a:extLst>
                <a:ext uri="{FF2B5EF4-FFF2-40B4-BE49-F238E27FC236}">
                  <a16:creationId xmlns:a16="http://schemas.microsoft.com/office/drawing/2014/main" id="{8E58D3EE-F92E-4882-AA4C-97D02A0B54E8}"/>
                </a:ext>
              </a:extLst>
            </p:cNvPr>
            <p:cNvSpPr>
              <a:spLocks noChangeArrowheads="1"/>
            </p:cNvSpPr>
            <p:nvPr/>
          </p:nvSpPr>
          <p:spPr bwMode="auto">
            <a:xfrm>
              <a:off x="736" y="2864"/>
              <a:ext cx="47" cy="408"/>
            </a:xfrm>
            <a:prstGeom prst="upArrow">
              <a:avLst>
                <a:gd name="adj1" fmla="val 50000"/>
                <a:gd name="adj2" fmla="val 217021"/>
              </a:avLst>
            </a:prstGeom>
            <a:solidFill>
              <a:schemeClr val="accent1"/>
            </a:solidFill>
            <a:ln w="19050">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MY" altLang="en-US" sz="1800">
                <a:latin typeface="Arial" panose="020B0604020202020204" pitchFamily="34" charset="0"/>
              </a:endParaRPr>
            </a:p>
          </p:txBody>
        </p:sp>
      </p:grpSp>
      <p:sp>
        <p:nvSpPr>
          <p:cNvPr id="439305" name="Text Box 9">
            <a:extLst>
              <a:ext uri="{FF2B5EF4-FFF2-40B4-BE49-F238E27FC236}">
                <a16:creationId xmlns:a16="http://schemas.microsoft.com/office/drawing/2014/main" id="{9B610105-1434-4687-A03B-E16DB62464D8}"/>
              </a:ext>
            </a:extLst>
          </p:cNvPr>
          <p:cNvSpPr txBox="1">
            <a:spLocks noChangeArrowheads="1"/>
          </p:cNvSpPr>
          <p:nvPr/>
        </p:nvSpPr>
        <p:spPr bwMode="auto">
          <a:xfrm>
            <a:off x="4610100" y="1638300"/>
            <a:ext cx="4013200" cy="459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80000"/>
              </a:lnSpc>
              <a:spcBef>
                <a:spcPct val="50000"/>
              </a:spcBef>
              <a:buFontTx/>
              <a:buNone/>
            </a:pPr>
            <a:r>
              <a:rPr lang="en-GB" altLang="en-US" sz="1800" b="1" i="1" dirty="0">
                <a:latin typeface="Times New Roman" panose="02020603050405020304" pitchFamily="18" charset="0"/>
              </a:rPr>
              <a:t>If </a:t>
            </a:r>
            <a:r>
              <a:rPr lang="en-GB" altLang="en-US" sz="1800" i="1" dirty="0">
                <a:latin typeface="Times New Roman" panose="02020603050405020304" pitchFamily="18" charset="0"/>
              </a:rPr>
              <a:t>dimensions not OK </a:t>
            </a:r>
            <a:r>
              <a:rPr lang="en-GB" altLang="en-US" sz="1800" b="1" i="1" dirty="0">
                <a:latin typeface="Times New Roman" panose="02020603050405020304" pitchFamily="18" charset="0"/>
              </a:rPr>
              <a:t>then</a:t>
            </a:r>
            <a:r>
              <a:rPr lang="en-GB" altLang="en-US" sz="1800" i="1" dirty="0">
                <a:latin typeface="Times New Roman" panose="02020603050405020304" pitchFamily="18" charset="0"/>
              </a:rPr>
              <a:t> </a:t>
            </a:r>
          </a:p>
          <a:p>
            <a:pPr>
              <a:lnSpc>
                <a:spcPct val="80000"/>
              </a:lnSpc>
              <a:spcBef>
                <a:spcPct val="50000"/>
              </a:spcBef>
              <a:buFontTx/>
              <a:buNone/>
            </a:pPr>
            <a:r>
              <a:rPr lang="en-GB" altLang="en-US" sz="1800" i="1" dirty="0">
                <a:latin typeface="Times New Roman" panose="02020603050405020304" pitchFamily="18" charset="0"/>
              </a:rPr>
              <a:t>          Reject product</a:t>
            </a:r>
          </a:p>
          <a:p>
            <a:pPr>
              <a:lnSpc>
                <a:spcPct val="80000"/>
              </a:lnSpc>
              <a:spcBef>
                <a:spcPct val="50000"/>
              </a:spcBef>
              <a:buFontTx/>
              <a:buNone/>
            </a:pPr>
            <a:r>
              <a:rPr lang="en-GB" altLang="en-US" sz="1800" b="1" i="1" dirty="0">
                <a:latin typeface="Times New Roman" panose="02020603050405020304" pitchFamily="18" charset="0"/>
              </a:rPr>
              <a:t>else</a:t>
            </a:r>
            <a:endParaRPr lang="en-GB" altLang="en-US" sz="1800" i="1" dirty="0">
              <a:latin typeface="Times New Roman" panose="02020603050405020304" pitchFamily="18" charset="0"/>
            </a:endParaRPr>
          </a:p>
          <a:p>
            <a:pPr>
              <a:lnSpc>
                <a:spcPct val="80000"/>
              </a:lnSpc>
              <a:spcBef>
                <a:spcPct val="50000"/>
              </a:spcBef>
              <a:buFontTx/>
              <a:buNone/>
            </a:pPr>
            <a:r>
              <a:rPr lang="en-GB" altLang="en-US" sz="1800" b="1" i="1" dirty="0">
                <a:latin typeface="Times New Roman" panose="02020603050405020304" pitchFamily="18" charset="0"/>
              </a:rPr>
              <a:t>    If</a:t>
            </a:r>
            <a:r>
              <a:rPr lang="en-GB" altLang="en-US" sz="1800" i="1" dirty="0">
                <a:latin typeface="Times New Roman" panose="02020603050405020304" pitchFamily="18" charset="0"/>
              </a:rPr>
              <a:t> mechanical test OK </a:t>
            </a:r>
            <a:r>
              <a:rPr lang="en-GB" altLang="en-US" sz="1800" b="1" i="1" dirty="0">
                <a:latin typeface="Times New Roman" panose="02020603050405020304" pitchFamily="18" charset="0"/>
              </a:rPr>
              <a:t>and </a:t>
            </a:r>
          </a:p>
          <a:p>
            <a:pPr>
              <a:lnSpc>
                <a:spcPct val="80000"/>
              </a:lnSpc>
              <a:spcBef>
                <a:spcPct val="50000"/>
              </a:spcBef>
              <a:buFontTx/>
              <a:buNone/>
            </a:pPr>
            <a:r>
              <a:rPr lang="en-GB" altLang="en-US" sz="1800" b="1" i="1" dirty="0">
                <a:latin typeface="Times New Roman" panose="02020603050405020304" pitchFamily="18" charset="0"/>
              </a:rPr>
              <a:t>	If </a:t>
            </a:r>
            <a:r>
              <a:rPr lang="en-GB" altLang="en-US" sz="1800" i="1" dirty="0">
                <a:latin typeface="Times New Roman" panose="02020603050405020304" pitchFamily="18" charset="0"/>
              </a:rPr>
              <a:t>electrical test OK </a:t>
            </a:r>
            <a:r>
              <a:rPr lang="en-GB" altLang="en-US" sz="1800" b="1" i="1" dirty="0">
                <a:latin typeface="Times New Roman" panose="02020603050405020304" pitchFamily="18" charset="0"/>
              </a:rPr>
              <a:t>then</a:t>
            </a:r>
            <a:r>
              <a:rPr lang="en-GB" altLang="en-US" sz="1800" i="1" dirty="0">
                <a:latin typeface="Times New Roman" panose="02020603050405020304" pitchFamily="18" charset="0"/>
              </a:rPr>
              <a:t> </a:t>
            </a:r>
          </a:p>
          <a:p>
            <a:pPr>
              <a:lnSpc>
                <a:spcPct val="80000"/>
              </a:lnSpc>
              <a:spcBef>
                <a:spcPct val="50000"/>
              </a:spcBef>
              <a:buFontTx/>
              <a:buNone/>
            </a:pPr>
            <a:r>
              <a:rPr lang="en-GB" altLang="en-US" sz="1800" i="1" dirty="0">
                <a:latin typeface="Times New Roman" panose="02020603050405020304" pitchFamily="18" charset="0"/>
              </a:rPr>
              <a:t>	    Pass product</a:t>
            </a:r>
          </a:p>
          <a:p>
            <a:pPr>
              <a:lnSpc>
                <a:spcPct val="80000"/>
              </a:lnSpc>
              <a:spcBef>
                <a:spcPct val="50000"/>
              </a:spcBef>
              <a:buFontTx/>
              <a:buNone/>
            </a:pPr>
            <a:r>
              <a:rPr lang="en-GB" altLang="en-US" sz="1800" i="1" dirty="0">
                <a:latin typeface="Times New Roman" panose="02020603050405020304" pitchFamily="18" charset="0"/>
              </a:rPr>
              <a:t>               </a:t>
            </a:r>
            <a:r>
              <a:rPr lang="en-GB" altLang="en-US" sz="1800" b="1" i="1" dirty="0">
                <a:latin typeface="Times New Roman" panose="02020603050405020304" pitchFamily="18" charset="0"/>
              </a:rPr>
              <a:t>else</a:t>
            </a:r>
            <a:r>
              <a:rPr lang="en-GB" altLang="en-US" sz="1800" i="1" dirty="0">
                <a:latin typeface="Times New Roman" panose="02020603050405020304" pitchFamily="18" charset="0"/>
              </a:rPr>
              <a:t> </a:t>
            </a:r>
          </a:p>
          <a:p>
            <a:pPr>
              <a:lnSpc>
                <a:spcPct val="80000"/>
              </a:lnSpc>
              <a:spcBef>
                <a:spcPct val="50000"/>
              </a:spcBef>
              <a:buFontTx/>
              <a:buNone/>
            </a:pPr>
            <a:r>
              <a:rPr lang="en-GB" altLang="en-US" sz="1800" i="1" dirty="0">
                <a:latin typeface="Times New Roman" panose="02020603050405020304" pitchFamily="18" charset="0"/>
              </a:rPr>
              <a:t>	   Repair product</a:t>
            </a:r>
          </a:p>
          <a:p>
            <a:pPr>
              <a:lnSpc>
                <a:spcPct val="80000"/>
              </a:lnSpc>
              <a:spcBef>
                <a:spcPct val="50000"/>
              </a:spcBef>
              <a:buFontTx/>
              <a:buNone/>
            </a:pPr>
            <a:r>
              <a:rPr lang="en-GB" altLang="en-US" sz="1800" i="1" dirty="0">
                <a:latin typeface="Times New Roman" panose="02020603050405020304" pitchFamily="18" charset="0"/>
              </a:rPr>
              <a:t>   </a:t>
            </a:r>
            <a:r>
              <a:rPr lang="en-GB" altLang="en-US" sz="1800" b="1" i="1" dirty="0">
                <a:latin typeface="Times New Roman" panose="02020603050405020304" pitchFamily="18" charset="0"/>
              </a:rPr>
              <a:t>else</a:t>
            </a:r>
            <a:r>
              <a:rPr lang="en-GB" altLang="en-US" sz="1800" i="1" dirty="0">
                <a:latin typeface="Times New Roman" panose="02020603050405020304" pitchFamily="18" charset="0"/>
              </a:rPr>
              <a:t>  </a:t>
            </a:r>
          </a:p>
          <a:p>
            <a:pPr>
              <a:lnSpc>
                <a:spcPct val="80000"/>
              </a:lnSpc>
              <a:spcBef>
                <a:spcPct val="50000"/>
              </a:spcBef>
              <a:buFontTx/>
              <a:buNone/>
            </a:pPr>
            <a:r>
              <a:rPr lang="en-GB" altLang="en-US" sz="1800" i="1" dirty="0">
                <a:latin typeface="Times New Roman" panose="02020603050405020304" pitchFamily="18" charset="0"/>
              </a:rPr>
              <a:t>        </a:t>
            </a:r>
            <a:r>
              <a:rPr lang="en-GB" altLang="en-US" sz="1800" b="1" i="1" dirty="0">
                <a:latin typeface="Times New Roman" panose="02020603050405020304" pitchFamily="18" charset="0"/>
              </a:rPr>
              <a:t>If</a:t>
            </a:r>
            <a:r>
              <a:rPr lang="en-GB" altLang="en-US" sz="1800" i="1" dirty="0">
                <a:latin typeface="Times New Roman" panose="02020603050405020304" pitchFamily="18" charset="0"/>
              </a:rPr>
              <a:t> electrical test OK </a:t>
            </a:r>
            <a:r>
              <a:rPr lang="en-GB" altLang="en-US" sz="1800" b="1" i="1" dirty="0">
                <a:latin typeface="Times New Roman" panose="02020603050405020304" pitchFamily="18" charset="0"/>
              </a:rPr>
              <a:t>then</a:t>
            </a:r>
            <a:r>
              <a:rPr lang="en-GB" altLang="en-US" sz="1800" i="1" dirty="0">
                <a:latin typeface="Times New Roman" panose="02020603050405020304" pitchFamily="18" charset="0"/>
              </a:rPr>
              <a:t> </a:t>
            </a:r>
          </a:p>
          <a:p>
            <a:pPr>
              <a:lnSpc>
                <a:spcPct val="80000"/>
              </a:lnSpc>
              <a:spcBef>
                <a:spcPct val="50000"/>
              </a:spcBef>
              <a:buFontTx/>
              <a:buNone/>
            </a:pPr>
            <a:r>
              <a:rPr lang="en-GB" altLang="en-US" sz="1800" i="1" dirty="0">
                <a:latin typeface="Times New Roman" panose="02020603050405020304" pitchFamily="18" charset="0"/>
              </a:rPr>
              <a:t>	Repair product</a:t>
            </a:r>
          </a:p>
          <a:p>
            <a:pPr>
              <a:lnSpc>
                <a:spcPct val="80000"/>
              </a:lnSpc>
              <a:spcBef>
                <a:spcPct val="50000"/>
              </a:spcBef>
              <a:buFontTx/>
              <a:buNone/>
            </a:pPr>
            <a:r>
              <a:rPr lang="en-GB" altLang="en-US" sz="1800" i="1" dirty="0">
                <a:latin typeface="Times New Roman" panose="02020603050405020304" pitchFamily="18" charset="0"/>
              </a:rPr>
              <a:t>        </a:t>
            </a:r>
            <a:r>
              <a:rPr lang="en-GB" altLang="en-US" sz="1800" b="1" i="1" dirty="0">
                <a:latin typeface="Times New Roman" panose="02020603050405020304" pitchFamily="18" charset="0"/>
              </a:rPr>
              <a:t>else</a:t>
            </a:r>
            <a:r>
              <a:rPr lang="en-GB" altLang="en-US" sz="1800" i="1" dirty="0">
                <a:latin typeface="Times New Roman" panose="02020603050405020304" pitchFamily="18" charset="0"/>
              </a:rPr>
              <a:t> </a:t>
            </a:r>
          </a:p>
          <a:p>
            <a:pPr>
              <a:lnSpc>
                <a:spcPct val="80000"/>
              </a:lnSpc>
              <a:spcBef>
                <a:spcPct val="50000"/>
              </a:spcBef>
              <a:buFontTx/>
              <a:buNone/>
            </a:pPr>
            <a:r>
              <a:rPr lang="en-GB" altLang="en-US" sz="1800" i="1" dirty="0">
                <a:latin typeface="Times New Roman" panose="02020603050405020304" pitchFamily="18" charset="0"/>
              </a:rPr>
              <a:t>           	Reject product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39299"/>
                                        </p:tgtEl>
                                        <p:attrNameLst>
                                          <p:attrName>style.visibility</p:attrName>
                                        </p:attrNameLst>
                                      </p:cBhvr>
                                      <p:to>
                                        <p:strVal val="visible"/>
                                      </p:to>
                                    </p:set>
                                    <p:animEffect transition="in" filter="dissolve">
                                      <p:cBhvr>
                                        <p:cTn id="7" dur="500"/>
                                        <p:tgtEl>
                                          <p:spTgt spid="4392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Bottom)">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36" fill="hold" grpId="0" nodeType="clickEffect">
                                  <p:stCondLst>
                                    <p:cond delay="0"/>
                                  </p:stCondLst>
                                  <p:childTnLst>
                                    <p:set>
                                      <p:cBhvr>
                                        <p:cTn id="16" dur="1" fill="hold">
                                          <p:stCondLst>
                                            <p:cond delay="0"/>
                                          </p:stCondLst>
                                        </p:cTn>
                                        <p:tgtEl>
                                          <p:spTgt spid="439305"/>
                                        </p:tgtEl>
                                        <p:attrNameLst>
                                          <p:attrName>style.visibility</p:attrName>
                                        </p:attrNameLst>
                                      </p:cBhvr>
                                      <p:to>
                                        <p:strVal val="visible"/>
                                      </p:to>
                                    </p:set>
                                    <p:anim calcmode="lin" valueType="num">
                                      <p:cBhvr>
                                        <p:cTn id="17" dur="500" fill="hold"/>
                                        <p:tgtEl>
                                          <p:spTgt spid="439305"/>
                                        </p:tgtEl>
                                        <p:attrNameLst>
                                          <p:attrName>ppt_w</p:attrName>
                                        </p:attrNameLst>
                                      </p:cBhvr>
                                      <p:tavLst>
                                        <p:tav tm="0">
                                          <p:val>
                                            <p:strVal val="(6*min(max(#ppt_w*#ppt_h,.3),1)-7.4)/-.7*#ppt_w"/>
                                          </p:val>
                                        </p:tav>
                                        <p:tav tm="100000">
                                          <p:val>
                                            <p:strVal val="#ppt_w"/>
                                          </p:val>
                                        </p:tav>
                                      </p:tavLst>
                                    </p:anim>
                                    <p:anim calcmode="lin" valueType="num">
                                      <p:cBhvr>
                                        <p:cTn id="18" dur="500" fill="hold"/>
                                        <p:tgtEl>
                                          <p:spTgt spid="439305"/>
                                        </p:tgtEl>
                                        <p:attrNameLst>
                                          <p:attrName>ppt_h</p:attrName>
                                        </p:attrNameLst>
                                      </p:cBhvr>
                                      <p:tavLst>
                                        <p:tav tm="0">
                                          <p:val>
                                            <p:strVal val="(6*min(max(#ppt_w*#ppt_h,.3),1)-7.4)/-.7*#ppt_h"/>
                                          </p:val>
                                        </p:tav>
                                        <p:tav tm="100000">
                                          <p:val>
                                            <p:strVal val="#ppt_h"/>
                                          </p:val>
                                        </p:tav>
                                      </p:tavLst>
                                    </p:anim>
                                    <p:anim calcmode="lin" valueType="num">
                                      <p:cBhvr>
                                        <p:cTn id="19" dur="500" fill="hold"/>
                                        <p:tgtEl>
                                          <p:spTgt spid="439305"/>
                                        </p:tgtEl>
                                        <p:attrNameLst>
                                          <p:attrName>ppt_x</p:attrName>
                                        </p:attrNameLst>
                                      </p:cBhvr>
                                      <p:tavLst>
                                        <p:tav tm="0">
                                          <p:val>
                                            <p:fltVal val="0.5"/>
                                          </p:val>
                                        </p:tav>
                                        <p:tav tm="100000">
                                          <p:val>
                                            <p:strVal val="#ppt_x"/>
                                          </p:val>
                                        </p:tav>
                                      </p:tavLst>
                                    </p:anim>
                                    <p:anim calcmode="lin" valueType="num">
                                      <p:cBhvr>
                                        <p:cTn id="20" dur="500" fill="hold"/>
                                        <p:tgtEl>
                                          <p:spTgt spid="439305"/>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9299" grpId="0" autoUpdateAnimBg="0"/>
      <p:bldP spid="439305"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Slide Number Placeholder 5">
            <a:extLst>
              <a:ext uri="{FF2B5EF4-FFF2-40B4-BE49-F238E27FC236}">
                <a16:creationId xmlns:a16="http://schemas.microsoft.com/office/drawing/2014/main" id="{6C7BC8E8-4E27-4E98-9C36-CA00A1BF86B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A271013-BFE1-40E2-9368-1425755A1B42}" type="slidenum">
              <a:rPr lang="en-US" altLang="en-US" sz="1200">
                <a:latin typeface="Arial" panose="020B0604020202020204" pitchFamily="34" charset="0"/>
              </a:rPr>
              <a:pPr>
                <a:spcBef>
                  <a:spcPct val="0"/>
                </a:spcBef>
                <a:buFontTx/>
                <a:buNone/>
              </a:pPr>
              <a:t>11</a:t>
            </a:fld>
            <a:endParaRPr lang="en-US" altLang="en-US" sz="1200">
              <a:latin typeface="Arial" panose="020B0604020202020204" pitchFamily="34" charset="0"/>
            </a:endParaRPr>
          </a:p>
        </p:txBody>
      </p:sp>
      <p:sp>
        <p:nvSpPr>
          <p:cNvPr id="22531" name="Rectangle 2">
            <a:extLst>
              <a:ext uri="{FF2B5EF4-FFF2-40B4-BE49-F238E27FC236}">
                <a16:creationId xmlns:a16="http://schemas.microsoft.com/office/drawing/2014/main" id="{881D59E9-C946-4BD2-A793-A4CA796C8A89}"/>
              </a:ext>
            </a:extLst>
          </p:cNvPr>
          <p:cNvSpPr>
            <a:spLocks noGrp="1"/>
          </p:cNvSpPr>
          <p:nvPr>
            <p:ph type="title"/>
          </p:nvPr>
        </p:nvSpPr>
        <p:spPr/>
        <p:txBody>
          <a:bodyPr/>
          <a:lstStyle/>
          <a:p>
            <a:pPr eaLnBrk="1" hangingPunct="1"/>
            <a:r>
              <a:rPr lang="en-GB" altLang="en-US" sz="3400" dirty="0"/>
              <a:t>Iteration Constructs</a:t>
            </a:r>
            <a:endParaRPr lang="en-GB" altLang="en-US" dirty="0"/>
          </a:p>
        </p:txBody>
      </p:sp>
      <p:sp>
        <p:nvSpPr>
          <p:cNvPr id="22532" name="Rectangle 3">
            <a:extLst>
              <a:ext uri="{FF2B5EF4-FFF2-40B4-BE49-F238E27FC236}">
                <a16:creationId xmlns:a16="http://schemas.microsoft.com/office/drawing/2014/main" id="{B4122FD8-8DA6-4666-BF96-E9E10B1D6FB0}"/>
              </a:ext>
            </a:extLst>
          </p:cNvPr>
          <p:cNvSpPr>
            <a:spLocks noGrp="1"/>
          </p:cNvSpPr>
          <p:nvPr>
            <p:ph type="body" idx="1"/>
          </p:nvPr>
        </p:nvSpPr>
        <p:spPr>
          <a:xfrm>
            <a:off x="457200" y="1600200"/>
            <a:ext cx="8229600" cy="4446588"/>
          </a:xfrm>
        </p:spPr>
        <p:txBody>
          <a:bodyPr/>
          <a:lstStyle/>
          <a:p>
            <a:pPr eaLnBrk="1" hangingPunct="1">
              <a:spcBef>
                <a:spcPct val="0"/>
              </a:spcBef>
              <a:buClr>
                <a:schemeClr val="tx1"/>
              </a:buClr>
              <a:buSzPct val="80000"/>
              <a:buFont typeface="Monotype Sorts"/>
              <a:buChar char="u"/>
            </a:pPr>
            <a:r>
              <a:rPr lang="en-GB" altLang="en-US" sz="2800" dirty="0"/>
              <a:t>An </a:t>
            </a:r>
            <a:r>
              <a:rPr lang="en-GB" altLang="en-US" sz="2800" b="1" dirty="0"/>
              <a:t>iteration </a:t>
            </a:r>
            <a:r>
              <a:rPr lang="en-GB" altLang="en-US" sz="2800" dirty="0"/>
              <a:t>or </a:t>
            </a:r>
            <a:r>
              <a:rPr lang="en-GB" altLang="en-US" sz="2800" b="1" dirty="0"/>
              <a:t>repetition </a:t>
            </a:r>
            <a:r>
              <a:rPr lang="en-GB" altLang="en-US" sz="2800" dirty="0"/>
              <a:t>construct specifies that a </a:t>
            </a:r>
            <a:r>
              <a:rPr lang="en-GB" altLang="en-US" sz="2800" u="sng" dirty="0"/>
              <a:t>set of steps should be repeated based on some stated condition</a:t>
            </a:r>
          </a:p>
          <a:p>
            <a:pPr eaLnBrk="1" hangingPunct="1">
              <a:spcBef>
                <a:spcPct val="0"/>
              </a:spcBef>
              <a:buClr>
                <a:schemeClr val="tx1"/>
              </a:buClr>
              <a:buSzPct val="80000"/>
              <a:buFont typeface="Monotype Sorts"/>
              <a:buChar char="u"/>
            </a:pPr>
            <a:endParaRPr lang="en-GB" altLang="en-US" sz="1600" u="sng" dirty="0"/>
          </a:p>
          <a:p>
            <a:pPr eaLnBrk="1" hangingPunct="1">
              <a:spcBef>
                <a:spcPct val="0"/>
              </a:spcBef>
              <a:buClr>
                <a:schemeClr val="tx1"/>
              </a:buClr>
              <a:buSzPct val="80000"/>
              <a:buFont typeface="Monotype Sorts"/>
              <a:buChar char="u"/>
            </a:pPr>
            <a:r>
              <a:rPr lang="en-GB" altLang="en-US" sz="2800" dirty="0"/>
              <a:t>Two Types :</a:t>
            </a:r>
            <a:endParaRPr lang="en-GB" altLang="en-US" sz="2400" dirty="0"/>
          </a:p>
          <a:p>
            <a:pPr lvl="1" eaLnBrk="1" hangingPunct="1">
              <a:buClr>
                <a:schemeClr val="tx1"/>
              </a:buClr>
              <a:buSzPct val="80000"/>
              <a:buFont typeface="Wingdings" panose="05000000000000000000" pitchFamily="2" charset="2"/>
              <a:buChar char="Ø"/>
            </a:pPr>
            <a:r>
              <a:rPr lang="en-GB" altLang="en-US" sz="1800" b="1" i="1" dirty="0">
                <a:solidFill>
                  <a:srgbClr val="00B0F0"/>
                </a:solidFill>
              </a:rPr>
              <a:t>DO-WHILE constructs</a:t>
            </a:r>
            <a:r>
              <a:rPr lang="en-GB" altLang="en-US" sz="1800" b="1" i="1" dirty="0"/>
              <a:t> </a:t>
            </a:r>
            <a:r>
              <a:rPr lang="en-GB" altLang="en-US" sz="1800" i="1" dirty="0"/>
              <a:t>indicate that certain steps are repeated </a:t>
            </a:r>
            <a:r>
              <a:rPr lang="en-GB" altLang="en-US" sz="1800" i="1" u="sng" dirty="0"/>
              <a:t>0 or more </a:t>
            </a:r>
            <a:r>
              <a:rPr lang="en-GB" altLang="en-US" sz="1800" i="1" dirty="0"/>
              <a:t>times based on the value of the stated condition.  If the set of steps is conditional, based on condition’s initial value then use FOR</a:t>
            </a:r>
          </a:p>
          <a:p>
            <a:pPr lvl="2" eaLnBrk="1" hangingPunct="1">
              <a:buClr>
                <a:schemeClr val="tx1"/>
              </a:buClr>
              <a:buSzPct val="80000"/>
              <a:buFont typeface="Symbol" panose="05050102010706020507" pitchFamily="18" charset="2"/>
              <a:buChar char="®"/>
            </a:pPr>
            <a:r>
              <a:rPr lang="en-GB" altLang="en-US" sz="1800" dirty="0"/>
              <a:t>Note : 0 or more as the condition is tested </a:t>
            </a:r>
            <a:r>
              <a:rPr lang="en-GB" altLang="en-US" sz="1800" i="1" dirty="0"/>
              <a:t>before</a:t>
            </a:r>
            <a:r>
              <a:rPr lang="en-GB" altLang="en-US" sz="1800" dirty="0"/>
              <a:t> the loop is entered</a:t>
            </a:r>
            <a:endParaRPr lang="en-GB" altLang="en-US" sz="1800" i="1" dirty="0"/>
          </a:p>
          <a:p>
            <a:pPr lvl="1" eaLnBrk="1" hangingPunct="1">
              <a:buClr>
                <a:schemeClr val="tx1"/>
              </a:buClr>
              <a:buSzPct val="80000"/>
              <a:buFont typeface="Wingdings" panose="05000000000000000000" pitchFamily="2" charset="2"/>
              <a:buChar char="Ø"/>
            </a:pPr>
            <a:endParaRPr lang="en-GB" altLang="en-US" sz="1800" b="1" i="1" dirty="0"/>
          </a:p>
          <a:p>
            <a:pPr lvl="1" eaLnBrk="1" hangingPunct="1">
              <a:buClr>
                <a:schemeClr val="tx1"/>
              </a:buClr>
              <a:buSzPct val="80000"/>
              <a:buFont typeface="Wingdings" panose="05000000000000000000" pitchFamily="2" charset="2"/>
              <a:buChar char="Ø"/>
            </a:pPr>
            <a:r>
              <a:rPr lang="en-GB" altLang="en-US" sz="1800" b="1" i="1" dirty="0">
                <a:solidFill>
                  <a:srgbClr val="00B0F0"/>
                </a:solidFill>
              </a:rPr>
              <a:t>REPEAT-UNTIL constructs</a:t>
            </a:r>
            <a:r>
              <a:rPr lang="en-GB" altLang="en-US" sz="1800" b="1" i="1" dirty="0"/>
              <a:t> </a:t>
            </a:r>
            <a:r>
              <a:rPr lang="en-GB" altLang="en-US" sz="1800" i="1" dirty="0"/>
              <a:t>indicates that certain steps are repeated </a:t>
            </a:r>
            <a:r>
              <a:rPr lang="en-GB" altLang="en-US" sz="1800" i="1" u="sng" dirty="0"/>
              <a:t>1 or more</a:t>
            </a:r>
            <a:r>
              <a:rPr lang="en-GB" altLang="en-US" sz="1800" i="1" dirty="0"/>
              <a:t>  times based on the value of the stated condition</a:t>
            </a:r>
          </a:p>
          <a:p>
            <a:pPr lvl="2" eaLnBrk="1" hangingPunct="1">
              <a:buClr>
                <a:schemeClr val="tx1"/>
              </a:buClr>
              <a:buSzPct val="80000"/>
              <a:buFont typeface="Symbol" panose="05050102010706020507" pitchFamily="18" charset="2"/>
              <a:buChar char="®"/>
            </a:pPr>
            <a:r>
              <a:rPr lang="en-GB" altLang="en-US" sz="1800" dirty="0"/>
              <a:t>Note : 1 or more as the condition is tested </a:t>
            </a:r>
            <a:r>
              <a:rPr lang="en-GB" altLang="en-US" sz="1800" i="1" dirty="0"/>
              <a:t>after</a:t>
            </a:r>
            <a:r>
              <a:rPr lang="en-GB" altLang="en-US" sz="1800" dirty="0"/>
              <a:t> the loop has been  entered and all statements within the loop have been executed once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a:extLst>
              <a:ext uri="{FF2B5EF4-FFF2-40B4-BE49-F238E27FC236}">
                <a16:creationId xmlns:a16="http://schemas.microsoft.com/office/drawing/2014/main" id="{71DCF3E4-4823-4DA0-93E3-83DADE212B1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4963BD7-C73B-4510-9102-70CB53522DA3}" type="slidenum">
              <a:rPr lang="en-US" altLang="en-US" sz="1200">
                <a:latin typeface="Arial" panose="020B0604020202020204" pitchFamily="34" charset="0"/>
              </a:rPr>
              <a:pPr>
                <a:spcBef>
                  <a:spcPct val="0"/>
                </a:spcBef>
                <a:buFontTx/>
                <a:buNone/>
              </a:pPr>
              <a:t>12</a:t>
            </a:fld>
            <a:endParaRPr lang="en-US" altLang="en-US" sz="1200">
              <a:latin typeface="Arial" panose="020B0604020202020204" pitchFamily="34" charset="0"/>
            </a:endParaRPr>
          </a:p>
        </p:txBody>
      </p:sp>
      <p:sp>
        <p:nvSpPr>
          <p:cNvPr id="24579" name="Rectangle 2">
            <a:extLst>
              <a:ext uri="{FF2B5EF4-FFF2-40B4-BE49-F238E27FC236}">
                <a16:creationId xmlns:a16="http://schemas.microsoft.com/office/drawing/2014/main" id="{F487591A-0D16-4569-9F26-4EC96DB165E8}"/>
              </a:ext>
            </a:extLst>
          </p:cNvPr>
          <p:cNvSpPr>
            <a:spLocks noGrp="1"/>
          </p:cNvSpPr>
          <p:nvPr>
            <p:ph type="title"/>
          </p:nvPr>
        </p:nvSpPr>
        <p:spPr/>
        <p:txBody>
          <a:bodyPr/>
          <a:lstStyle/>
          <a:p>
            <a:pPr eaLnBrk="1" hangingPunct="1"/>
            <a:r>
              <a:rPr lang="en-GB" altLang="en-US" sz="3400"/>
              <a:t>DO-WHILE</a:t>
            </a:r>
            <a:endParaRPr lang="en-GB" altLang="en-US"/>
          </a:p>
        </p:txBody>
      </p:sp>
      <p:sp>
        <p:nvSpPr>
          <p:cNvPr id="442371" name="Text Box 3">
            <a:extLst>
              <a:ext uri="{FF2B5EF4-FFF2-40B4-BE49-F238E27FC236}">
                <a16:creationId xmlns:a16="http://schemas.microsoft.com/office/drawing/2014/main" id="{416BFDED-3181-414E-AA61-CDBF50323C7A}"/>
              </a:ext>
            </a:extLst>
          </p:cNvPr>
          <p:cNvSpPr txBox="1">
            <a:spLocks noChangeArrowheads="1"/>
          </p:cNvSpPr>
          <p:nvPr/>
        </p:nvSpPr>
        <p:spPr bwMode="auto">
          <a:xfrm>
            <a:off x="876300" y="1803400"/>
            <a:ext cx="3187700" cy="388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80000"/>
              </a:lnSpc>
              <a:spcBef>
                <a:spcPct val="50000"/>
              </a:spcBef>
              <a:buFontTx/>
              <a:buNone/>
            </a:pPr>
            <a:r>
              <a:rPr lang="en-GB" altLang="en-US" sz="1800" b="1" i="1">
                <a:latin typeface="Times New Roman" panose="02020603050405020304" pitchFamily="18" charset="0"/>
              </a:rPr>
              <a:t>Do While</a:t>
            </a:r>
            <a:r>
              <a:rPr lang="en-GB" altLang="en-US" sz="1800" i="1">
                <a:latin typeface="Times New Roman" panose="02020603050405020304" pitchFamily="18" charset="0"/>
              </a:rPr>
              <a:t> [truth-condition]</a:t>
            </a:r>
          </a:p>
          <a:p>
            <a:pPr>
              <a:lnSpc>
                <a:spcPct val="80000"/>
              </a:lnSpc>
              <a:spcBef>
                <a:spcPct val="50000"/>
              </a:spcBef>
              <a:buFontTx/>
              <a:buNone/>
            </a:pPr>
            <a:r>
              <a:rPr lang="en-GB" altLang="en-US" sz="1800" i="1">
                <a:latin typeface="Times New Roman" panose="02020603050405020304" pitchFamily="18" charset="0"/>
              </a:rPr>
              <a:t>      [sequence of steps or other</a:t>
            </a:r>
          </a:p>
          <a:p>
            <a:pPr>
              <a:lnSpc>
                <a:spcPct val="80000"/>
              </a:lnSpc>
              <a:spcBef>
                <a:spcPct val="50000"/>
              </a:spcBef>
              <a:buFontTx/>
              <a:buNone/>
            </a:pPr>
            <a:r>
              <a:rPr lang="en-GB" altLang="en-US" sz="1800" i="1">
                <a:latin typeface="Times New Roman" panose="02020603050405020304" pitchFamily="18" charset="0"/>
              </a:rPr>
              <a:t>       conditional steps] </a:t>
            </a:r>
          </a:p>
          <a:p>
            <a:pPr>
              <a:lnSpc>
                <a:spcPct val="80000"/>
              </a:lnSpc>
              <a:spcBef>
                <a:spcPct val="50000"/>
              </a:spcBef>
              <a:buFontTx/>
              <a:buNone/>
            </a:pPr>
            <a:r>
              <a:rPr lang="en-GB" altLang="en-US" sz="1800" b="1" i="1">
                <a:latin typeface="Times New Roman" panose="02020603050405020304" pitchFamily="18" charset="0"/>
              </a:rPr>
              <a:t>End Do</a:t>
            </a:r>
          </a:p>
          <a:p>
            <a:pPr>
              <a:lnSpc>
                <a:spcPct val="80000"/>
              </a:lnSpc>
              <a:spcBef>
                <a:spcPct val="50000"/>
              </a:spcBef>
              <a:buFontTx/>
              <a:buNone/>
            </a:pPr>
            <a:endParaRPr lang="en-GB" altLang="en-US" sz="1800" i="1">
              <a:latin typeface="Times New Roman" panose="02020603050405020304" pitchFamily="18" charset="0"/>
            </a:endParaRPr>
          </a:p>
          <a:p>
            <a:pPr>
              <a:lnSpc>
                <a:spcPct val="80000"/>
              </a:lnSpc>
              <a:spcBef>
                <a:spcPct val="50000"/>
              </a:spcBef>
              <a:buFontTx/>
              <a:buNone/>
            </a:pPr>
            <a:r>
              <a:rPr lang="en-GB" altLang="en-US" sz="1800" b="1" i="1">
                <a:latin typeface="Times New Roman" panose="02020603050405020304" pitchFamily="18" charset="0"/>
              </a:rPr>
              <a:t>For</a:t>
            </a:r>
            <a:r>
              <a:rPr lang="en-GB" altLang="en-US" sz="1800" i="1">
                <a:latin typeface="Times New Roman" panose="02020603050405020304" pitchFamily="18" charset="0"/>
              </a:rPr>
              <a:t> [truth-condition]</a:t>
            </a:r>
          </a:p>
          <a:p>
            <a:pPr>
              <a:lnSpc>
                <a:spcPct val="80000"/>
              </a:lnSpc>
              <a:spcBef>
                <a:spcPct val="50000"/>
              </a:spcBef>
              <a:buFontTx/>
              <a:buNone/>
            </a:pPr>
            <a:r>
              <a:rPr lang="en-GB" altLang="en-US" sz="1800" i="1">
                <a:latin typeface="Times New Roman" panose="02020603050405020304" pitchFamily="18" charset="0"/>
              </a:rPr>
              <a:t>      [sequence of steps or other</a:t>
            </a:r>
          </a:p>
          <a:p>
            <a:pPr>
              <a:lnSpc>
                <a:spcPct val="80000"/>
              </a:lnSpc>
              <a:spcBef>
                <a:spcPct val="50000"/>
              </a:spcBef>
              <a:buFontTx/>
              <a:buNone/>
            </a:pPr>
            <a:r>
              <a:rPr lang="en-GB" altLang="en-US" sz="1800" i="1">
                <a:latin typeface="Times New Roman" panose="02020603050405020304" pitchFamily="18" charset="0"/>
              </a:rPr>
              <a:t>       conditional steps] </a:t>
            </a:r>
          </a:p>
          <a:p>
            <a:pPr>
              <a:lnSpc>
                <a:spcPct val="80000"/>
              </a:lnSpc>
              <a:spcBef>
                <a:spcPct val="50000"/>
              </a:spcBef>
              <a:buFontTx/>
              <a:buNone/>
            </a:pPr>
            <a:r>
              <a:rPr lang="en-GB" altLang="en-US" sz="1800" b="1" i="1">
                <a:latin typeface="Times New Roman" panose="02020603050405020304" pitchFamily="18" charset="0"/>
              </a:rPr>
              <a:t>End For</a:t>
            </a:r>
            <a:endParaRPr lang="en-GB" altLang="en-US" sz="1800" i="1">
              <a:latin typeface="Times New Roman" panose="02020603050405020304" pitchFamily="18" charset="0"/>
            </a:endParaRPr>
          </a:p>
          <a:p>
            <a:pPr>
              <a:lnSpc>
                <a:spcPct val="80000"/>
              </a:lnSpc>
              <a:spcBef>
                <a:spcPct val="50000"/>
              </a:spcBef>
              <a:buFontTx/>
              <a:buNone/>
            </a:pPr>
            <a:endParaRPr lang="en-GB" altLang="en-US" sz="1800" i="1">
              <a:latin typeface="Times New Roman" panose="02020603050405020304" pitchFamily="18" charset="0"/>
            </a:endParaRPr>
          </a:p>
          <a:p>
            <a:pPr>
              <a:lnSpc>
                <a:spcPct val="80000"/>
              </a:lnSpc>
              <a:spcBef>
                <a:spcPct val="50000"/>
              </a:spcBef>
              <a:buFontTx/>
              <a:buNone/>
            </a:pPr>
            <a:r>
              <a:rPr lang="en-GB" altLang="en-US" sz="1800" b="1" i="1">
                <a:latin typeface="Times New Roman" panose="02020603050405020304" pitchFamily="18" charset="0"/>
              </a:rPr>
              <a:t>  </a:t>
            </a:r>
          </a:p>
        </p:txBody>
      </p:sp>
      <p:grpSp>
        <p:nvGrpSpPr>
          <p:cNvPr id="2" name="Group 4">
            <a:extLst>
              <a:ext uri="{FF2B5EF4-FFF2-40B4-BE49-F238E27FC236}">
                <a16:creationId xmlns:a16="http://schemas.microsoft.com/office/drawing/2014/main" id="{83B9218F-6150-4C87-A81C-E666DD2C560A}"/>
              </a:ext>
            </a:extLst>
          </p:cNvPr>
          <p:cNvGrpSpPr>
            <a:grpSpLocks/>
          </p:cNvGrpSpPr>
          <p:nvPr/>
        </p:nvGrpSpPr>
        <p:grpSpPr bwMode="auto">
          <a:xfrm>
            <a:off x="876300" y="4910138"/>
            <a:ext cx="3441700" cy="773112"/>
            <a:chOff x="552" y="2864"/>
            <a:chExt cx="1448" cy="693"/>
          </a:xfrm>
        </p:grpSpPr>
        <p:sp>
          <p:nvSpPr>
            <p:cNvPr id="24584" name="Text Box 5">
              <a:extLst>
                <a:ext uri="{FF2B5EF4-FFF2-40B4-BE49-F238E27FC236}">
                  <a16:creationId xmlns:a16="http://schemas.microsoft.com/office/drawing/2014/main" id="{3621EF0C-8765-4E97-B381-2A4BD7D35495}"/>
                </a:ext>
              </a:extLst>
            </p:cNvPr>
            <p:cNvSpPr txBox="1">
              <a:spLocks noChangeArrowheads="1"/>
            </p:cNvSpPr>
            <p:nvPr/>
          </p:nvSpPr>
          <p:spPr bwMode="auto">
            <a:xfrm>
              <a:off x="552" y="3255"/>
              <a:ext cx="1448"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1600" i="1">
                  <a:latin typeface="Times New Roman" panose="02020603050405020304" pitchFamily="18" charset="0"/>
                </a:rPr>
                <a:t>Again, the end statements are optional!</a:t>
              </a:r>
              <a:endParaRPr lang="en-GB" altLang="en-US" sz="2400" i="1">
                <a:latin typeface="Times New Roman" panose="02020603050405020304" pitchFamily="18" charset="0"/>
              </a:endParaRPr>
            </a:p>
          </p:txBody>
        </p:sp>
        <p:sp>
          <p:nvSpPr>
            <p:cNvPr id="24585" name="AutoShape 6">
              <a:extLst>
                <a:ext uri="{FF2B5EF4-FFF2-40B4-BE49-F238E27FC236}">
                  <a16:creationId xmlns:a16="http://schemas.microsoft.com/office/drawing/2014/main" id="{EA38BFA9-214D-4F87-AFEC-EA00C0DB01C9}"/>
                </a:ext>
              </a:extLst>
            </p:cNvPr>
            <p:cNvSpPr>
              <a:spLocks noChangeArrowheads="1"/>
            </p:cNvSpPr>
            <p:nvPr/>
          </p:nvSpPr>
          <p:spPr bwMode="auto">
            <a:xfrm>
              <a:off x="736" y="2864"/>
              <a:ext cx="47" cy="408"/>
            </a:xfrm>
            <a:prstGeom prst="upArrow">
              <a:avLst>
                <a:gd name="adj1" fmla="val 50000"/>
                <a:gd name="adj2" fmla="val 217021"/>
              </a:avLst>
            </a:prstGeom>
            <a:solidFill>
              <a:schemeClr val="accent1"/>
            </a:solidFill>
            <a:ln w="19050">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MY" altLang="en-US" sz="1800">
                <a:latin typeface="Arial" panose="020B0604020202020204" pitchFamily="34" charset="0"/>
              </a:endParaRPr>
            </a:p>
          </p:txBody>
        </p:sp>
      </p:grpSp>
      <p:sp>
        <p:nvSpPr>
          <p:cNvPr id="442375" name="Text Box 7">
            <a:extLst>
              <a:ext uri="{FF2B5EF4-FFF2-40B4-BE49-F238E27FC236}">
                <a16:creationId xmlns:a16="http://schemas.microsoft.com/office/drawing/2014/main" id="{A4FD144A-F34D-47CB-9E93-0F4E1372E016}"/>
              </a:ext>
            </a:extLst>
          </p:cNvPr>
          <p:cNvSpPr txBox="1">
            <a:spLocks noChangeArrowheads="1"/>
          </p:cNvSpPr>
          <p:nvPr/>
        </p:nvSpPr>
        <p:spPr bwMode="auto">
          <a:xfrm>
            <a:off x="4610100" y="1638300"/>
            <a:ext cx="4013200" cy="360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80000"/>
              </a:lnSpc>
              <a:spcBef>
                <a:spcPct val="50000"/>
              </a:spcBef>
              <a:buFontTx/>
              <a:buNone/>
            </a:pPr>
            <a:r>
              <a:rPr lang="en-GB" altLang="en-US" sz="1800" b="1" i="1">
                <a:latin typeface="Times New Roman" panose="02020603050405020304" pitchFamily="18" charset="0"/>
              </a:rPr>
              <a:t>Do While </a:t>
            </a:r>
            <a:r>
              <a:rPr lang="en-GB" altLang="en-US" sz="1800" i="1">
                <a:latin typeface="Times New Roman" panose="02020603050405020304" pitchFamily="18" charset="0"/>
              </a:rPr>
              <a:t>more invoices</a:t>
            </a:r>
          </a:p>
          <a:p>
            <a:pPr>
              <a:lnSpc>
                <a:spcPct val="80000"/>
              </a:lnSpc>
              <a:spcBef>
                <a:spcPct val="50000"/>
              </a:spcBef>
              <a:buFontTx/>
              <a:buNone/>
            </a:pPr>
            <a:r>
              <a:rPr lang="en-GB" altLang="en-US" sz="1800" i="1">
                <a:latin typeface="Times New Roman" panose="02020603050405020304" pitchFamily="18" charset="0"/>
              </a:rPr>
              <a:t>    Add Invoice-Total to Overall-Total</a:t>
            </a:r>
          </a:p>
          <a:p>
            <a:pPr>
              <a:lnSpc>
                <a:spcPct val="80000"/>
              </a:lnSpc>
              <a:spcBef>
                <a:spcPct val="50000"/>
              </a:spcBef>
              <a:buFontTx/>
              <a:buNone/>
            </a:pPr>
            <a:r>
              <a:rPr lang="en-GB" altLang="en-US" sz="1800" i="1">
                <a:latin typeface="Times New Roman" panose="02020603050405020304" pitchFamily="18" charset="0"/>
              </a:rPr>
              <a:t>    Add 1 to No-Invoices</a:t>
            </a:r>
          </a:p>
          <a:p>
            <a:pPr>
              <a:lnSpc>
                <a:spcPct val="80000"/>
              </a:lnSpc>
              <a:spcBef>
                <a:spcPct val="50000"/>
              </a:spcBef>
              <a:buFontTx/>
              <a:buNone/>
            </a:pPr>
            <a:r>
              <a:rPr lang="en-GB" altLang="en-US" sz="1800" i="1">
                <a:latin typeface="Times New Roman" panose="02020603050405020304" pitchFamily="18" charset="0"/>
              </a:rPr>
              <a:t>Divide Overall-Total by No-Invoices giving Average-Value</a:t>
            </a:r>
          </a:p>
          <a:p>
            <a:pPr>
              <a:lnSpc>
                <a:spcPct val="80000"/>
              </a:lnSpc>
              <a:spcBef>
                <a:spcPct val="50000"/>
              </a:spcBef>
              <a:buFontTx/>
              <a:buNone/>
            </a:pPr>
            <a:endParaRPr lang="en-GB" altLang="en-US" sz="1800" i="1">
              <a:latin typeface="Times New Roman" panose="02020603050405020304" pitchFamily="18" charset="0"/>
            </a:endParaRPr>
          </a:p>
          <a:p>
            <a:pPr>
              <a:lnSpc>
                <a:spcPct val="80000"/>
              </a:lnSpc>
              <a:spcBef>
                <a:spcPct val="50000"/>
              </a:spcBef>
              <a:buFontTx/>
              <a:buNone/>
            </a:pPr>
            <a:r>
              <a:rPr lang="en-GB" altLang="en-US" sz="1800" b="1" i="1">
                <a:latin typeface="Times New Roman" panose="02020603050405020304" pitchFamily="18" charset="0"/>
              </a:rPr>
              <a:t>For </a:t>
            </a:r>
            <a:r>
              <a:rPr lang="en-GB" altLang="en-US" sz="1800" i="1">
                <a:latin typeface="Times New Roman" panose="02020603050405020304" pitchFamily="18" charset="0"/>
              </a:rPr>
              <a:t>each invoices</a:t>
            </a:r>
          </a:p>
          <a:p>
            <a:pPr>
              <a:lnSpc>
                <a:spcPct val="80000"/>
              </a:lnSpc>
              <a:spcBef>
                <a:spcPct val="50000"/>
              </a:spcBef>
              <a:buFontTx/>
              <a:buNone/>
            </a:pPr>
            <a:r>
              <a:rPr lang="en-GB" altLang="en-US" sz="1800" i="1">
                <a:latin typeface="Times New Roman" panose="02020603050405020304" pitchFamily="18" charset="0"/>
              </a:rPr>
              <a:t>    Add Invoice-Total to Overall-Total</a:t>
            </a:r>
          </a:p>
          <a:p>
            <a:pPr>
              <a:lnSpc>
                <a:spcPct val="80000"/>
              </a:lnSpc>
              <a:spcBef>
                <a:spcPct val="50000"/>
              </a:spcBef>
              <a:buFontTx/>
              <a:buNone/>
            </a:pPr>
            <a:r>
              <a:rPr lang="en-GB" altLang="en-US" sz="1800" i="1">
                <a:latin typeface="Times New Roman" panose="02020603050405020304" pitchFamily="18" charset="0"/>
              </a:rPr>
              <a:t>    Add 1 to No-Invoices</a:t>
            </a:r>
          </a:p>
          <a:p>
            <a:pPr>
              <a:lnSpc>
                <a:spcPct val="80000"/>
              </a:lnSpc>
              <a:spcBef>
                <a:spcPct val="50000"/>
              </a:spcBef>
              <a:buFontTx/>
              <a:buNone/>
            </a:pPr>
            <a:r>
              <a:rPr lang="en-GB" altLang="en-US" sz="1800" i="1">
                <a:latin typeface="Times New Roman" panose="02020603050405020304" pitchFamily="18" charset="0"/>
              </a:rPr>
              <a:t>Divide Overall-Total by No-Invoices giving Average-Value</a:t>
            </a:r>
          </a:p>
        </p:txBody>
      </p:sp>
      <p:sp>
        <p:nvSpPr>
          <p:cNvPr id="442376" name="Text Box 8">
            <a:extLst>
              <a:ext uri="{FF2B5EF4-FFF2-40B4-BE49-F238E27FC236}">
                <a16:creationId xmlns:a16="http://schemas.microsoft.com/office/drawing/2014/main" id="{119CF0D8-A88C-4D4B-9648-F26113ADD2D7}"/>
              </a:ext>
            </a:extLst>
          </p:cNvPr>
          <p:cNvSpPr txBox="1">
            <a:spLocks noChangeArrowheads="1"/>
          </p:cNvSpPr>
          <p:nvPr/>
        </p:nvSpPr>
        <p:spPr bwMode="auto">
          <a:xfrm>
            <a:off x="787400" y="5816600"/>
            <a:ext cx="7696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1800" b="1">
                <a:latin typeface="Times New Roman" panose="02020603050405020304" pitchFamily="18" charset="0"/>
              </a:rPr>
              <a:t>NOT</a:t>
            </a:r>
            <a:r>
              <a:rPr lang="en-GB" altLang="en-US" sz="1800">
                <a:latin typeface="Times New Roman" panose="02020603050405020304" pitchFamily="18" charset="0"/>
              </a:rPr>
              <a:t> same as </a:t>
            </a:r>
            <a:r>
              <a:rPr lang="en-GB" altLang="en-US" sz="1800" i="1">
                <a:latin typeface="Times New Roman" panose="02020603050405020304" pitchFamily="18" charset="0"/>
              </a:rPr>
              <a:t>C++</a:t>
            </a:r>
            <a:r>
              <a:rPr lang="en-GB" altLang="en-US" sz="1800">
                <a:latin typeface="Times New Roman" panose="02020603050405020304" pitchFamily="18" charset="0"/>
              </a:rPr>
              <a:t> </a:t>
            </a:r>
            <a:r>
              <a:rPr lang="en-GB" altLang="en-US" sz="1800" b="1">
                <a:latin typeface="Times New Roman" panose="02020603050405020304" pitchFamily="18" charset="0"/>
              </a:rPr>
              <a:t>do..while</a:t>
            </a:r>
            <a:r>
              <a:rPr lang="en-GB" altLang="en-US" sz="1800">
                <a:latin typeface="Times New Roman" panose="02020603050405020304" pitchFamily="18" charset="0"/>
              </a:rPr>
              <a:t> - but is same as the </a:t>
            </a:r>
            <a:r>
              <a:rPr lang="en-GB" altLang="en-US" sz="1800" b="1">
                <a:latin typeface="Times New Roman" panose="02020603050405020304" pitchFamily="18" charset="0"/>
              </a:rPr>
              <a:t>while(&lt;condition&gt;){ }</a:t>
            </a:r>
            <a:r>
              <a:rPr lang="en-GB" altLang="en-US" sz="1800">
                <a:latin typeface="Times New Roman" panose="02020603050405020304" pitchFamily="18" charset="0"/>
              </a:rPr>
              <a:t> in </a:t>
            </a:r>
            <a:r>
              <a:rPr lang="en-GB" altLang="en-US" sz="1800" i="1">
                <a:latin typeface="Times New Roman" panose="02020603050405020304" pitchFamily="18" charset="0"/>
              </a:rPr>
              <a:t>C++</a:t>
            </a:r>
            <a:r>
              <a:rPr lang="en-GB" altLang="en-US" sz="1800">
                <a:latin typeface="Times New Roman" panose="02020603050405020304" pitchFamily="18" charset="0"/>
              </a:rPr>
              <a:t> </a:t>
            </a:r>
            <a:endParaRPr lang="en-GB" altLang="en-US" sz="2400" i="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42371"/>
                                        </p:tgtEl>
                                        <p:attrNameLst>
                                          <p:attrName>style.visibility</p:attrName>
                                        </p:attrNameLst>
                                      </p:cBhvr>
                                      <p:to>
                                        <p:strVal val="visible"/>
                                      </p:to>
                                    </p:set>
                                    <p:animEffect transition="in" filter="dissolve">
                                      <p:cBhvr>
                                        <p:cTn id="7" dur="500"/>
                                        <p:tgtEl>
                                          <p:spTgt spid="4423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Bottom)">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32" fill="hold" grpId="0" nodeType="clickEffect">
                                  <p:stCondLst>
                                    <p:cond delay="0"/>
                                  </p:stCondLst>
                                  <p:childTnLst>
                                    <p:set>
                                      <p:cBhvr>
                                        <p:cTn id="16" dur="1" fill="hold">
                                          <p:stCondLst>
                                            <p:cond delay="0"/>
                                          </p:stCondLst>
                                        </p:cTn>
                                        <p:tgtEl>
                                          <p:spTgt spid="442375"/>
                                        </p:tgtEl>
                                        <p:attrNameLst>
                                          <p:attrName>style.visibility</p:attrName>
                                        </p:attrNameLst>
                                      </p:cBhvr>
                                      <p:to>
                                        <p:strVal val="visible"/>
                                      </p:to>
                                    </p:set>
                                    <p:anim calcmode="lin" valueType="num">
                                      <p:cBhvr>
                                        <p:cTn id="17" dur="500" fill="hold"/>
                                        <p:tgtEl>
                                          <p:spTgt spid="442375"/>
                                        </p:tgtEl>
                                        <p:attrNameLst>
                                          <p:attrName>ppt_w</p:attrName>
                                        </p:attrNameLst>
                                      </p:cBhvr>
                                      <p:tavLst>
                                        <p:tav tm="0">
                                          <p:val>
                                            <p:strVal val="4*#ppt_w"/>
                                          </p:val>
                                        </p:tav>
                                        <p:tav tm="100000">
                                          <p:val>
                                            <p:strVal val="#ppt_w"/>
                                          </p:val>
                                        </p:tav>
                                      </p:tavLst>
                                    </p:anim>
                                    <p:anim calcmode="lin" valueType="num">
                                      <p:cBhvr>
                                        <p:cTn id="18" dur="500" fill="hold"/>
                                        <p:tgtEl>
                                          <p:spTgt spid="442375"/>
                                        </p:tgtEl>
                                        <p:attrNameLst>
                                          <p:attrName>ppt_h</p:attrName>
                                        </p:attrNameLst>
                                      </p:cBhvr>
                                      <p:tavLst>
                                        <p:tav tm="0">
                                          <p:val>
                                            <p:strVal val="4*#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288" fill="hold" grpId="0" nodeType="clickEffect">
                                  <p:stCondLst>
                                    <p:cond delay="0"/>
                                  </p:stCondLst>
                                  <p:childTnLst>
                                    <p:set>
                                      <p:cBhvr>
                                        <p:cTn id="22" dur="1" fill="hold">
                                          <p:stCondLst>
                                            <p:cond delay="0"/>
                                          </p:stCondLst>
                                        </p:cTn>
                                        <p:tgtEl>
                                          <p:spTgt spid="442376"/>
                                        </p:tgtEl>
                                        <p:attrNameLst>
                                          <p:attrName>style.visibility</p:attrName>
                                        </p:attrNameLst>
                                      </p:cBhvr>
                                      <p:to>
                                        <p:strVal val="visible"/>
                                      </p:to>
                                    </p:set>
                                    <p:anim calcmode="lin" valueType="num">
                                      <p:cBhvr>
                                        <p:cTn id="23" dur="500" fill="hold"/>
                                        <p:tgtEl>
                                          <p:spTgt spid="442376"/>
                                        </p:tgtEl>
                                        <p:attrNameLst>
                                          <p:attrName>ppt_w</p:attrName>
                                        </p:attrNameLst>
                                      </p:cBhvr>
                                      <p:tavLst>
                                        <p:tav tm="0">
                                          <p:val>
                                            <p:strVal val="4/3*#ppt_w"/>
                                          </p:val>
                                        </p:tav>
                                        <p:tav tm="100000">
                                          <p:val>
                                            <p:strVal val="#ppt_w"/>
                                          </p:val>
                                        </p:tav>
                                      </p:tavLst>
                                    </p:anim>
                                    <p:anim calcmode="lin" valueType="num">
                                      <p:cBhvr>
                                        <p:cTn id="24" dur="500" fill="hold"/>
                                        <p:tgtEl>
                                          <p:spTgt spid="442376"/>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2371" grpId="0" autoUpdateAnimBg="0"/>
      <p:bldP spid="442375" grpId="0" autoUpdateAnimBg="0"/>
      <p:bldP spid="442376"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a:extLst>
              <a:ext uri="{FF2B5EF4-FFF2-40B4-BE49-F238E27FC236}">
                <a16:creationId xmlns:a16="http://schemas.microsoft.com/office/drawing/2014/main" id="{05049A67-38DF-40EC-BFB7-88BF8890ABE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D98992C-73CE-404E-A5ED-DB91B12BEEFB}" type="slidenum">
              <a:rPr lang="en-US" altLang="en-US" sz="1200">
                <a:latin typeface="Arial" panose="020B0604020202020204" pitchFamily="34" charset="0"/>
              </a:rPr>
              <a:pPr>
                <a:spcBef>
                  <a:spcPct val="0"/>
                </a:spcBef>
                <a:buFontTx/>
                <a:buNone/>
              </a:pPr>
              <a:t>13</a:t>
            </a:fld>
            <a:endParaRPr lang="en-US" altLang="en-US" sz="1200">
              <a:latin typeface="Arial" panose="020B0604020202020204" pitchFamily="34" charset="0"/>
            </a:endParaRPr>
          </a:p>
        </p:txBody>
      </p:sp>
      <p:sp>
        <p:nvSpPr>
          <p:cNvPr id="26627" name="Rectangle 2">
            <a:extLst>
              <a:ext uri="{FF2B5EF4-FFF2-40B4-BE49-F238E27FC236}">
                <a16:creationId xmlns:a16="http://schemas.microsoft.com/office/drawing/2014/main" id="{FD945961-CBEB-43B5-9BAF-18E78BE03648}"/>
              </a:ext>
            </a:extLst>
          </p:cNvPr>
          <p:cNvSpPr>
            <a:spLocks noGrp="1"/>
          </p:cNvSpPr>
          <p:nvPr>
            <p:ph type="title"/>
          </p:nvPr>
        </p:nvSpPr>
        <p:spPr/>
        <p:txBody>
          <a:bodyPr/>
          <a:lstStyle/>
          <a:p>
            <a:pPr eaLnBrk="1" hangingPunct="1"/>
            <a:r>
              <a:rPr lang="en-GB" altLang="en-US" sz="3400"/>
              <a:t>REPEAT-UNTIL</a:t>
            </a:r>
            <a:endParaRPr lang="en-GB" altLang="en-US"/>
          </a:p>
        </p:txBody>
      </p:sp>
      <p:sp>
        <p:nvSpPr>
          <p:cNvPr id="444419" name="Text Box 3">
            <a:extLst>
              <a:ext uri="{FF2B5EF4-FFF2-40B4-BE49-F238E27FC236}">
                <a16:creationId xmlns:a16="http://schemas.microsoft.com/office/drawing/2014/main" id="{D67BF620-CBDC-4F77-A1C2-5BE71CA24C64}"/>
              </a:ext>
            </a:extLst>
          </p:cNvPr>
          <p:cNvSpPr txBox="1">
            <a:spLocks noChangeArrowheads="1"/>
          </p:cNvSpPr>
          <p:nvPr/>
        </p:nvSpPr>
        <p:spPr bwMode="auto">
          <a:xfrm>
            <a:off x="876300" y="1803400"/>
            <a:ext cx="318770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80000"/>
              </a:lnSpc>
              <a:spcBef>
                <a:spcPct val="50000"/>
              </a:spcBef>
              <a:buFontTx/>
              <a:buNone/>
            </a:pPr>
            <a:r>
              <a:rPr lang="en-GB" altLang="en-US" sz="1800" b="1" i="1">
                <a:latin typeface="Times New Roman" panose="02020603050405020304" pitchFamily="18" charset="0"/>
              </a:rPr>
              <a:t>Repeat the following until</a:t>
            </a:r>
            <a:endParaRPr lang="en-GB" altLang="en-US" sz="1800" i="1">
              <a:latin typeface="Times New Roman" panose="02020603050405020304" pitchFamily="18" charset="0"/>
            </a:endParaRPr>
          </a:p>
          <a:p>
            <a:pPr>
              <a:lnSpc>
                <a:spcPct val="80000"/>
              </a:lnSpc>
              <a:spcBef>
                <a:spcPct val="50000"/>
              </a:spcBef>
              <a:buFontTx/>
              <a:buNone/>
            </a:pPr>
            <a:r>
              <a:rPr lang="en-GB" altLang="en-US" sz="1800" i="1">
                <a:latin typeface="Times New Roman" panose="02020603050405020304" pitchFamily="18" charset="0"/>
              </a:rPr>
              <a:t>      [sequence of steps or other</a:t>
            </a:r>
          </a:p>
          <a:p>
            <a:pPr>
              <a:lnSpc>
                <a:spcPct val="80000"/>
              </a:lnSpc>
              <a:spcBef>
                <a:spcPct val="50000"/>
              </a:spcBef>
              <a:buFontTx/>
              <a:buNone/>
            </a:pPr>
            <a:r>
              <a:rPr lang="en-GB" altLang="en-US" sz="1800" i="1">
                <a:latin typeface="Times New Roman" panose="02020603050405020304" pitchFamily="18" charset="0"/>
              </a:rPr>
              <a:t>       conditional steps] </a:t>
            </a:r>
          </a:p>
          <a:p>
            <a:pPr>
              <a:lnSpc>
                <a:spcPct val="80000"/>
              </a:lnSpc>
              <a:spcBef>
                <a:spcPct val="50000"/>
              </a:spcBef>
              <a:buFontTx/>
              <a:buNone/>
            </a:pPr>
            <a:r>
              <a:rPr lang="en-GB" altLang="en-US" sz="1800" b="1" i="1">
                <a:latin typeface="Times New Roman" panose="02020603050405020304" pitchFamily="18" charset="0"/>
              </a:rPr>
              <a:t>End Repeat</a:t>
            </a:r>
            <a:endParaRPr lang="en-GB" altLang="en-US" sz="1800" i="1">
              <a:latin typeface="Times New Roman" panose="02020603050405020304" pitchFamily="18" charset="0"/>
            </a:endParaRPr>
          </a:p>
          <a:p>
            <a:pPr>
              <a:lnSpc>
                <a:spcPct val="80000"/>
              </a:lnSpc>
              <a:spcBef>
                <a:spcPct val="50000"/>
              </a:spcBef>
              <a:buFontTx/>
              <a:buNone/>
            </a:pPr>
            <a:r>
              <a:rPr lang="en-GB" altLang="en-US" sz="1800" b="1" i="1">
                <a:latin typeface="Times New Roman" panose="02020603050405020304" pitchFamily="18" charset="0"/>
              </a:rPr>
              <a:t>  </a:t>
            </a:r>
          </a:p>
        </p:txBody>
      </p:sp>
      <p:grpSp>
        <p:nvGrpSpPr>
          <p:cNvPr id="2" name="Group 4">
            <a:extLst>
              <a:ext uri="{FF2B5EF4-FFF2-40B4-BE49-F238E27FC236}">
                <a16:creationId xmlns:a16="http://schemas.microsoft.com/office/drawing/2014/main" id="{A53D6D2C-AC6F-4DC9-B15C-7EFFB89EC983}"/>
              </a:ext>
            </a:extLst>
          </p:cNvPr>
          <p:cNvGrpSpPr>
            <a:grpSpLocks/>
          </p:cNvGrpSpPr>
          <p:nvPr/>
        </p:nvGrpSpPr>
        <p:grpSpPr bwMode="auto">
          <a:xfrm>
            <a:off x="889000" y="3225800"/>
            <a:ext cx="2298700" cy="1203325"/>
            <a:chOff x="552" y="2864"/>
            <a:chExt cx="1448" cy="758"/>
          </a:xfrm>
        </p:grpSpPr>
        <p:sp>
          <p:nvSpPr>
            <p:cNvPr id="26632" name="Text Box 5">
              <a:extLst>
                <a:ext uri="{FF2B5EF4-FFF2-40B4-BE49-F238E27FC236}">
                  <a16:creationId xmlns:a16="http://schemas.microsoft.com/office/drawing/2014/main" id="{C9623C44-9C28-4F35-A7B7-8E25CDB3EAFD}"/>
                </a:ext>
              </a:extLst>
            </p:cNvPr>
            <p:cNvSpPr txBox="1">
              <a:spLocks noChangeArrowheads="1"/>
            </p:cNvSpPr>
            <p:nvPr/>
          </p:nvSpPr>
          <p:spPr bwMode="auto">
            <a:xfrm>
              <a:off x="552" y="3256"/>
              <a:ext cx="1448"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1600" i="1">
                  <a:latin typeface="Times New Roman" panose="02020603050405020304" pitchFamily="18" charset="0"/>
                </a:rPr>
                <a:t>Again, the end statements are optional!</a:t>
              </a:r>
              <a:endParaRPr lang="en-GB" altLang="en-US" sz="2400" i="1">
                <a:latin typeface="Times New Roman" panose="02020603050405020304" pitchFamily="18" charset="0"/>
              </a:endParaRPr>
            </a:p>
          </p:txBody>
        </p:sp>
        <p:sp>
          <p:nvSpPr>
            <p:cNvPr id="26633" name="AutoShape 6">
              <a:extLst>
                <a:ext uri="{FF2B5EF4-FFF2-40B4-BE49-F238E27FC236}">
                  <a16:creationId xmlns:a16="http://schemas.microsoft.com/office/drawing/2014/main" id="{0532D78E-7137-497F-8A4E-208A946F2F14}"/>
                </a:ext>
              </a:extLst>
            </p:cNvPr>
            <p:cNvSpPr>
              <a:spLocks noChangeArrowheads="1"/>
            </p:cNvSpPr>
            <p:nvPr/>
          </p:nvSpPr>
          <p:spPr bwMode="auto">
            <a:xfrm>
              <a:off x="736" y="2864"/>
              <a:ext cx="47" cy="408"/>
            </a:xfrm>
            <a:prstGeom prst="upArrow">
              <a:avLst>
                <a:gd name="adj1" fmla="val 50000"/>
                <a:gd name="adj2" fmla="val 217021"/>
              </a:avLst>
            </a:prstGeom>
            <a:solidFill>
              <a:schemeClr val="accent1"/>
            </a:solidFill>
            <a:ln w="19050">
              <a:solidFill>
                <a:schemeClr val="tx1"/>
              </a:solidFill>
              <a:miter lim="800000"/>
              <a:headEnd/>
              <a:tailEnd/>
            </a:ln>
          </p:spPr>
          <p:txBody>
            <a:bodyPr wrap="none"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MY" altLang="en-US" sz="1800">
                <a:latin typeface="Arial" panose="020B0604020202020204" pitchFamily="34" charset="0"/>
              </a:endParaRPr>
            </a:p>
          </p:txBody>
        </p:sp>
      </p:grpSp>
      <p:sp>
        <p:nvSpPr>
          <p:cNvPr id="444423" name="Text Box 7">
            <a:extLst>
              <a:ext uri="{FF2B5EF4-FFF2-40B4-BE49-F238E27FC236}">
                <a16:creationId xmlns:a16="http://schemas.microsoft.com/office/drawing/2014/main" id="{A7C6DA5A-CCD8-44A0-BFE8-4B11A465BDFF}"/>
              </a:ext>
            </a:extLst>
          </p:cNvPr>
          <p:cNvSpPr txBox="1">
            <a:spLocks noChangeArrowheads="1"/>
          </p:cNvSpPr>
          <p:nvPr/>
        </p:nvSpPr>
        <p:spPr bwMode="auto">
          <a:xfrm>
            <a:off x="4089400" y="1803400"/>
            <a:ext cx="4610100" cy="195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80000"/>
              </a:lnSpc>
              <a:spcBef>
                <a:spcPct val="50000"/>
              </a:spcBef>
              <a:buFontTx/>
              <a:buNone/>
            </a:pPr>
            <a:r>
              <a:rPr lang="en-GB" altLang="en-US" sz="1800" b="1" i="1">
                <a:latin typeface="Times New Roman" panose="02020603050405020304" pitchFamily="18" charset="0"/>
              </a:rPr>
              <a:t>Repeat the following until </a:t>
            </a:r>
            <a:r>
              <a:rPr lang="en-GB" altLang="en-US" sz="1800" i="1">
                <a:latin typeface="Times New Roman" panose="02020603050405020304" pitchFamily="18" charset="0"/>
              </a:rPr>
              <a:t>no more invoices</a:t>
            </a:r>
          </a:p>
          <a:p>
            <a:pPr>
              <a:lnSpc>
                <a:spcPct val="80000"/>
              </a:lnSpc>
              <a:spcBef>
                <a:spcPct val="50000"/>
              </a:spcBef>
              <a:buFontTx/>
              <a:buNone/>
            </a:pPr>
            <a:r>
              <a:rPr lang="en-GB" altLang="en-US" sz="1800" i="1">
                <a:latin typeface="Times New Roman" panose="02020603050405020304" pitchFamily="18" charset="0"/>
              </a:rPr>
              <a:t>    Add Invoice-Total to Overall-Total</a:t>
            </a:r>
          </a:p>
          <a:p>
            <a:pPr>
              <a:lnSpc>
                <a:spcPct val="80000"/>
              </a:lnSpc>
              <a:spcBef>
                <a:spcPct val="50000"/>
              </a:spcBef>
              <a:buFontTx/>
              <a:buNone/>
            </a:pPr>
            <a:r>
              <a:rPr lang="en-GB" altLang="en-US" sz="1800" i="1">
                <a:latin typeface="Times New Roman" panose="02020603050405020304" pitchFamily="18" charset="0"/>
              </a:rPr>
              <a:t>    Add 1 to No-Invoices</a:t>
            </a:r>
          </a:p>
          <a:p>
            <a:pPr>
              <a:lnSpc>
                <a:spcPct val="80000"/>
              </a:lnSpc>
              <a:spcBef>
                <a:spcPct val="50000"/>
              </a:spcBef>
              <a:buFontTx/>
              <a:buNone/>
            </a:pPr>
            <a:r>
              <a:rPr lang="en-GB" altLang="en-US" sz="1800" i="1">
                <a:latin typeface="Times New Roman" panose="02020603050405020304" pitchFamily="18" charset="0"/>
              </a:rPr>
              <a:t>Divide Overall-Total by No-Invoices giving Average-Value</a:t>
            </a:r>
          </a:p>
          <a:p>
            <a:pPr>
              <a:lnSpc>
                <a:spcPct val="80000"/>
              </a:lnSpc>
              <a:spcBef>
                <a:spcPct val="50000"/>
              </a:spcBef>
              <a:buFontTx/>
              <a:buNone/>
            </a:pPr>
            <a:endParaRPr lang="en-GB" altLang="en-US" sz="1800" i="1">
              <a:latin typeface="Times New Roman" panose="02020603050405020304" pitchFamily="18" charset="0"/>
            </a:endParaRPr>
          </a:p>
        </p:txBody>
      </p:sp>
      <p:sp>
        <p:nvSpPr>
          <p:cNvPr id="444424" name="Text Box 8">
            <a:extLst>
              <a:ext uri="{FF2B5EF4-FFF2-40B4-BE49-F238E27FC236}">
                <a16:creationId xmlns:a16="http://schemas.microsoft.com/office/drawing/2014/main" id="{9589F020-756B-41D3-89F2-950FF4EB6A63}"/>
              </a:ext>
            </a:extLst>
          </p:cNvPr>
          <p:cNvSpPr txBox="1">
            <a:spLocks noChangeArrowheads="1"/>
          </p:cNvSpPr>
          <p:nvPr/>
        </p:nvSpPr>
        <p:spPr bwMode="auto">
          <a:xfrm>
            <a:off x="1069975" y="4868863"/>
            <a:ext cx="7696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GB" altLang="en-US" sz="1800">
                <a:latin typeface="Times New Roman" panose="02020603050405020304" pitchFamily="18" charset="0"/>
              </a:rPr>
              <a:t>Same as </a:t>
            </a:r>
            <a:r>
              <a:rPr lang="en-GB" altLang="en-US" sz="1800" b="1">
                <a:latin typeface="Times New Roman" panose="02020603050405020304" pitchFamily="18" charset="0"/>
              </a:rPr>
              <a:t>do..while</a:t>
            </a:r>
            <a:r>
              <a:rPr lang="en-GB" altLang="en-US" sz="1800">
                <a:latin typeface="Times New Roman" panose="02020603050405020304" pitchFamily="18" charset="0"/>
              </a:rPr>
              <a:t> construct in </a:t>
            </a:r>
            <a:r>
              <a:rPr lang="en-GB" altLang="en-US" sz="1800" i="1">
                <a:latin typeface="Times New Roman" panose="02020603050405020304" pitchFamily="18" charset="0"/>
              </a:rPr>
              <a:t>C++</a:t>
            </a:r>
            <a:r>
              <a:rPr lang="en-GB" altLang="en-US" sz="1800">
                <a:latin typeface="Times New Roman" panose="02020603050405020304" pitchFamily="18" charset="0"/>
              </a:rPr>
              <a:t> </a:t>
            </a:r>
            <a:endParaRPr lang="en-GB" altLang="en-US" sz="2400" i="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44419"/>
                                        </p:tgtEl>
                                        <p:attrNameLst>
                                          <p:attrName>style.visibility</p:attrName>
                                        </p:attrNameLst>
                                      </p:cBhvr>
                                      <p:to>
                                        <p:strVal val="visible"/>
                                      </p:to>
                                    </p:set>
                                    <p:animEffect transition="in" filter="dissolve">
                                      <p:cBhvr>
                                        <p:cTn id="7" dur="500"/>
                                        <p:tgtEl>
                                          <p:spTgt spid="4444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Bottom)">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32" fill="hold" grpId="0" nodeType="clickEffect">
                                  <p:stCondLst>
                                    <p:cond delay="0"/>
                                  </p:stCondLst>
                                  <p:childTnLst>
                                    <p:set>
                                      <p:cBhvr>
                                        <p:cTn id="16" dur="1" fill="hold">
                                          <p:stCondLst>
                                            <p:cond delay="0"/>
                                          </p:stCondLst>
                                        </p:cTn>
                                        <p:tgtEl>
                                          <p:spTgt spid="444423"/>
                                        </p:tgtEl>
                                        <p:attrNameLst>
                                          <p:attrName>style.visibility</p:attrName>
                                        </p:attrNameLst>
                                      </p:cBhvr>
                                      <p:to>
                                        <p:strVal val="visible"/>
                                      </p:to>
                                    </p:set>
                                    <p:anim calcmode="lin" valueType="num">
                                      <p:cBhvr>
                                        <p:cTn id="17" dur="500" fill="hold"/>
                                        <p:tgtEl>
                                          <p:spTgt spid="444423"/>
                                        </p:tgtEl>
                                        <p:attrNameLst>
                                          <p:attrName>ppt_w</p:attrName>
                                        </p:attrNameLst>
                                      </p:cBhvr>
                                      <p:tavLst>
                                        <p:tav tm="0">
                                          <p:val>
                                            <p:strVal val="4*#ppt_w"/>
                                          </p:val>
                                        </p:tav>
                                        <p:tav tm="100000">
                                          <p:val>
                                            <p:strVal val="#ppt_w"/>
                                          </p:val>
                                        </p:tav>
                                      </p:tavLst>
                                    </p:anim>
                                    <p:anim calcmode="lin" valueType="num">
                                      <p:cBhvr>
                                        <p:cTn id="18" dur="500" fill="hold"/>
                                        <p:tgtEl>
                                          <p:spTgt spid="444423"/>
                                        </p:tgtEl>
                                        <p:attrNameLst>
                                          <p:attrName>ppt_h</p:attrName>
                                        </p:attrNameLst>
                                      </p:cBhvr>
                                      <p:tavLst>
                                        <p:tav tm="0">
                                          <p:val>
                                            <p:strVal val="4*#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288" fill="hold" grpId="0" nodeType="clickEffect">
                                  <p:stCondLst>
                                    <p:cond delay="0"/>
                                  </p:stCondLst>
                                  <p:childTnLst>
                                    <p:set>
                                      <p:cBhvr>
                                        <p:cTn id="22" dur="1" fill="hold">
                                          <p:stCondLst>
                                            <p:cond delay="0"/>
                                          </p:stCondLst>
                                        </p:cTn>
                                        <p:tgtEl>
                                          <p:spTgt spid="444424"/>
                                        </p:tgtEl>
                                        <p:attrNameLst>
                                          <p:attrName>style.visibility</p:attrName>
                                        </p:attrNameLst>
                                      </p:cBhvr>
                                      <p:to>
                                        <p:strVal val="visible"/>
                                      </p:to>
                                    </p:set>
                                    <p:anim calcmode="lin" valueType="num">
                                      <p:cBhvr>
                                        <p:cTn id="23" dur="500" fill="hold"/>
                                        <p:tgtEl>
                                          <p:spTgt spid="444424"/>
                                        </p:tgtEl>
                                        <p:attrNameLst>
                                          <p:attrName>ppt_w</p:attrName>
                                        </p:attrNameLst>
                                      </p:cBhvr>
                                      <p:tavLst>
                                        <p:tav tm="0">
                                          <p:val>
                                            <p:strVal val="4/3*#ppt_w"/>
                                          </p:val>
                                        </p:tav>
                                        <p:tav tm="100000">
                                          <p:val>
                                            <p:strVal val="#ppt_w"/>
                                          </p:val>
                                        </p:tav>
                                      </p:tavLst>
                                    </p:anim>
                                    <p:anim calcmode="lin" valueType="num">
                                      <p:cBhvr>
                                        <p:cTn id="24" dur="500" fill="hold"/>
                                        <p:tgtEl>
                                          <p:spTgt spid="444424"/>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19" grpId="0" autoUpdateAnimBg="0"/>
      <p:bldP spid="444423" grpId="0" autoUpdateAnimBg="0"/>
      <p:bldP spid="444424"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a:extLst>
              <a:ext uri="{FF2B5EF4-FFF2-40B4-BE49-F238E27FC236}">
                <a16:creationId xmlns:a16="http://schemas.microsoft.com/office/drawing/2014/main" id="{B25C04FB-C46D-4568-BBC7-601F236024F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8EEE523-D2EA-46C8-ABB9-ECDE69AC5762}" type="slidenum">
              <a:rPr lang="en-US" altLang="en-US" sz="1200">
                <a:latin typeface="Arial" panose="020B0604020202020204" pitchFamily="34" charset="0"/>
              </a:rPr>
              <a:pPr>
                <a:spcBef>
                  <a:spcPct val="0"/>
                </a:spcBef>
                <a:buFontTx/>
                <a:buNone/>
              </a:pPr>
              <a:t>14</a:t>
            </a:fld>
            <a:endParaRPr lang="en-US" altLang="en-US" sz="1200">
              <a:latin typeface="Arial" panose="020B0604020202020204" pitchFamily="34" charset="0"/>
            </a:endParaRPr>
          </a:p>
        </p:txBody>
      </p:sp>
      <p:sp>
        <p:nvSpPr>
          <p:cNvPr id="28675" name="Rectangle 2">
            <a:extLst>
              <a:ext uri="{FF2B5EF4-FFF2-40B4-BE49-F238E27FC236}">
                <a16:creationId xmlns:a16="http://schemas.microsoft.com/office/drawing/2014/main" id="{A549A806-4E05-453A-8040-07B0CE9838F5}"/>
              </a:ext>
            </a:extLst>
          </p:cNvPr>
          <p:cNvSpPr>
            <a:spLocks noGrp="1"/>
          </p:cNvSpPr>
          <p:nvPr>
            <p:ph type="title"/>
          </p:nvPr>
        </p:nvSpPr>
        <p:spPr/>
        <p:txBody>
          <a:bodyPr/>
          <a:lstStyle/>
          <a:p>
            <a:pPr eaLnBrk="1" hangingPunct="1"/>
            <a:r>
              <a:rPr kumimoji="1" lang="en-US" altLang="en-US" sz="3600">
                <a:latin typeface="Helvetica" panose="020B0604020202020204" pitchFamily="34" charset="0"/>
              </a:rPr>
              <a:t>Structured English - Example</a:t>
            </a:r>
          </a:p>
        </p:txBody>
      </p:sp>
      <p:sp>
        <p:nvSpPr>
          <p:cNvPr id="28676" name="Rectangle 3">
            <a:extLst>
              <a:ext uri="{FF2B5EF4-FFF2-40B4-BE49-F238E27FC236}">
                <a16:creationId xmlns:a16="http://schemas.microsoft.com/office/drawing/2014/main" id="{27F29175-9362-4687-A88B-E3D627274013}"/>
              </a:ext>
            </a:extLst>
          </p:cNvPr>
          <p:cNvSpPr>
            <a:spLocks noGrp="1"/>
          </p:cNvSpPr>
          <p:nvPr>
            <p:ph type="body" idx="1"/>
          </p:nvPr>
        </p:nvSpPr>
        <p:spPr>
          <a:xfrm>
            <a:off x="457200" y="1447800"/>
            <a:ext cx="8229600" cy="5273675"/>
          </a:xfrm>
        </p:spPr>
        <p:txBody>
          <a:bodyPr/>
          <a:lstStyle/>
          <a:p>
            <a:pPr>
              <a:spcBef>
                <a:spcPct val="0"/>
              </a:spcBef>
              <a:buClr>
                <a:srgbClr val="000000"/>
              </a:buClr>
            </a:pPr>
            <a:r>
              <a:rPr kumimoji="1" lang="en-US" altLang="en-US" sz="2800">
                <a:solidFill>
                  <a:srgbClr val="001932"/>
                </a:solidFill>
                <a:latin typeface="Times New Roman" panose="02020603050405020304" pitchFamily="18" charset="0"/>
              </a:rPr>
              <a:t>SE might look familiar to programming students because it resembles pseudocode</a:t>
            </a:r>
          </a:p>
          <a:p>
            <a:pPr lvl="1">
              <a:buClr>
                <a:srgbClr val="000000"/>
              </a:buClr>
            </a:pPr>
            <a:endParaRPr kumimoji="1" lang="en-US" altLang="en-US">
              <a:solidFill>
                <a:srgbClr val="001932"/>
              </a:solidFill>
              <a:latin typeface="Times New Roman" panose="02020603050405020304" pitchFamily="18" charset="0"/>
            </a:endParaRPr>
          </a:p>
          <a:p>
            <a:pPr eaLnBrk="1" hangingPunct="1">
              <a:spcBef>
                <a:spcPct val="0"/>
              </a:spcBef>
            </a:pPr>
            <a:endParaRPr lang="en-US" altLang="en-US"/>
          </a:p>
        </p:txBody>
      </p:sp>
      <p:pic>
        <p:nvPicPr>
          <p:cNvPr id="28677" name="Picture 15" descr="C:\renger\fall06\proj\sad7e\chapter4\CHAP04StudyTool_files\proj4\43F04-34.gif">
            <a:extLst>
              <a:ext uri="{FF2B5EF4-FFF2-40B4-BE49-F238E27FC236}">
                <a16:creationId xmlns:a16="http://schemas.microsoft.com/office/drawing/2014/main" id="{047394E2-04C4-49B6-8447-3A387F3E03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740025"/>
            <a:ext cx="746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50" name="AutoShape 2"/>
          <p:cNvSpPr>
            <a:spLocks noChangeArrowheads="1"/>
          </p:cNvSpPr>
          <p:nvPr/>
        </p:nvSpPr>
        <p:spPr bwMode="auto">
          <a:xfrm>
            <a:off x="406400" y="1371600"/>
            <a:ext cx="4356100" cy="4521200"/>
          </a:xfrm>
          <a:prstGeom prst="verticalScroll">
            <a:avLst>
              <a:gd name="adj" fmla="val 12500"/>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endParaRPr>
          </a:p>
        </p:txBody>
      </p:sp>
      <p:sp>
        <p:nvSpPr>
          <p:cNvPr id="27651" name="Rectangle 3"/>
          <p:cNvSpPr>
            <a:spLocks noGrp="1" noChangeArrowheads="1"/>
          </p:cNvSpPr>
          <p:nvPr>
            <p:ph type="title"/>
          </p:nvPr>
        </p:nvSpPr>
        <p:spPr>
          <a:xfrm>
            <a:off x="381000" y="304800"/>
            <a:ext cx="8305800" cy="606425"/>
          </a:xfrm>
        </p:spPr>
        <p:txBody>
          <a:bodyPr/>
          <a:lstStyle/>
          <a:p>
            <a:pPr eaLnBrk="1" hangingPunct="1"/>
            <a:r>
              <a:rPr lang="en-GB" altLang="en-US" sz="3200" b="1"/>
              <a:t>Pros and Cons of SE</a:t>
            </a:r>
          </a:p>
        </p:txBody>
      </p:sp>
      <p:sp>
        <p:nvSpPr>
          <p:cNvPr id="923652" name="Text Box 4"/>
          <p:cNvSpPr txBox="1">
            <a:spLocks noChangeArrowheads="1"/>
          </p:cNvSpPr>
          <p:nvPr/>
        </p:nvSpPr>
        <p:spPr bwMode="auto">
          <a:xfrm rot="15347">
            <a:off x="1193800" y="1843088"/>
            <a:ext cx="2457450" cy="396875"/>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2000" b="0" i="1" u="none" strike="noStrike" kern="1200" cap="none" spc="0" normalizeH="0" baseline="0" noProof="0">
                <a:ln>
                  <a:noFill/>
                </a:ln>
                <a:solidFill>
                  <a:srgbClr val="000000"/>
                </a:solidFill>
                <a:effectLst/>
                <a:uLnTx/>
                <a:uFillTx/>
                <a:latin typeface="Times New Roman" pitchFamily="18" charset="0"/>
                <a:ea typeface="+mn-ea"/>
                <a:cs typeface="Arial" charset="0"/>
              </a:rPr>
              <a:t>Pros</a:t>
            </a:r>
            <a:endParaRPr kumimoji="0" lang="en-GB" altLang="en-US" sz="2000" b="1" i="1" u="sng" strike="noStrike" kern="1200" cap="none" spc="0" normalizeH="0" baseline="0" noProof="0">
              <a:ln>
                <a:noFill/>
              </a:ln>
              <a:solidFill>
                <a:srgbClr val="000000"/>
              </a:solidFill>
              <a:effectLst/>
              <a:uLnTx/>
              <a:uFillTx/>
              <a:latin typeface="Times New Roman" pitchFamily="18" charset="0"/>
              <a:ea typeface="+mn-ea"/>
              <a:cs typeface="Arial" charset="0"/>
            </a:endParaRPr>
          </a:p>
        </p:txBody>
      </p:sp>
      <p:sp>
        <p:nvSpPr>
          <p:cNvPr id="923653" name="Text Box 5"/>
          <p:cNvSpPr txBox="1">
            <a:spLocks noChangeArrowheads="1"/>
          </p:cNvSpPr>
          <p:nvPr/>
        </p:nvSpPr>
        <p:spPr bwMode="auto">
          <a:xfrm>
            <a:off x="1133475" y="2236788"/>
            <a:ext cx="3116263" cy="393541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GB" altLang="en-US" sz="1400" b="1" i="0" u="none" strike="noStrike" kern="1200" cap="none" spc="0" normalizeH="0" baseline="0" noProof="0">
                <a:ln>
                  <a:noFill/>
                </a:ln>
                <a:solidFill>
                  <a:srgbClr val="333399"/>
                </a:solidFill>
                <a:effectLst/>
                <a:uLnTx/>
                <a:uFillTx/>
                <a:latin typeface="Times New Roman" pitchFamily="18" charset="0"/>
                <a:ea typeface="+mn-ea"/>
                <a:cs typeface="Arial" charset="0"/>
              </a:rPr>
              <a:t>Independent of any particular programming language</a:t>
            </a:r>
          </a:p>
          <a:p>
            <a:pPr marL="0" marR="0" lvl="0" indent="0" algn="l" defTabSz="914400" rtl="0" eaLnBrk="0" fontAlgn="base" latinLnBrk="0" hangingPunct="0">
              <a:lnSpc>
                <a:spcPct val="100000"/>
              </a:lnSpc>
              <a:spcBef>
                <a:spcPct val="0"/>
              </a:spcBef>
              <a:spcAft>
                <a:spcPct val="0"/>
              </a:spcAft>
              <a:buClrTx/>
              <a:buSzTx/>
              <a:buFontTx/>
              <a:buChar char="•"/>
              <a:tabLst/>
              <a:defRPr/>
            </a:pPr>
            <a:endParaRPr kumimoji="0" lang="en-GB" altLang="en-US" sz="1400" b="1" i="0" u="none" strike="noStrike" kern="1200" cap="none" spc="0" normalizeH="0" baseline="0" noProof="0">
              <a:ln>
                <a:noFill/>
              </a:ln>
              <a:solidFill>
                <a:srgbClr val="333399"/>
              </a:solidFill>
              <a:effectLst/>
              <a:uLnTx/>
              <a:uFillTx/>
              <a:latin typeface="Times New Roman" pitchFamily="18" charset="0"/>
              <a:ea typeface="+mn-ea"/>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GB" altLang="en-US" sz="1400" b="1" i="0" u="none" strike="noStrike" kern="1200" cap="none" spc="0" normalizeH="0" baseline="0" noProof="0">
                <a:ln>
                  <a:noFill/>
                </a:ln>
                <a:solidFill>
                  <a:srgbClr val="333399"/>
                </a:solidFill>
                <a:effectLst/>
                <a:uLnTx/>
                <a:uFillTx/>
                <a:latin typeface="Times New Roman" pitchFamily="18" charset="0"/>
                <a:ea typeface="+mn-ea"/>
                <a:cs typeface="Arial" charset="0"/>
              </a:rPr>
              <a:t>Easy to learn</a:t>
            </a:r>
          </a:p>
          <a:p>
            <a:pPr marL="0" marR="0" lvl="0" indent="0" algn="l" defTabSz="914400" rtl="0" eaLnBrk="0" fontAlgn="base" latinLnBrk="0" hangingPunct="0">
              <a:lnSpc>
                <a:spcPct val="100000"/>
              </a:lnSpc>
              <a:spcBef>
                <a:spcPct val="0"/>
              </a:spcBef>
              <a:spcAft>
                <a:spcPct val="0"/>
              </a:spcAft>
              <a:buClrTx/>
              <a:buSzTx/>
              <a:buFontTx/>
              <a:buChar char="•"/>
              <a:tabLst/>
              <a:defRPr/>
            </a:pPr>
            <a:endParaRPr kumimoji="0" lang="en-GB" altLang="en-US" sz="1400" b="1" i="0" u="none" strike="noStrike" kern="1200" cap="none" spc="0" normalizeH="0" baseline="0" noProof="0">
              <a:ln>
                <a:noFill/>
              </a:ln>
              <a:solidFill>
                <a:srgbClr val="333399"/>
              </a:solidFill>
              <a:effectLst/>
              <a:uLnTx/>
              <a:uFillTx/>
              <a:latin typeface="Times New Roman" pitchFamily="18" charset="0"/>
              <a:ea typeface="+mn-ea"/>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GB" altLang="en-US" sz="1400" b="1" i="0" u="none" strike="noStrike" kern="1200" cap="none" spc="0" normalizeH="0" baseline="0" noProof="0">
                <a:ln>
                  <a:noFill/>
                </a:ln>
                <a:solidFill>
                  <a:srgbClr val="333399"/>
                </a:solidFill>
                <a:effectLst/>
                <a:uLnTx/>
                <a:uFillTx/>
                <a:latin typeface="Times New Roman" pitchFamily="18" charset="0"/>
                <a:ea typeface="+mn-ea"/>
                <a:cs typeface="Arial" charset="0"/>
              </a:rPr>
              <a:t>Used in most CASE tools</a:t>
            </a:r>
          </a:p>
          <a:p>
            <a:pPr marL="0" marR="0" lvl="0" indent="0" algn="l" defTabSz="914400" rtl="0" eaLnBrk="0" fontAlgn="base" latinLnBrk="0" hangingPunct="0">
              <a:lnSpc>
                <a:spcPct val="100000"/>
              </a:lnSpc>
              <a:spcBef>
                <a:spcPct val="0"/>
              </a:spcBef>
              <a:spcAft>
                <a:spcPct val="0"/>
              </a:spcAft>
              <a:buClrTx/>
              <a:buSzTx/>
              <a:buFontTx/>
              <a:buChar char="•"/>
              <a:tabLst/>
              <a:defRPr/>
            </a:pPr>
            <a:endParaRPr kumimoji="0" lang="en-GB" altLang="en-US" sz="1400" b="1" i="0" u="none" strike="noStrike" kern="1200" cap="none" spc="0" normalizeH="0" baseline="0" noProof="0">
              <a:ln>
                <a:noFill/>
              </a:ln>
              <a:solidFill>
                <a:srgbClr val="333399"/>
              </a:solidFill>
              <a:effectLst/>
              <a:uLnTx/>
              <a:uFillTx/>
              <a:latin typeface="Times New Roman" pitchFamily="18" charset="0"/>
              <a:ea typeface="+mn-ea"/>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GB" altLang="en-US" sz="1400" b="1" i="0" u="none" strike="noStrike" kern="1200" cap="none" spc="0" normalizeH="0" baseline="0" noProof="0">
                <a:ln>
                  <a:noFill/>
                </a:ln>
                <a:solidFill>
                  <a:srgbClr val="333399"/>
                </a:solidFill>
                <a:effectLst/>
                <a:uLnTx/>
                <a:uFillTx/>
                <a:latin typeface="Times New Roman" pitchFamily="18" charset="0"/>
                <a:ea typeface="+mn-ea"/>
                <a:cs typeface="Arial" charset="0"/>
              </a:rPr>
              <a:t>No graphical tool required - can be word processed</a:t>
            </a:r>
          </a:p>
          <a:p>
            <a:pPr marL="0" marR="0" lvl="0" indent="0" algn="l" defTabSz="914400" rtl="0" eaLnBrk="0" fontAlgn="base" latinLnBrk="0" hangingPunct="0">
              <a:lnSpc>
                <a:spcPct val="100000"/>
              </a:lnSpc>
              <a:spcBef>
                <a:spcPct val="0"/>
              </a:spcBef>
              <a:spcAft>
                <a:spcPct val="0"/>
              </a:spcAft>
              <a:buClrTx/>
              <a:buSzTx/>
              <a:buFontTx/>
              <a:buChar char="•"/>
              <a:tabLst/>
              <a:defRPr/>
            </a:pPr>
            <a:endParaRPr kumimoji="0" lang="en-GB" altLang="en-US" sz="1400" b="1" i="0" u="none" strike="noStrike" kern="1200" cap="none" spc="0" normalizeH="0" baseline="0" noProof="0">
              <a:ln>
                <a:noFill/>
              </a:ln>
              <a:solidFill>
                <a:srgbClr val="333399"/>
              </a:solidFill>
              <a:effectLst/>
              <a:uLnTx/>
              <a:uFillTx/>
              <a:latin typeface="Times New Roman" pitchFamily="18" charset="0"/>
              <a:ea typeface="+mn-ea"/>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GB" altLang="en-US" sz="1400" b="1" i="0" u="none" strike="noStrike" kern="1200" cap="none" spc="0" normalizeH="0" baseline="0" noProof="0">
                <a:ln>
                  <a:noFill/>
                </a:ln>
                <a:solidFill>
                  <a:srgbClr val="333399"/>
                </a:solidFill>
                <a:effectLst/>
                <a:uLnTx/>
                <a:uFillTx/>
                <a:latin typeface="Times New Roman" pitchFamily="18" charset="0"/>
                <a:ea typeface="+mn-ea"/>
                <a:cs typeface="Arial" charset="0"/>
              </a:rPr>
              <a:t>Concise, precise and readable to users and programmers</a:t>
            </a:r>
          </a:p>
          <a:p>
            <a:pPr marL="0" marR="0" lvl="0" indent="0" algn="l" defTabSz="914400" rtl="0" eaLnBrk="0" fontAlgn="base" latinLnBrk="0" hangingPunct="0">
              <a:lnSpc>
                <a:spcPct val="100000"/>
              </a:lnSpc>
              <a:spcBef>
                <a:spcPct val="0"/>
              </a:spcBef>
              <a:spcAft>
                <a:spcPct val="0"/>
              </a:spcAft>
              <a:buClrTx/>
              <a:buSzTx/>
              <a:buFontTx/>
              <a:buChar char="•"/>
              <a:tabLst/>
              <a:defRPr/>
            </a:pPr>
            <a:endParaRPr kumimoji="0" lang="en-GB" altLang="en-US" sz="1400" b="1" i="0" u="none" strike="noStrike" kern="1200" cap="none" spc="0" normalizeH="0" baseline="0" noProof="0">
              <a:ln>
                <a:noFill/>
              </a:ln>
              <a:solidFill>
                <a:srgbClr val="333399"/>
              </a:solidFill>
              <a:effectLst/>
              <a:uLnTx/>
              <a:uFillTx/>
              <a:latin typeface="Times New Roman" pitchFamily="18" charset="0"/>
              <a:ea typeface="+mn-ea"/>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GB" altLang="en-US" sz="1400" b="1" i="0" u="none" strike="noStrike" kern="1200" cap="none" spc="0" normalizeH="0" baseline="0" noProof="0">
                <a:ln>
                  <a:noFill/>
                </a:ln>
                <a:solidFill>
                  <a:srgbClr val="333399"/>
                </a:solidFill>
                <a:effectLst/>
                <a:uLnTx/>
                <a:uFillTx/>
                <a:latin typeface="Times New Roman" pitchFamily="18" charset="0"/>
                <a:ea typeface="+mn-ea"/>
                <a:cs typeface="Arial" charset="0"/>
              </a:rPr>
              <a:t>Data dictionary entries are used to identify all variable, files and tables - ensures consistency and integrity</a:t>
            </a:r>
          </a:p>
        </p:txBody>
      </p:sp>
      <p:sp>
        <p:nvSpPr>
          <p:cNvPr id="923654" name="AutoShape 6"/>
          <p:cNvSpPr>
            <a:spLocks noChangeArrowheads="1"/>
          </p:cNvSpPr>
          <p:nvPr/>
        </p:nvSpPr>
        <p:spPr bwMode="auto">
          <a:xfrm>
            <a:off x="4635500" y="1397000"/>
            <a:ext cx="4356100" cy="4521200"/>
          </a:xfrm>
          <a:prstGeom prst="verticalScroll">
            <a:avLst>
              <a:gd name="adj" fmla="val 12500"/>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endParaRPr>
          </a:p>
        </p:txBody>
      </p:sp>
      <p:sp>
        <p:nvSpPr>
          <p:cNvPr id="923655" name="Text Box 7"/>
          <p:cNvSpPr txBox="1">
            <a:spLocks noChangeArrowheads="1"/>
          </p:cNvSpPr>
          <p:nvPr/>
        </p:nvSpPr>
        <p:spPr bwMode="auto">
          <a:xfrm rot="15347">
            <a:off x="5422900" y="1868488"/>
            <a:ext cx="2457450" cy="396875"/>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2000" b="0" i="1" u="none" strike="noStrike" kern="1200" cap="none" spc="0" normalizeH="0" baseline="0" noProof="0">
                <a:ln>
                  <a:noFill/>
                </a:ln>
                <a:solidFill>
                  <a:srgbClr val="000000"/>
                </a:solidFill>
                <a:effectLst/>
                <a:uLnTx/>
                <a:uFillTx/>
                <a:latin typeface="Times New Roman" pitchFamily="18" charset="0"/>
                <a:ea typeface="+mn-ea"/>
                <a:cs typeface="Arial" charset="0"/>
              </a:rPr>
              <a:t>Cons</a:t>
            </a:r>
            <a:endParaRPr kumimoji="0" lang="en-GB" altLang="en-US" sz="2000" b="1" i="1" u="sng" strike="noStrike" kern="1200" cap="none" spc="0" normalizeH="0" baseline="0" noProof="0">
              <a:ln>
                <a:noFill/>
              </a:ln>
              <a:solidFill>
                <a:srgbClr val="000000"/>
              </a:solidFill>
              <a:effectLst/>
              <a:uLnTx/>
              <a:uFillTx/>
              <a:latin typeface="Times New Roman" pitchFamily="18" charset="0"/>
              <a:ea typeface="+mn-ea"/>
              <a:cs typeface="Arial" charset="0"/>
            </a:endParaRPr>
          </a:p>
        </p:txBody>
      </p:sp>
      <p:sp>
        <p:nvSpPr>
          <p:cNvPr id="923656" name="Text Box 8"/>
          <p:cNvSpPr txBox="1">
            <a:spLocks noChangeArrowheads="1"/>
          </p:cNvSpPr>
          <p:nvPr/>
        </p:nvSpPr>
        <p:spPr bwMode="auto">
          <a:xfrm>
            <a:off x="5362575" y="2262188"/>
            <a:ext cx="3116263" cy="357981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GB" altLang="en-US" sz="1400" b="1" i="0" u="none" strike="noStrike" kern="1200" cap="none" spc="0" normalizeH="0" baseline="0" noProof="0">
                <a:ln>
                  <a:noFill/>
                </a:ln>
                <a:solidFill>
                  <a:srgbClr val="333399"/>
                </a:solidFill>
                <a:effectLst/>
                <a:uLnTx/>
                <a:uFillTx/>
                <a:latin typeface="Times New Roman" pitchFamily="18" charset="0"/>
                <a:ea typeface="+mn-ea"/>
                <a:cs typeface="Arial" charset="0"/>
              </a:rPr>
              <a:t>Exact form of SE to be used must be detailed in Standards document</a:t>
            </a:r>
          </a:p>
          <a:p>
            <a:pPr marL="0" marR="0" lvl="0" indent="0" algn="l" defTabSz="914400" rtl="0" eaLnBrk="0" fontAlgn="base" latinLnBrk="0" hangingPunct="0">
              <a:lnSpc>
                <a:spcPct val="100000"/>
              </a:lnSpc>
              <a:spcBef>
                <a:spcPct val="0"/>
              </a:spcBef>
              <a:spcAft>
                <a:spcPct val="0"/>
              </a:spcAft>
              <a:buClrTx/>
              <a:buSzTx/>
              <a:buFontTx/>
              <a:buChar char="•"/>
              <a:tabLst/>
              <a:defRPr/>
            </a:pPr>
            <a:endParaRPr kumimoji="0" lang="en-GB" altLang="en-US" sz="1400" b="1" i="0" u="none" strike="noStrike" kern="1200" cap="none" spc="0" normalizeH="0" baseline="0" noProof="0">
              <a:ln>
                <a:noFill/>
              </a:ln>
              <a:solidFill>
                <a:srgbClr val="333399"/>
              </a:solidFill>
              <a:effectLst/>
              <a:uLnTx/>
              <a:uFillTx/>
              <a:latin typeface="Times New Roman" pitchFamily="18" charset="0"/>
              <a:ea typeface="+mn-ea"/>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GB" altLang="en-US" sz="1400" b="1" i="0" u="none" strike="noStrike" kern="1200" cap="none" spc="0" normalizeH="0" baseline="0" noProof="0">
                <a:ln>
                  <a:noFill/>
                </a:ln>
                <a:solidFill>
                  <a:srgbClr val="333399"/>
                </a:solidFill>
                <a:effectLst/>
                <a:uLnTx/>
                <a:uFillTx/>
                <a:latin typeface="Times New Roman" pitchFamily="18" charset="0"/>
                <a:ea typeface="+mn-ea"/>
                <a:cs typeface="Arial" charset="0"/>
              </a:rPr>
              <a:t>Use of SE does NOT guarantee correctness</a:t>
            </a:r>
          </a:p>
          <a:p>
            <a:pPr marL="0" marR="0" lvl="0" indent="0" algn="l" defTabSz="914400" rtl="0" eaLnBrk="0" fontAlgn="base" latinLnBrk="0" hangingPunct="0">
              <a:lnSpc>
                <a:spcPct val="100000"/>
              </a:lnSpc>
              <a:spcBef>
                <a:spcPct val="0"/>
              </a:spcBef>
              <a:spcAft>
                <a:spcPct val="0"/>
              </a:spcAft>
              <a:buClrTx/>
              <a:buSzTx/>
              <a:buFontTx/>
              <a:buChar char="•"/>
              <a:tabLst/>
              <a:defRPr/>
            </a:pPr>
            <a:endParaRPr kumimoji="0" lang="en-GB" altLang="en-US" sz="1400" b="1" i="0" u="none" strike="noStrike" kern="1200" cap="none" spc="0" normalizeH="0" baseline="0" noProof="0">
              <a:ln>
                <a:noFill/>
              </a:ln>
              <a:solidFill>
                <a:srgbClr val="333399"/>
              </a:solidFill>
              <a:effectLst/>
              <a:uLnTx/>
              <a:uFillTx/>
              <a:latin typeface="Times New Roman" pitchFamily="18" charset="0"/>
              <a:ea typeface="+mn-ea"/>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GB" altLang="en-US" sz="1400" b="1" i="0" u="none" strike="noStrike" kern="1200" cap="none" spc="0" normalizeH="0" baseline="0" noProof="0">
                <a:ln>
                  <a:noFill/>
                </a:ln>
                <a:solidFill>
                  <a:srgbClr val="333399"/>
                </a:solidFill>
                <a:effectLst/>
                <a:uLnTx/>
                <a:uFillTx/>
                <a:latin typeface="Times New Roman" pitchFamily="18" charset="0"/>
                <a:ea typeface="+mn-ea"/>
                <a:cs typeface="Arial" charset="0"/>
              </a:rPr>
              <a:t>Large block of SE can appear daunting to system users and may need explaining</a:t>
            </a:r>
          </a:p>
        </p:txBody>
      </p:sp>
    </p:spTree>
    <p:extLst>
      <p:ext uri="{BB962C8B-B14F-4D97-AF65-F5344CB8AC3E}">
        <p14:creationId xmlns:p14="http://schemas.microsoft.com/office/powerpoint/2010/main" val="34818021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23650"/>
                                        </p:tgtEl>
                                        <p:attrNameLst>
                                          <p:attrName>style.visibility</p:attrName>
                                        </p:attrNameLst>
                                      </p:cBhvr>
                                      <p:to>
                                        <p:strVal val="visible"/>
                                      </p:to>
                                    </p:set>
                                    <p:animEffect transition="in" filter="wipe(up)">
                                      <p:cBhvr>
                                        <p:cTn id="7" dur="2000"/>
                                        <p:tgtEl>
                                          <p:spTgt spid="923650"/>
                                        </p:tgtEl>
                                      </p:cBhvr>
                                    </p:animEffect>
                                  </p:childTnLst>
                                </p:cTn>
                              </p:par>
                            </p:childTnLst>
                          </p:cTn>
                        </p:par>
                        <p:par>
                          <p:cTn id="8" fill="hold" nodeType="afterGroup">
                            <p:stCondLst>
                              <p:cond delay="2000"/>
                            </p:stCondLst>
                            <p:childTnLst>
                              <p:par>
                                <p:cTn id="9" presetID="27" presetClass="entr" presetSubtype="0" fill="hold" grpId="0" nodeType="afterEffect">
                                  <p:stCondLst>
                                    <p:cond delay="0"/>
                                  </p:stCondLst>
                                  <p:iterate type="lt">
                                    <p:tmPct val="50000"/>
                                  </p:iterate>
                                  <p:childTnLst>
                                    <p:set>
                                      <p:cBhvr>
                                        <p:cTn id="10" dur="1" fill="hold">
                                          <p:stCondLst>
                                            <p:cond delay="0"/>
                                          </p:stCondLst>
                                        </p:cTn>
                                        <p:tgtEl>
                                          <p:spTgt spid="923652"/>
                                        </p:tgtEl>
                                        <p:attrNameLst>
                                          <p:attrName>style.visibility</p:attrName>
                                        </p:attrNameLst>
                                      </p:cBhvr>
                                      <p:to>
                                        <p:strVal val="visible"/>
                                      </p:to>
                                    </p:set>
                                    <p:anim calcmode="discrete" valueType="clr">
                                      <p:cBhvr override="childStyle">
                                        <p:cTn id="11" dur="80"/>
                                        <p:tgtEl>
                                          <p:spTgt spid="923652"/>
                                        </p:tgtEl>
                                        <p:attrNameLst>
                                          <p:attrName>style.color</p:attrName>
                                        </p:attrNameLst>
                                      </p:cBhvr>
                                      <p:tavLst>
                                        <p:tav tm="0">
                                          <p:val>
                                            <p:clrVal>
                                              <a:schemeClr val="accent2"/>
                                            </p:clrVal>
                                          </p:val>
                                        </p:tav>
                                        <p:tav tm="50000">
                                          <p:val>
                                            <p:clrVal>
                                              <a:schemeClr val="hlink"/>
                                            </p:clrVal>
                                          </p:val>
                                        </p:tav>
                                      </p:tavLst>
                                    </p:anim>
                                    <p:anim calcmode="discrete" valueType="clr">
                                      <p:cBhvr>
                                        <p:cTn id="12" dur="80"/>
                                        <p:tgtEl>
                                          <p:spTgt spid="923652"/>
                                        </p:tgtEl>
                                        <p:attrNameLst>
                                          <p:attrName>fillcolor</p:attrName>
                                        </p:attrNameLst>
                                      </p:cBhvr>
                                      <p:tavLst>
                                        <p:tav tm="0">
                                          <p:val>
                                            <p:clrVal>
                                              <a:schemeClr val="accent2"/>
                                            </p:clrVal>
                                          </p:val>
                                        </p:tav>
                                        <p:tav tm="50000">
                                          <p:val>
                                            <p:clrVal>
                                              <a:schemeClr val="hlink"/>
                                            </p:clrVal>
                                          </p:val>
                                        </p:tav>
                                      </p:tavLst>
                                    </p:anim>
                                    <p:set>
                                      <p:cBhvr>
                                        <p:cTn id="13" dur="80"/>
                                        <p:tgtEl>
                                          <p:spTgt spid="923652"/>
                                        </p:tgtEl>
                                        <p:attrNameLst>
                                          <p:attrName>fill.type</p:attrName>
                                        </p:attrNameLst>
                                      </p:cBhvr>
                                      <p:to>
                                        <p:strVal val="solid"/>
                                      </p:to>
                                    </p:set>
                                  </p:childTnLst>
                                </p:cTn>
                              </p:par>
                            </p:childTnLst>
                          </p:cTn>
                        </p:par>
                        <p:par>
                          <p:cTn id="14" fill="hold" nodeType="afterGroup">
                            <p:stCondLst>
                              <p:cond delay="2200"/>
                            </p:stCondLst>
                            <p:childTnLst>
                              <p:par>
                                <p:cTn id="15" presetID="27" presetClass="entr" presetSubtype="0" fill="hold" grpId="0" nodeType="afterEffect">
                                  <p:stCondLst>
                                    <p:cond delay="0"/>
                                  </p:stCondLst>
                                  <p:iterate type="lt">
                                    <p:tmPct val="50000"/>
                                  </p:iterate>
                                  <p:childTnLst>
                                    <p:set>
                                      <p:cBhvr>
                                        <p:cTn id="16" dur="1" fill="hold">
                                          <p:stCondLst>
                                            <p:cond delay="0"/>
                                          </p:stCondLst>
                                        </p:cTn>
                                        <p:tgtEl>
                                          <p:spTgt spid="923653"/>
                                        </p:tgtEl>
                                        <p:attrNameLst>
                                          <p:attrName>style.visibility</p:attrName>
                                        </p:attrNameLst>
                                      </p:cBhvr>
                                      <p:to>
                                        <p:strVal val="visible"/>
                                      </p:to>
                                    </p:set>
                                    <p:anim calcmode="discrete" valueType="clr">
                                      <p:cBhvr override="childStyle">
                                        <p:cTn id="17" dur="80"/>
                                        <p:tgtEl>
                                          <p:spTgt spid="923653"/>
                                        </p:tgtEl>
                                        <p:attrNameLst>
                                          <p:attrName>style.color</p:attrName>
                                        </p:attrNameLst>
                                      </p:cBhvr>
                                      <p:tavLst>
                                        <p:tav tm="0">
                                          <p:val>
                                            <p:clrVal>
                                              <a:schemeClr val="accent2"/>
                                            </p:clrVal>
                                          </p:val>
                                        </p:tav>
                                        <p:tav tm="50000">
                                          <p:val>
                                            <p:clrVal>
                                              <a:schemeClr val="hlink"/>
                                            </p:clrVal>
                                          </p:val>
                                        </p:tav>
                                      </p:tavLst>
                                    </p:anim>
                                    <p:anim calcmode="discrete" valueType="clr">
                                      <p:cBhvr>
                                        <p:cTn id="18" dur="80"/>
                                        <p:tgtEl>
                                          <p:spTgt spid="923653"/>
                                        </p:tgtEl>
                                        <p:attrNameLst>
                                          <p:attrName>fillcolor</p:attrName>
                                        </p:attrNameLst>
                                      </p:cBhvr>
                                      <p:tavLst>
                                        <p:tav tm="0">
                                          <p:val>
                                            <p:clrVal>
                                              <a:schemeClr val="accent2"/>
                                            </p:clrVal>
                                          </p:val>
                                        </p:tav>
                                        <p:tav tm="50000">
                                          <p:val>
                                            <p:clrVal>
                                              <a:schemeClr val="hlink"/>
                                            </p:clrVal>
                                          </p:val>
                                        </p:tav>
                                      </p:tavLst>
                                    </p:anim>
                                    <p:set>
                                      <p:cBhvr>
                                        <p:cTn id="19" dur="80"/>
                                        <p:tgtEl>
                                          <p:spTgt spid="923653"/>
                                        </p:tgtEl>
                                        <p:attrNameLst>
                                          <p:attrName>fill.type</p:attrName>
                                        </p:attrNameLst>
                                      </p:cBhvr>
                                      <p:to>
                                        <p:strVal val="solid"/>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923654"/>
                                        </p:tgtEl>
                                        <p:attrNameLst>
                                          <p:attrName>style.visibility</p:attrName>
                                        </p:attrNameLst>
                                      </p:cBhvr>
                                      <p:to>
                                        <p:strVal val="visible"/>
                                      </p:to>
                                    </p:set>
                                    <p:animEffect transition="in" filter="wipe(up)">
                                      <p:cBhvr>
                                        <p:cTn id="24" dur="2000"/>
                                        <p:tgtEl>
                                          <p:spTgt spid="923654"/>
                                        </p:tgtEl>
                                      </p:cBhvr>
                                    </p:animEffect>
                                  </p:childTnLst>
                                </p:cTn>
                              </p:par>
                            </p:childTnLst>
                          </p:cTn>
                        </p:par>
                        <p:par>
                          <p:cTn id="25" fill="hold" nodeType="afterGroup">
                            <p:stCondLst>
                              <p:cond delay="2000"/>
                            </p:stCondLst>
                            <p:childTnLst>
                              <p:par>
                                <p:cTn id="26" presetID="27" presetClass="entr" presetSubtype="0" fill="hold" grpId="0" nodeType="afterEffect">
                                  <p:stCondLst>
                                    <p:cond delay="0"/>
                                  </p:stCondLst>
                                  <p:iterate type="lt">
                                    <p:tmPct val="50000"/>
                                  </p:iterate>
                                  <p:childTnLst>
                                    <p:set>
                                      <p:cBhvr>
                                        <p:cTn id="27" dur="1" fill="hold">
                                          <p:stCondLst>
                                            <p:cond delay="0"/>
                                          </p:stCondLst>
                                        </p:cTn>
                                        <p:tgtEl>
                                          <p:spTgt spid="923655"/>
                                        </p:tgtEl>
                                        <p:attrNameLst>
                                          <p:attrName>style.visibility</p:attrName>
                                        </p:attrNameLst>
                                      </p:cBhvr>
                                      <p:to>
                                        <p:strVal val="visible"/>
                                      </p:to>
                                    </p:set>
                                    <p:anim calcmode="discrete" valueType="clr">
                                      <p:cBhvr override="childStyle">
                                        <p:cTn id="28" dur="80"/>
                                        <p:tgtEl>
                                          <p:spTgt spid="923655"/>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923655"/>
                                        </p:tgtEl>
                                        <p:attrNameLst>
                                          <p:attrName>fillcolor</p:attrName>
                                        </p:attrNameLst>
                                      </p:cBhvr>
                                      <p:tavLst>
                                        <p:tav tm="0">
                                          <p:val>
                                            <p:clrVal>
                                              <a:schemeClr val="accent2"/>
                                            </p:clrVal>
                                          </p:val>
                                        </p:tav>
                                        <p:tav tm="50000">
                                          <p:val>
                                            <p:clrVal>
                                              <a:schemeClr val="hlink"/>
                                            </p:clrVal>
                                          </p:val>
                                        </p:tav>
                                      </p:tavLst>
                                    </p:anim>
                                    <p:set>
                                      <p:cBhvr>
                                        <p:cTn id="30" dur="80"/>
                                        <p:tgtEl>
                                          <p:spTgt spid="923655"/>
                                        </p:tgtEl>
                                        <p:attrNameLst>
                                          <p:attrName>fill.type</p:attrName>
                                        </p:attrNameLst>
                                      </p:cBhvr>
                                      <p:to>
                                        <p:strVal val="solid"/>
                                      </p:to>
                                    </p:set>
                                  </p:childTnLst>
                                </p:cTn>
                              </p:par>
                            </p:childTnLst>
                          </p:cTn>
                        </p:par>
                        <p:par>
                          <p:cTn id="31" fill="hold" nodeType="afterGroup">
                            <p:stCondLst>
                              <p:cond delay="2200"/>
                            </p:stCondLst>
                            <p:childTnLst>
                              <p:par>
                                <p:cTn id="32" presetID="27" presetClass="entr" presetSubtype="0" fill="hold" grpId="0" nodeType="afterEffect">
                                  <p:stCondLst>
                                    <p:cond delay="0"/>
                                  </p:stCondLst>
                                  <p:iterate type="lt">
                                    <p:tmPct val="50000"/>
                                  </p:iterate>
                                  <p:childTnLst>
                                    <p:set>
                                      <p:cBhvr>
                                        <p:cTn id="33" dur="1" fill="hold">
                                          <p:stCondLst>
                                            <p:cond delay="0"/>
                                          </p:stCondLst>
                                        </p:cTn>
                                        <p:tgtEl>
                                          <p:spTgt spid="923656"/>
                                        </p:tgtEl>
                                        <p:attrNameLst>
                                          <p:attrName>style.visibility</p:attrName>
                                        </p:attrNameLst>
                                      </p:cBhvr>
                                      <p:to>
                                        <p:strVal val="visible"/>
                                      </p:to>
                                    </p:set>
                                    <p:anim calcmode="discrete" valueType="clr">
                                      <p:cBhvr override="childStyle">
                                        <p:cTn id="34" dur="80"/>
                                        <p:tgtEl>
                                          <p:spTgt spid="923656"/>
                                        </p:tgtEl>
                                        <p:attrNameLst>
                                          <p:attrName>style.color</p:attrName>
                                        </p:attrNameLst>
                                      </p:cBhvr>
                                      <p:tavLst>
                                        <p:tav tm="0">
                                          <p:val>
                                            <p:clrVal>
                                              <a:schemeClr val="accent2"/>
                                            </p:clrVal>
                                          </p:val>
                                        </p:tav>
                                        <p:tav tm="50000">
                                          <p:val>
                                            <p:clrVal>
                                              <a:schemeClr val="hlink"/>
                                            </p:clrVal>
                                          </p:val>
                                        </p:tav>
                                      </p:tavLst>
                                    </p:anim>
                                    <p:anim calcmode="discrete" valueType="clr">
                                      <p:cBhvr>
                                        <p:cTn id="35" dur="80"/>
                                        <p:tgtEl>
                                          <p:spTgt spid="923656"/>
                                        </p:tgtEl>
                                        <p:attrNameLst>
                                          <p:attrName>fillcolor</p:attrName>
                                        </p:attrNameLst>
                                      </p:cBhvr>
                                      <p:tavLst>
                                        <p:tav tm="0">
                                          <p:val>
                                            <p:clrVal>
                                              <a:schemeClr val="accent2"/>
                                            </p:clrVal>
                                          </p:val>
                                        </p:tav>
                                        <p:tav tm="50000">
                                          <p:val>
                                            <p:clrVal>
                                              <a:schemeClr val="hlink"/>
                                            </p:clrVal>
                                          </p:val>
                                        </p:tav>
                                      </p:tavLst>
                                    </p:anim>
                                    <p:set>
                                      <p:cBhvr>
                                        <p:cTn id="36" dur="80"/>
                                        <p:tgtEl>
                                          <p:spTgt spid="923656"/>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3650" grpId="0" animBg="1"/>
      <p:bldP spid="923652" grpId="0"/>
      <p:bldP spid="923653" grpId="0"/>
      <p:bldP spid="923654" grpId="0" animBg="1"/>
      <p:bldP spid="923655" grpId="0"/>
      <p:bldP spid="92365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08FF7495-F4DF-477E-A751-87CF70BBE0E4}"/>
              </a:ext>
            </a:extLst>
          </p:cNvPr>
          <p:cNvSpPr>
            <a:spLocks noGrp="1"/>
          </p:cNvSpPr>
          <p:nvPr>
            <p:ph type="title"/>
          </p:nvPr>
        </p:nvSpPr>
        <p:spPr/>
        <p:txBody>
          <a:bodyPr/>
          <a:lstStyle/>
          <a:p>
            <a:r>
              <a:rPr kumimoji="1" lang="en-US" altLang="en-US"/>
              <a:t>2. DECISION TABLE</a:t>
            </a:r>
            <a:endParaRPr lang="en-US" altLang="en-US"/>
          </a:p>
        </p:txBody>
      </p:sp>
      <p:sp>
        <p:nvSpPr>
          <p:cNvPr id="29699" name="Content Placeholder 2">
            <a:extLst>
              <a:ext uri="{FF2B5EF4-FFF2-40B4-BE49-F238E27FC236}">
                <a16:creationId xmlns:a16="http://schemas.microsoft.com/office/drawing/2014/main" id="{D6A2E558-54D4-4ABD-81F4-78EBC2CA6333}"/>
              </a:ext>
            </a:extLst>
          </p:cNvPr>
          <p:cNvSpPr>
            <a:spLocks noGrp="1"/>
          </p:cNvSpPr>
          <p:nvPr>
            <p:ph idx="1"/>
          </p:nvPr>
        </p:nvSpPr>
        <p:spPr/>
        <p:txBody>
          <a:bodyPr/>
          <a:lstStyle/>
          <a:p>
            <a:pPr>
              <a:spcBef>
                <a:spcPct val="0"/>
              </a:spcBef>
            </a:pPr>
            <a:r>
              <a:rPr lang="en-US" altLang="en-US" sz="3200"/>
              <a:t>A </a:t>
            </a:r>
            <a:r>
              <a:rPr lang="en-US" altLang="en-US" sz="3200" b="1"/>
              <a:t>decision table </a:t>
            </a:r>
            <a:r>
              <a:rPr lang="en-US" altLang="en-US" sz="3200"/>
              <a:t>is a logical structure that shows every combination of conditions and outcomes / actions. </a:t>
            </a:r>
          </a:p>
          <a:p>
            <a:pPr>
              <a:spcBef>
                <a:spcPct val="0"/>
              </a:spcBef>
            </a:pPr>
            <a:r>
              <a:rPr lang="en-US" altLang="en-US" sz="3200"/>
              <a:t>Analysts often use decision tables to describe a process and ensure that they have considered all possible situations. </a:t>
            </a:r>
          </a:p>
          <a:p>
            <a:pPr>
              <a:spcBef>
                <a:spcPct val="0"/>
              </a:spcBef>
            </a:pPr>
            <a:r>
              <a:rPr lang="en-US" altLang="en-US" sz="3200"/>
              <a:t>You can create decision tables using Microsoft PowerPoint, Word, or Excel.</a:t>
            </a:r>
          </a:p>
        </p:txBody>
      </p:sp>
      <p:sp>
        <p:nvSpPr>
          <p:cNvPr id="29700" name="Slide Number Placeholder 3">
            <a:extLst>
              <a:ext uri="{FF2B5EF4-FFF2-40B4-BE49-F238E27FC236}">
                <a16:creationId xmlns:a16="http://schemas.microsoft.com/office/drawing/2014/main" id="{B0A34D99-CE27-450E-823F-1047878E74A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DE3FE5D-58BA-4E83-A85C-D7161D5CBBC4}" type="slidenum">
              <a:rPr lang="en-US" altLang="en-US" sz="1200">
                <a:solidFill>
                  <a:srgbClr val="898989"/>
                </a:solidFill>
              </a:rPr>
              <a:pPr>
                <a:spcBef>
                  <a:spcPct val="0"/>
                </a:spcBef>
                <a:buFontTx/>
                <a:buNone/>
              </a:pPr>
              <a:t>16</a:t>
            </a:fld>
            <a:endParaRPr lang="en-US" altLang="en-US" sz="1200">
              <a:solidFill>
                <a:srgbClr val="89898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GB" altLang="en-US" sz="3200" b="1"/>
              <a:t>Decision Tables</a:t>
            </a:r>
          </a:p>
        </p:txBody>
      </p:sp>
      <p:sp>
        <p:nvSpPr>
          <p:cNvPr id="29699" name="Rectangle 3"/>
          <p:cNvSpPr>
            <a:spLocks noGrp="1" noChangeArrowheads="1"/>
          </p:cNvSpPr>
          <p:nvPr>
            <p:ph type="body" sz="half" idx="1"/>
          </p:nvPr>
        </p:nvSpPr>
        <p:spPr>
          <a:xfrm>
            <a:off x="381000" y="1447800"/>
            <a:ext cx="7213600" cy="2086725"/>
          </a:xfrm>
        </p:spPr>
        <p:txBody>
          <a:bodyPr/>
          <a:lstStyle/>
          <a:p>
            <a:pPr marL="342900" indent="-342900" eaLnBrk="1" hangingPunct="1"/>
            <a:r>
              <a:rPr lang="en-GB" altLang="en-US" sz="2400" dirty="0"/>
              <a:t>Decision table is a </a:t>
            </a:r>
            <a:r>
              <a:rPr lang="en-GB" altLang="en-US" sz="2400" dirty="0">
                <a:solidFill>
                  <a:srgbClr val="00B0F0"/>
                </a:solidFill>
              </a:rPr>
              <a:t>tabular representation of </a:t>
            </a:r>
            <a:r>
              <a:rPr lang="en-GB" altLang="en-US" sz="2400" b="1" dirty="0">
                <a:solidFill>
                  <a:srgbClr val="00B0F0"/>
                </a:solidFill>
              </a:rPr>
              <a:t>multiple </a:t>
            </a:r>
            <a:r>
              <a:rPr lang="en-GB" altLang="en-US" sz="2400" dirty="0">
                <a:solidFill>
                  <a:srgbClr val="00B0F0"/>
                </a:solidFill>
              </a:rPr>
              <a:t>decision points</a:t>
            </a:r>
          </a:p>
          <a:p>
            <a:pPr marL="342900" indent="-342900" eaLnBrk="1" hangingPunct="1"/>
            <a:endParaRPr lang="en-GB" altLang="en-US" sz="2400" dirty="0"/>
          </a:p>
          <a:p>
            <a:pPr marL="342900" indent="-342900" eaLnBrk="1" hangingPunct="1"/>
            <a:r>
              <a:rPr lang="en-GB" altLang="en-US" sz="2400" dirty="0"/>
              <a:t>Table has four quadrants:</a:t>
            </a:r>
          </a:p>
        </p:txBody>
      </p:sp>
      <p:graphicFrame>
        <p:nvGraphicFramePr>
          <p:cNvPr id="931855" name="Group 15"/>
          <p:cNvGraphicFramePr>
            <a:graphicFrameLocks noGrp="1"/>
          </p:cNvGraphicFramePr>
          <p:nvPr>
            <p:ph sz="half" idx="2"/>
            <p:extLst/>
          </p:nvPr>
        </p:nvGraphicFramePr>
        <p:xfrm>
          <a:off x="1651000" y="3937000"/>
          <a:ext cx="5334000" cy="1782763"/>
        </p:xfrm>
        <a:graphic>
          <a:graphicData uri="http://schemas.openxmlformats.org/drawingml/2006/table">
            <a:tbl>
              <a:tblPr/>
              <a:tblGrid>
                <a:gridCol w="26670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tblGrid>
              <a:tr h="892175">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1" fontAlgn="base" latinLnBrk="0" hangingPunct="1">
                        <a:lnSpc>
                          <a:spcPct val="110000"/>
                        </a:lnSpc>
                        <a:spcBef>
                          <a:spcPct val="30000"/>
                        </a:spcBef>
                        <a:spcAft>
                          <a:spcPct val="20000"/>
                        </a:spcAft>
                        <a:buClrTx/>
                        <a:buSzTx/>
                        <a:buFontTx/>
                        <a:buNone/>
                        <a:tabLst/>
                      </a:pPr>
                      <a:r>
                        <a:rPr kumimoji="0" lang="en-GB" altLang="en-US" sz="1600" b="0" i="0" u="none" strike="noStrike" cap="none" normalizeH="0" baseline="0" dirty="0">
                          <a:ln>
                            <a:noFill/>
                          </a:ln>
                          <a:solidFill>
                            <a:srgbClr val="004D75"/>
                          </a:solidFill>
                          <a:effectLst/>
                          <a:latin typeface="Verdana" pitchFamily="34" charset="0"/>
                          <a:cs typeface="Arial" charset="0"/>
                        </a:rPr>
                        <a:t>Conditions stub</a:t>
                      </a:r>
                      <a:endParaRPr kumimoji="0" lang="en-US" altLang="en-US" sz="1600" b="0" i="0" u="none" strike="noStrike" cap="none" normalizeH="0" baseline="0" dirty="0">
                        <a:ln>
                          <a:noFill/>
                        </a:ln>
                        <a:solidFill>
                          <a:srgbClr val="004D75"/>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1" fontAlgn="base" latinLnBrk="0" hangingPunct="1">
                        <a:lnSpc>
                          <a:spcPct val="110000"/>
                        </a:lnSpc>
                        <a:spcBef>
                          <a:spcPct val="30000"/>
                        </a:spcBef>
                        <a:spcAft>
                          <a:spcPct val="20000"/>
                        </a:spcAft>
                        <a:buClrTx/>
                        <a:buSzTx/>
                        <a:buFontTx/>
                        <a:buNone/>
                        <a:tabLst/>
                      </a:pPr>
                      <a:r>
                        <a:rPr kumimoji="0" lang="en-GB" altLang="en-US" sz="1600" b="0" i="0" u="none" strike="noStrike" cap="none" normalizeH="0" baseline="0" dirty="0">
                          <a:ln>
                            <a:noFill/>
                          </a:ln>
                          <a:solidFill>
                            <a:srgbClr val="004D75"/>
                          </a:solidFill>
                          <a:effectLst/>
                          <a:latin typeface="Verdana" pitchFamily="34" charset="0"/>
                          <a:cs typeface="Arial" charset="0"/>
                        </a:rPr>
                        <a:t>Conditions entries</a:t>
                      </a:r>
                      <a:endParaRPr kumimoji="0" lang="en-US" altLang="en-US" sz="1600" b="0" i="0" u="none" strike="noStrike" cap="none" normalizeH="0" baseline="0" dirty="0">
                        <a:ln>
                          <a:noFill/>
                        </a:ln>
                        <a:solidFill>
                          <a:srgbClr val="004D75"/>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90588">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1" fontAlgn="base" latinLnBrk="0" hangingPunct="1">
                        <a:lnSpc>
                          <a:spcPct val="110000"/>
                        </a:lnSpc>
                        <a:spcBef>
                          <a:spcPct val="30000"/>
                        </a:spcBef>
                        <a:spcAft>
                          <a:spcPct val="20000"/>
                        </a:spcAft>
                        <a:buClrTx/>
                        <a:buSzTx/>
                        <a:buFontTx/>
                        <a:buNone/>
                        <a:tabLst/>
                      </a:pPr>
                      <a:r>
                        <a:rPr kumimoji="0" lang="en-GB" altLang="en-US" sz="1600" b="0" i="0" u="none" strike="noStrike" cap="none" normalizeH="0" baseline="0" dirty="0">
                          <a:ln>
                            <a:noFill/>
                          </a:ln>
                          <a:solidFill>
                            <a:srgbClr val="004D75"/>
                          </a:solidFill>
                          <a:effectLst/>
                          <a:latin typeface="Verdana" pitchFamily="34" charset="0"/>
                          <a:cs typeface="Arial" charset="0"/>
                        </a:rPr>
                        <a:t>Actions stub</a:t>
                      </a:r>
                      <a:endParaRPr kumimoji="0" lang="en-US" altLang="en-US" sz="1600" b="0" i="0" u="none" strike="noStrike" cap="none" normalizeH="0" baseline="0" dirty="0">
                        <a:ln>
                          <a:noFill/>
                        </a:ln>
                        <a:solidFill>
                          <a:srgbClr val="004D75"/>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1" fontAlgn="base" latinLnBrk="0" hangingPunct="1">
                        <a:lnSpc>
                          <a:spcPct val="110000"/>
                        </a:lnSpc>
                        <a:spcBef>
                          <a:spcPct val="30000"/>
                        </a:spcBef>
                        <a:spcAft>
                          <a:spcPct val="20000"/>
                        </a:spcAft>
                        <a:buClrTx/>
                        <a:buSzTx/>
                        <a:buFontTx/>
                        <a:buNone/>
                        <a:tabLst/>
                      </a:pPr>
                      <a:r>
                        <a:rPr kumimoji="0" lang="en-GB" altLang="en-US" sz="1600" b="0" i="0" u="none" strike="noStrike" cap="none" normalizeH="0" baseline="0" dirty="0">
                          <a:ln>
                            <a:noFill/>
                          </a:ln>
                          <a:solidFill>
                            <a:srgbClr val="004D75"/>
                          </a:solidFill>
                          <a:effectLst/>
                          <a:latin typeface="Verdana" pitchFamily="34" charset="0"/>
                          <a:cs typeface="Arial" charset="0"/>
                        </a:rPr>
                        <a:t>Actions entries</a:t>
                      </a:r>
                      <a:endParaRPr kumimoji="0" lang="en-US" altLang="en-US" sz="1600" b="0" i="0" u="none" strike="noStrike" cap="none" normalizeH="0" baseline="0" dirty="0">
                        <a:ln>
                          <a:noFill/>
                        </a:ln>
                        <a:solidFill>
                          <a:srgbClr val="004D75"/>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5227470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4"/>
          <p:cNvSpPr txBox="1">
            <a:spLocks noChangeArrowheads="1"/>
          </p:cNvSpPr>
          <p:nvPr/>
        </p:nvSpPr>
        <p:spPr bwMode="auto">
          <a:xfrm>
            <a:off x="314931" y="228600"/>
            <a:ext cx="8542723"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lgn="ctr" eaLnBrk="0" fontAlgn="base" hangingPunct="0">
              <a:spcBef>
                <a:spcPct val="0"/>
              </a:spcBef>
              <a:spcAft>
                <a:spcPct val="0"/>
              </a:spcAft>
            </a:pPr>
            <a:r>
              <a:rPr lang="en-GB" altLang="en-US" sz="3000" b="1" dirty="0">
                <a:solidFill>
                  <a:srgbClr val="000000"/>
                </a:solidFill>
              </a:rPr>
              <a:t>How to Create a Decision Table (cont.)</a:t>
            </a:r>
            <a:endParaRPr lang="en-GB" altLang="en-US" sz="2400" b="1" u="sng" dirty="0">
              <a:solidFill>
                <a:srgbClr val="000000"/>
              </a:solidFill>
            </a:endParaRPr>
          </a:p>
        </p:txBody>
      </p:sp>
      <p:sp>
        <p:nvSpPr>
          <p:cNvPr id="30723" name="Rectangle 47"/>
          <p:cNvSpPr>
            <a:spLocks noChangeArrowheads="1"/>
          </p:cNvSpPr>
          <p:nvPr/>
        </p:nvSpPr>
        <p:spPr bwMode="auto">
          <a:xfrm>
            <a:off x="218143" y="1195645"/>
            <a:ext cx="4330700" cy="46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fontAlgn="base">
              <a:lnSpc>
                <a:spcPct val="110000"/>
              </a:lnSpc>
              <a:spcBef>
                <a:spcPct val="30000"/>
              </a:spcBef>
              <a:spcAft>
                <a:spcPct val="20000"/>
              </a:spcAft>
            </a:pPr>
            <a:r>
              <a:rPr lang="en-GB" altLang="en-US" sz="2400" b="1" dirty="0">
                <a:solidFill>
                  <a:srgbClr val="00B050"/>
                </a:solidFill>
              </a:rPr>
              <a:t>1. Identify </a:t>
            </a:r>
            <a:r>
              <a:rPr lang="en-GB" altLang="en-US" sz="2400" b="1" u="sng" dirty="0">
                <a:solidFill>
                  <a:srgbClr val="00B050"/>
                </a:solidFill>
              </a:rPr>
              <a:t>Conditions</a:t>
            </a:r>
          </a:p>
        </p:txBody>
      </p:sp>
      <p:sp>
        <p:nvSpPr>
          <p:cNvPr id="30725" name="Rectangle 49"/>
          <p:cNvSpPr>
            <a:spLocks noChangeArrowheads="1"/>
          </p:cNvSpPr>
          <p:nvPr/>
        </p:nvSpPr>
        <p:spPr bwMode="auto">
          <a:xfrm>
            <a:off x="228600" y="2053768"/>
            <a:ext cx="4254500" cy="46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fontAlgn="base">
              <a:lnSpc>
                <a:spcPct val="110000"/>
              </a:lnSpc>
              <a:spcBef>
                <a:spcPct val="30000"/>
              </a:spcBef>
              <a:spcAft>
                <a:spcPct val="20000"/>
              </a:spcAft>
            </a:pPr>
            <a:r>
              <a:rPr lang="en-GB" altLang="en-US" sz="2400" b="1" dirty="0">
                <a:solidFill>
                  <a:srgbClr val="00B050"/>
                </a:solidFill>
              </a:rPr>
              <a:t>2. Identify </a:t>
            </a:r>
            <a:r>
              <a:rPr lang="en-GB" altLang="en-US" sz="2400" b="1" u="sng" dirty="0">
                <a:solidFill>
                  <a:srgbClr val="00B050"/>
                </a:solidFill>
              </a:rPr>
              <a:t>Actions</a:t>
            </a:r>
          </a:p>
        </p:txBody>
      </p:sp>
      <p:sp>
        <p:nvSpPr>
          <p:cNvPr id="30727" name="Rectangle 51"/>
          <p:cNvSpPr>
            <a:spLocks noChangeArrowheads="1"/>
          </p:cNvSpPr>
          <p:nvPr/>
        </p:nvSpPr>
        <p:spPr bwMode="auto">
          <a:xfrm>
            <a:off x="4672467" y="1223883"/>
            <a:ext cx="4330700"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44500" indent="-444500">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fontAlgn="base">
              <a:lnSpc>
                <a:spcPct val="110000"/>
              </a:lnSpc>
              <a:spcBef>
                <a:spcPct val="30000"/>
              </a:spcBef>
              <a:spcAft>
                <a:spcPct val="20000"/>
              </a:spcAft>
            </a:pPr>
            <a:r>
              <a:rPr lang="en-GB" altLang="en-US" sz="2400" b="1" dirty="0">
                <a:solidFill>
                  <a:srgbClr val="00B050"/>
                </a:solidFill>
              </a:rPr>
              <a:t>3. Calculate number of rules</a:t>
            </a:r>
          </a:p>
        </p:txBody>
      </p:sp>
      <p:sp>
        <p:nvSpPr>
          <p:cNvPr id="30728" name="Text Box 52"/>
          <p:cNvSpPr txBox="1">
            <a:spLocks noChangeArrowheads="1"/>
          </p:cNvSpPr>
          <p:nvPr/>
        </p:nvSpPr>
        <p:spPr bwMode="auto">
          <a:xfrm>
            <a:off x="5586867" y="2203204"/>
            <a:ext cx="3416300" cy="997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eaLnBrk="0" fontAlgn="base" hangingPunct="0">
              <a:lnSpc>
                <a:spcPct val="80000"/>
              </a:lnSpc>
              <a:spcBef>
                <a:spcPct val="50000"/>
              </a:spcBef>
              <a:spcAft>
                <a:spcPct val="0"/>
              </a:spcAft>
            </a:pPr>
            <a:r>
              <a:rPr lang="en-GB" altLang="en-US" sz="2800" dirty="0">
                <a:solidFill>
                  <a:srgbClr val="009999"/>
                </a:solidFill>
                <a:latin typeface="Times New Roman" pitchFamily="18" charset="0"/>
              </a:rPr>
              <a:t>= 2</a:t>
            </a:r>
            <a:r>
              <a:rPr lang="en-GB" altLang="en-US" sz="2800" baseline="30000" dirty="0">
                <a:solidFill>
                  <a:srgbClr val="009999"/>
                </a:solidFill>
                <a:latin typeface="Times New Roman" pitchFamily="18" charset="0"/>
              </a:rPr>
              <a:t>Number of conditions</a:t>
            </a:r>
            <a:r>
              <a:rPr lang="en-GB" altLang="en-US" sz="2800" dirty="0">
                <a:solidFill>
                  <a:srgbClr val="009999"/>
                </a:solidFill>
                <a:latin typeface="Times New Roman" pitchFamily="18" charset="0"/>
              </a:rPr>
              <a:t> </a:t>
            </a:r>
          </a:p>
          <a:p>
            <a:pPr eaLnBrk="0" fontAlgn="base" hangingPunct="0">
              <a:lnSpc>
                <a:spcPct val="80000"/>
              </a:lnSpc>
              <a:spcBef>
                <a:spcPct val="50000"/>
              </a:spcBef>
              <a:spcAft>
                <a:spcPct val="0"/>
              </a:spcAft>
            </a:pPr>
            <a:r>
              <a:rPr lang="en-GB" altLang="en-US" sz="2800" dirty="0">
                <a:solidFill>
                  <a:srgbClr val="009999"/>
                </a:solidFill>
                <a:latin typeface="Times New Roman" pitchFamily="18" charset="0"/>
              </a:rPr>
              <a:t>= 2</a:t>
            </a:r>
            <a:r>
              <a:rPr lang="en-GB" altLang="en-US" sz="2800" baseline="30000" dirty="0">
                <a:solidFill>
                  <a:srgbClr val="009999"/>
                </a:solidFill>
                <a:latin typeface="Times New Roman" pitchFamily="18" charset="0"/>
              </a:rPr>
              <a:t>3</a:t>
            </a:r>
            <a:r>
              <a:rPr lang="en-GB" altLang="en-US" sz="2800" dirty="0">
                <a:solidFill>
                  <a:srgbClr val="009999"/>
                </a:solidFill>
                <a:latin typeface="Times New Roman" pitchFamily="18" charset="0"/>
              </a:rPr>
              <a:t> = 8 rules</a:t>
            </a:r>
          </a:p>
        </p:txBody>
      </p:sp>
      <p:graphicFrame>
        <p:nvGraphicFramePr>
          <p:cNvPr id="10" name="Group 15"/>
          <p:cNvGraphicFramePr>
            <a:graphicFrameLocks/>
          </p:cNvGraphicFramePr>
          <p:nvPr>
            <p:extLst/>
          </p:nvPr>
        </p:nvGraphicFramePr>
        <p:xfrm>
          <a:off x="381000" y="3429000"/>
          <a:ext cx="8229600" cy="3352800"/>
        </p:xfrm>
        <a:graphic>
          <a:graphicData uri="http://schemas.openxmlformats.org/drawingml/2006/table">
            <a:tbl>
              <a:tblPr/>
              <a:tblGrid>
                <a:gridCol w="2851842">
                  <a:extLst>
                    <a:ext uri="{9D8B030D-6E8A-4147-A177-3AD203B41FA5}">
                      <a16:colId xmlns:a16="http://schemas.microsoft.com/office/drawing/2014/main" val="20000"/>
                    </a:ext>
                  </a:extLst>
                </a:gridCol>
                <a:gridCol w="5377758">
                  <a:extLst>
                    <a:ext uri="{9D8B030D-6E8A-4147-A177-3AD203B41FA5}">
                      <a16:colId xmlns:a16="http://schemas.microsoft.com/office/drawing/2014/main" val="20001"/>
                    </a:ext>
                  </a:extLst>
                </a:gridCol>
              </a:tblGrid>
              <a:tr h="718467">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1" fontAlgn="base" latinLnBrk="0" hangingPunct="1">
                        <a:lnSpc>
                          <a:spcPct val="110000"/>
                        </a:lnSpc>
                        <a:spcBef>
                          <a:spcPct val="30000"/>
                        </a:spcBef>
                        <a:spcAft>
                          <a:spcPct val="20000"/>
                        </a:spcAft>
                        <a:buClrTx/>
                        <a:buSzTx/>
                        <a:buFontTx/>
                        <a:buNone/>
                        <a:tabLst/>
                      </a:pPr>
                      <a:r>
                        <a:rPr kumimoji="0" lang="en-GB" altLang="en-US" sz="2000" b="1" i="0" u="none" strike="noStrike" cap="none" normalizeH="0" baseline="0" dirty="0">
                          <a:ln>
                            <a:noFill/>
                          </a:ln>
                          <a:solidFill>
                            <a:srgbClr val="004D75"/>
                          </a:solidFill>
                          <a:effectLst/>
                          <a:latin typeface="Verdana" pitchFamily="34" charset="0"/>
                          <a:cs typeface="Arial" charset="0"/>
                        </a:rPr>
                        <a:t>Conditions</a:t>
                      </a:r>
                    </a:p>
                    <a:p>
                      <a:pPr eaLnBrk="0" fontAlgn="base" hangingPunct="0">
                        <a:lnSpc>
                          <a:spcPct val="80000"/>
                        </a:lnSpc>
                        <a:spcBef>
                          <a:spcPct val="50000"/>
                        </a:spcBef>
                        <a:spcAft>
                          <a:spcPct val="0"/>
                        </a:spcAft>
                      </a:pPr>
                      <a:r>
                        <a:rPr lang="en-GB" altLang="en-US" sz="2000" i="1" dirty="0">
                          <a:solidFill>
                            <a:srgbClr val="000000"/>
                          </a:solidFill>
                          <a:latin typeface="Times New Roman" pitchFamily="18" charset="0"/>
                        </a:rPr>
                        <a:t>Correct dimensions?</a:t>
                      </a:r>
                    </a:p>
                    <a:p>
                      <a:pPr eaLnBrk="0" fontAlgn="base" hangingPunct="0">
                        <a:lnSpc>
                          <a:spcPct val="80000"/>
                        </a:lnSpc>
                        <a:spcBef>
                          <a:spcPct val="50000"/>
                        </a:spcBef>
                        <a:spcAft>
                          <a:spcPct val="0"/>
                        </a:spcAft>
                      </a:pPr>
                      <a:r>
                        <a:rPr lang="en-GB" altLang="en-US" sz="2000" i="1" dirty="0">
                          <a:solidFill>
                            <a:srgbClr val="000000"/>
                          </a:solidFill>
                          <a:latin typeface="Times New Roman" pitchFamily="18" charset="0"/>
                        </a:rPr>
                        <a:t>Passed mechanical test?</a:t>
                      </a:r>
                    </a:p>
                    <a:p>
                      <a:pPr eaLnBrk="0" fontAlgn="base" hangingPunct="0">
                        <a:lnSpc>
                          <a:spcPct val="80000"/>
                        </a:lnSpc>
                        <a:spcBef>
                          <a:spcPct val="50000"/>
                        </a:spcBef>
                        <a:spcAft>
                          <a:spcPct val="0"/>
                        </a:spcAft>
                      </a:pPr>
                      <a:r>
                        <a:rPr lang="en-GB" altLang="en-US" sz="2000" i="1" dirty="0">
                          <a:solidFill>
                            <a:srgbClr val="000000"/>
                          </a:solidFill>
                          <a:latin typeface="Times New Roman" pitchFamily="18" charset="0"/>
                        </a:rPr>
                        <a:t>Passed electrical test?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1" fontAlgn="base" latinLnBrk="0" hangingPunct="1">
                        <a:lnSpc>
                          <a:spcPct val="110000"/>
                        </a:lnSpc>
                        <a:spcBef>
                          <a:spcPct val="30000"/>
                        </a:spcBef>
                        <a:spcAft>
                          <a:spcPct val="20000"/>
                        </a:spcAft>
                        <a:buClrTx/>
                        <a:buSzTx/>
                        <a:buFontTx/>
                        <a:buNone/>
                        <a:tabLst/>
                        <a:defRPr/>
                      </a:pPr>
                      <a:r>
                        <a:rPr kumimoji="0" lang="en-GB" altLang="en-US" sz="2000" b="1" i="0" u="none" strike="noStrike" cap="none" normalizeH="0" baseline="0" dirty="0">
                          <a:ln>
                            <a:noFill/>
                          </a:ln>
                          <a:solidFill>
                            <a:srgbClr val="004D75"/>
                          </a:solidFill>
                          <a:effectLst/>
                          <a:latin typeface="Verdana" pitchFamily="34" charset="0"/>
                          <a:cs typeface="Arial" charset="0"/>
                        </a:rPr>
                        <a:t>Conditions entries</a:t>
                      </a:r>
                      <a:endParaRPr kumimoji="0" lang="en-US" altLang="en-US" sz="2000" b="1" i="0" u="none" strike="noStrike" cap="none" normalizeH="0" baseline="0" dirty="0">
                        <a:ln>
                          <a:noFill/>
                        </a:ln>
                        <a:solidFill>
                          <a:srgbClr val="004D75"/>
                        </a:solidFill>
                        <a:effectLst/>
                        <a:latin typeface="Verdana" pitchFamily="34" charset="0"/>
                        <a:cs typeface="Arial" charset="0"/>
                      </a:endParaRPr>
                    </a:p>
                    <a:p>
                      <a:pPr marL="0" marR="0" lvl="0" indent="0" algn="l" defTabSz="914400" rtl="0" eaLnBrk="1" fontAlgn="base" latinLnBrk="0" hangingPunct="1">
                        <a:lnSpc>
                          <a:spcPct val="110000"/>
                        </a:lnSpc>
                        <a:spcBef>
                          <a:spcPct val="30000"/>
                        </a:spcBef>
                        <a:spcAft>
                          <a:spcPct val="20000"/>
                        </a:spcAft>
                        <a:buClrTx/>
                        <a:buSzTx/>
                        <a:buFontTx/>
                        <a:buNone/>
                        <a:tabLst/>
                        <a:defRPr/>
                      </a:pPr>
                      <a:r>
                        <a:rPr lang="en-GB" altLang="en-US" sz="2000" b="1" i="1" dirty="0">
                          <a:solidFill>
                            <a:srgbClr val="FF0000"/>
                          </a:solidFill>
                          <a:latin typeface="Times New Roman" pitchFamily="18" charset="0"/>
                        </a:rPr>
                        <a:t>* If conditions are met put “Y”, </a:t>
                      </a:r>
                    </a:p>
                    <a:p>
                      <a:pPr marL="0" marR="0" lvl="0" indent="0" algn="l" defTabSz="914400" rtl="0" eaLnBrk="1" fontAlgn="base" latinLnBrk="0" hangingPunct="1">
                        <a:lnSpc>
                          <a:spcPct val="110000"/>
                        </a:lnSpc>
                        <a:spcBef>
                          <a:spcPct val="30000"/>
                        </a:spcBef>
                        <a:spcAft>
                          <a:spcPct val="20000"/>
                        </a:spcAft>
                        <a:buClrTx/>
                        <a:buSzTx/>
                        <a:buFontTx/>
                        <a:buNone/>
                        <a:tabLst/>
                        <a:defRPr/>
                      </a:pPr>
                      <a:r>
                        <a:rPr lang="en-GB" altLang="en-US" sz="2000" b="1" i="1" dirty="0">
                          <a:solidFill>
                            <a:srgbClr val="FF0000"/>
                          </a:solidFill>
                          <a:latin typeface="Times New Roman" pitchFamily="18" charset="0"/>
                        </a:rPr>
                        <a:t>* If  conditions are not met put “N”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17189">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1" fontAlgn="base" latinLnBrk="0" hangingPunct="1">
                        <a:lnSpc>
                          <a:spcPct val="110000"/>
                        </a:lnSpc>
                        <a:spcBef>
                          <a:spcPct val="30000"/>
                        </a:spcBef>
                        <a:spcAft>
                          <a:spcPct val="20000"/>
                        </a:spcAft>
                        <a:buClrTx/>
                        <a:buSzTx/>
                        <a:buFontTx/>
                        <a:buNone/>
                        <a:tabLst/>
                      </a:pPr>
                      <a:r>
                        <a:rPr kumimoji="0" lang="en-GB" altLang="en-US" sz="2000" b="1" i="0" u="none" strike="noStrike" cap="none" normalizeH="0" baseline="0" dirty="0">
                          <a:ln>
                            <a:noFill/>
                          </a:ln>
                          <a:solidFill>
                            <a:srgbClr val="004D75"/>
                          </a:solidFill>
                          <a:effectLst/>
                          <a:latin typeface="Verdana" pitchFamily="34" charset="0"/>
                          <a:cs typeface="Arial" charset="0"/>
                        </a:rPr>
                        <a:t>Actions</a:t>
                      </a:r>
                    </a:p>
                    <a:p>
                      <a:pPr eaLnBrk="0" fontAlgn="base" hangingPunct="0">
                        <a:lnSpc>
                          <a:spcPct val="80000"/>
                        </a:lnSpc>
                        <a:spcBef>
                          <a:spcPct val="50000"/>
                        </a:spcBef>
                        <a:spcAft>
                          <a:spcPct val="0"/>
                        </a:spcAft>
                      </a:pPr>
                      <a:r>
                        <a:rPr lang="en-GB" altLang="en-US" sz="2000" i="1" dirty="0">
                          <a:solidFill>
                            <a:srgbClr val="000000"/>
                          </a:solidFill>
                          <a:latin typeface="Times New Roman" pitchFamily="18" charset="0"/>
                        </a:rPr>
                        <a:t>Accept product</a:t>
                      </a:r>
                    </a:p>
                    <a:p>
                      <a:pPr eaLnBrk="0" fontAlgn="base" hangingPunct="0">
                        <a:lnSpc>
                          <a:spcPct val="80000"/>
                        </a:lnSpc>
                        <a:spcBef>
                          <a:spcPct val="50000"/>
                        </a:spcBef>
                        <a:spcAft>
                          <a:spcPct val="0"/>
                        </a:spcAft>
                      </a:pPr>
                      <a:r>
                        <a:rPr lang="en-GB" altLang="en-US" sz="2000" i="1" dirty="0">
                          <a:solidFill>
                            <a:srgbClr val="000000"/>
                          </a:solidFill>
                          <a:latin typeface="Times New Roman" pitchFamily="18" charset="0"/>
                        </a:rPr>
                        <a:t>Repair product</a:t>
                      </a:r>
                    </a:p>
                    <a:p>
                      <a:pPr eaLnBrk="0" fontAlgn="base" hangingPunct="0">
                        <a:lnSpc>
                          <a:spcPct val="80000"/>
                        </a:lnSpc>
                        <a:spcBef>
                          <a:spcPct val="50000"/>
                        </a:spcBef>
                        <a:spcAft>
                          <a:spcPct val="0"/>
                        </a:spcAft>
                      </a:pPr>
                      <a:r>
                        <a:rPr lang="en-GB" altLang="en-US" sz="2000" i="1" dirty="0">
                          <a:solidFill>
                            <a:srgbClr val="000000"/>
                          </a:solidFill>
                          <a:latin typeface="Times New Roman" pitchFamily="18" charset="0"/>
                        </a:rPr>
                        <a:t>Reject product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1" fontAlgn="base" latinLnBrk="0" hangingPunct="1">
                        <a:lnSpc>
                          <a:spcPct val="110000"/>
                        </a:lnSpc>
                        <a:spcBef>
                          <a:spcPct val="30000"/>
                        </a:spcBef>
                        <a:spcAft>
                          <a:spcPct val="20000"/>
                        </a:spcAft>
                        <a:buClrTx/>
                        <a:buSzTx/>
                        <a:buFontTx/>
                        <a:buNone/>
                        <a:tabLst/>
                      </a:pPr>
                      <a:r>
                        <a:rPr kumimoji="0" lang="en-GB" altLang="en-US" sz="2000" b="1" i="0" u="none" strike="noStrike" cap="none" normalizeH="0" baseline="0" dirty="0">
                          <a:ln>
                            <a:noFill/>
                          </a:ln>
                          <a:solidFill>
                            <a:srgbClr val="004D75"/>
                          </a:solidFill>
                          <a:effectLst/>
                          <a:latin typeface="Verdana" pitchFamily="34" charset="0"/>
                          <a:cs typeface="Arial" charset="0"/>
                        </a:rPr>
                        <a:t>Actions entry</a:t>
                      </a:r>
                    </a:p>
                    <a:p>
                      <a:pPr marL="0" marR="0" lvl="0" indent="0" algn="l" defTabSz="914400" rtl="0" eaLnBrk="1" fontAlgn="base" latinLnBrk="0" hangingPunct="1">
                        <a:lnSpc>
                          <a:spcPct val="110000"/>
                        </a:lnSpc>
                        <a:spcBef>
                          <a:spcPct val="30000"/>
                        </a:spcBef>
                        <a:spcAft>
                          <a:spcPct val="20000"/>
                        </a:spcAft>
                        <a:buClrTx/>
                        <a:buSzTx/>
                        <a:buFontTx/>
                        <a:buNone/>
                        <a:tabLst/>
                        <a:defRPr/>
                      </a:pPr>
                      <a:r>
                        <a:rPr lang="en-GB" altLang="en-US" sz="2000" b="1" i="1" dirty="0">
                          <a:solidFill>
                            <a:srgbClr val="FF0000"/>
                          </a:solidFill>
                          <a:latin typeface="Times New Roman" pitchFamily="18" charset="0"/>
                        </a:rPr>
                        <a:t>* Put “X” if the action applies, </a:t>
                      </a:r>
                      <a:br>
                        <a:rPr lang="en-GB" altLang="en-US" sz="2000" b="1" i="1" dirty="0">
                          <a:solidFill>
                            <a:srgbClr val="FF0000"/>
                          </a:solidFill>
                          <a:latin typeface="Times New Roman" pitchFamily="18" charset="0"/>
                        </a:rPr>
                      </a:br>
                      <a:r>
                        <a:rPr lang="en-GB" altLang="en-US" sz="2000" b="1" i="1" dirty="0">
                          <a:solidFill>
                            <a:srgbClr val="FF0000"/>
                          </a:solidFill>
                          <a:latin typeface="Times New Roman" pitchFamily="18" charset="0"/>
                        </a:rPr>
                        <a:t>and leave blank if actions does not apply.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521705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23"/>
                                        </p:tgtEl>
                                        <p:attrNameLst>
                                          <p:attrName>style.visibility</p:attrName>
                                        </p:attrNameLst>
                                      </p:cBhvr>
                                      <p:to>
                                        <p:strVal val="visible"/>
                                      </p:to>
                                    </p:set>
                                    <p:anim calcmode="lin" valueType="num">
                                      <p:cBhvr additive="base">
                                        <p:cTn id="7" dur="500" fill="hold"/>
                                        <p:tgtEl>
                                          <p:spTgt spid="30723"/>
                                        </p:tgtEl>
                                        <p:attrNameLst>
                                          <p:attrName>ppt_x</p:attrName>
                                        </p:attrNameLst>
                                      </p:cBhvr>
                                      <p:tavLst>
                                        <p:tav tm="0">
                                          <p:val>
                                            <p:strVal val="#ppt_x"/>
                                          </p:val>
                                        </p:tav>
                                        <p:tav tm="100000">
                                          <p:val>
                                            <p:strVal val="#ppt_x"/>
                                          </p:val>
                                        </p:tav>
                                      </p:tavLst>
                                    </p:anim>
                                    <p:anim calcmode="lin" valueType="num">
                                      <p:cBhvr additive="base">
                                        <p:cTn id="8" dur="500" fill="hold"/>
                                        <p:tgtEl>
                                          <p:spTgt spid="3072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725"/>
                                        </p:tgtEl>
                                        <p:attrNameLst>
                                          <p:attrName>style.visibility</p:attrName>
                                        </p:attrNameLst>
                                      </p:cBhvr>
                                      <p:to>
                                        <p:strVal val="visible"/>
                                      </p:to>
                                    </p:set>
                                    <p:anim calcmode="lin" valueType="num">
                                      <p:cBhvr additive="base">
                                        <p:cTn id="13" dur="500" fill="hold"/>
                                        <p:tgtEl>
                                          <p:spTgt spid="30725"/>
                                        </p:tgtEl>
                                        <p:attrNameLst>
                                          <p:attrName>ppt_x</p:attrName>
                                        </p:attrNameLst>
                                      </p:cBhvr>
                                      <p:tavLst>
                                        <p:tav tm="0">
                                          <p:val>
                                            <p:strVal val="#ppt_x"/>
                                          </p:val>
                                        </p:tav>
                                        <p:tav tm="100000">
                                          <p:val>
                                            <p:strVal val="#ppt_x"/>
                                          </p:val>
                                        </p:tav>
                                      </p:tavLst>
                                    </p:anim>
                                    <p:anim calcmode="lin" valueType="num">
                                      <p:cBhvr additive="base">
                                        <p:cTn id="14" dur="500" fill="hold"/>
                                        <p:tgtEl>
                                          <p:spTgt spid="3072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0727"/>
                                        </p:tgtEl>
                                        <p:attrNameLst>
                                          <p:attrName>style.visibility</p:attrName>
                                        </p:attrNameLst>
                                      </p:cBhvr>
                                      <p:to>
                                        <p:strVal val="visible"/>
                                      </p:to>
                                    </p:set>
                                    <p:anim calcmode="lin" valueType="num">
                                      <p:cBhvr additive="base">
                                        <p:cTn id="25" dur="500" fill="hold"/>
                                        <p:tgtEl>
                                          <p:spTgt spid="30727"/>
                                        </p:tgtEl>
                                        <p:attrNameLst>
                                          <p:attrName>ppt_x</p:attrName>
                                        </p:attrNameLst>
                                      </p:cBhvr>
                                      <p:tavLst>
                                        <p:tav tm="0">
                                          <p:val>
                                            <p:strVal val="#ppt_x"/>
                                          </p:val>
                                        </p:tav>
                                        <p:tav tm="100000">
                                          <p:val>
                                            <p:strVal val="#ppt_x"/>
                                          </p:val>
                                        </p:tav>
                                      </p:tavLst>
                                    </p:anim>
                                    <p:anim calcmode="lin" valueType="num">
                                      <p:cBhvr additive="base">
                                        <p:cTn id="26" dur="500" fill="hold"/>
                                        <p:tgtEl>
                                          <p:spTgt spid="30727"/>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2" presetClass="entr" presetSubtype="4" fill="hold" grpId="0" nodeType="afterEffect">
                                  <p:stCondLst>
                                    <p:cond delay="0"/>
                                  </p:stCondLst>
                                  <p:childTnLst>
                                    <p:set>
                                      <p:cBhvr>
                                        <p:cTn id="29" dur="1" fill="hold">
                                          <p:stCondLst>
                                            <p:cond delay="0"/>
                                          </p:stCondLst>
                                        </p:cTn>
                                        <p:tgtEl>
                                          <p:spTgt spid="30728"/>
                                        </p:tgtEl>
                                        <p:attrNameLst>
                                          <p:attrName>style.visibility</p:attrName>
                                        </p:attrNameLst>
                                      </p:cBhvr>
                                      <p:to>
                                        <p:strVal val="visible"/>
                                      </p:to>
                                    </p:set>
                                    <p:anim calcmode="lin" valueType="num">
                                      <p:cBhvr additive="base">
                                        <p:cTn id="30" dur="500" fill="hold"/>
                                        <p:tgtEl>
                                          <p:spTgt spid="30728"/>
                                        </p:tgtEl>
                                        <p:attrNameLst>
                                          <p:attrName>ppt_x</p:attrName>
                                        </p:attrNameLst>
                                      </p:cBhvr>
                                      <p:tavLst>
                                        <p:tav tm="0">
                                          <p:val>
                                            <p:strVal val="#ppt_x"/>
                                          </p:val>
                                        </p:tav>
                                        <p:tav tm="100000">
                                          <p:val>
                                            <p:strVal val="#ppt_x"/>
                                          </p:val>
                                        </p:tav>
                                      </p:tavLst>
                                    </p:anim>
                                    <p:anim calcmode="lin" valueType="num">
                                      <p:cBhvr additive="base">
                                        <p:cTn id="31" dur="500" fill="hold"/>
                                        <p:tgtEl>
                                          <p:spTgt spid="307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p:bldP spid="30725" grpId="0"/>
      <p:bldP spid="30727" grpId="0"/>
      <p:bldP spid="3072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Useful Videos</a:t>
            </a:r>
          </a:p>
        </p:txBody>
      </p:sp>
      <p:sp>
        <p:nvSpPr>
          <p:cNvPr id="3" name="Content Placeholder 2"/>
          <p:cNvSpPr>
            <a:spLocks noGrp="1"/>
          </p:cNvSpPr>
          <p:nvPr>
            <p:ph idx="1"/>
          </p:nvPr>
        </p:nvSpPr>
        <p:spPr>
          <a:xfrm>
            <a:off x="381000" y="1219200"/>
            <a:ext cx="8305800" cy="3065455"/>
          </a:xfrm>
        </p:spPr>
        <p:txBody>
          <a:bodyPr/>
          <a:lstStyle/>
          <a:p>
            <a:endParaRPr lang="en-US" sz="2400" dirty="0">
              <a:hlinkClick r:id="rId2"/>
            </a:endParaRPr>
          </a:p>
          <a:p>
            <a:r>
              <a:rPr lang="en-US" sz="2400" dirty="0">
                <a:hlinkClick r:id="rId2"/>
              </a:rPr>
              <a:t>https://www.youtube.com/watch?v=aryLIJvvp7I&amp;feature=youtu.be</a:t>
            </a:r>
            <a:endParaRPr lang="en-US" sz="2400" dirty="0"/>
          </a:p>
          <a:p>
            <a:pPr lvl="1"/>
            <a:r>
              <a:rPr lang="en-US" sz="2400" b="1" dirty="0"/>
              <a:t>Uses a combination of patterns for rules </a:t>
            </a:r>
            <a:r>
              <a:rPr lang="en-US" sz="2400" i="1" dirty="0"/>
              <a:t>(refer table below)</a:t>
            </a:r>
          </a:p>
          <a:p>
            <a:pPr lvl="1"/>
            <a:r>
              <a:rPr lang="en-US" sz="2400" dirty="0"/>
              <a:t>Outcome depends on scenario</a:t>
            </a:r>
          </a:p>
          <a:p>
            <a:pPr marL="190500" lvl="1" indent="0">
              <a:buNone/>
            </a:pPr>
            <a:r>
              <a:rPr lang="en-US" sz="1800" i="1" dirty="0">
                <a:solidFill>
                  <a:srgbClr val="92D050"/>
                </a:solidFill>
              </a:rPr>
              <a:t>* For outcomes (actions entries), we will use “</a:t>
            </a:r>
            <a:r>
              <a:rPr lang="en-US" sz="1800" b="1" i="1" dirty="0">
                <a:solidFill>
                  <a:srgbClr val="92D050"/>
                </a:solidFill>
              </a:rPr>
              <a:t>X</a:t>
            </a:r>
            <a:r>
              <a:rPr lang="en-US" sz="1800" i="1" dirty="0">
                <a:solidFill>
                  <a:srgbClr val="92D050"/>
                </a:solidFill>
              </a:rPr>
              <a:t>” for the actions that applies (not Y or N, as this video shows – different authors uses slightly different notations)</a:t>
            </a:r>
          </a:p>
          <a:p>
            <a:pPr lvl="1"/>
            <a:endParaRPr lang="en-US" sz="1800" dirty="0"/>
          </a:p>
          <a:p>
            <a:endParaRPr lang="en-US" sz="2400" dirty="0"/>
          </a:p>
        </p:txBody>
      </p:sp>
      <p:graphicFrame>
        <p:nvGraphicFramePr>
          <p:cNvPr id="7" name="Table 6"/>
          <p:cNvGraphicFramePr>
            <a:graphicFrameLocks noGrp="1"/>
          </p:cNvGraphicFramePr>
          <p:nvPr>
            <p:extLst>
              <p:ext uri="{D42A27DB-BD31-4B8C-83A1-F6EECF244321}">
                <p14:modId xmlns:p14="http://schemas.microsoft.com/office/powerpoint/2010/main" val="1917886563"/>
              </p:ext>
            </p:extLst>
          </p:nvPr>
        </p:nvGraphicFramePr>
        <p:xfrm>
          <a:off x="1295400" y="4405312"/>
          <a:ext cx="6248399" cy="2452688"/>
        </p:xfrm>
        <a:graphic>
          <a:graphicData uri="http://schemas.openxmlformats.org/drawingml/2006/table">
            <a:tbl>
              <a:tblPr>
                <a:tableStyleId>{5C22544A-7EE6-4342-B048-85BDC9FD1C3A}</a:tableStyleId>
              </a:tblPr>
              <a:tblGrid>
                <a:gridCol w="1547407">
                  <a:extLst>
                    <a:ext uri="{9D8B030D-6E8A-4147-A177-3AD203B41FA5}">
                      <a16:colId xmlns:a16="http://schemas.microsoft.com/office/drawing/2014/main" val="20000"/>
                    </a:ext>
                  </a:extLst>
                </a:gridCol>
                <a:gridCol w="587624">
                  <a:extLst>
                    <a:ext uri="{9D8B030D-6E8A-4147-A177-3AD203B41FA5}">
                      <a16:colId xmlns:a16="http://schemas.microsoft.com/office/drawing/2014/main" val="20001"/>
                    </a:ext>
                  </a:extLst>
                </a:gridCol>
                <a:gridCol w="587624">
                  <a:extLst>
                    <a:ext uri="{9D8B030D-6E8A-4147-A177-3AD203B41FA5}">
                      <a16:colId xmlns:a16="http://schemas.microsoft.com/office/drawing/2014/main" val="20002"/>
                    </a:ext>
                  </a:extLst>
                </a:gridCol>
                <a:gridCol w="587624">
                  <a:extLst>
                    <a:ext uri="{9D8B030D-6E8A-4147-A177-3AD203B41FA5}">
                      <a16:colId xmlns:a16="http://schemas.microsoft.com/office/drawing/2014/main" val="20003"/>
                    </a:ext>
                  </a:extLst>
                </a:gridCol>
                <a:gridCol w="587624">
                  <a:extLst>
                    <a:ext uri="{9D8B030D-6E8A-4147-A177-3AD203B41FA5}">
                      <a16:colId xmlns:a16="http://schemas.microsoft.com/office/drawing/2014/main" val="20004"/>
                    </a:ext>
                  </a:extLst>
                </a:gridCol>
                <a:gridCol w="587624">
                  <a:extLst>
                    <a:ext uri="{9D8B030D-6E8A-4147-A177-3AD203B41FA5}">
                      <a16:colId xmlns:a16="http://schemas.microsoft.com/office/drawing/2014/main" val="20005"/>
                    </a:ext>
                  </a:extLst>
                </a:gridCol>
                <a:gridCol w="587624">
                  <a:extLst>
                    <a:ext uri="{9D8B030D-6E8A-4147-A177-3AD203B41FA5}">
                      <a16:colId xmlns:a16="http://schemas.microsoft.com/office/drawing/2014/main" val="20006"/>
                    </a:ext>
                  </a:extLst>
                </a:gridCol>
                <a:gridCol w="587624">
                  <a:extLst>
                    <a:ext uri="{9D8B030D-6E8A-4147-A177-3AD203B41FA5}">
                      <a16:colId xmlns:a16="http://schemas.microsoft.com/office/drawing/2014/main" val="20007"/>
                    </a:ext>
                  </a:extLst>
                </a:gridCol>
                <a:gridCol w="587624">
                  <a:extLst>
                    <a:ext uri="{9D8B030D-6E8A-4147-A177-3AD203B41FA5}">
                      <a16:colId xmlns:a16="http://schemas.microsoft.com/office/drawing/2014/main" val="20008"/>
                    </a:ext>
                  </a:extLst>
                </a:gridCol>
              </a:tblGrid>
              <a:tr h="306586">
                <a:tc>
                  <a:txBody>
                    <a:bodyPr/>
                    <a:lstStyle/>
                    <a:p>
                      <a:pPr algn="l" fontAlgn="b"/>
                      <a:r>
                        <a:rPr lang="en-US" sz="1600" b="1" u="sng" strike="noStrike" dirty="0">
                          <a:effectLst/>
                        </a:rPr>
                        <a:t>2 conditions</a:t>
                      </a:r>
                      <a:endParaRPr lang="en-US" sz="1600" b="1" i="0" u="sng" strike="noStrike" dirty="0">
                        <a:solidFill>
                          <a:srgbClr val="000000"/>
                        </a:solidFill>
                        <a:effectLst/>
                        <a:latin typeface="Calibri"/>
                      </a:endParaRPr>
                    </a:p>
                  </a:txBody>
                  <a:tcPr marL="8761" marR="8761" marT="8761"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b"/>
                      <a:r>
                        <a:rPr lang="en-US" sz="1600" b="1" u="none" strike="noStrike">
                          <a:effectLst/>
                        </a:rPr>
                        <a:t>1</a:t>
                      </a:r>
                      <a:endParaRPr lang="en-US" sz="1600" b="1" i="0" u="none" strike="noStrike">
                        <a:solidFill>
                          <a:srgbClr val="000000"/>
                        </a:solidFill>
                        <a:effectLst/>
                        <a:latin typeface="Calibri"/>
                      </a:endParaRPr>
                    </a:p>
                  </a:txBody>
                  <a:tcPr marL="8761" marR="8761" marT="8761"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b"/>
                      <a:r>
                        <a:rPr lang="en-US" sz="1600" b="1" u="none" strike="noStrike">
                          <a:effectLst/>
                        </a:rPr>
                        <a:t>2</a:t>
                      </a:r>
                      <a:endParaRPr lang="en-US" sz="1600" b="1" i="0" u="none" strike="noStrike">
                        <a:solidFill>
                          <a:srgbClr val="000000"/>
                        </a:solidFill>
                        <a:effectLst/>
                        <a:latin typeface="Calibri"/>
                      </a:endParaRPr>
                    </a:p>
                  </a:txBody>
                  <a:tcPr marL="8761" marR="8761" marT="8761"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b"/>
                      <a:r>
                        <a:rPr lang="en-US" sz="1600" b="1" u="none" strike="noStrike" dirty="0">
                          <a:effectLst/>
                        </a:rPr>
                        <a:t>3</a:t>
                      </a:r>
                      <a:endParaRPr lang="en-US" sz="1600" b="1" i="0" u="none" strike="noStrike" dirty="0">
                        <a:solidFill>
                          <a:srgbClr val="000000"/>
                        </a:solidFill>
                        <a:effectLst/>
                        <a:latin typeface="Calibri"/>
                      </a:endParaRPr>
                    </a:p>
                  </a:txBody>
                  <a:tcPr marL="8761" marR="8761" marT="8761"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fontAlgn="b"/>
                      <a:r>
                        <a:rPr lang="en-US" sz="1600" b="1" u="none" strike="noStrike" dirty="0">
                          <a:effectLst/>
                        </a:rPr>
                        <a:t>4</a:t>
                      </a:r>
                      <a:endParaRPr lang="en-US" sz="1600" b="1" i="0" u="none" strike="noStrike" dirty="0">
                        <a:solidFill>
                          <a:srgbClr val="000000"/>
                        </a:solidFill>
                        <a:effectLst/>
                        <a:latin typeface="Calibri"/>
                      </a:endParaRPr>
                    </a:p>
                  </a:txBody>
                  <a:tcPr marL="8761" marR="8761" marT="8761"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fontAlgn="b"/>
                      <a:endParaRPr lang="en-US" sz="1600" b="1" i="0" u="sng" strike="noStrike" dirty="0">
                        <a:solidFill>
                          <a:srgbClr val="000000"/>
                        </a:solidFill>
                        <a:effectLst/>
                        <a:latin typeface="Calibri"/>
                      </a:endParaRPr>
                    </a:p>
                  </a:txBody>
                  <a:tcPr marL="8761" marR="8761" marT="8761"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fontAlgn="b"/>
                      <a:endParaRPr lang="en-US" sz="1600" b="1" i="0" u="sng" strike="noStrike">
                        <a:solidFill>
                          <a:srgbClr val="000000"/>
                        </a:solidFill>
                        <a:effectLst/>
                        <a:latin typeface="Calibri"/>
                      </a:endParaRPr>
                    </a:p>
                  </a:txBody>
                  <a:tcPr marL="8761" marR="8761" marT="8761"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fontAlgn="b"/>
                      <a:endParaRPr lang="en-US" sz="1600" b="1" i="0" u="sng" strike="noStrike">
                        <a:solidFill>
                          <a:srgbClr val="000000"/>
                        </a:solidFill>
                        <a:effectLst/>
                        <a:latin typeface="Calibri"/>
                      </a:endParaRPr>
                    </a:p>
                  </a:txBody>
                  <a:tcPr marL="8761" marR="8761" marT="8761"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fontAlgn="b"/>
                      <a:endParaRPr lang="en-US" sz="1600" b="0" i="0" u="none" strike="noStrike">
                        <a:solidFill>
                          <a:srgbClr val="000000"/>
                        </a:solidFill>
                        <a:effectLst/>
                        <a:latin typeface="Calibri"/>
                      </a:endParaRPr>
                    </a:p>
                  </a:txBody>
                  <a:tcPr marL="8761" marR="8761" marT="8761"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06586">
                <a:tc>
                  <a:txBody>
                    <a:bodyPr/>
                    <a:lstStyle/>
                    <a:p>
                      <a:pPr algn="l" fontAlgn="b"/>
                      <a:r>
                        <a:rPr lang="en-US" sz="1600" u="none" strike="noStrike">
                          <a:effectLst/>
                        </a:rPr>
                        <a:t>1st cond</a:t>
                      </a:r>
                      <a:endParaRPr lang="en-US" sz="1600" b="0" i="0" u="none" strike="noStrike">
                        <a:solidFill>
                          <a:srgbClr val="000000"/>
                        </a:solidFill>
                        <a:effectLst/>
                        <a:latin typeface="Calibri"/>
                      </a:endParaRPr>
                    </a:p>
                  </a:txBody>
                  <a:tcPr marL="8761" marR="8761" marT="8761"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u="none" strike="noStrike">
                          <a:effectLst/>
                        </a:rPr>
                        <a:t>Y</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u="none" strike="noStrike" dirty="0">
                          <a:effectLst/>
                        </a:rPr>
                        <a:t>Y</a:t>
                      </a:r>
                      <a:endParaRPr lang="en-US" sz="1600" b="0" i="0" u="none" strike="noStrike" dirty="0">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u="none" strike="noStrike">
                          <a:effectLst/>
                        </a:rPr>
                        <a:t>N</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u="none" strike="noStrike">
                          <a:effectLst/>
                        </a:rPr>
                        <a:t>N</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b"/>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b"/>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b"/>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b"/>
                      <a:endParaRPr lang="en-US" sz="1600" b="0" i="0" u="none" strike="noStrike">
                        <a:solidFill>
                          <a:srgbClr val="000000"/>
                        </a:solidFill>
                        <a:effectLst/>
                        <a:latin typeface="Calibri"/>
                      </a:endParaRPr>
                    </a:p>
                  </a:txBody>
                  <a:tcPr marL="8761" marR="8761" marT="8761"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06586">
                <a:tc>
                  <a:txBody>
                    <a:bodyPr/>
                    <a:lstStyle/>
                    <a:p>
                      <a:pPr algn="l" fontAlgn="b"/>
                      <a:r>
                        <a:rPr lang="en-US" sz="1600" u="none" strike="noStrike">
                          <a:effectLst/>
                        </a:rPr>
                        <a:t>2nd cond</a:t>
                      </a:r>
                      <a:endParaRPr lang="en-US" sz="1600" b="0" i="0" u="none" strike="noStrike">
                        <a:solidFill>
                          <a:srgbClr val="000000"/>
                        </a:solidFill>
                        <a:effectLst/>
                        <a:latin typeface="Calibri"/>
                      </a:endParaRPr>
                    </a:p>
                  </a:txBody>
                  <a:tcPr marL="8761" marR="8761" marT="8761"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u="none" strike="noStrike">
                          <a:effectLst/>
                        </a:rPr>
                        <a:t>Y</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u="none" strike="noStrike">
                          <a:effectLst/>
                        </a:rPr>
                        <a:t>N</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u="none" strike="noStrike">
                          <a:effectLst/>
                        </a:rPr>
                        <a:t>Y</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u="none" strike="noStrike">
                          <a:effectLst/>
                        </a:rPr>
                        <a:t>N</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b"/>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b"/>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b"/>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b"/>
                      <a:endParaRPr lang="en-US" sz="1600" b="0" i="0" u="none" strike="noStrike">
                        <a:solidFill>
                          <a:srgbClr val="000000"/>
                        </a:solidFill>
                        <a:effectLst/>
                        <a:latin typeface="Calibri"/>
                      </a:endParaRPr>
                    </a:p>
                  </a:txBody>
                  <a:tcPr marL="8761" marR="8761" marT="8761"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06586">
                <a:tc>
                  <a:txBody>
                    <a:bodyPr/>
                    <a:lstStyle/>
                    <a:p>
                      <a:pPr algn="ctr" fontAlgn="b"/>
                      <a:endParaRPr lang="en-US" sz="1600" b="0" i="0" u="none" strike="noStrike">
                        <a:solidFill>
                          <a:srgbClr val="000000"/>
                        </a:solidFill>
                        <a:effectLst/>
                        <a:latin typeface="Calibri"/>
                      </a:endParaRPr>
                    </a:p>
                  </a:txBody>
                  <a:tcPr marL="8761" marR="8761" marT="8761"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b"/>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b"/>
                      <a:endParaRPr lang="en-US" sz="1600" b="0" i="0" u="none" strike="noStrike" dirty="0">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b"/>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b"/>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b"/>
                      <a:endParaRPr lang="en-US" sz="1600" b="0" i="0" u="none" strike="noStrike">
                        <a:solidFill>
                          <a:srgbClr val="000000"/>
                        </a:solidFill>
                        <a:effectLst/>
                        <a:latin typeface="Calibri"/>
                      </a:endParaRPr>
                    </a:p>
                  </a:txBody>
                  <a:tcPr marL="8761" marR="8761" marT="8761"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06586">
                <a:tc>
                  <a:txBody>
                    <a:bodyPr/>
                    <a:lstStyle/>
                    <a:p>
                      <a:pPr algn="l" fontAlgn="b"/>
                      <a:r>
                        <a:rPr lang="en-US" sz="1600" b="1" u="sng" strike="noStrike">
                          <a:effectLst/>
                        </a:rPr>
                        <a:t>3 conditions</a:t>
                      </a:r>
                      <a:endParaRPr lang="en-US" sz="1600" b="1" i="0" u="sng" strike="noStrike">
                        <a:solidFill>
                          <a:srgbClr val="000000"/>
                        </a:solidFill>
                        <a:effectLst/>
                        <a:latin typeface="Calibri"/>
                      </a:endParaRPr>
                    </a:p>
                  </a:txBody>
                  <a:tcPr marL="8761" marR="8761" marT="8761"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b="1" u="none" strike="noStrike">
                          <a:effectLst/>
                        </a:rPr>
                        <a:t>1</a:t>
                      </a:r>
                      <a:endParaRPr lang="en-US" sz="1600" b="1"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b="1" u="none" strike="noStrike">
                          <a:effectLst/>
                        </a:rPr>
                        <a:t>2</a:t>
                      </a:r>
                      <a:endParaRPr lang="en-US" sz="1600" b="1"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b="1" u="none" strike="noStrike">
                          <a:effectLst/>
                        </a:rPr>
                        <a:t>3</a:t>
                      </a:r>
                      <a:endParaRPr lang="en-US" sz="1600" b="1"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b="1" u="none" strike="noStrike">
                          <a:effectLst/>
                        </a:rPr>
                        <a:t>4</a:t>
                      </a:r>
                      <a:endParaRPr lang="en-US" sz="1600" b="1"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b="1" u="none" strike="noStrike">
                          <a:effectLst/>
                        </a:rPr>
                        <a:t>5</a:t>
                      </a:r>
                      <a:endParaRPr lang="en-US" sz="1600" b="1"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b="1" u="none" strike="noStrike">
                          <a:effectLst/>
                        </a:rPr>
                        <a:t>6</a:t>
                      </a:r>
                      <a:endParaRPr lang="en-US" sz="1600" b="1"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b="1" u="none" strike="noStrike">
                          <a:effectLst/>
                        </a:rPr>
                        <a:t>7</a:t>
                      </a:r>
                      <a:endParaRPr lang="en-US" sz="1600" b="1"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b="1" u="none" strike="noStrike" dirty="0">
                          <a:effectLst/>
                        </a:rPr>
                        <a:t>8</a:t>
                      </a:r>
                      <a:endParaRPr lang="en-US" sz="1600" b="1" i="0" u="none" strike="noStrike" dirty="0">
                        <a:solidFill>
                          <a:srgbClr val="000000"/>
                        </a:solidFill>
                        <a:effectLst/>
                        <a:latin typeface="Calibri"/>
                      </a:endParaRPr>
                    </a:p>
                  </a:txBody>
                  <a:tcPr marL="8761" marR="8761" marT="8761"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06586">
                <a:tc>
                  <a:txBody>
                    <a:bodyPr/>
                    <a:lstStyle/>
                    <a:p>
                      <a:pPr algn="l" fontAlgn="b"/>
                      <a:r>
                        <a:rPr lang="en-US" sz="1600" u="none" strike="noStrike">
                          <a:effectLst/>
                        </a:rPr>
                        <a:t>1st cond</a:t>
                      </a:r>
                      <a:endParaRPr lang="en-US" sz="1600" b="0" i="0" u="none" strike="noStrike">
                        <a:solidFill>
                          <a:srgbClr val="000000"/>
                        </a:solidFill>
                        <a:effectLst/>
                        <a:latin typeface="Calibri"/>
                      </a:endParaRPr>
                    </a:p>
                  </a:txBody>
                  <a:tcPr marL="8761" marR="8761" marT="8761"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u="none" strike="noStrike">
                          <a:effectLst/>
                        </a:rPr>
                        <a:t>Y</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u="none" strike="noStrike">
                          <a:effectLst/>
                        </a:rPr>
                        <a:t>Y</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u="none" strike="noStrike">
                          <a:effectLst/>
                        </a:rPr>
                        <a:t>Y</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u="none" strike="noStrike">
                          <a:effectLst/>
                        </a:rPr>
                        <a:t>Y</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u="none" strike="noStrike">
                          <a:effectLst/>
                        </a:rPr>
                        <a:t>N</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u="none" strike="noStrike">
                          <a:effectLst/>
                        </a:rPr>
                        <a:t>N</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u="none" strike="noStrike">
                          <a:effectLst/>
                        </a:rPr>
                        <a:t>N</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u="none" strike="noStrike">
                          <a:effectLst/>
                        </a:rPr>
                        <a:t>N</a:t>
                      </a:r>
                      <a:endParaRPr lang="en-US" sz="1600" b="0" i="0" u="none" strike="noStrike">
                        <a:solidFill>
                          <a:srgbClr val="000000"/>
                        </a:solidFill>
                        <a:effectLst/>
                        <a:latin typeface="Calibri"/>
                      </a:endParaRPr>
                    </a:p>
                  </a:txBody>
                  <a:tcPr marL="8761" marR="8761" marT="8761"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06586">
                <a:tc>
                  <a:txBody>
                    <a:bodyPr/>
                    <a:lstStyle/>
                    <a:p>
                      <a:pPr algn="l" fontAlgn="b"/>
                      <a:r>
                        <a:rPr lang="en-US" sz="1600" u="none" strike="noStrike">
                          <a:effectLst/>
                        </a:rPr>
                        <a:t>2nd cond</a:t>
                      </a:r>
                      <a:endParaRPr lang="en-US" sz="1600" b="0" i="0" u="none" strike="noStrike">
                        <a:solidFill>
                          <a:srgbClr val="000000"/>
                        </a:solidFill>
                        <a:effectLst/>
                        <a:latin typeface="Calibri"/>
                      </a:endParaRPr>
                    </a:p>
                  </a:txBody>
                  <a:tcPr marL="8761" marR="8761" marT="8761"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u="none" strike="noStrike">
                          <a:effectLst/>
                        </a:rPr>
                        <a:t>Y</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u="none" strike="noStrike">
                          <a:effectLst/>
                        </a:rPr>
                        <a:t>Y</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u="none" strike="noStrike">
                          <a:effectLst/>
                        </a:rPr>
                        <a:t>N</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u="none" strike="noStrike">
                          <a:effectLst/>
                        </a:rPr>
                        <a:t>N</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u="none" strike="noStrike">
                          <a:effectLst/>
                        </a:rPr>
                        <a:t>Y</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u="none" strike="noStrike">
                          <a:effectLst/>
                        </a:rPr>
                        <a:t>Y</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u="none" strike="noStrike">
                          <a:effectLst/>
                        </a:rPr>
                        <a:t>N</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fontAlgn="b"/>
                      <a:r>
                        <a:rPr lang="en-US" sz="1600" u="none" strike="noStrike">
                          <a:effectLst/>
                        </a:rPr>
                        <a:t>N</a:t>
                      </a:r>
                      <a:endParaRPr lang="en-US" sz="1600" b="0" i="0" u="none" strike="noStrike">
                        <a:solidFill>
                          <a:srgbClr val="000000"/>
                        </a:solidFill>
                        <a:effectLst/>
                        <a:latin typeface="Calibri"/>
                      </a:endParaRPr>
                    </a:p>
                  </a:txBody>
                  <a:tcPr marL="8761" marR="8761" marT="8761"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306586">
                <a:tc>
                  <a:txBody>
                    <a:bodyPr/>
                    <a:lstStyle/>
                    <a:p>
                      <a:pPr algn="l" fontAlgn="b"/>
                      <a:r>
                        <a:rPr lang="en-US" sz="1600" u="none" strike="noStrike" dirty="0">
                          <a:effectLst/>
                        </a:rPr>
                        <a:t>3rd </a:t>
                      </a:r>
                      <a:r>
                        <a:rPr lang="en-US" sz="1600" u="none" strike="noStrike" dirty="0" err="1">
                          <a:effectLst/>
                        </a:rPr>
                        <a:t>cond</a:t>
                      </a:r>
                      <a:endParaRPr lang="en-US" sz="1600" b="0" i="0" u="none" strike="noStrike" dirty="0">
                        <a:solidFill>
                          <a:srgbClr val="000000"/>
                        </a:solidFill>
                        <a:effectLst/>
                        <a:latin typeface="Calibri"/>
                      </a:endParaRPr>
                    </a:p>
                  </a:txBody>
                  <a:tcPr marL="8761" marR="8761" marT="8761" marB="0" anchor="b">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600" u="none" strike="noStrike">
                          <a:effectLst/>
                        </a:rPr>
                        <a:t>Y</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600" u="none" strike="noStrike">
                          <a:effectLst/>
                        </a:rPr>
                        <a:t>N</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600" u="none" strike="noStrike">
                          <a:effectLst/>
                        </a:rPr>
                        <a:t>Y</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600" u="none" strike="noStrike">
                          <a:effectLst/>
                        </a:rPr>
                        <a:t>N</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600" u="none" strike="noStrike">
                          <a:effectLst/>
                        </a:rPr>
                        <a:t>Y</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600" u="none" strike="noStrike" dirty="0">
                          <a:effectLst/>
                        </a:rPr>
                        <a:t>N</a:t>
                      </a:r>
                      <a:endParaRPr lang="en-US" sz="1600" b="0" i="0" u="none" strike="noStrike" dirty="0">
                        <a:solidFill>
                          <a:srgbClr val="000000"/>
                        </a:solidFill>
                        <a:effectLst/>
                        <a:latin typeface="Calibri"/>
                      </a:endParaRPr>
                    </a:p>
                  </a:txBody>
                  <a:tcPr marL="8761" marR="8761" marT="8761"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600" u="none" strike="noStrike">
                          <a:effectLst/>
                        </a:rPr>
                        <a:t>Y</a:t>
                      </a:r>
                      <a:endParaRPr lang="en-US" sz="1600" b="0" i="0" u="none" strike="noStrike">
                        <a:solidFill>
                          <a:srgbClr val="000000"/>
                        </a:solidFill>
                        <a:effectLst/>
                        <a:latin typeface="Calibri"/>
                      </a:endParaRPr>
                    </a:p>
                  </a:txBody>
                  <a:tcPr marL="8761" marR="8761" marT="8761"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600" u="none" strike="noStrike" dirty="0">
                          <a:effectLst/>
                        </a:rPr>
                        <a:t>N</a:t>
                      </a:r>
                      <a:endParaRPr lang="en-US" sz="1600" b="0" i="0" u="none" strike="noStrike" dirty="0">
                        <a:solidFill>
                          <a:srgbClr val="000000"/>
                        </a:solidFill>
                        <a:effectLst/>
                        <a:latin typeface="Calibri"/>
                      </a:endParaRPr>
                    </a:p>
                  </a:txBody>
                  <a:tcPr marL="8761" marR="8761" marT="8761" marB="0" anchor="b">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6052405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584DBB29-3859-44BF-BD6D-B17FE5B5F97E}"/>
              </a:ext>
            </a:extLst>
          </p:cNvPr>
          <p:cNvSpPr>
            <a:spLocks noGrp="1"/>
          </p:cNvSpPr>
          <p:nvPr>
            <p:ph type="title"/>
          </p:nvPr>
        </p:nvSpPr>
        <p:spPr/>
        <p:txBody>
          <a:bodyPr/>
          <a:lstStyle/>
          <a:p>
            <a:r>
              <a:rPr lang="en-US" altLang="en-US"/>
              <a:t>Decision Table - Conditions</a:t>
            </a:r>
          </a:p>
        </p:txBody>
      </p:sp>
      <p:sp>
        <p:nvSpPr>
          <p:cNvPr id="30723" name="Content Placeholder 2">
            <a:extLst>
              <a:ext uri="{FF2B5EF4-FFF2-40B4-BE49-F238E27FC236}">
                <a16:creationId xmlns:a16="http://schemas.microsoft.com/office/drawing/2014/main" id="{8A3F7A48-3F0A-4390-97E1-F68F847A1570}"/>
              </a:ext>
            </a:extLst>
          </p:cNvPr>
          <p:cNvSpPr>
            <a:spLocks noGrp="1"/>
          </p:cNvSpPr>
          <p:nvPr>
            <p:ph idx="1"/>
          </p:nvPr>
        </p:nvSpPr>
        <p:spPr>
          <a:xfrm>
            <a:off x="457200" y="1600200"/>
            <a:ext cx="8229600" cy="5029200"/>
          </a:xfrm>
        </p:spPr>
        <p:txBody>
          <a:bodyPr/>
          <a:lstStyle/>
          <a:p>
            <a:pPr>
              <a:spcBef>
                <a:spcPct val="0"/>
              </a:spcBef>
            </a:pPr>
            <a:r>
              <a:rPr lang="en-US" altLang="en-US" sz="2000" b="1"/>
              <a:t>TABLES WITH ONE CONDITION </a:t>
            </a:r>
          </a:p>
          <a:p>
            <a:pPr lvl="1"/>
            <a:r>
              <a:rPr lang="en-US" altLang="en-US" sz="1800"/>
              <a:t>If a process has a single condition, there only are two possibilities – </a:t>
            </a:r>
            <a:r>
              <a:rPr lang="en-US" altLang="en-US" sz="1800" i="1"/>
              <a:t>yes </a:t>
            </a:r>
            <a:r>
              <a:rPr lang="en-US" altLang="en-US" sz="1800"/>
              <a:t>or </a:t>
            </a:r>
            <a:r>
              <a:rPr lang="en-US" altLang="en-US" sz="1800" i="1"/>
              <a:t>no</a:t>
            </a:r>
            <a:r>
              <a:rPr lang="en-US" altLang="en-US" sz="1800"/>
              <a:t>. </a:t>
            </a:r>
          </a:p>
          <a:p>
            <a:pPr lvl="1"/>
            <a:r>
              <a:rPr lang="en-US" altLang="en-US" sz="1800"/>
              <a:t>Either the condition is present or it is not, so there are only two rules. </a:t>
            </a:r>
          </a:p>
          <a:p>
            <a:pPr lvl="1"/>
            <a:r>
              <a:rPr lang="en-US" altLang="en-US" sz="1800"/>
              <a:t>For example, to trigger an overtime calculation, the process condition might be: </a:t>
            </a:r>
            <a:r>
              <a:rPr lang="en-US" altLang="en-US" sz="1800" i="1"/>
              <a:t>Are the hours greater than 40? </a:t>
            </a:r>
            <a:r>
              <a:rPr lang="en-US" altLang="en-US" sz="1800"/>
              <a:t>If so, the calculation is made. Otherwise, it is not.</a:t>
            </a:r>
          </a:p>
          <a:p>
            <a:pPr>
              <a:spcBef>
                <a:spcPct val="0"/>
              </a:spcBef>
            </a:pPr>
            <a:endParaRPr lang="en-US" altLang="en-US" sz="2000"/>
          </a:p>
          <a:p>
            <a:pPr>
              <a:spcBef>
                <a:spcPct val="0"/>
              </a:spcBef>
            </a:pPr>
            <a:r>
              <a:rPr lang="en-US" altLang="en-US" sz="2000" b="1"/>
              <a:t>TABLES WITH TWO CONDITIONS </a:t>
            </a:r>
          </a:p>
          <a:p>
            <a:pPr lvl="1"/>
            <a:r>
              <a:rPr lang="en-US" altLang="en-US" sz="1800"/>
              <a:t>Suppose you want to create a decision table based on the Verify Order business process.</a:t>
            </a:r>
          </a:p>
          <a:p>
            <a:pPr lvl="1"/>
            <a:r>
              <a:rPr lang="en-US" altLang="en-US" sz="1800"/>
              <a:t>When documenting a process, it is important to ensure that you list every possibility. </a:t>
            </a:r>
          </a:p>
          <a:p>
            <a:pPr lvl="1"/>
            <a:r>
              <a:rPr lang="en-US" altLang="en-US" sz="1800"/>
              <a:t>In this example, the process description contains two conditions: product stock status and customer credit status.</a:t>
            </a:r>
          </a:p>
          <a:p>
            <a:pPr lvl="1"/>
            <a:r>
              <a:rPr lang="en-US" altLang="en-US" sz="1800"/>
              <a:t>If </a:t>
            </a:r>
            <a:r>
              <a:rPr lang="en-US" altLang="en-US" sz="1800" i="1"/>
              <a:t>both </a:t>
            </a:r>
            <a:r>
              <a:rPr lang="en-US" altLang="en-US" sz="1800"/>
              <a:t>conditions are met, the order is accepted. Otherwise the order is rejected.</a:t>
            </a:r>
          </a:p>
        </p:txBody>
      </p:sp>
      <p:sp>
        <p:nvSpPr>
          <p:cNvPr id="30724" name="Slide Number Placeholder 3">
            <a:extLst>
              <a:ext uri="{FF2B5EF4-FFF2-40B4-BE49-F238E27FC236}">
                <a16:creationId xmlns:a16="http://schemas.microsoft.com/office/drawing/2014/main" id="{211A96CA-28F2-4096-9B63-0B654612359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079C4A0-80B5-4E4F-B183-4CD986584918}" type="slidenum">
              <a:rPr lang="en-US" altLang="en-US" sz="1200">
                <a:solidFill>
                  <a:srgbClr val="898989"/>
                </a:solidFill>
              </a:rPr>
              <a:pPr>
                <a:spcBef>
                  <a:spcPct val="0"/>
                </a:spcBef>
                <a:buFontTx/>
                <a:buNone/>
              </a:pPr>
              <a:t>20</a:t>
            </a:fld>
            <a:endParaRPr lang="en-US" altLang="en-US" sz="1200">
              <a:solidFill>
                <a:srgbClr val="898989"/>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altLang="en-US" b="1"/>
              <a:t>Steps to create a Decision Table</a:t>
            </a:r>
          </a:p>
        </p:txBody>
      </p:sp>
      <p:sp>
        <p:nvSpPr>
          <p:cNvPr id="36867" name="Content Placeholder 2"/>
          <p:cNvSpPr>
            <a:spLocks noGrp="1"/>
          </p:cNvSpPr>
          <p:nvPr>
            <p:ph idx="1"/>
          </p:nvPr>
        </p:nvSpPr>
        <p:spPr>
          <a:xfrm>
            <a:off x="457200" y="1001713"/>
            <a:ext cx="8534400" cy="2945422"/>
          </a:xfrm>
        </p:spPr>
        <p:txBody>
          <a:bodyPr/>
          <a:lstStyle/>
          <a:p>
            <a:pPr marL="514350" indent="-514350">
              <a:buFont typeface="Verdana" pitchFamily="34" charset="0"/>
              <a:buAutoNum type="arabicPeriod"/>
            </a:pPr>
            <a:r>
              <a:rPr lang="en-US" altLang="en-US" dirty="0"/>
              <a:t>Place the name of the process in the heading at the top left.</a:t>
            </a:r>
          </a:p>
          <a:p>
            <a:pPr marL="514350" indent="-514350">
              <a:buFont typeface="Verdana" pitchFamily="34" charset="0"/>
              <a:buAutoNum type="arabicPeriod"/>
            </a:pPr>
            <a:r>
              <a:rPr lang="en-US" altLang="en-US" dirty="0"/>
              <a:t>Enter the conditions under the heading, with one condition per line. </a:t>
            </a:r>
            <a:r>
              <a:rPr lang="en-US" dirty="0">
                <a:solidFill>
                  <a:srgbClr val="00B050"/>
                </a:solidFill>
              </a:rPr>
              <a:t>The determinant condition should be on top for easy understanding</a:t>
            </a:r>
            <a:endParaRPr lang="en-US" altLang="en-US" dirty="0"/>
          </a:p>
          <a:p>
            <a:pPr marL="514350" indent="-514350">
              <a:buFont typeface="Verdana" pitchFamily="34" charset="0"/>
              <a:buAutoNum type="arabicPeriod"/>
            </a:pPr>
            <a:r>
              <a:rPr lang="en-US" altLang="en-US" dirty="0"/>
              <a:t>Enter all the potential combinations of yes and no (Y/N) for the conditions. Each column represents a numbered possibility called a rule. </a:t>
            </a:r>
            <a:r>
              <a:rPr lang="en-US" dirty="0">
                <a:solidFill>
                  <a:srgbClr val="00B050"/>
                </a:solidFill>
              </a:rPr>
              <a:t>Read each rule downwards. </a:t>
            </a:r>
          </a:p>
          <a:p>
            <a:pPr marL="514350" indent="-514350">
              <a:buFont typeface="Verdana" pitchFamily="34" charset="0"/>
              <a:buAutoNum type="arabicPeriod"/>
            </a:pPr>
            <a:r>
              <a:rPr lang="en-US" altLang="en-US" dirty="0"/>
              <a:t>Place an </a:t>
            </a:r>
            <a:r>
              <a:rPr lang="en-US" altLang="en-US" b="1" dirty="0"/>
              <a:t>X</a:t>
            </a:r>
            <a:r>
              <a:rPr lang="en-US" altLang="en-US" dirty="0"/>
              <a:t> in the action entries area for each rule to indicate what actions to take. </a:t>
            </a:r>
          </a:p>
        </p:txBody>
      </p:sp>
      <p:sp>
        <p:nvSpPr>
          <p:cNvPr id="36868" name="Slide Number Placeholder 3"/>
          <p:cNvSpPr>
            <a:spLocks noGrp="1"/>
          </p:cNvSpPr>
          <p:nvPr>
            <p:ph type="sldNum" sz="quarter" idx="4294967295"/>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fld id="{8C4BEF39-F872-4972-B299-751AE0F3CBCB}" type="slidenum">
              <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rPr>
              <a:pPr marL="0" marR="0" lvl="0" indent="0" algn="l" defTabSz="914400" rtl="0" eaLnBrk="0" fontAlgn="base" latinLnBrk="0" hangingPunct="0">
                <a:lnSpc>
                  <a:spcPct val="100000"/>
                </a:lnSpc>
                <a:spcBef>
                  <a:spcPct val="0"/>
                </a:spcBef>
                <a:spcAft>
                  <a:spcPct val="0"/>
                </a:spcAft>
                <a:buClrTx/>
                <a:buSzTx/>
                <a:buFontTx/>
                <a:buNone/>
                <a:tabLst/>
                <a:defRPr/>
              </a:pPr>
              <a:t>21</a:t>
            </a:fld>
            <a:endPar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endParaRPr>
          </a:p>
        </p:txBody>
      </p:sp>
      <p:pic>
        <p:nvPicPr>
          <p:cNvPr id="3686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5029200"/>
            <a:ext cx="6800850" cy="1619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687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325" y="4035425"/>
            <a:ext cx="7810500" cy="10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6988175" y="5029200"/>
            <a:ext cx="2155825" cy="169277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B050"/>
                </a:solidFill>
                <a:effectLst/>
                <a:uLnTx/>
                <a:uFillTx/>
                <a:latin typeface="Verdana"/>
                <a:ea typeface="+mn-ea"/>
                <a:cs typeface="+mn-cs"/>
              </a:rPr>
              <a:t>Better to put “</a:t>
            </a:r>
            <a:r>
              <a:rPr kumimoji="0" lang="en-US" sz="1300" b="1" i="0" u="none" strike="noStrike" kern="1200" cap="none" spc="0" normalizeH="0" baseline="0" noProof="0" dirty="0">
                <a:ln>
                  <a:noFill/>
                </a:ln>
                <a:solidFill>
                  <a:srgbClr val="00B050"/>
                </a:solidFill>
                <a:effectLst/>
                <a:uLnTx/>
                <a:uFillTx/>
                <a:latin typeface="Verdana"/>
                <a:ea typeface="+mn-ea"/>
                <a:cs typeface="+mn-cs"/>
              </a:rPr>
              <a:t>Product is in stock” </a:t>
            </a:r>
            <a:r>
              <a:rPr kumimoji="0" lang="en-US" sz="1300" b="0" i="0" u="none" strike="noStrike" kern="1200" cap="none" spc="0" normalizeH="0" baseline="0" noProof="0" dirty="0">
                <a:ln>
                  <a:noFill/>
                </a:ln>
                <a:solidFill>
                  <a:srgbClr val="00B050"/>
                </a:solidFill>
                <a:effectLst/>
                <a:uLnTx/>
                <a:uFillTx/>
                <a:latin typeface="Verdana"/>
                <a:ea typeface="+mn-ea"/>
                <a:cs typeface="+mn-cs"/>
              </a:rPr>
              <a:t>as first condition, as it is a determinant condition (as long as there is no stock, there is no need to bother about credit status).</a:t>
            </a:r>
          </a:p>
        </p:txBody>
      </p:sp>
      <p:cxnSp>
        <p:nvCxnSpPr>
          <p:cNvPr id="4" name="Straight Arrow Connector 3"/>
          <p:cNvCxnSpPr/>
          <p:nvPr/>
        </p:nvCxnSpPr>
        <p:spPr bwMode="auto">
          <a:xfrm flipH="1">
            <a:off x="2362201" y="5257800"/>
            <a:ext cx="4343400" cy="581025"/>
          </a:xfrm>
          <a:prstGeom prst="straightConnector1">
            <a:avLst/>
          </a:prstGeom>
          <a:ln w="38100">
            <a:solidFill>
              <a:srgbClr val="00B050"/>
            </a:solidFill>
            <a:headEnd type="none" w="med" len="med"/>
            <a:tailEnd type="arrow"/>
          </a:ln>
        </p:spPr>
        <p:style>
          <a:lnRef idx="1">
            <a:schemeClr val="accent4"/>
          </a:lnRef>
          <a:fillRef idx="0">
            <a:schemeClr val="accent4"/>
          </a:fillRef>
          <a:effectRef idx="0">
            <a:schemeClr val="accent4"/>
          </a:effectRef>
          <a:fontRef idx="minor">
            <a:schemeClr val="tx1"/>
          </a:fontRef>
        </p:style>
      </p:cxnSp>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4687" y="6677302"/>
            <a:ext cx="7391400" cy="1514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70264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 calcmode="lin" valueType="num">
                                      <p:cBhvr additive="base">
                                        <p:cTn id="7" dur="500" fill="hold"/>
                                        <p:tgtEl>
                                          <p:spTgt spid="368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6867">
                                            <p:txEl>
                                              <p:pRg st="1" end="1"/>
                                            </p:txEl>
                                          </p:spTgt>
                                        </p:tgtEl>
                                        <p:attrNameLst>
                                          <p:attrName>style.visibility</p:attrName>
                                        </p:attrNameLst>
                                      </p:cBhvr>
                                      <p:to>
                                        <p:strVal val="visible"/>
                                      </p:to>
                                    </p:set>
                                    <p:anim calcmode="lin" valueType="num">
                                      <p:cBhvr additive="base">
                                        <p:cTn id="13" dur="500" fill="hold"/>
                                        <p:tgtEl>
                                          <p:spTgt spid="368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8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6867">
                                            <p:txEl>
                                              <p:pRg st="2" end="2"/>
                                            </p:txEl>
                                          </p:spTgt>
                                        </p:tgtEl>
                                        <p:attrNameLst>
                                          <p:attrName>style.visibility</p:attrName>
                                        </p:attrNameLst>
                                      </p:cBhvr>
                                      <p:to>
                                        <p:strVal val="visible"/>
                                      </p:to>
                                    </p:set>
                                    <p:anim calcmode="lin" valueType="num">
                                      <p:cBhvr additive="base">
                                        <p:cTn id="19" dur="500" fill="hold"/>
                                        <p:tgtEl>
                                          <p:spTgt spid="3686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8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6867">
                                            <p:txEl>
                                              <p:pRg st="3" end="3"/>
                                            </p:txEl>
                                          </p:spTgt>
                                        </p:tgtEl>
                                        <p:attrNameLst>
                                          <p:attrName>style.visibility</p:attrName>
                                        </p:attrNameLst>
                                      </p:cBhvr>
                                      <p:to>
                                        <p:strVal val="visible"/>
                                      </p:to>
                                    </p:set>
                                    <p:anim calcmode="lin" valueType="num">
                                      <p:cBhvr additive="base">
                                        <p:cTn id="25" dur="500" fill="hold"/>
                                        <p:tgtEl>
                                          <p:spTgt spid="3686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68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ppt_x"/>
                                          </p:val>
                                        </p:tav>
                                        <p:tav tm="100000">
                                          <p:val>
                                            <p:strVal val="#ppt_x"/>
                                          </p:val>
                                        </p:tav>
                                      </p:tavLst>
                                    </p:anim>
                                    <p:anim calcmode="lin" valueType="num">
                                      <p:cBhvr additive="base">
                                        <p:cTn id="32" dur="500" fill="hold"/>
                                        <p:tgtEl>
                                          <p:spTgt spid="2"/>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ppt_x"/>
                                          </p:val>
                                        </p:tav>
                                        <p:tav tm="100000">
                                          <p:val>
                                            <p:strVal val="#ppt_x"/>
                                          </p:val>
                                        </p:tav>
                                      </p:tavLst>
                                    </p:anim>
                                    <p:anim calcmode="lin" valueType="num">
                                      <p:cBhvr additive="base">
                                        <p:cTn id="3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64" presetClass="path" presetSubtype="0" accel="50000" decel="50000" fill="hold" nodeType="clickEffect">
                                  <p:stCondLst>
                                    <p:cond delay="0"/>
                                  </p:stCondLst>
                                  <p:childTnLst>
                                    <p:animMotion origin="layout" path="M 3.33333E-6 -1.38728E-6 L -0.00417 -0.76578 " pathEditMode="relative" rAng="0" ptsTypes="AA">
                                      <p:cBhvr>
                                        <p:cTn id="40" dur="2000" fill="hold"/>
                                        <p:tgtEl>
                                          <p:spTgt spid="1026"/>
                                        </p:tgtEl>
                                        <p:attrNameLst>
                                          <p:attrName>ppt_x</p:attrName>
                                          <p:attrName>ppt_y</p:attrName>
                                        </p:attrNameLst>
                                      </p:cBhvr>
                                      <p:rCtr x="-208" y="-38289"/>
                                    </p:animMotion>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nodeType="clickEffect">
                                  <p:stCondLst>
                                    <p:cond delay="0"/>
                                  </p:stCondLst>
                                  <p:childTnLst>
                                    <p:animEffect transition="out" filter="fade">
                                      <p:cBhvr>
                                        <p:cTn id="44" dur="500"/>
                                        <p:tgtEl>
                                          <p:spTgt spid="1026"/>
                                        </p:tgtEl>
                                      </p:cBhvr>
                                    </p:animEffect>
                                    <p:set>
                                      <p:cBhvr>
                                        <p:cTn id="45" dur="1" fill="hold">
                                          <p:stCondLst>
                                            <p:cond delay="499"/>
                                          </p:stCondLst>
                                        </p:cTn>
                                        <p:tgtEl>
                                          <p:spTgt spid="10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kumimoji="1" lang="en-US" altLang="en-US" b="1" dirty="0"/>
              <a:t>Decision Table – THREE CONDITIONS Example</a:t>
            </a:r>
            <a:endParaRPr lang="en-US" altLang="en-US" b="1" dirty="0"/>
          </a:p>
        </p:txBody>
      </p:sp>
      <p:sp>
        <p:nvSpPr>
          <p:cNvPr id="37891" name="Slide Number Placeholder 3"/>
          <p:cNvSpPr>
            <a:spLocks noGrp="1"/>
          </p:cNvSpPr>
          <p:nvPr>
            <p:ph type="sldNum" sz="quarter" idx="4294967295"/>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fld id="{AA0FA390-9F20-44E6-912B-CB99CF21553A}" type="slidenum">
              <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rPr>
              <a:pPr marL="0" marR="0" lvl="0" indent="0" algn="l" defTabSz="914400" rtl="0" eaLnBrk="0" fontAlgn="base" latinLnBrk="0" hangingPunct="0">
                <a:lnSpc>
                  <a:spcPct val="100000"/>
                </a:lnSpc>
                <a:spcBef>
                  <a:spcPct val="0"/>
                </a:spcBef>
                <a:spcAft>
                  <a:spcPct val="0"/>
                </a:spcAft>
                <a:buClrTx/>
                <a:buSzTx/>
                <a:buFontTx/>
                <a:buNone/>
                <a:tabLst/>
                <a:defRPr/>
              </a:pPr>
              <a:t>22</a:t>
            </a:fld>
            <a:endPar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endParaRPr>
          </a:p>
        </p:txBody>
      </p:sp>
      <p:pic>
        <p:nvPicPr>
          <p:cNvPr id="3789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61963" y="1566863"/>
            <a:ext cx="8493125" cy="4732337"/>
          </a:xfrm>
        </p:spPr>
      </p:pic>
    </p:spTree>
    <p:extLst>
      <p:ext uri="{BB962C8B-B14F-4D97-AF65-F5344CB8AC3E}">
        <p14:creationId xmlns:p14="http://schemas.microsoft.com/office/powerpoint/2010/main" val="9799867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altLang="en-US" sz="3200" b="1"/>
              <a:t>Simplifying the Decision Table</a:t>
            </a:r>
          </a:p>
        </p:txBody>
      </p:sp>
      <p:sp>
        <p:nvSpPr>
          <p:cNvPr id="3" name="Content Placeholder 2"/>
          <p:cNvSpPr>
            <a:spLocks noGrp="1"/>
          </p:cNvSpPr>
          <p:nvPr>
            <p:ph idx="1"/>
          </p:nvPr>
        </p:nvSpPr>
        <p:spPr/>
        <p:txBody>
          <a:bodyPr>
            <a:noAutofit/>
          </a:bodyPr>
          <a:lstStyle/>
          <a:p>
            <a:pPr>
              <a:defRPr/>
            </a:pPr>
            <a:r>
              <a:rPr lang="en-US" sz="2000" dirty="0"/>
              <a:t>When all the outcomes have been determined, you are ready to simplify the table. </a:t>
            </a:r>
          </a:p>
          <a:p>
            <a:pPr>
              <a:defRPr/>
            </a:pPr>
            <a:r>
              <a:rPr lang="en-US" sz="2000" dirty="0"/>
              <a:t>In a multi-condition table, some rules might be duplicates, redundant, or unrealistic. </a:t>
            </a:r>
          </a:p>
          <a:p>
            <a:pPr>
              <a:defRPr/>
            </a:pPr>
            <a:r>
              <a:rPr lang="en-US" sz="2000" dirty="0"/>
              <a:t>To simplify the table, follow these steps:</a:t>
            </a:r>
          </a:p>
          <a:p>
            <a:pPr marL="457200" lvl="1" indent="0">
              <a:buFontTx/>
              <a:buNone/>
              <a:defRPr/>
            </a:pPr>
            <a:r>
              <a:rPr lang="en-US" sz="1800" dirty="0"/>
              <a:t>	1. Study each combination of conditions and outcomes.   </a:t>
            </a:r>
            <a:br>
              <a:rPr lang="en-US" sz="1800" dirty="0"/>
            </a:br>
            <a:r>
              <a:rPr lang="en-US" sz="1800" dirty="0"/>
              <a:t>           When you have rules with three conditions, only one </a:t>
            </a:r>
            <a:br>
              <a:rPr lang="en-US" sz="1800" dirty="0"/>
            </a:br>
            <a:r>
              <a:rPr lang="en-US" sz="1800" dirty="0"/>
              <a:t>           or two of them may control the outcome, and the </a:t>
            </a:r>
            <a:br>
              <a:rPr lang="en-US" sz="1800" dirty="0"/>
            </a:br>
            <a:r>
              <a:rPr lang="en-US" sz="1800" dirty="0"/>
              <a:t>           other conditions simply do not matter.</a:t>
            </a:r>
          </a:p>
          <a:p>
            <a:pPr marL="0" indent="0">
              <a:buFontTx/>
              <a:buNone/>
              <a:defRPr/>
            </a:pPr>
            <a:r>
              <a:rPr lang="en-US" sz="2000" dirty="0"/>
              <a:t>	2. If you identify conditions that do not affect the </a:t>
            </a:r>
            <a:br>
              <a:rPr lang="en-US" sz="2000" dirty="0"/>
            </a:br>
            <a:r>
              <a:rPr lang="en-US" sz="2000" dirty="0"/>
              <a:t>                outcome, mark them with dashes (-) </a:t>
            </a:r>
          </a:p>
          <a:p>
            <a:pPr marL="0" indent="0">
              <a:buFontTx/>
              <a:buNone/>
              <a:defRPr/>
            </a:pPr>
            <a:r>
              <a:rPr lang="en-US" sz="2000" dirty="0"/>
              <a:t>	3. Now combine and renumber the rules</a:t>
            </a:r>
          </a:p>
        </p:txBody>
      </p:sp>
      <p:sp>
        <p:nvSpPr>
          <p:cNvPr id="38916" name="Slide Number Placeholder 3"/>
          <p:cNvSpPr>
            <a:spLocks noGrp="1"/>
          </p:cNvSpPr>
          <p:nvPr>
            <p:ph type="sldNum" sz="quarter" idx="4294967295"/>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fld id="{FCA0BC96-B88F-4FB8-B684-CE80C7C13691}" type="slidenum">
              <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rPr>
              <a:pPr marL="0" marR="0" lvl="0" indent="0" algn="l" defTabSz="914400" rtl="0" eaLnBrk="0" fontAlgn="base" latinLnBrk="0" hangingPunct="0">
                <a:lnSpc>
                  <a:spcPct val="100000"/>
                </a:lnSpc>
                <a:spcBef>
                  <a:spcPct val="0"/>
                </a:spcBef>
                <a:spcAft>
                  <a:spcPct val="0"/>
                </a:spcAft>
                <a:buClrTx/>
                <a:buSzTx/>
                <a:buFontTx/>
                <a:buNone/>
                <a:tabLst/>
                <a:defRPr/>
              </a:pPr>
              <a:t>23</a:t>
            </a:fld>
            <a:endPar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endParaRPr>
          </a:p>
        </p:txBody>
      </p:sp>
      <p:sp>
        <p:nvSpPr>
          <p:cNvPr id="2" name="TextBox 1"/>
          <p:cNvSpPr txBox="1"/>
          <p:nvPr/>
        </p:nvSpPr>
        <p:spPr>
          <a:xfrm>
            <a:off x="990600" y="6010870"/>
            <a:ext cx="571500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B050"/>
                </a:solidFill>
                <a:effectLst/>
                <a:uLnTx/>
                <a:uFillTx/>
                <a:latin typeface="Verdana"/>
                <a:ea typeface="+mn-ea"/>
                <a:cs typeface="+mn-cs"/>
              </a:rPr>
              <a:t>Tips: you can also look at the actions/outcome part. If the outcome is the same, then check if any of the condition is redundant/irrelevant</a:t>
            </a:r>
          </a:p>
        </p:txBody>
      </p:sp>
    </p:spTree>
    <p:extLst>
      <p:ext uri="{BB962C8B-B14F-4D97-AF65-F5344CB8AC3E}">
        <p14:creationId xmlns:p14="http://schemas.microsoft.com/office/powerpoint/2010/main" val="58662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61938" y="1320800"/>
            <a:ext cx="8501062" cy="5240338"/>
          </a:xfrm>
        </p:spPr>
      </p:pic>
      <p:sp>
        <p:nvSpPr>
          <p:cNvPr id="39939" name="Title 1"/>
          <p:cNvSpPr>
            <a:spLocks noGrp="1"/>
          </p:cNvSpPr>
          <p:nvPr>
            <p:ph type="title"/>
          </p:nvPr>
        </p:nvSpPr>
        <p:spPr/>
        <p:txBody>
          <a:bodyPr/>
          <a:lstStyle/>
          <a:p>
            <a:r>
              <a:rPr lang="en-US" altLang="en-US" b="1"/>
              <a:t>Simplifying the Decision Table - </a:t>
            </a:r>
            <a:r>
              <a:rPr kumimoji="1" lang="en-US" altLang="en-US" b="1"/>
              <a:t>Three Conditions </a:t>
            </a:r>
            <a:r>
              <a:rPr lang="en-US" altLang="en-US" b="1"/>
              <a:t>Example</a:t>
            </a:r>
          </a:p>
        </p:txBody>
      </p:sp>
      <p:sp>
        <p:nvSpPr>
          <p:cNvPr id="39940" name="Slide Number Placeholder 3"/>
          <p:cNvSpPr>
            <a:spLocks noGrp="1"/>
          </p:cNvSpPr>
          <p:nvPr>
            <p:ph type="sldNum" sz="quarter" idx="4294967295"/>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fld id="{C6A9ADB3-85BA-41C6-8530-43AE40682FD5}" type="slidenum">
              <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rPr>
              <a:pPr marL="0" marR="0" lvl="0" indent="0" algn="l" defTabSz="914400" rtl="0" eaLnBrk="0" fontAlgn="base" latinLnBrk="0" hangingPunct="0">
                <a:lnSpc>
                  <a:spcPct val="100000"/>
                </a:lnSpc>
                <a:spcBef>
                  <a:spcPct val="0"/>
                </a:spcBef>
                <a:spcAft>
                  <a:spcPct val="0"/>
                </a:spcAft>
                <a:buClrTx/>
                <a:buSzTx/>
                <a:buFontTx/>
                <a:buNone/>
                <a:tabLst/>
                <a:defRPr/>
              </a:pPr>
              <a:t>24</a:t>
            </a:fld>
            <a:endPar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endParaRPr>
          </a:p>
        </p:txBody>
      </p:sp>
      <p:sp>
        <p:nvSpPr>
          <p:cNvPr id="39941" name="TextBox 4"/>
          <p:cNvSpPr txBox="1">
            <a:spLocks noChangeArrowheads="1"/>
          </p:cNvSpPr>
          <p:nvPr/>
        </p:nvSpPr>
        <p:spPr bwMode="auto">
          <a:xfrm>
            <a:off x="7391400" y="3081338"/>
            <a:ext cx="1600200" cy="2968625"/>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srgbClr val="004D75"/>
                </a:solidFill>
                <a:effectLst/>
                <a:uLnTx/>
                <a:uFillTx/>
                <a:latin typeface="Verdana" pitchFamily="34" charset="0"/>
                <a:ea typeface="+mn-ea"/>
                <a:cs typeface="Arial" charset="0"/>
              </a:rPr>
              <a:t>If you follow these steps, you will see that Rules 1 and 2 can be combined because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srgbClr val="004D75"/>
                </a:solidFill>
                <a:effectLst/>
                <a:uLnTx/>
                <a:uFillTx/>
                <a:latin typeface="Verdana" pitchFamily="34" charset="0"/>
                <a:ea typeface="+mn-ea"/>
                <a:cs typeface="Arial" charset="0"/>
              </a:rPr>
              <a:t>credit status is OK in both rules, so the waiver would not matter. Rules 3, 4, 7, and 8</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srgbClr val="004D75"/>
                </a:solidFill>
                <a:effectLst/>
                <a:uLnTx/>
                <a:uFillTx/>
                <a:latin typeface="Verdana" pitchFamily="34" charset="0"/>
                <a:ea typeface="+mn-ea"/>
                <a:cs typeface="Arial" charset="0"/>
              </a:rPr>
              <a:t>also can be combined because the product is not in stock, so other conditions do not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srgbClr val="004D75"/>
                </a:solidFill>
                <a:effectLst/>
                <a:uLnTx/>
                <a:uFillTx/>
                <a:latin typeface="Verdana" pitchFamily="34" charset="0"/>
                <a:ea typeface="+mn-ea"/>
                <a:cs typeface="Arial" charset="0"/>
              </a:rPr>
              <a:t>matter. The result is that instead of eight possibilities, only four logical rules control the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srgbClr val="004D75"/>
                </a:solidFill>
                <a:effectLst/>
                <a:uLnTx/>
                <a:uFillTx/>
                <a:latin typeface="Verdana" pitchFamily="34" charset="0"/>
                <a:ea typeface="+mn-ea"/>
                <a:cs typeface="Arial" charset="0"/>
              </a:rPr>
              <a:t>Verify Order process.</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6761161"/>
            <a:ext cx="7391400" cy="44402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61280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nodeType="clickEffect">
                                  <p:stCondLst>
                                    <p:cond delay="0"/>
                                  </p:stCondLst>
                                  <p:childTnLst>
                                    <p:animMotion origin="layout" path="M 3.33333E-6 -1.38728E-6 L -0.00417 -0.76578 " pathEditMode="relative" rAng="0" ptsTypes="AA">
                                      <p:cBhvr>
                                        <p:cTn id="6" dur="2000" fill="hold"/>
                                        <p:tgtEl>
                                          <p:spTgt spid="2050"/>
                                        </p:tgtEl>
                                        <p:attrNameLst>
                                          <p:attrName>ppt_x</p:attrName>
                                          <p:attrName>ppt_y</p:attrName>
                                        </p:attrNameLst>
                                      </p:cBhvr>
                                      <p:rCtr x="-208" y="-38289"/>
                                    </p:animMotion>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nodeType="clickEffect">
                                  <p:stCondLst>
                                    <p:cond delay="0"/>
                                  </p:stCondLst>
                                  <p:childTnLst>
                                    <p:animEffect transition="out" filter="fade">
                                      <p:cBhvr>
                                        <p:cTn id="10" dur="500"/>
                                        <p:tgtEl>
                                          <p:spTgt spid="2050"/>
                                        </p:tgtEl>
                                      </p:cBhvr>
                                    </p:animEffect>
                                    <p:set>
                                      <p:cBhvr>
                                        <p:cTn id="11" dur="1" fill="hold">
                                          <p:stCondLst>
                                            <p:cond delay="499"/>
                                          </p:stCondLst>
                                        </p:cTn>
                                        <p:tgtEl>
                                          <p:spTgt spid="20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2"/>
          <p:cNvSpPr txBox="1">
            <a:spLocks noChangeArrowheads="1"/>
          </p:cNvSpPr>
          <p:nvPr/>
        </p:nvSpPr>
        <p:spPr bwMode="auto">
          <a:xfrm>
            <a:off x="2941638" y="268288"/>
            <a:ext cx="32893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3000" b="1" i="0" u="none" strike="noStrike" kern="1200" cap="none" spc="0" normalizeH="0" baseline="0" noProof="0">
                <a:ln>
                  <a:noFill/>
                </a:ln>
                <a:solidFill>
                  <a:srgbClr val="000000"/>
                </a:solidFill>
                <a:effectLst/>
                <a:uLnTx/>
                <a:uFillTx/>
                <a:latin typeface="Verdana" pitchFamily="34" charset="0"/>
                <a:ea typeface="+mn-ea"/>
                <a:cs typeface="Arial" charset="0"/>
              </a:rPr>
              <a:t>Decision Table</a:t>
            </a:r>
            <a:endParaRPr kumimoji="0" lang="en-GB" altLang="en-US" sz="2400" b="1" i="0" u="sng" strike="noStrike" kern="1200" cap="none" spc="0" normalizeH="0" baseline="0" noProof="0">
              <a:ln>
                <a:noFill/>
              </a:ln>
              <a:solidFill>
                <a:srgbClr val="000000"/>
              </a:solidFill>
              <a:effectLst/>
              <a:uLnTx/>
              <a:uFillTx/>
              <a:latin typeface="Verdana" pitchFamily="34" charset="0"/>
              <a:ea typeface="+mn-ea"/>
              <a:cs typeface="Arial" charset="0"/>
            </a:endParaRPr>
          </a:p>
        </p:txBody>
      </p:sp>
      <p:sp>
        <p:nvSpPr>
          <p:cNvPr id="31747" name="Rectangle 3"/>
          <p:cNvSpPr>
            <a:spLocks noChangeArrowheads="1"/>
          </p:cNvSpPr>
          <p:nvPr/>
        </p:nvSpPr>
        <p:spPr bwMode="auto">
          <a:xfrm>
            <a:off x="174171" y="5752322"/>
            <a:ext cx="8810172" cy="1175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just" defTabSz="914400" rtl="0" eaLnBrk="1" fontAlgn="base" latinLnBrk="0" hangingPunct="1">
              <a:lnSpc>
                <a:spcPct val="110000"/>
              </a:lnSpc>
              <a:spcBef>
                <a:spcPct val="30000"/>
              </a:spcBef>
              <a:spcAft>
                <a:spcPct val="20000"/>
              </a:spcAft>
              <a:buClrTx/>
              <a:buSzTx/>
              <a:buFontTx/>
              <a:buNone/>
              <a:tabLst/>
              <a:defRPr/>
            </a:pPr>
            <a:r>
              <a:rPr kumimoji="0" lang="en-GB" altLang="en-US" sz="1600" b="0" i="0" u="none" strike="noStrike" kern="1200" cap="none" spc="0" normalizeH="0" baseline="0" noProof="0" dirty="0">
                <a:ln>
                  <a:noFill/>
                </a:ln>
                <a:solidFill>
                  <a:srgbClr val="FF0000"/>
                </a:solidFill>
                <a:effectLst/>
                <a:uLnTx/>
                <a:uFillTx/>
                <a:latin typeface="Verdana" pitchFamily="34" charset="0"/>
                <a:ea typeface="+mn-ea"/>
                <a:cs typeface="Arial" charset="0"/>
              </a:rPr>
              <a:t>Showing all pattern-action rules is NOT efficient. If answer to the first Condition “Correct Dimensions?” is “N”, then the other 2 conditions are irrelevant. We can simplify the Decision Table by combining them and putting a “-” for those that are irrelevant (refer next slide).</a:t>
            </a:r>
          </a:p>
        </p:txBody>
      </p:sp>
      <p:sp>
        <p:nvSpPr>
          <p:cNvPr id="31748" name="Rectangle 7"/>
          <p:cNvSpPr>
            <a:spLocks noChangeArrowheads="1"/>
          </p:cNvSpPr>
          <p:nvPr/>
        </p:nvSpPr>
        <p:spPr bwMode="auto">
          <a:xfrm>
            <a:off x="447675" y="5259617"/>
            <a:ext cx="4686300" cy="49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44500" indent="-444500">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444500" marR="0" lvl="0" indent="-444500" algn="l" defTabSz="914400" rtl="0" eaLnBrk="1" fontAlgn="base" latinLnBrk="0" hangingPunct="1">
              <a:lnSpc>
                <a:spcPct val="110000"/>
              </a:lnSpc>
              <a:spcBef>
                <a:spcPct val="30000"/>
              </a:spcBef>
              <a:spcAft>
                <a:spcPct val="20000"/>
              </a:spcAft>
              <a:buClrTx/>
              <a:buSzTx/>
              <a:buFontTx/>
              <a:buNone/>
              <a:tabLst/>
              <a:defRPr/>
            </a:pPr>
            <a:r>
              <a:rPr kumimoji="0" lang="en-GB" altLang="en-US" sz="2400" b="1" i="0" u="none" strike="noStrike" kern="1200" cap="none" spc="0" normalizeH="0" baseline="0" noProof="0" dirty="0">
                <a:ln>
                  <a:noFill/>
                </a:ln>
                <a:solidFill>
                  <a:srgbClr val="C04C73"/>
                </a:solidFill>
                <a:effectLst/>
                <a:uLnTx/>
                <a:uFillTx/>
                <a:latin typeface="Verdana" pitchFamily="34" charset="0"/>
                <a:ea typeface="+mn-ea"/>
                <a:cs typeface="Arial" charset="0"/>
              </a:rPr>
              <a:t>Can you see redundancy? </a:t>
            </a:r>
            <a:endParaRPr kumimoji="0" lang="en-GB" altLang="en-US" sz="2400" b="0" i="0" u="none" strike="noStrike" kern="1200" cap="none" spc="0" normalizeH="0" baseline="0" noProof="0" dirty="0">
              <a:ln>
                <a:noFill/>
              </a:ln>
              <a:solidFill>
                <a:srgbClr val="C04C73"/>
              </a:solidFill>
              <a:effectLst/>
              <a:uLnTx/>
              <a:uFillTx/>
              <a:latin typeface="Verdana" pitchFamily="34" charset="0"/>
              <a:ea typeface="+mn-ea"/>
              <a:cs typeface="Arial" charset="0"/>
            </a:endParaRPr>
          </a:p>
        </p:txBody>
      </p:sp>
      <p:graphicFrame>
        <p:nvGraphicFramePr>
          <p:cNvPr id="937106" name="Group 146"/>
          <p:cNvGraphicFramePr>
            <a:graphicFrameLocks noGrp="1"/>
          </p:cNvGraphicFramePr>
          <p:nvPr>
            <p:extLst/>
          </p:nvPr>
        </p:nvGraphicFramePr>
        <p:xfrm>
          <a:off x="322942" y="1137557"/>
          <a:ext cx="8216900" cy="4044043"/>
        </p:xfrm>
        <a:graphic>
          <a:graphicData uri="http://schemas.openxmlformats.org/drawingml/2006/table">
            <a:tbl>
              <a:tblPr/>
              <a:tblGrid>
                <a:gridCol w="2570843">
                  <a:extLst>
                    <a:ext uri="{9D8B030D-6E8A-4147-A177-3AD203B41FA5}">
                      <a16:colId xmlns:a16="http://schemas.microsoft.com/office/drawing/2014/main" val="20000"/>
                    </a:ext>
                  </a:extLst>
                </a:gridCol>
                <a:gridCol w="593232">
                  <a:extLst>
                    <a:ext uri="{9D8B030D-6E8A-4147-A177-3AD203B41FA5}">
                      <a16:colId xmlns:a16="http://schemas.microsoft.com/office/drawing/2014/main" val="20001"/>
                    </a:ext>
                  </a:extLst>
                </a:gridCol>
                <a:gridCol w="690674">
                  <a:extLst>
                    <a:ext uri="{9D8B030D-6E8A-4147-A177-3AD203B41FA5}">
                      <a16:colId xmlns:a16="http://schemas.microsoft.com/office/drawing/2014/main" val="20002"/>
                    </a:ext>
                  </a:extLst>
                </a:gridCol>
                <a:gridCol w="745201">
                  <a:extLst>
                    <a:ext uri="{9D8B030D-6E8A-4147-A177-3AD203B41FA5}">
                      <a16:colId xmlns:a16="http://schemas.microsoft.com/office/drawing/2014/main" val="20003"/>
                    </a:ext>
                  </a:extLst>
                </a:gridCol>
                <a:gridCol w="708850">
                  <a:extLst>
                    <a:ext uri="{9D8B030D-6E8A-4147-A177-3AD203B41FA5}">
                      <a16:colId xmlns:a16="http://schemas.microsoft.com/office/drawing/2014/main" val="20004"/>
                    </a:ext>
                  </a:extLst>
                </a:gridCol>
                <a:gridCol w="654322">
                  <a:extLst>
                    <a:ext uri="{9D8B030D-6E8A-4147-A177-3AD203B41FA5}">
                      <a16:colId xmlns:a16="http://schemas.microsoft.com/office/drawing/2014/main" val="20005"/>
                    </a:ext>
                  </a:extLst>
                </a:gridCol>
                <a:gridCol w="690674">
                  <a:extLst>
                    <a:ext uri="{9D8B030D-6E8A-4147-A177-3AD203B41FA5}">
                      <a16:colId xmlns:a16="http://schemas.microsoft.com/office/drawing/2014/main" val="20006"/>
                    </a:ext>
                  </a:extLst>
                </a:gridCol>
                <a:gridCol w="799728">
                  <a:extLst>
                    <a:ext uri="{9D8B030D-6E8A-4147-A177-3AD203B41FA5}">
                      <a16:colId xmlns:a16="http://schemas.microsoft.com/office/drawing/2014/main" val="20007"/>
                    </a:ext>
                  </a:extLst>
                </a:gridCol>
                <a:gridCol w="763376">
                  <a:extLst>
                    <a:ext uri="{9D8B030D-6E8A-4147-A177-3AD203B41FA5}">
                      <a16:colId xmlns:a16="http://schemas.microsoft.com/office/drawing/2014/main" val="20008"/>
                    </a:ext>
                  </a:extLst>
                </a:gridCol>
              </a:tblGrid>
              <a:tr h="462643">
                <a:tc>
                  <a:txBody>
                    <a:bodyPr/>
                    <a:lstStyle/>
                    <a:p>
                      <a:pPr marL="0" marR="0" lvl="0" indent="0" algn="l" defTabSz="914400" rtl="0" eaLnBrk="1" fontAlgn="base" latinLnBrk="0" hangingPunct="1">
                        <a:lnSpc>
                          <a:spcPct val="110000"/>
                        </a:lnSpc>
                        <a:spcBef>
                          <a:spcPct val="30000"/>
                        </a:spcBef>
                        <a:spcAft>
                          <a:spcPct val="20000"/>
                        </a:spcAft>
                        <a:buClrTx/>
                        <a:buSzTx/>
                        <a:buFontTx/>
                        <a:buNone/>
                        <a:tabLst/>
                      </a:pPr>
                      <a:r>
                        <a:rPr kumimoji="0" lang="en-US" altLang="en-US" sz="1600" b="1" i="0" u="none" strike="noStrike" cap="none" normalizeH="0" baseline="0" dirty="0">
                          <a:ln>
                            <a:noFill/>
                          </a:ln>
                          <a:solidFill>
                            <a:schemeClr val="tx1"/>
                          </a:solidFill>
                          <a:effectLst/>
                          <a:latin typeface="Verdana" pitchFamily="34" charset="0"/>
                          <a:cs typeface="Arial" charset="0"/>
                        </a:rPr>
                        <a:t>Conditions/Actions</a:t>
                      </a:r>
                    </a:p>
                  </a:txBody>
                  <a:tcPr marL="91438" marR="9143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US" altLang="en-US" sz="1600" b="1" i="0" u="none" strike="noStrike" cap="none" normalizeH="0" baseline="0" dirty="0">
                          <a:ln>
                            <a:noFill/>
                          </a:ln>
                          <a:solidFill>
                            <a:schemeClr val="tx1"/>
                          </a:solidFill>
                          <a:effectLst/>
                          <a:latin typeface="Verdana" pitchFamily="34" charset="0"/>
                          <a:cs typeface="Arial" charset="0"/>
                        </a:rPr>
                        <a:t>1</a:t>
                      </a:r>
                    </a:p>
                  </a:txBody>
                  <a:tcPr marL="91438" marR="914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US" altLang="en-US" sz="1600" b="1" i="0" u="none" strike="noStrike" cap="none" normalizeH="0" baseline="0" dirty="0">
                          <a:ln>
                            <a:noFill/>
                          </a:ln>
                          <a:solidFill>
                            <a:schemeClr val="tx1"/>
                          </a:solidFill>
                          <a:effectLst/>
                          <a:latin typeface="Verdana" pitchFamily="34" charset="0"/>
                          <a:cs typeface="Arial" charset="0"/>
                        </a:rPr>
                        <a:t>2</a:t>
                      </a: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US" altLang="en-US" sz="1600" b="1" i="0" u="none" strike="noStrike" cap="none" normalizeH="0" baseline="0" dirty="0">
                          <a:ln>
                            <a:noFill/>
                          </a:ln>
                          <a:solidFill>
                            <a:schemeClr val="tx1"/>
                          </a:solidFill>
                          <a:effectLst/>
                          <a:latin typeface="Verdana" pitchFamily="34" charset="0"/>
                          <a:cs typeface="Arial" charset="0"/>
                        </a:rPr>
                        <a:t>3</a:t>
                      </a: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US" altLang="en-US" sz="1600" b="1" i="0" u="none" strike="noStrike" cap="none" normalizeH="0" baseline="0" dirty="0">
                          <a:ln>
                            <a:noFill/>
                          </a:ln>
                          <a:solidFill>
                            <a:schemeClr val="tx1"/>
                          </a:solidFill>
                          <a:effectLst/>
                          <a:latin typeface="Verdana" pitchFamily="34" charset="0"/>
                          <a:cs typeface="Arial" charset="0"/>
                        </a:rPr>
                        <a:t>4</a:t>
                      </a: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US" altLang="en-US" sz="1600" b="1" i="0" u="none" strike="noStrike" cap="none" normalizeH="0" baseline="0" dirty="0">
                          <a:ln>
                            <a:noFill/>
                          </a:ln>
                          <a:solidFill>
                            <a:schemeClr val="tx1"/>
                          </a:solidFill>
                          <a:effectLst/>
                          <a:latin typeface="Verdana" pitchFamily="34" charset="0"/>
                          <a:cs typeface="Arial" charset="0"/>
                        </a:rPr>
                        <a:t>5</a:t>
                      </a: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US" altLang="en-US" sz="1600" b="1" i="0" u="none" strike="noStrike" cap="none" normalizeH="0" baseline="0" dirty="0">
                          <a:ln>
                            <a:noFill/>
                          </a:ln>
                          <a:solidFill>
                            <a:schemeClr val="tx1"/>
                          </a:solidFill>
                          <a:effectLst/>
                          <a:latin typeface="Verdana" pitchFamily="34" charset="0"/>
                          <a:cs typeface="Arial" charset="0"/>
                        </a:rPr>
                        <a:t>6</a:t>
                      </a: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US" altLang="en-US" sz="1600" b="1" i="0" u="none" strike="noStrike" cap="none" normalizeH="0" baseline="0" dirty="0">
                          <a:ln>
                            <a:noFill/>
                          </a:ln>
                          <a:solidFill>
                            <a:schemeClr val="tx1"/>
                          </a:solidFill>
                          <a:effectLst/>
                          <a:latin typeface="Verdana" pitchFamily="34" charset="0"/>
                          <a:cs typeface="Arial" charset="0"/>
                        </a:rPr>
                        <a:t>7</a:t>
                      </a: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US" altLang="en-US" sz="1600" b="1" i="0" u="none" strike="noStrike" cap="none" normalizeH="0" baseline="0" dirty="0">
                          <a:ln>
                            <a:noFill/>
                          </a:ln>
                          <a:solidFill>
                            <a:schemeClr val="tx1"/>
                          </a:solidFill>
                          <a:effectLst/>
                          <a:latin typeface="Verdana" pitchFamily="34" charset="0"/>
                          <a:cs typeface="Arial" charset="0"/>
                        </a:rPr>
                        <a:t>8</a:t>
                      </a:r>
                    </a:p>
                  </a:txBody>
                  <a:tcPr marL="91438" marR="914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9600">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1" fontAlgn="base" latinLnBrk="0" hangingPunct="1">
                        <a:lnSpc>
                          <a:spcPct val="110000"/>
                        </a:lnSpc>
                        <a:spcBef>
                          <a:spcPct val="30000"/>
                        </a:spcBef>
                        <a:spcAft>
                          <a:spcPct val="20000"/>
                        </a:spcAft>
                        <a:buClrTx/>
                        <a:buSzTx/>
                        <a:buFontTx/>
                        <a:buNone/>
                        <a:tabLst/>
                      </a:pPr>
                      <a:r>
                        <a:rPr kumimoji="0" lang="en-GB" altLang="en-US" sz="1600" b="0" i="0" u="none" strike="noStrike" cap="none" normalizeH="0" baseline="0" dirty="0">
                          <a:ln>
                            <a:noFill/>
                          </a:ln>
                          <a:solidFill>
                            <a:srgbClr val="004DB1"/>
                          </a:solidFill>
                          <a:effectLst/>
                          <a:latin typeface="Verdana" pitchFamily="34" charset="0"/>
                          <a:cs typeface="Arial" charset="0"/>
                        </a:rPr>
                        <a:t>Correct dimensions?</a:t>
                      </a:r>
                      <a:endParaRPr kumimoji="0" lang="en-US" altLang="en-US" sz="1600" b="0" i="0" u="none" strike="noStrike" cap="none" normalizeH="0" baseline="0" dirty="0">
                        <a:ln>
                          <a:noFill/>
                        </a:ln>
                        <a:solidFill>
                          <a:srgbClr val="004DB1"/>
                        </a:solidFill>
                        <a:effectLst/>
                        <a:latin typeface="Verdana" pitchFamily="34" charset="0"/>
                        <a:cs typeface="Arial" charset="0"/>
                      </a:endParaRPr>
                    </a:p>
                  </a:txBody>
                  <a:tcPr marL="91438" marR="9143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dirty="0">
                          <a:ln>
                            <a:noFill/>
                          </a:ln>
                          <a:solidFill>
                            <a:schemeClr val="hlink"/>
                          </a:solidFill>
                          <a:effectLst/>
                          <a:latin typeface="Verdana" pitchFamily="34" charset="0"/>
                          <a:cs typeface="Arial" charset="0"/>
                        </a:rPr>
                        <a:t>Y</a:t>
                      </a:r>
                      <a:endParaRPr kumimoji="0" lang="en-US" altLang="en-US" sz="1600" b="1" i="0" u="none" strike="noStrike" cap="none" normalizeH="0" baseline="0" dirty="0">
                        <a:ln>
                          <a:noFill/>
                        </a:ln>
                        <a:solidFill>
                          <a:schemeClr val="hlink"/>
                        </a:solidFill>
                        <a:effectLst/>
                        <a:latin typeface="Verdana" pitchFamily="34" charset="0"/>
                        <a:cs typeface="Arial" charset="0"/>
                      </a:endParaRPr>
                    </a:p>
                  </a:txBody>
                  <a:tcPr marL="91438" marR="914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Y</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Y</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Y</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N</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N</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dirty="0">
                          <a:ln>
                            <a:noFill/>
                          </a:ln>
                          <a:solidFill>
                            <a:schemeClr val="hlink"/>
                          </a:solidFill>
                          <a:effectLst/>
                          <a:latin typeface="Verdana" pitchFamily="34" charset="0"/>
                          <a:cs typeface="Arial" charset="0"/>
                        </a:rPr>
                        <a:t>N</a:t>
                      </a:r>
                      <a:endParaRPr kumimoji="0" lang="en-US" altLang="en-US" sz="1600" b="1" i="0" u="none" strike="noStrike" cap="none" normalizeH="0" baseline="0" dirty="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dirty="0">
                          <a:ln>
                            <a:noFill/>
                          </a:ln>
                          <a:solidFill>
                            <a:schemeClr val="hlink"/>
                          </a:solidFill>
                          <a:effectLst/>
                          <a:latin typeface="Verdana" pitchFamily="34" charset="0"/>
                          <a:cs typeface="Arial" charset="0"/>
                        </a:rPr>
                        <a:t>N</a:t>
                      </a:r>
                      <a:endParaRPr kumimoji="0" lang="en-US" altLang="en-US" sz="1600" b="1" i="0" u="none" strike="noStrike" cap="none" normalizeH="0" baseline="0" dirty="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extLst>
                  <a:ext uri="{0D108BD9-81ED-4DB2-BD59-A6C34878D82A}">
                    <a16:rowId xmlns:a16="http://schemas.microsoft.com/office/drawing/2014/main" val="10001"/>
                  </a:ext>
                </a:extLst>
              </a:tr>
              <a:tr h="676275">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1" fontAlgn="base" latinLnBrk="0" hangingPunct="1">
                        <a:lnSpc>
                          <a:spcPct val="110000"/>
                        </a:lnSpc>
                        <a:spcBef>
                          <a:spcPct val="30000"/>
                        </a:spcBef>
                        <a:spcAft>
                          <a:spcPct val="20000"/>
                        </a:spcAft>
                        <a:buClrTx/>
                        <a:buSzTx/>
                        <a:buFontTx/>
                        <a:buNone/>
                        <a:tabLst/>
                      </a:pPr>
                      <a:r>
                        <a:rPr kumimoji="0" lang="en-GB" altLang="en-US" sz="1600" b="0" i="0" u="none" strike="noStrike" cap="none" normalizeH="0" baseline="0" dirty="0">
                          <a:ln>
                            <a:noFill/>
                          </a:ln>
                          <a:solidFill>
                            <a:srgbClr val="004DB1"/>
                          </a:solidFill>
                          <a:effectLst/>
                          <a:latin typeface="Verdana" pitchFamily="34" charset="0"/>
                          <a:cs typeface="Arial" charset="0"/>
                        </a:rPr>
                        <a:t>Passed mechanical test?</a:t>
                      </a:r>
                      <a:endParaRPr kumimoji="0" lang="en-US" altLang="en-US" sz="1600" b="0" i="0" u="none" strike="noStrike" cap="none" normalizeH="0" baseline="0" dirty="0">
                        <a:ln>
                          <a:noFill/>
                        </a:ln>
                        <a:solidFill>
                          <a:srgbClr val="004DB1"/>
                        </a:solidFill>
                        <a:effectLst/>
                        <a:latin typeface="Verdana" pitchFamily="34" charset="0"/>
                        <a:cs typeface="Arial" charset="0"/>
                      </a:endParaRPr>
                    </a:p>
                  </a:txBody>
                  <a:tcPr marL="91438" marR="9143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dirty="0">
                          <a:ln>
                            <a:noFill/>
                          </a:ln>
                          <a:solidFill>
                            <a:schemeClr val="hlink"/>
                          </a:solidFill>
                          <a:effectLst/>
                          <a:latin typeface="Verdana" pitchFamily="34" charset="0"/>
                          <a:cs typeface="Arial" charset="0"/>
                        </a:rPr>
                        <a:t>Y</a:t>
                      </a:r>
                      <a:endParaRPr kumimoji="0" lang="en-US" altLang="en-US" sz="1600" b="1" i="0" u="none" strike="noStrike" cap="none" normalizeH="0" baseline="0" dirty="0">
                        <a:ln>
                          <a:noFill/>
                        </a:ln>
                        <a:solidFill>
                          <a:schemeClr val="hlink"/>
                        </a:solidFill>
                        <a:effectLst/>
                        <a:latin typeface="Verdana" pitchFamily="34" charset="0"/>
                        <a:cs typeface="Arial" charset="0"/>
                      </a:endParaRPr>
                    </a:p>
                  </a:txBody>
                  <a:tcPr marL="91438" marR="914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Y</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N</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N</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Y</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Y</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dirty="0">
                          <a:ln>
                            <a:noFill/>
                          </a:ln>
                          <a:solidFill>
                            <a:schemeClr val="hlink"/>
                          </a:solidFill>
                          <a:effectLst/>
                          <a:latin typeface="Verdana" pitchFamily="34" charset="0"/>
                          <a:cs typeface="Arial" charset="0"/>
                        </a:rPr>
                        <a:t>N</a:t>
                      </a:r>
                      <a:endParaRPr kumimoji="0" lang="en-US" altLang="en-US" sz="1600" b="1" i="0" u="none" strike="noStrike" cap="none" normalizeH="0" baseline="0" dirty="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dirty="0">
                          <a:ln>
                            <a:noFill/>
                          </a:ln>
                          <a:solidFill>
                            <a:schemeClr val="hlink"/>
                          </a:solidFill>
                          <a:effectLst/>
                          <a:latin typeface="Verdana" pitchFamily="34" charset="0"/>
                          <a:cs typeface="Arial" charset="0"/>
                        </a:rPr>
                        <a:t>N</a:t>
                      </a:r>
                      <a:endParaRPr kumimoji="0" lang="en-US" altLang="en-US" sz="1600" b="1" i="0" u="none" strike="noStrike" cap="none" normalizeH="0" baseline="0" dirty="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extLst>
                  <a:ext uri="{0D108BD9-81ED-4DB2-BD59-A6C34878D82A}">
                    <a16:rowId xmlns:a16="http://schemas.microsoft.com/office/drawing/2014/main" val="10002"/>
                  </a:ext>
                </a:extLst>
              </a:tr>
              <a:tr h="695325">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1" fontAlgn="base" latinLnBrk="0" hangingPunct="1">
                        <a:lnSpc>
                          <a:spcPct val="110000"/>
                        </a:lnSpc>
                        <a:spcBef>
                          <a:spcPct val="30000"/>
                        </a:spcBef>
                        <a:spcAft>
                          <a:spcPct val="20000"/>
                        </a:spcAft>
                        <a:buClrTx/>
                        <a:buSzTx/>
                        <a:buFontTx/>
                        <a:buNone/>
                        <a:tabLst/>
                      </a:pPr>
                      <a:r>
                        <a:rPr kumimoji="0" lang="en-GB" altLang="en-US" sz="1600" b="0" i="0" u="none" strike="noStrike" cap="none" normalizeH="0" baseline="0" dirty="0">
                          <a:ln>
                            <a:noFill/>
                          </a:ln>
                          <a:solidFill>
                            <a:srgbClr val="004DB1"/>
                          </a:solidFill>
                          <a:effectLst/>
                          <a:latin typeface="Verdana" pitchFamily="34" charset="0"/>
                          <a:cs typeface="Arial" charset="0"/>
                        </a:rPr>
                        <a:t>Passed electrical test?</a:t>
                      </a:r>
                      <a:endParaRPr kumimoji="0" lang="en-US" altLang="en-US" sz="1600" b="0" i="0" u="none" strike="noStrike" cap="none" normalizeH="0" baseline="0" dirty="0">
                        <a:ln>
                          <a:noFill/>
                        </a:ln>
                        <a:solidFill>
                          <a:srgbClr val="004DB1"/>
                        </a:solidFill>
                        <a:effectLst/>
                        <a:latin typeface="Verdana" pitchFamily="34" charset="0"/>
                        <a:cs typeface="Arial" charset="0"/>
                      </a:endParaRPr>
                    </a:p>
                  </a:txBody>
                  <a:tcPr marL="91438" marR="9143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Y</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marL="91438" marR="914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dirty="0">
                          <a:ln>
                            <a:noFill/>
                          </a:ln>
                          <a:solidFill>
                            <a:schemeClr val="hlink"/>
                          </a:solidFill>
                          <a:effectLst/>
                          <a:latin typeface="Verdana" pitchFamily="34" charset="0"/>
                          <a:cs typeface="Arial" charset="0"/>
                        </a:rPr>
                        <a:t>N</a:t>
                      </a:r>
                      <a:endParaRPr kumimoji="0" lang="en-US" altLang="en-US" sz="1600" b="1" i="0" u="none" strike="noStrike" cap="none" normalizeH="0" baseline="0" dirty="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Y</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N</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Y</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N</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dirty="0">
                          <a:ln>
                            <a:noFill/>
                          </a:ln>
                          <a:solidFill>
                            <a:schemeClr val="hlink"/>
                          </a:solidFill>
                          <a:effectLst/>
                          <a:latin typeface="Verdana" pitchFamily="34" charset="0"/>
                          <a:cs typeface="Arial" charset="0"/>
                        </a:rPr>
                        <a:t>Y</a:t>
                      </a:r>
                      <a:endParaRPr kumimoji="0" lang="en-US" altLang="en-US" sz="1600" b="1" i="0" u="none" strike="noStrike" cap="none" normalizeH="0" baseline="0" dirty="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dirty="0">
                          <a:ln>
                            <a:noFill/>
                          </a:ln>
                          <a:solidFill>
                            <a:schemeClr val="hlink"/>
                          </a:solidFill>
                          <a:effectLst/>
                          <a:latin typeface="Verdana" pitchFamily="34" charset="0"/>
                          <a:cs typeface="Arial" charset="0"/>
                        </a:rPr>
                        <a:t>N</a:t>
                      </a:r>
                      <a:endParaRPr kumimoji="0" lang="en-US" altLang="en-US" sz="1600" b="1" i="0" u="none" strike="noStrike" cap="none" normalizeH="0" baseline="0" dirty="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09A"/>
                    </a:solidFill>
                  </a:tcPr>
                </a:tc>
                <a:extLst>
                  <a:ext uri="{0D108BD9-81ED-4DB2-BD59-A6C34878D82A}">
                    <a16:rowId xmlns:a16="http://schemas.microsoft.com/office/drawing/2014/main" val="10003"/>
                  </a:ext>
                </a:extLst>
              </a:tr>
              <a:tr h="533400">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1" fontAlgn="base" latinLnBrk="0" hangingPunct="1">
                        <a:lnSpc>
                          <a:spcPct val="110000"/>
                        </a:lnSpc>
                        <a:spcBef>
                          <a:spcPct val="30000"/>
                        </a:spcBef>
                        <a:spcAft>
                          <a:spcPct val="20000"/>
                        </a:spcAft>
                        <a:buClrTx/>
                        <a:buSzTx/>
                        <a:buFontTx/>
                        <a:buNone/>
                        <a:tabLst/>
                      </a:pPr>
                      <a:r>
                        <a:rPr kumimoji="0" lang="en-GB" altLang="en-US" sz="1600" b="0" i="0" u="none" strike="noStrike" cap="none" normalizeH="0" baseline="0" dirty="0">
                          <a:ln>
                            <a:noFill/>
                          </a:ln>
                          <a:solidFill>
                            <a:srgbClr val="004DB1"/>
                          </a:solidFill>
                          <a:effectLst/>
                          <a:latin typeface="Verdana" pitchFamily="34" charset="0"/>
                          <a:cs typeface="Arial" charset="0"/>
                        </a:rPr>
                        <a:t>Accept product</a:t>
                      </a:r>
                      <a:endParaRPr kumimoji="0" lang="en-US" altLang="en-US" sz="1600" b="0" i="0" u="none" strike="noStrike" cap="none" normalizeH="0" baseline="0" dirty="0">
                        <a:ln>
                          <a:noFill/>
                        </a:ln>
                        <a:solidFill>
                          <a:srgbClr val="004DB1"/>
                        </a:solidFill>
                        <a:effectLst/>
                        <a:latin typeface="Verdana" pitchFamily="34" charset="0"/>
                        <a:cs typeface="Arial" charset="0"/>
                      </a:endParaRPr>
                    </a:p>
                  </a:txBody>
                  <a:tcPr marL="91438" marR="9143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X</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marL="91438" marR="914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dirty="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dirty="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3400">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1" fontAlgn="base" latinLnBrk="0" hangingPunct="1">
                        <a:lnSpc>
                          <a:spcPct val="110000"/>
                        </a:lnSpc>
                        <a:spcBef>
                          <a:spcPct val="30000"/>
                        </a:spcBef>
                        <a:spcAft>
                          <a:spcPct val="20000"/>
                        </a:spcAft>
                        <a:buClrTx/>
                        <a:buSzTx/>
                        <a:buFontTx/>
                        <a:buNone/>
                        <a:tabLst/>
                      </a:pPr>
                      <a:r>
                        <a:rPr kumimoji="0" lang="en-GB" altLang="en-US" sz="1600" b="0" i="0" u="none" strike="noStrike" cap="none" normalizeH="0" baseline="0" dirty="0">
                          <a:ln>
                            <a:noFill/>
                          </a:ln>
                          <a:solidFill>
                            <a:srgbClr val="004DB1"/>
                          </a:solidFill>
                          <a:effectLst/>
                          <a:latin typeface="Verdana" pitchFamily="34" charset="0"/>
                          <a:cs typeface="Arial" charset="0"/>
                        </a:rPr>
                        <a:t>Repair product</a:t>
                      </a:r>
                      <a:endParaRPr kumimoji="0" lang="en-US" altLang="en-US" sz="1600" b="0" i="0" u="none" strike="noStrike" cap="none" normalizeH="0" baseline="0" dirty="0">
                        <a:ln>
                          <a:noFill/>
                        </a:ln>
                        <a:solidFill>
                          <a:srgbClr val="004DB1"/>
                        </a:solidFill>
                        <a:effectLst/>
                        <a:latin typeface="Verdana" pitchFamily="34" charset="0"/>
                        <a:cs typeface="Arial" charset="0"/>
                      </a:endParaRPr>
                    </a:p>
                  </a:txBody>
                  <a:tcPr marL="91438" marR="9143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dirty="0">
                        <a:ln>
                          <a:noFill/>
                        </a:ln>
                        <a:solidFill>
                          <a:schemeClr val="hlink"/>
                        </a:solidFill>
                        <a:effectLst/>
                        <a:latin typeface="Verdana" pitchFamily="34" charset="0"/>
                        <a:cs typeface="Arial" charset="0"/>
                      </a:endParaRPr>
                    </a:p>
                  </a:txBody>
                  <a:tcPr marL="91438" marR="914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X</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X</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dirty="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dirty="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33400">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1" fontAlgn="base" latinLnBrk="0" hangingPunct="1">
                        <a:lnSpc>
                          <a:spcPct val="110000"/>
                        </a:lnSpc>
                        <a:spcBef>
                          <a:spcPct val="30000"/>
                        </a:spcBef>
                        <a:spcAft>
                          <a:spcPct val="20000"/>
                        </a:spcAft>
                        <a:buClrTx/>
                        <a:buSzTx/>
                        <a:buFontTx/>
                        <a:buNone/>
                        <a:tabLst/>
                      </a:pPr>
                      <a:r>
                        <a:rPr kumimoji="0" lang="en-GB" altLang="en-US" sz="1600" b="0" i="0" u="none" strike="noStrike" cap="none" normalizeH="0" baseline="0" dirty="0">
                          <a:ln>
                            <a:noFill/>
                          </a:ln>
                          <a:solidFill>
                            <a:srgbClr val="004DB1"/>
                          </a:solidFill>
                          <a:effectLst/>
                          <a:latin typeface="Verdana" pitchFamily="34" charset="0"/>
                          <a:cs typeface="Arial" charset="0"/>
                        </a:rPr>
                        <a:t>Reject product</a:t>
                      </a:r>
                      <a:endParaRPr kumimoji="0" lang="en-US" altLang="en-US" sz="1600" b="0" i="0" u="none" strike="noStrike" cap="none" normalizeH="0" baseline="0" dirty="0">
                        <a:ln>
                          <a:noFill/>
                        </a:ln>
                        <a:solidFill>
                          <a:srgbClr val="004DB1"/>
                        </a:solidFill>
                        <a:effectLst/>
                        <a:latin typeface="Verdana" pitchFamily="34" charset="0"/>
                        <a:cs typeface="Arial" charset="0"/>
                      </a:endParaRPr>
                    </a:p>
                  </a:txBody>
                  <a:tcPr marL="91438" marR="9143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dirty="0">
                        <a:ln>
                          <a:noFill/>
                        </a:ln>
                        <a:solidFill>
                          <a:schemeClr val="hlink"/>
                        </a:solidFill>
                        <a:effectLst/>
                        <a:latin typeface="Verdana" pitchFamily="34" charset="0"/>
                        <a:cs typeface="Arial" charset="0"/>
                      </a:endParaRPr>
                    </a:p>
                  </a:txBody>
                  <a:tcPr marL="91438" marR="914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dirty="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dirty="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dirty="0">
                          <a:ln>
                            <a:noFill/>
                          </a:ln>
                          <a:solidFill>
                            <a:schemeClr val="hlink"/>
                          </a:solidFill>
                          <a:effectLst/>
                          <a:latin typeface="Verdana" pitchFamily="34" charset="0"/>
                          <a:cs typeface="Arial" charset="0"/>
                        </a:rPr>
                        <a:t>X</a:t>
                      </a:r>
                      <a:endParaRPr kumimoji="0" lang="en-US" altLang="en-US" sz="1600" b="1" i="0" u="none" strike="noStrike" cap="none" normalizeH="0" baseline="0" dirty="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dirty="0">
                          <a:ln>
                            <a:noFill/>
                          </a:ln>
                          <a:solidFill>
                            <a:schemeClr val="hlink"/>
                          </a:solidFill>
                          <a:effectLst/>
                          <a:latin typeface="Verdana" pitchFamily="34" charset="0"/>
                          <a:cs typeface="Arial" charset="0"/>
                        </a:rPr>
                        <a:t>X</a:t>
                      </a:r>
                      <a:endParaRPr kumimoji="0" lang="en-US" altLang="en-US" sz="1600" b="1" i="0" u="none" strike="noStrike" cap="none" normalizeH="0" baseline="0" dirty="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dirty="0">
                          <a:ln>
                            <a:noFill/>
                          </a:ln>
                          <a:solidFill>
                            <a:schemeClr val="hlink"/>
                          </a:solidFill>
                          <a:effectLst/>
                          <a:latin typeface="Verdana" pitchFamily="34" charset="0"/>
                          <a:cs typeface="Arial" charset="0"/>
                        </a:rPr>
                        <a:t>X</a:t>
                      </a:r>
                      <a:endParaRPr kumimoji="0" lang="en-US" altLang="en-US" sz="1600" b="1" i="0" u="none" strike="noStrike" cap="none" normalizeH="0" baseline="0" dirty="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dirty="0">
                          <a:ln>
                            <a:noFill/>
                          </a:ln>
                          <a:solidFill>
                            <a:schemeClr val="hlink"/>
                          </a:solidFill>
                          <a:effectLst/>
                          <a:latin typeface="Verdana" pitchFamily="34" charset="0"/>
                          <a:cs typeface="Arial" charset="0"/>
                        </a:rPr>
                        <a:t>X</a:t>
                      </a:r>
                      <a:endParaRPr kumimoji="0" lang="en-US" altLang="en-US" sz="1600" b="1" i="0" u="none" strike="noStrike" cap="none" normalizeH="0" baseline="0" dirty="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dirty="0">
                          <a:ln>
                            <a:noFill/>
                          </a:ln>
                          <a:solidFill>
                            <a:schemeClr val="hlink"/>
                          </a:solidFill>
                          <a:effectLst/>
                          <a:latin typeface="Verdana" pitchFamily="34" charset="0"/>
                          <a:cs typeface="Arial" charset="0"/>
                        </a:rPr>
                        <a:t>X</a:t>
                      </a:r>
                      <a:endParaRPr kumimoji="0" lang="en-US" altLang="en-US" sz="1600" b="1" i="0" u="none" strike="noStrike" cap="none" normalizeH="0" baseline="0" dirty="0">
                        <a:ln>
                          <a:noFill/>
                        </a:ln>
                        <a:solidFill>
                          <a:schemeClr val="hlink"/>
                        </a:solidFill>
                        <a:effectLst/>
                        <a:latin typeface="Verdana" pitchFamily="34" charset="0"/>
                        <a:cs typeface="Arial" charset="0"/>
                      </a:endParaRPr>
                    </a:p>
                  </a:txBody>
                  <a:tcPr marL="91438" marR="914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 name="Rounded Rectangle 1"/>
          <p:cNvSpPr/>
          <p:nvPr/>
        </p:nvSpPr>
        <p:spPr bwMode="auto">
          <a:xfrm>
            <a:off x="5562600" y="990600"/>
            <a:ext cx="3091543" cy="4269017"/>
          </a:xfrm>
          <a:prstGeom prst="roundRect">
            <a:avLst/>
          </a:prstGeom>
          <a:noFill/>
          <a:ln w="508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4D75"/>
              </a:solidFill>
              <a:effectLst/>
              <a:uLnTx/>
              <a:uFillTx/>
              <a:latin typeface="Verdana"/>
              <a:ea typeface="+mn-ea"/>
              <a:cs typeface="Arial" charset="0"/>
            </a:endParaRPr>
          </a:p>
        </p:txBody>
      </p:sp>
      <p:sp>
        <p:nvSpPr>
          <p:cNvPr id="5" name="TextBox 4"/>
          <p:cNvSpPr txBox="1"/>
          <p:nvPr/>
        </p:nvSpPr>
        <p:spPr>
          <a:xfrm>
            <a:off x="6474542" y="0"/>
            <a:ext cx="2667000"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B050"/>
                </a:solidFill>
                <a:effectLst/>
                <a:uLnTx/>
                <a:uFillTx/>
                <a:latin typeface="Verdana"/>
                <a:ea typeface="+mn-ea"/>
                <a:cs typeface="+mn-cs"/>
              </a:rPr>
              <a:t>Read each rule downwards. The determinant condition, should be on top for easy understanding/reading.</a:t>
            </a:r>
          </a:p>
        </p:txBody>
      </p:sp>
    </p:spTree>
    <p:extLst>
      <p:ext uri="{BB962C8B-B14F-4D97-AF65-F5344CB8AC3E}">
        <p14:creationId xmlns:p14="http://schemas.microsoft.com/office/powerpoint/2010/main" val="744654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1748"/>
                                        </p:tgtEl>
                                        <p:attrNameLst>
                                          <p:attrName>style.visibility</p:attrName>
                                        </p:attrNameLst>
                                      </p:cBhvr>
                                      <p:to>
                                        <p:strVal val="visible"/>
                                      </p:to>
                                    </p:set>
                                    <p:anim calcmode="lin" valueType="num">
                                      <p:cBhvr additive="base">
                                        <p:cTn id="14" dur="500" fill="hold"/>
                                        <p:tgtEl>
                                          <p:spTgt spid="31748"/>
                                        </p:tgtEl>
                                        <p:attrNameLst>
                                          <p:attrName>ppt_x</p:attrName>
                                        </p:attrNameLst>
                                      </p:cBhvr>
                                      <p:tavLst>
                                        <p:tav tm="0">
                                          <p:val>
                                            <p:strVal val="#ppt_x"/>
                                          </p:val>
                                        </p:tav>
                                        <p:tav tm="100000">
                                          <p:val>
                                            <p:strVal val="#ppt_x"/>
                                          </p:val>
                                        </p:tav>
                                      </p:tavLst>
                                    </p:anim>
                                    <p:anim calcmode="lin" valueType="num">
                                      <p:cBhvr additive="base">
                                        <p:cTn id="15" dur="500" fill="hold"/>
                                        <p:tgtEl>
                                          <p:spTgt spid="31748"/>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31747"/>
                                        </p:tgtEl>
                                        <p:attrNameLst>
                                          <p:attrName>style.visibility</p:attrName>
                                        </p:attrNameLst>
                                      </p:cBhvr>
                                      <p:to>
                                        <p:strVal val="visible"/>
                                      </p:to>
                                    </p:set>
                                    <p:anim calcmode="lin" valueType="num">
                                      <p:cBhvr additive="base">
                                        <p:cTn id="26" dur="500" fill="hold"/>
                                        <p:tgtEl>
                                          <p:spTgt spid="31747"/>
                                        </p:tgtEl>
                                        <p:attrNameLst>
                                          <p:attrName>ppt_x</p:attrName>
                                        </p:attrNameLst>
                                      </p:cBhvr>
                                      <p:tavLst>
                                        <p:tav tm="0">
                                          <p:val>
                                            <p:strVal val="#ppt_x"/>
                                          </p:val>
                                        </p:tav>
                                        <p:tav tm="100000">
                                          <p:val>
                                            <p:strVal val="#ppt_x"/>
                                          </p:val>
                                        </p:tav>
                                      </p:tavLst>
                                    </p:anim>
                                    <p:anim calcmode="lin" valueType="num">
                                      <p:cBhvr additive="base">
                                        <p:cTn id="27" dur="500" fill="hold"/>
                                        <p:tgtEl>
                                          <p:spTgt spid="317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p:bldP spid="31748" grpId="0"/>
      <p:bldP spid="2" grpId="0" animBg="1"/>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p:cNvSpPr txBox="1">
            <a:spLocks noChangeArrowheads="1"/>
          </p:cNvSpPr>
          <p:nvPr/>
        </p:nvSpPr>
        <p:spPr bwMode="auto">
          <a:xfrm>
            <a:off x="1570882" y="268288"/>
            <a:ext cx="6030818"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3000" b="1" i="0" u="none" strike="noStrike" kern="1200" cap="none" spc="0" normalizeH="0" baseline="0" noProof="0" dirty="0">
                <a:ln>
                  <a:noFill/>
                </a:ln>
                <a:solidFill>
                  <a:srgbClr val="000000"/>
                </a:solidFill>
                <a:effectLst/>
                <a:uLnTx/>
                <a:uFillTx/>
                <a:latin typeface="Verdana" pitchFamily="34" charset="0"/>
                <a:ea typeface="+mn-ea"/>
                <a:cs typeface="Arial" charset="0"/>
              </a:rPr>
              <a:t>Decision Table (Simplified)</a:t>
            </a:r>
            <a:endParaRPr kumimoji="0" lang="en-GB" altLang="en-US" sz="2400" b="1" i="0" u="sng" strike="noStrike" kern="1200" cap="none" spc="0" normalizeH="0" baseline="0" noProof="0" dirty="0">
              <a:ln>
                <a:noFill/>
              </a:ln>
              <a:solidFill>
                <a:srgbClr val="000000"/>
              </a:solidFill>
              <a:effectLst/>
              <a:uLnTx/>
              <a:uFillTx/>
              <a:latin typeface="Verdana" pitchFamily="34" charset="0"/>
              <a:ea typeface="+mn-ea"/>
              <a:cs typeface="Arial" charset="0"/>
            </a:endParaRPr>
          </a:p>
        </p:txBody>
      </p:sp>
      <p:graphicFrame>
        <p:nvGraphicFramePr>
          <p:cNvPr id="939087" name="Group 79"/>
          <p:cNvGraphicFramePr>
            <a:graphicFrameLocks noGrp="1"/>
          </p:cNvGraphicFramePr>
          <p:nvPr>
            <p:extLst/>
          </p:nvPr>
        </p:nvGraphicFramePr>
        <p:xfrm>
          <a:off x="1600200" y="1473200"/>
          <a:ext cx="5970588" cy="4165600"/>
        </p:xfrm>
        <a:graphic>
          <a:graphicData uri="http://schemas.openxmlformats.org/drawingml/2006/table">
            <a:tbl>
              <a:tblPr/>
              <a:tblGrid>
                <a:gridCol w="1930400">
                  <a:extLst>
                    <a:ext uri="{9D8B030D-6E8A-4147-A177-3AD203B41FA5}">
                      <a16:colId xmlns:a16="http://schemas.microsoft.com/office/drawing/2014/main" val="20000"/>
                    </a:ext>
                  </a:extLst>
                </a:gridCol>
                <a:gridCol w="806450">
                  <a:extLst>
                    <a:ext uri="{9D8B030D-6E8A-4147-A177-3AD203B41FA5}">
                      <a16:colId xmlns:a16="http://schemas.microsoft.com/office/drawing/2014/main" val="20001"/>
                    </a:ext>
                  </a:extLst>
                </a:gridCol>
                <a:gridCol w="809625">
                  <a:extLst>
                    <a:ext uri="{9D8B030D-6E8A-4147-A177-3AD203B41FA5}">
                      <a16:colId xmlns:a16="http://schemas.microsoft.com/office/drawing/2014/main" val="20002"/>
                    </a:ext>
                  </a:extLst>
                </a:gridCol>
                <a:gridCol w="808038">
                  <a:extLst>
                    <a:ext uri="{9D8B030D-6E8A-4147-A177-3AD203B41FA5}">
                      <a16:colId xmlns:a16="http://schemas.microsoft.com/office/drawing/2014/main" val="20003"/>
                    </a:ext>
                  </a:extLst>
                </a:gridCol>
                <a:gridCol w="806450">
                  <a:extLst>
                    <a:ext uri="{9D8B030D-6E8A-4147-A177-3AD203B41FA5}">
                      <a16:colId xmlns:a16="http://schemas.microsoft.com/office/drawing/2014/main" val="20004"/>
                    </a:ext>
                  </a:extLst>
                </a:gridCol>
                <a:gridCol w="809625">
                  <a:extLst>
                    <a:ext uri="{9D8B030D-6E8A-4147-A177-3AD203B41FA5}">
                      <a16:colId xmlns:a16="http://schemas.microsoft.com/office/drawing/2014/main" val="20005"/>
                    </a:ext>
                  </a:extLst>
                </a:gridCol>
              </a:tblGrid>
              <a:tr h="508000">
                <a:tc>
                  <a:txBody>
                    <a:bodyPr/>
                    <a:lstStyle/>
                    <a:p>
                      <a:pPr marL="0" marR="0" lvl="0" indent="0" algn="l" defTabSz="914400" rtl="0" eaLnBrk="1" fontAlgn="base" latinLnBrk="0" hangingPunct="1">
                        <a:lnSpc>
                          <a:spcPct val="110000"/>
                        </a:lnSpc>
                        <a:spcBef>
                          <a:spcPct val="30000"/>
                        </a:spcBef>
                        <a:spcAft>
                          <a:spcPct val="20000"/>
                        </a:spcAft>
                        <a:buClrTx/>
                        <a:buSzTx/>
                        <a:buFontTx/>
                        <a:buNone/>
                        <a:tabLst/>
                      </a:pPr>
                      <a:endParaRPr kumimoji="0" lang="en-US" altLang="en-US" sz="1600" b="0" i="0" u="none" strike="noStrike" cap="none" normalizeH="0" baseline="0" dirty="0">
                        <a:ln>
                          <a:noFill/>
                        </a:ln>
                        <a:solidFill>
                          <a:srgbClr val="004DB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US" altLang="en-US" sz="1600" b="1" i="0" u="none" strike="noStrike" cap="none" normalizeH="0" baseline="0" dirty="0">
                          <a:ln>
                            <a:noFill/>
                          </a:ln>
                          <a:solidFill>
                            <a:schemeClr val="tx1"/>
                          </a:solidFill>
                          <a:effectLst/>
                          <a:latin typeface="Verdana" pitchFamily="34" charset="0"/>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US" altLang="en-US" sz="1600" b="1" i="0" u="none" strike="noStrike" cap="none" normalizeH="0" baseline="0" dirty="0">
                          <a:ln>
                            <a:noFill/>
                          </a:ln>
                          <a:solidFill>
                            <a:schemeClr val="tx1"/>
                          </a:solidFill>
                          <a:effectLst/>
                          <a:latin typeface="Verdana" pitchFamily="34"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US" altLang="en-US" sz="1600" b="1" i="0" u="none" strike="noStrike" cap="none" normalizeH="0" baseline="0" dirty="0">
                          <a:ln>
                            <a:noFill/>
                          </a:ln>
                          <a:solidFill>
                            <a:schemeClr val="tx1"/>
                          </a:solidFill>
                          <a:effectLst/>
                          <a:latin typeface="Verdana" pitchFamily="34"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US" altLang="en-US" sz="1600" b="1" i="0" u="none" strike="noStrike" cap="none" normalizeH="0" baseline="0" dirty="0">
                          <a:ln>
                            <a:noFill/>
                          </a:ln>
                          <a:solidFill>
                            <a:schemeClr val="tx1"/>
                          </a:solidFill>
                          <a:effectLst/>
                          <a:latin typeface="Verdana" pitchFamily="34"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US" altLang="en-US" sz="1600" b="1" i="0" u="none" strike="noStrike" cap="none" normalizeH="0" baseline="0" dirty="0">
                          <a:ln>
                            <a:noFill/>
                          </a:ln>
                          <a:solidFill>
                            <a:schemeClr val="tx1"/>
                          </a:solidFill>
                          <a:effectLst/>
                          <a:latin typeface="Verdana" pitchFamily="34" charset="0"/>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77863">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1" fontAlgn="base" latinLnBrk="0" hangingPunct="1">
                        <a:lnSpc>
                          <a:spcPct val="110000"/>
                        </a:lnSpc>
                        <a:spcBef>
                          <a:spcPct val="30000"/>
                        </a:spcBef>
                        <a:spcAft>
                          <a:spcPct val="20000"/>
                        </a:spcAft>
                        <a:buClrTx/>
                        <a:buSzTx/>
                        <a:buFontTx/>
                        <a:buNone/>
                        <a:tabLst/>
                      </a:pPr>
                      <a:r>
                        <a:rPr kumimoji="0" lang="en-GB" altLang="en-US" sz="1600" b="0" i="0" u="none" strike="noStrike" cap="none" normalizeH="0" baseline="0" dirty="0">
                          <a:ln>
                            <a:noFill/>
                          </a:ln>
                          <a:solidFill>
                            <a:srgbClr val="004DB1"/>
                          </a:solidFill>
                          <a:effectLst/>
                          <a:latin typeface="Verdana" pitchFamily="34" charset="0"/>
                          <a:cs typeface="Arial" charset="0"/>
                        </a:rPr>
                        <a:t>Correct dimensions?</a:t>
                      </a:r>
                      <a:endParaRPr kumimoji="0" lang="en-US" altLang="en-US" sz="1600" b="0" i="0" u="none" strike="noStrike" cap="none" normalizeH="0" baseline="0" dirty="0">
                        <a:ln>
                          <a:noFill/>
                        </a:ln>
                        <a:solidFill>
                          <a:srgbClr val="004DB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Y</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Y</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Y</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Y</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dirty="0">
                          <a:ln>
                            <a:noFill/>
                          </a:ln>
                          <a:solidFill>
                            <a:schemeClr val="hlink"/>
                          </a:solidFill>
                          <a:effectLst/>
                          <a:latin typeface="Verdana" pitchFamily="34" charset="0"/>
                          <a:cs typeface="Arial" charset="0"/>
                        </a:rPr>
                        <a:t>N</a:t>
                      </a:r>
                      <a:endParaRPr kumimoji="0" lang="en-US" altLang="en-US" sz="1600" b="1" i="0" u="none" strike="noStrike" cap="none" normalizeH="0" baseline="0" dirty="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extLst>
                  <a:ext uri="{0D108BD9-81ED-4DB2-BD59-A6C34878D82A}">
                    <a16:rowId xmlns:a16="http://schemas.microsoft.com/office/drawing/2014/main" val="10001"/>
                  </a:ext>
                </a:extLst>
              </a:tr>
              <a:tr h="676275">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1" fontAlgn="base" latinLnBrk="0" hangingPunct="1">
                        <a:lnSpc>
                          <a:spcPct val="110000"/>
                        </a:lnSpc>
                        <a:spcBef>
                          <a:spcPct val="30000"/>
                        </a:spcBef>
                        <a:spcAft>
                          <a:spcPct val="20000"/>
                        </a:spcAft>
                        <a:buClrTx/>
                        <a:buSzTx/>
                        <a:buFontTx/>
                        <a:buNone/>
                        <a:tabLst/>
                      </a:pPr>
                      <a:r>
                        <a:rPr kumimoji="0" lang="en-GB" altLang="en-US" sz="1600" b="0" i="0" u="none" strike="noStrike" cap="none" normalizeH="0" baseline="0">
                          <a:ln>
                            <a:noFill/>
                          </a:ln>
                          <a:solidFill>
                            <a:srgbClr val="004DB1"/>
                          </a:solidFill>
                          <a:effectLst/>
                          <a:latin typeface="Verdana" pitchFamily="34" charset="0"/>
                          <a:cs typeface="Arial" charset="0"/>
                        </a:rPr>
                        <a:t>Passed mechanical test?</a:t>
                      </a:r>
                      <a:endParaRPr kumimoji="0" lang="en-US" altLang="en-US" sz="1600" b="0" i="0" u="none" strike="noStrike" cap="none" normalizeH="0" baseline="0">
                        <a:ln>
                          <a:noFill/>
                        </a:ln>
                        <a:solidFill>
                          <a:srgbClr val="004DB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Y</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Y</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N</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N</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09A"/>
                    </a:solidFill>
                  </a:tcPr>
                </a:tc>
                <a:extLst>
                  <a:ext uri="{0D108BD9-81ED-4DB2-BD59-A6C34878D82A}">
                    <a16:rowId xmlns:a16="http://schemas.microsoft.com/office/drawing/2014/main" val="10002"/>
                  </a:ext>
                </a:extLst>
              </a:tr>
              <a:tr h="677863">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1" fontAlgn="base" latinLnBrk="0" hangingPunct="1">
                        <a:lnSpc>
                          <a:spcPct val="110000"/>
                        </a:lnSpc>
                        <a:spcBef>
                          <a:spcPct val="30000"/>
                        </a:spcBef>
                        <a:spcAft>
                          <a:spcPct val="20000"/>
                        </a:spcAft>
                        <a:buClrTx/>
                        <a:buSzTx/>
                        <a:buFontTx/>
                        <a:buNone/>
                        <a:tabLst/>
                      </a:pPr>
                      <a:r>
                        <a:rPr kumimoji="0" lang="en-GB" altLang="en-US" sz="1600" b="0" i="0" u="none" strike="noStrike" cap="none" normalizeH="0" baseline="0">
                          <a:ln>
                            <a:noFill/>
                          </a:ln>
                          <a:solidFill>
                            <a:srgbClr val="004DB1"/>
                          </a:solidFill>
                          <a:effectLst/>
                          <a:latin typeface="Verdana" pitchFamily="34" charset="0"/>
                          <a:cs typeface="Arial" charset="0"/>
                        </a:rPr>
                        <a:t>Passed electrical test?</a:t>
                      </a:r>
                      <a:endParaRPr kumimoji="0" lang="en-US" altLang="en-US" sz="1600" b="0" i="0" u="none" strike="noStrike" cap="none" normalizeH="0" baseline="0">
                        <a:ln>
                          <a:noFill/>
                        </a:ln>
                        <a:solidFill>
                          <a:srgbClr val="004DB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Y</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N</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Y</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N</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09A"/>
                    </a:solid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dirty="0">
                          <a:ln>
                            <a:noFill/>
                          </a:ln>
                          <a:solidFill>
                            <a:schemeClr val="hlink"/>
                          </a:solidFill>
                          <a:effectLst/>
                          <a:latin typeface="Verdana" pitchFamily="34" charset="0"/>
                          <a:cs typeface="Arial" charset="0"/>
                        </a:rPr>
                        <a:t>-</a:t>
                      </a:r>
                      <a:endParaRPr kumimoji="0" lang="en-US" altLang="en-US" sz="1600" b="1" i="0" u="none" strike="noStrike" cap="none" normalizeH="0" baseline="0" dirty="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09A"/>
                    </a:solidFill>
                  </a:tcPr>
                </a:tc>
                <a:extLst>
                  <a:ext uri="{0D108BD9-81ED-4DB2-BD59-A6C34878D82A}">
                    <a16:rowId xmlns:a16="http://schemas.microsoft.com/office/drawing/2014/main" val="10003"/>
                  </a:ext>
                </a:extLst>
              </a:tr>
              <a:tr h="558799">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1" fontAlgn="base" latinLnBrk="0" hangingPunct="1">
                        <a:lnSpc>
                          <a:spcPct val="110000"/>
                        </a:lnSpc>
                        <a:spcBef>
                          <a:spcPct val="30000"/>
                        </a:spcBef>
                        <a:spcAft>
                          <a:spcPct val="20000"/>
                        </a:spcAft>
                        <a:buClrTx/>
                        <a:buSzTx/>
                        <a:buFontTx/>
                        <a:buNone/>
                        <a:tabLst/>
                      </a:pPr>
                      <a:r>
                        <a:rPr kumimoji="0" lang="en-GB" altLang="en-US" sz="1600" b="0" i="0" u="none" strike="noStrike" cap="none" normalizeH="0" baseline="0">
                          <a:ln>
                            <a:noFill/>
                          </a:ln>
                          <a:solidFill>
                            <a:srgbClr val="004DB1"/>
                          </a:solidFill>
                          <a:effectLst/>
                          <a:latin typeface="Verdana" pitchFamily="34" charset="0"/>
                          <a:cs typeface="Arial" charset="0"/>
                        </a:rPr>
                        <a:t>Accept product</a:t>
                      </a:r>
                      <a:endParaRPr kumimoji="0" lang="en-US" altLang="en-US" sz="1600" b="0" i="0" u="none" strike="noStrike" cap="none" normalizeH="0" baseline="0">
                        <a:ln>
                          <a:noFill/>
                        </a:ln>
                        <a:solidFill>
                          <a:srgbClr val="004DB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dirty="0">
                          <a:ln>
                            <a:noFill/>
                          </a:ln>
                          <a:solidFill>
                            <a:schemeClr val="hlink"/>
                          </a:solidFill>
                          <a:effectLst/>
                          <a:latin typeface="Verdana" pitchFamily="34" charset="0"/>
                          <a:cs typeface="Arial" charset="0"/>
                        </a:rPr>
                        <a:t>X</a:t>
                      </a:r>
                      <a:endParaRPr kumimoji="0" lang="en-US" altLang="en-US" sz="1600" b="1" i="0" u="none" strike="noStrike" cap="none" normalizeH="0" baseline="0" dirty="0">
                        <a:ln>
                          <a:noFill/>
                        </a:ln>
                        <a:solidFill>
                          <a:schemeClr val="hlink"/>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3400">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1" fontAlgn="base" latinLnBrk="0" hangingPunct="1">
                        <a:lnSpc>
                          <a:spcPct val="110000"/>
                        </a:lnSpc>
                        <a:spcBef>
                          <a:spcPct val="30000"/>
                        </a:spcBef>
                        <a:spcAft>
                          <a:spcPct val="20000"/>
                        </a:spcAft>
                        <a:buClrTx/>
                        <a:buSzTx/>
                        <a:buFontTx/>
                        <a:buNone/>
                        <a:tabLst/>
                      </a:pPr>
                      <a:r>
                        <a:rPr kumimoji="0" lang="en-GB" altLang="en-US" sz="1600" b="0" i="0" u="none" strike="noStrike" cap="none" normalizeH="0" baseline="0">
                          <a:ln>
                            <a:noFill/>
                          </a:ln>
                          <a:solidFill>
                            <a:srgbClr val="004DB1"/>
                          </a:solidFill>
                          <a:effectLst/>
                          <a:latin typeface="Verdana" pitchFamily="34" charset="0"/>
                          <a:cs typeface="Arial" charset="0"/>
                        </a:rPr>
                        <a:t>Repair product</a:t>
                      </a:r>
                      <a:endParaRPr kumimoji="0" lang="en-US" altLang="en-US" sz="1600" b="0" i="0" u="none" strike="noStrike" cap="none" normalizeH="0" baseline="0">
                        <a:ln>
                          <a:noFill/>
                        </a:ln>
                        <a:solidFill>
                          <a:srgbClr val="004DB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X</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X</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33400">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1" fontAlgn="base" latinLnBrk="0" hangingPunct="1">
                        <a:lnSpc>
                          <a:spcPct val="110000"/>
                        </a:lnSpc>
                        <a:spcBef>
                          <a:spcPct val="30000"/>
                        </a:spcBef>
                        <a:spcAft>
                          <a:spcPct val="20000"/>
                        </a:spcAft>
                        <a:buClrTx/>
                        <a:buSzTx/>
                        <a:buFontTx/>
                        <a:buNone/>
                        <a:tabLst/>
                      </a:pPr>
                      <a:r>
                        <a:rPr kumimoji="0" lang="en-GB" altLang="en-US" sz="1600" b="0" i="0" u="none" strike="noStrike" cap="none" normalizeH="0" baseline="0">
                          <a:ln>
                            <a:noFill/>
                          </a:ln>
                          <a:solidFill>
                            <a:srgbClr val="004DB1"/>
                          </a:solidFill>
                          <a:effectLst/>
                          <a:latin typeface="Verdana" pitchFamily="34" charset="0"/>
                          <a:cs typeface="Arial" charset="0"/>
                        </a:rPr>
                        <a:t>Reject product</a:t>
                      </a:r>
                      <a:endParaRPr kumimoji="0" lang="en-US" altLang="en-US" sz="1600" b="0" i="0" u="none" strike="noStrike" cap="none" normalizeH="0" baseline="0">
                        <a:ln>
                          <a:noFill/>
                        </a:ln>
                        <a:solidFill>
                          <a:srgbClr val="004DB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X</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dirty="0">
                          <a:ln>
                            <a:noFill/>
                          </a:ln>
                          <a:solidFill>
                            <a:schemeClr val="hlink"/>
                          </a:solidFill>
                          <a:effectLst/>
                          <a:latin typeface="Verdana" pitchFamily="34" charset="0"/>
                          <a:cs typeface="Arial" charset="0"/>
                        </a:rPr>
                        <a:t>X</a:t>
                      </a:r>
                      <a:endParaRPr kumimoji="0" lang="en-US" altLang="en-US" sz="1600" b="1" i="0" u="none" strike="noStrike" cap="none" normalizeH="0" baseline="0" dirty="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32822" name="Text Box 80"/>
          <p:cNvSpPr txBox="1">
            <a:spLocks noChangeArrowheads="1"/>
          </p:cNvSpPr>
          <p:nvPr/>
        </p:nvSpPr>
        <p:spPr bwMode="auto">
          <a:xfrm>
            <a:off x="1123950" y="6521450"/>
            <a:ext cx="8020050" cy="336550"/>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r" defTabSz="914400" rtl="0" eaLnBrk="0" fontAlgn="base" latinLnBrk="0" hangingPunct="0">
              <a:lnSpc>
                <a:spcPct val="100000"/>
              </a:lnSpc>
              <a:spcBef>
                <a:spcPct val="0"/>
              </a:spcBef>
              <a:spcAft>
                <a:spcPct val="0"/>
              </a:spcAft>
              <a:buClrTx/>
              <a:buSzTx/>
              <a:buFont typeface="Symbol" pitchFamily="18" charset="2"/>
              <a:buNone/>
              <a:tabLst/>
              <a:defRPr/>
            </a:pPr>
            <a:r>
              <a:rPr kumimoji="0" lang="en-GB" altLang="en-US" sz="1400" b="0" i="0" u="none" strike="noStrike" kern="1200" cap="none" spc="0" normalizeH="0" baseline="0" noProof="0" dirty="0">
                <a:ln>
                  <a:noFill/>
                </a:ln>
                <a:solidFill>
                  <a:srgbClr val="000000"/>
                </a:solidFill>
                <a:effectLst/>
                <a:uLnTx/>
                <a:uFillTx/>
                <a:latin typeface="Times New Roman" pitchFamily="18" charset="0"/>
                <a:ea typeface="+mn-ea"/>
                <a:cs typeface="Arial" charset="0"/>
              </a:rPr>
              <a:t>Adapted from </a:t>
            </a:r>
            <a:r>
              <a:rPr kumimoji="0" lang="en-US" altLang="en-US" sz="1400" b="0" i="0" u="none" strike="noStrike" kern="1200" cap="none" spc="0" normalizeH="0" baseline="0" noProof="0" dirty="0" err="1">
                <a:ln>
                  <a:noFill/>
                </a:ln>
                <a:solidFill>
                  <a:srgbClr val="000000"/>
                </a:solidFill>
                <a:effectLst/>
                <a:uLnTx/>
                <a:uFillTx/>
                <a:latin typeface="Times New Roman" pitchFamily="18" charset="0"/>
                <a:ea typeface="+mn-ea"/>
                <a:cs typeface="Arial" charset="0"/>
              </a:rPr>
              <a:t>Lejk</a:t>
            </a:r>
            <a:r>
              <a:rPr kumimoji="0" lang="en-US" altLang="en-US" sz="1400" b="0" i="0" u="none" strike="noStrike" kern="1200" cap="none" spc="0" normalizeH="0" baseline="0" noProof="0" dirty="0">
                <a:ln>
                  <a:noFill/>
                </a:ln>
                <a:solidFill>
                  <a:srgbClr val="000000"/>
                </a:solidFill>
                <a:effectLst/>
                <a:uLnTx/>
                <a:uFillTx/>
                <a:latin typeface="Times New Roman" pitchFamily="18" charset="0"/>
                <a:ea typeface="+mn-ea"/>
                <a:cs typeface="Arial" charset="0"/>
              </a:rPr>
              <a:t> &amp; </a:t>
            </a:r>
            <a:r>
              <a:rPr kumimoji="0" lang="en-US" altLang="en-US" sz="1400" b="0" i="0" u="none" strike="noStrike" kern="1200" cap="none" spc="0" normalizeH="0" baseline="0" noProof="0" dirty="0" err="1">
                <a:ln>
                  <a:noFill/>
                </a:ln>
                <a:solidFill>
                  <a:srgbClr val="000000"/>
                </a:solidFill>
                <a:effectLst/>
                <a:uLnTx/>
                <a:uFillTx/>
                <a:latin typeface="Times New Roman" pitchFamily="18" charset="0"/>
                <a:ea typeface="+mn-ea"/>
                <a:cs typeface="Arial" charset="0"/>
              </a:rPr>
              <a:t>Deeks</a:t>
            </a:r>
            <a:r>
              <a:rPr kumimoji="0" lang="en-US" altLang="en-US" sz="1400" b="0" i="0" u="none" strike="noStrike" kern="1200" cap="none" spc="0" normalizeH="0" baseline="0" noProof="0" dirty="0">
                <a:ln>
                  <a:noFill/>
                </a:ln>
                <a:solidFill>
                  <a:srgbClr val="000000"/>
                </a:solidFill>
                <a:effectLst/>
                <a:uLnTx/>
                <a:uFillTx/>
                <a:latin typeface="Times New Roman" pitchFamily="18" charset="0"/>
                <a:ea typeface="+mn-ea"/>
                <a:cs typeface="Arial" charset="0"/>
              </a:rPr>
              <a:t> (2002), pp 103.</a:t>
            </a:r>
            <a:endParaRPr kumimoji="0" lang="en-GB" altLang="en-US" sz="1400" b="0" i="0" u="none" strike="noStrike" kern="1200" cap="none" spc="0" normalizeH="0" baseline="0" noProof="0" dirty="0">
              <a:ln>
                <a:noFill/>
              </a:ln>
              <a:solidFill>
                <a:srgbClr val="000000"/>
              </a:solidFill>
              <a:effectLst/>
              <a:uLnTx/>
              <a:uFillTx/>
              <a:latin typeface="Times New Roman" pitchFamily="18" charset="0"/>
              <a:ea typeface="+mn-ea"/>
              <a:cs typeface="Arial" charset="0"/>
            </a:endParaRPr>
          </a:p>
        </p:txBody>
      </p:sp>
      <p:sp>
        <p:nvSpPr>
          <p:cNvPr id="2" name="Rounded Rectangle 1"/>
          <p:cNvSpPr/>
          <p:nvPr/>
        </p:nvSpPr>
        <p:spPr bwMode="auto">
          <a:xfrm>
            <a:off x="6647543" y="1335315"/>
            <a:ext cx="1048657" cy="4455885"/>
          </a:xfrm>
          <a:prstGeom prst="roundRect">
            <a:avLst/>
          </a:prstGeom>
          <a:noFill/>
          <a:ln w="508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4D75"/>
              </a:solidFill>
              <a:effectLst/>
              <a:uLnTx/>
              <a:uFillTx/>
              <a:latin typeface="Verdana"/>
              <a:ea typeface="+mn-ea"/>
              <a:cs typeface="Arial" charset="0"/>
            </a:endParaRPr>
          </a:p>
        </p:txBody>
      </p:sp>
      <p:cxnSp>
        <p:nvCxnSpPr>
          <p:cNvPr id="4" name="Straight Arrow Connector 3"/>
          <p:cNvCxnSpPr/>
          <p:nvPr/>
        </p:nvCxnSpPr>
        <p:spPr bwMode="auto">
          <a:xfrm flipV="1">
            <a:off x="4586291" y="5631545"/>
            <a:ext cx="2046738" cy="232228"/>
          </a:xfrm>
          <a:prstGeom prst="straightConnector1">
            <a:avLst/>
          </a:prstGeom>
          <a:solidFill>
            <a:schemeClr val="accent1"/>
          </a:solidFill>
          <a:ln w="3810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 name="TextBox 4"/>
          <p:cNvSpPr txBox="1"/>
          <p:nvPr/>
        </p:nvSpPr>
        <p:spPr>
          <a:xfrm>
            <a:off x="1123950" y="5689602"/>
            <a:ext cx="5755821" cy="120032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Verdana"/>
                <a:ea typeface="+mn-ea"/>
                <a:cs typeface="Arial" charset="0"/>
              </a:rPr>
              <a:t>Combined rules 5-8:</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Verdana"/>
                <a:ea typeface="+mn-ea"/>
                <a:cs typeface="Arial" charset="0"/>
              </a:rPr>
              <a:t>As long as the dimensions are incorrect, it doesn’t matter if it pass or fail mechanical or electrical tests, so can just put “</a:t>
            </a:r>
            <a:r>
              <a:rPr kumimoji="0" lang="en-US" sz="1800" b="1" i="0" u="none" strike="noStrike" kern="1200" cap="none" spc="0" normalizeH="0" baseline="0" noProof="0" dirty="0">
                <a:ln>
                  <a:noFill/>
                </a:ln>
                <a:solidFill>
                  <a:srgbClr val="FF0000"/>
                </a:solidFill>
                <a:effectLst/>
                <a:uLnTx/>
                <a:uFillTx/>
                <a:latin typeface="Verdana"/>
                <a:ea typeface="+mn-ea"/>
                <a:cs typeface="Arial" charset="0"/>
              </a:rPr>
              <a:t>-</a:t>
            </a:r>
            <a:r>
              <a:rPr kumimoji="0" lang="en-US" sz="1800" b="0" i="0" u="none" strike="noStrike" kern="1200" cap="none" spc="0" normalizeH="0" baseline="0" noProof="0" dirty="0">
                <a:ln>
                  <a:noFill/>
                </a:ln>
                <a:solidFill>
                  <a:srgbClr val="FF0000"/>
                </a:solidFill>
                <a:effectLst/>
                <a:uLnTx/>
                <a:uFillTx/>
                <a:latin typeface="Verdana"/>
                <a:ea typeface="+mn-ea"/>
                <a:cs typeface="Arial" charset="0"/>
              </a:rPr>
              <a:t>”.</a:t>
            </a:r>
          </a:p>
        </p:txBody>
      </p:sp>
      <p:sp>
        <p:nvSpPr>
          <p:cNvPr id="8" name="Rounded Rectangle 7"/>
          <p:cNvSpPr/>
          <p:nvPr/>
        </p:nvSpPr>
        <p:spPr bwMode="auto">
          <a:xfrm>
            <a:off x="6879771" y="2663371"/>
            <a:ext cx="595086" cy="1299029"/>
          </a:xfrm>
          <a:prstGeom prst="roundRect">
            <a:avLst/>
          </a:prstGeom>
          <a:noFill/>
          <a:ln w="508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Verdana"/>
              <a:ea typeface="+mn-ea"/>
              <a:cs typeface="+mn-cs"/>
            </a:endParaRPr>
          </a:p>
        </p:txBody>
      </p:sp>
    </p:spTree>
    <p:extLst>
      <p:ext uri="{BB962C8B-B14F-4D97-AF65-F5344CB8AC3E}">
        <p14:creationId xmlns:p14="http://schemas.microsoft.com/office/powerpoint/2010/main" val="3673260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C148A7B-D3DB-7F94-96EF-D165C40A8C5C}"/>
              </a:ext>
            </a:extLst>
          </p:cNvPr>
          <p:cNvSpPr>
            <a:spLocks noGrp="1"/>
          </p:cNvSpPr>
          <p:nvPr>
            <p:ph type="title"/>
          </p:nvPr>
        </p:nvSpPr>
        <p:spPr>
          <a:xfrm>
            <a:off x="914400" y="277813"/>
            <a:ext cx="7772400" cy="1143000"/>
          </a:xfrm>
        </p:spPr>
        <p:txBody>
          <a:bodyPr/>
          <a:lstStyle/>
          <a:p>
            <a:r>
              <a:rPr lang="en-US" b="1" dirty="0"/>
              <a:t>Example: Decision Table</a:t>
            </a:r>
          </a:p>
        </p:txBody>
      </p:sp>
      <p:graphicFrame>
        <p:nvGraphicFramePr>
          <p:cNvPr id="3" name="Table 2">
            <a:extLst>
              <a:ext uri="{FF2B5EF4-FFF2-40B4-BE49-F238E27FC236}">
                <a16:creationId xmlns:a16="http://schemas.microsoft.com/office/drawing/2014/main" id="{3D5BAB2F-72B3-A0D1-3D68-E551A2F07858}"/>
              </a:ext>
            </a:extLst>
          </p:cNvPr>
          <p:cNvGraphicFramePr>
            <a:graphicFrameLocks noGrp="1"/>
          </p:cNvGraphicFramePr>
          <p:nvPr>
            <p:extLst/>
          </p:nvPr>
        </p:nvGraphicFramePr>
        <p:xfrm>
          <a:off x="228600" y="1219200"/>
          <a:ext cx="8686801" cy="5181603"/>
        </p:xfrm>
        <a:graphic>
          <a:graphicData uri="http://schemas.openxmlformats.org/drawingml/2006/table">
            <a:tbl>
              <a:tblPr firstRow="1" firstCol="1" bandRow="1">
                <a:tableStyleId>{5C22544A-7EE6-4342-B048-85BDC9FD1C3A}</a:tableStyleId>
              </a:tblPr>
              <a:tblGrid>
                <a:gridCol w="2956557">
                  <a:extLst>
                    <a:ext uri="{9D8B030D-6E8A-4147-A177-3AD203B41FA5}">
                      <a16:colId xmlns:a16="http://schemas.microsoft.com/office/drawing/2014/main" val="2021930838"/>
                    </a:ext>
                  </a:extLst>
                </a:gridCol>
                <a:gridCol w="699619">
                  <a:extLst>
                    <a:ext uri="{9D8B030D-6E8A-4147-A177-3AD203B41FA5}">
                      <a16:colId xmlns:a16="http://schemas.microsoft.com/office/drawing/2014/main" val="2209730116"/>
                    </a:ext>
                  </a:extLst>
                </a:gridCol>
                <a:gridCol w="699621">
                  <a:extLst>
                    <a:ext uri="{9D8B030D-6E8A-4147-A177-3AD203B41FA5}">
                      <a16:colId xmlns:a16="http://schemas.microsoft.com/office/drawing/2014/main" val="1623265922"/>
                    </a:ext>
                  </a:extLst>
                </a:gridCol>
                <a:gridCol w="721834">
                  <a:extLst>
                    <a:ext uri="{9D8B030D-6E8A-4147-A177-3AD203B41FA5}">
                      <a16:colId xmlns:a16="http://schemas.microsoft.com/office/drawing/2014/main" val="2124277402"/>
                    </a:ext>
                  </a:extLst>
                </a:gridCol>
                <a:gridCol w="721834">
                  <a:extLst>
                    <a:ext uri="{9D8B030D-6E8A-4147-A177-3AD203B41FA5}">
                      <a16:colId xmlns:a16="http://schemas.microsoft.com/office/drawing/2014/main" val="1255766470"/>
                    </a:ext>
                  </a:extLst>
                </a:gridCol>
                <a:gridCol w="721834">
                  <a:extLst>
                    <a:ext uri="{9D8B030D-6E8A-4147-A177-3AD203B41FA5}">
                      <a16:colId xmlns:a16="http://schemas.microsoft.com/office/drawing/2014/main" val="4141703016"/>
                    </a:ext>
                  </a:extLst>
                </a:gridCol>
                <a:gridCol w="721834">
                  <a:extLst>
                    <a:ext uri="{9D8B030D-6E8A-4147-A177-3AD203B41FA5}">
                      <a16:colId xmlns:a16="http://schemas.microsoft.com/office/drawing/2014/main" val="1792910927"/>
                    </a:ext>
                  </a:extLst>
                </a:gridCol>
                <a:gridCol w="721834">
                  <a:extLst>
                    <a:ext uri="{9D8B030D-6E8A-4147-A177-3AD203B41FA5}">
                      <a16:colId xmlns:a16="http://schemas.microsoft.com/office/drawing/2014/main" val="2004908202"/>
                    </a:ext>
                  </a:extLst>
                </a:gridCol>
                <a:gridCol w="721834">
                  <a:extLst>
                    <a:ext uri="{9D8B030D-6E8A-4147-A177-3AD203B41FA5}">
                      <a16:colId xmlns:a16="http://schemas.microsoft.com/office/drawing/2014/main" val="127713866"/>
                    </a:ext>
                  </a:extLst>
                </a:gridCol>
              </a:tblGrid>
              <a:tr h="536635">
                <a:tc>
                  <a:txBody>
                    <a:bodyPr/>
                    <a:lstStyle/>
                    <a:p>
                      <a:pP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1</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2</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3</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4</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5</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6</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7</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8</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extLst>
                  <a:ext uri="{0D108BD9-81ED-4DB2-BD59-A6C34878D82A}">
                    <a16:rowId xmlns:a16="http://schemas.microsoft.com/office/drawing/2014/main" val="4217083340"/>
                  </a:ext>
                </a:extLst>
              </a:tr>
              <a:tr h="536635">
                <a:tc>
                  <a:txBody>
                    <a:bodyPr/>
                    <a:lstStyle/>
                    <a:p>
                      <a:pPr>
                        <a:lnSpc>
                          <a:spcPct val="107000"/>
                        </a:lnSpc>
                        <a:spcAft>
                          <a:spcPts val="800"/>
                        </a:spcAft>
                      </a:pPr>
                      <a:r>
                        <a:rPr lang="en-MY" sz="2500">
                          <a:solidFill>
                            <a:schemeClr val="tx1"/>
                          </a:solidFill>
                          <a:effectLst/>
                        </a:rPr>
                        <a:t>Regular cust?</a:t>
                      </a:r>
                      <a:endParaRPr lang="en-MY" sz="2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Y</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Y</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Y</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Y</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N</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N</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N</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N</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extLst>
                  <a:ext uri="{0D108BD9-81ED-4DB2-BD59-A6C34878D82A}">
                    <a16:rowId xmlns:a16="http://schemas.microsoft.com/office/drawing/2014/main" val="3763272556"/>
                  </a:ext>
                </a:extLst>
              </a:tr>
              <a:tr h="536635">
                <a:tc>
                  <a:txBody>
                    <a:bodyPr/>
                    <a:lstStyle/>
                    <a:p>
                      <a:pPr>
                        <a:lnSpc>
                          <a:spcPct val="107000"/>
                        </a:lnSpc>
                        <a:spcAft>
                          <a:spcPts val="800"/>
                        </a:spcAft>
                      </a:pPr>
                      <a:r>
                        <a:rPr lang="en-MY" sz="2500" dirty="0">
                          <a:solidFill>
                            <a:schemeClr val="tx1"/>
                          </a:solidFill>
                          <a:effectLst/>
                        </a:rPr>
                        <a:t>Order 0-99?</a:t>
                      </a:r>
                      <a:endParaRPr lang="en-MY" sz="25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Y</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Y</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N</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N</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Y</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Y</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N</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N</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extLst>
                  <a:ext uri="{0D108BD9-81ED-4DB2-BD59-A6C34878D82A}">
                    <a16:rowId xmlns:a16="http://schemas.microsoft.com/office/drawing/2014/main" val="4208980324"/>
                  </a:ext>
                </a:extLst>
              </a:tr>
              <a:tr h="888523">
                <a:tc>
                  <a:txBody>
                    <a:bodyPr/>
                    <a:lstStyle/>
                    <a:p>
                      <a:pPr>
                        <a:lnSpc>
                          <a:spcPct val="107000"/>
                        </a:lnSpc>
                        <a:spcAft>
                          <a:spcPts val="800"/>
                        </a:spcAft>
                      </a:pPr>
                      <a:r>
                        <a:rPr lang="en-MY" sz="2500" dirty="0">
                          <a:solidFill>
                            <a:schemeClr val="tx1"/>
                          </a:solidFill>
                          <a:effectLst/>
                        </a:rPr>
                        <a:t>Order 100-500?</a:t>
                      </a:r>
                      <a:endParaRPr lang="en-MY" sz="25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Y</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N</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Y</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dirty="0">
                          <a:effectLst/>
                        </a:rPr>
                        <a:t>N</a:t>
                      </a:r>
                      <a:endParaRPr lang="en-MY" sz="2500" dirty="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extLst>
                  <a:ext uri="{0D108BD9-81ED-4DB2-BD59-A6C34878D82A}">
                    <a16:rowId xmlns:a16="http://schemas.microsoft.com/office/drawing/2014/main" val="2235516035"/>
                  </a:ext>
                </a:extLst>
              </a:tr>
              <a:tr h="536635">
                <a:tc>
                  <a:txBody>
                    <a:bodyPr/>
                    <a:lstStyle/>
                    <a:p>
                      <a:pPr>
                        <a:lnSpc>
                          <a:spcPct val="107000"/>
                        </a:lnSpc>
                        <a:spcAft>
                          <a:spcPts val="800"/>
                        </a:spcAft>
                      </a:pPr>
                      <a:r>
                        <a:rPr lang="en-MY" sz="2500" dirty="0">
                          <a:solidFill>
                            <a:schemeClr val="tx1">
                              <a:lumMod val="65000"/>
                              <a:lumOff val="35000"/>
                            </a:schemeClr>
                          </a:solidFill>
                          <a:effectLst/>
                        </a:rPr>
                        <a:t>No discount</a:t>
                      </a:r>
                      <a:endParaRPr lang="en-MY" sz="2500" dirty="0">
                        <a:solidFill>
                          <a:schemeClr val="tx1">
                            <a:lumMod val="65000"/>
                            <a:lumOff val="3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X</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X</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X</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X</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dirty="0">
                          <a:effectLst/>
                        </a:rPr>
                        <a:t> </a:t>
                      </a:r>
                      <a:endParaRPr lang="en-MY" sz="2500" dirty="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extLst>
                  <a:ext uri="{0D108BD9-81ED-4DB2-BD59-A6C34878D82A}">
                    <a16:rowId xmlns:a16="http://schemas.microsoft.com/office/drawing/2014/main" val="1891492815"/>
                  </a:ext>
                </a:extLst>
              </a:tr>
              <a:tr h="536635">
                <a:tc>
                  <a:txBody>
                    <a:bodyPr/>
                    <a:lstStyle/>
                    <a:p>
                      <a:pPr>
                        <a:lnSpc>
                          <a:spcPct val="107000"/>
                        </a:lnSpc>
                        <a:spcAft>
                          <a:spcPts val="800"/>
                        </a:spcAft>
                      </a:pPr>
                      <a:r>
                        <a:rPr lang="en-MY" sz="2500">
                          <a:solidFill>
                            <a:schemeClr val="tx1">
                              <a:lumMod val="65000"/>
                              <a:lumOff val="35000"/>
                            </a:schemeClr>
                          </a:solidFill>
                          <a:effectLst/>
                        </a:rPr>
                        <a:t>Discount 10%</a:t>
                      </a:r>
                      <a:endParaRPr lang="en-MY" sz="2500">
                        <a:solidFill>
                          <a:schemeClr val="tx1">
                            <a:lumMod val="65000"/>
                            <a:lumOff val="3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X</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extLst>
                  <a:ext uri="{0D108BD9-81ED-4DB2-BD59-A6C34878D82A}">
                    <a16:rowId xmlns:a16="http://schemas.microsoft.com/office/drawing/2014/main" val="1738746717"/>
                  </a:ext>
                </a:extLst>
              </a:tr>
              <a:tr h="536635">
                <a:tc>
                  <a:txBody>
                    <a:bodyPr/>
                    <a:lstStyle/>
                    <a:p>
                      <a:pPr>
                        <a:lnSpc>
                          <a:spcPct val="107000"/>
                        </a:lnSpc>
                        <a:spcAft>
                          <a:spcPts val="800"/>
                        </a:spcAft>
                      </a:pPr>
                      <a:r>
                        <a:rPr lang="en-MY" sz="2500">
                          <a:solidFill>
                            <a:schemeClr val="tx1">
                              <a:lumMod val="65000"/>
                              <a:lumOff val="35000"/>
                            </a:schemeClr>
                          </a:solidFill>
                          <a:effectLst/>
                        </a:rPr>
                        <a:t>Discount 15%</a:t>
                      </a:r>
                      <a:endParaRPr lang="en-MY" sz="2500">
                        <a:solidFill>
                          <a:schemeClr val="tx1">
                            <a:lumMod val="65000"/>
                            <a:lumOff val="3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X</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X</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extLst>
                  <a:ext uri="{0D108BD9-81ED-4DB2-BD59-A6C34878D82A}">
                    <a16:rowId xmlns:a16="http://schemas.microsoft.com/office/drawing/2014/main" val="2006800317"/>
                  </a:ext>
                </a:extLst>
              </a:tr>
              <a:tr h="536635">
                <a:tc>
                  <a:txBody>
                    <a:bodyPr/>
                    <a:lstStyle/>
                    <a:p>
                      <a:pPr>
                        <a:lnSpc>
                          <a:spcPct val="107000"/>
                        </a:lnSpc>
                        <a:spcAft>
                          <a:spcPts val="800"/>
                        </a:spcAft>
                      </a:pPr>
                      <a:r>
                        <a:rPr lang="en-MY" sz="2500">
                          <a:solidFill>
                            <a:schemeClr val="tx1">
                              <a:lumMod val="65000"/>
                              <a:lumOff val="35000"/>
                            </a:schemeClr>
                          </a:solidFill>
                          <a:effectLst/>
                        </a:rPr>
                        <a:t>Discount 20%</a:t>
                      </a:r>
                      <a:endParaRPr lang="en-MY" sz="2500">
                        <a:solidFill>
                          <a:schemeClr val="tx1">
                            <a:lumMod val="65000"/>
                            <a:lumOff val="3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X</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extLst>
                  <a:ext uri="{0D108BD9-81ED-4DB2-BD59-A6C34878D82A}">
                    <a16:rowId xmlns:a16="http://schemas.microsoft.com/office/drawing/2014/main" val="1991485769"/>
                  </a:ext>
                </a:extLst>
              </a:tr>
              <a:tr h="536635">
                <a:tc>
                  <a:txBody>
                    <a:bodyPr/>
                    <a:lstStyle/>
                    <a:p>
                      <a:pPr>
                        <a:lnSpc>
                          <a:spcPct val="107000"/>
                        </a:lnSpc>
                        <a:spcAft>
                          <a:spcPts val="800"/>
                        </a:spcAft>
                      </a:pPr>
                      <a:r>
                        <a:rPr lang="en-MY" sz="2500" dirty="0">
                          <a:solidFill>
                            <a:schemeClr val="tx1">
                              <a:lumMod val="65000"/>
                              <a:lumOff val="35000"/>
                            </a:schemeClr>
                          </a:solidFill>
                          <a:effectLst/>
                        </a:rPr>
                        <a:t>Free Gift</a:t>
                      </a:r>
                      <a:endParaRPr lang="en-MY" sz="2500" dirty="0">
                        <a:solidFill>
                          <a:schemeClr val="tx1">
                            <a:lumMod val="65000"/>
                            <a:lumOff val="3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X</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dirty="0">
                          <a:effectLst/>
                        </a:rPr>
                        <a:t>X</a:t>
                      </a:r>
                      <a:endParaRPr lang="en-MY" sz="2500" dirty="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extLst>
                  <a:ext uri="{0D108BD9-81ED-4DB2-BD59-A6C34878D82A}">
                    <a16:rowId xmlns:a16="http://schemas.microsoft.com/office/drawing/2014/main" val="3412698811"/>
                  </a:ext>
                </a:extLst>
              </a:tr>
            </a:tbl>
          </a:graphicData>
        </a:graphic>
      </p:graphicFrame>
      <p:sp>
        <p:nvSpPr>
          <p:cNvPr id="4" name="Rectangle: Rounded Corners 3">
            <a:extLst>
              <a:ext uri="{FF2B5EF4-FFF2-40B4-BE49-F238E27FC236}">
                <a16:creationId xmlns:a16="http://schemas.microsoft.com/office/drawing/2014/main" id="{5EC36846-0D0C-E23A-D128-86A034735ADE}"/>
              </a:ext>
            </a:extLst>
          </p:cNvPr>
          <p:cNvSpPr/>
          <p:nvPr/>
        </p:nvSpPr>
        <p:spPr bwMode="auto">
          <a:xfrm>
            <a:off x="3200400" y="1143000"/>
            <a:ext cx="1371600" cy="5257803"/>
          </a:xfrm>
          <a:prstGeom prst="roundRect">
            <a:avLst/>
          </a:prstGeom>
          <a:noFill/>
          <a:ln w="38100">
            <a:solidFill>
              <a:srgbClr val="FF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MY" sz="1000" b="0" i="0" u="none" strike="noStrike" kern="1200" cap="none" spc="0" normalizeH="0" baseline="0" noProof="0">
              <a:ln>
                <a:noFill/>
              </a:ln>
              <a:solidFill>
                <a:srgbClr val="004D75"/>
              </a:solidFill>
              <a:effectLst/>
              <a:uLnTx/>
              <a:uFillTx/>
              <a:latin typeface="Verdana" pitchFamily="34" charset="0"/>
              <a:ea typeface="+mn-ea"/>
              <a:cs typeface="Arial" charset="0"/>
            </a:endParaRPr>
          </a:p>
        </p:txBody>
      </p:sp>
      <p:sp>
        <p:nvSpPr>
          <p:cNvPr id="5" name="Rectangle: Rounded Corners 4">
            <a:extLst>
              <a:ext uri="{FF2B5EF4-FFF2-40B4-BE49-F238E27FC236}">
                <a16:creationId xmlns:a16="http://schemas.microsoft.com/office/drawing/2014/main" id="{00520A04-1A03-DAA2-AFE8-DF636E8CE333}"/>
              </a:ext>
            </a:extLst>
          </p:cNvPr>
          <p:cNvSpPr/>
          <p:nvPr/>
        </p:nvSpPr>
        <p:spPr bwMode="auto">
          <a:xfrm>
            <a:off x="6063996" y="1142999"/>
            <a:ext cx="1371600" cy="5257803"/>
          </a:xfrm>
          <a:prstGeom prst="roundRect">
            <a:avLst/>
          </a:prstGeom>
          <a:noFill/>
          <a:ln w="38100">
            <a:solidFill>
              <a:srgbClr val="FF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MY" sz="1000" b="0" i="0" u="none" strike="noStrike" kern="1200" cap="none" spc="0" normalizeH="0" baseline="0" noProof="0">
              <a:ln>
                <a:noFill/>
              </a:ln>
              <a:solidFill>
                <a:srgbClr val="004D75"/>
              </a:solidFill>
              <a:effectLst/>
              <a:uLnTx/>
              <a:uFillTx/>
              <a:latin typeface="Verdana" pitchFamily="34" charset="0"/>
              <a:ea typeface="+mn-ea"/>
              <a:cs typeface="Arial" charset="0"/>
            </a:endParaRPr>
          </a:p>
        </p:txBody>
      </p:sp>
    </p:spTree>
    <p:extLst>
      <p:ext uri="{BB962C8B-B14F-4D97-AF65-F5344CB8AC3E}">
        <p14:creationId xmlns:p14="http://schemas.microsoft.com/office/powerpoint/2010/main" val="1743631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C148A7B-D3DB-7F94-96EF-D165C40A8C5C}"/>
              </a:ext>
            </a:extLst>
          </p:cNvPr>
          <p:cNvSpPr>
            <a:spLocks noGrp="1"/>
          </p:cNvSpPr>
          <p:nvPr>
            <p:ph type="title"/>
          </p:nvPr>
        </p:nvSpPr>
        <p:spPr>
          <a:xfrm>
            <a:off x="914400" y="277813"/>
            <a:ext cx="7772400" cy="1143000"/>
          </a:xfrm>
        </p:spPr>
        <p:txBody>
          <a:bodyPr/>
          <a:lstStyle/>
          <a:p>
            <a:r>
              <a:rPr lang="en-US" b="1" dirty="0"/>
              <a:t>Example: Decision Table (Simplified)</a:t>
            </a:r>
          </a:p>
        </p:txBody>
      </p:sp>
      <p:graphicFrame>
        <p:nvGraphicFramePr>
          <p:cNvPr id="3" name="Table 2">
            <a:extLst>
              <a:ext uri="{FF2B5EF4-FFF2-40B4-BE49-F238E27FC236}">
                <a16:creationId xmlns:a16="http://schemas.microsoft.com/office/drawing/2014/main" id="{3D5BAB2F-72B3-A0D1-3D68-E551A2F07858}"/>
              </a:ext>
            </a:extLst>
          </p:cNvPr>
          <p:cNvGraphicFramePr>
            <a:graphicFrameLocks noGrp="1"/>
          </p:cNvGraphicFramePr>
          <p:nvPr>
            <p:extLst/>
          </p:nvPr>
        </p:nvGraphicFramePr>
        <p:xfrm>
          <a:off x="228600" y="1219200"/>
          <a:ext cx="8305801" cy="5181603"/>
        </p:xfrm>
        <a:graphic>
          <a:graphicData uri="http://schemas.openxmlformats.org/drawingml/2006/table">
            <a:tbl>
              <a:tblPr firstRow="1" firstCol="1" bandRow="1">
                <a:tableStyleId>{5C22544A-7EE6-4342-B048-85BDC9FD1C3A}</a:tableStyleId>
              </a:tblPr>
              <a:tblGrid>
                <a:gridCol w="3390325">
                  <a:extLst>
                    <a:ext uri="{9D8B030D-6E8A-4147-A177-3AD203B41FA5}">
                      <a16:colId xmlns:a16="http://schemas.microsoft.com/office/drawing/2014/main" val="2021930838"/>
                    </a:ext>
                  </a:extLst>
                </a:gridCol>
                <a:gridCol w="802263">
                  <a:extLst>
                    <a:ext uri="{9D8B030D-6E8A-4147-A177-3AD203B41FA5}">
                      <a16:colId xmlns:a16="http://schemas.microsoft.com/office/drawing/2014/main" val="2209730116"/>
                    </a:ext>
                  </a:extLst>
                </a:gridCol>
                <a:gridCol w="802265">
                  <a:extLst>
                    <a:ext uri="{9D8B030D-6E8A-4147-A177-3AD203B41FA5}">
                      <a16:colId xmlns:a16="http://schemas.microsoft.com/office/drawing/2014/main" val="1623265922"/>
                    </a:ext>
                  </a:extLst>
                </a:gridCol>
                <a:gridCol w="827737">
                  <a:extLst>
                    <a:ext uri="{9D8B030D-6E8A-4147-A177-3AD203B41FA5}">
                      <a16:colId xmlns:a16="http://schemas.microsoft.com/office/drawing/2014/main" val="2124277402"/>
                    </a:ext>
                  </a:extLst>
                </a:gridCol>
                <a:gridCol w="827737">
                  <a:extLst>
                    <a:ext uri="{9D8B030D-6E8A-4147-A177-3AD203B41FA5}">
                      <a16:colId xmlns:a16="http://schemas.microsoft.com/office/drawing/2014/main" val="1255766470"/>
                    </a:ext>
                  </a:extLst>
                </a:gridCol>
                <a:gridCol w="827737">
                  <a:extLst>
                    <a:ext uri="{9D8B030D-6E8A-4147-A177-3AD203B41FA5}">
                      <a16:colId xmlns:a16="http://schemas.microsoft.com/office/drawing/2014/main" val="4141703016"/>
                    </a:ext>
                  </a:extLst>
                </a:gridCol>
                <a:gridCol w="827737">
                  <a:extLst>
                    <a:ext uri="{9D8B030D-6E8A-4147-A177-3AD203B41FA5}">
                      <a16:colId xmlns:a16="http://schemas.microsoft.com/office/drawing/2014/main" val="1792910927"/>
                    </a:ext>
                  </a:extLst>
                </a:gridCol>
              </a:tblGrid>
              <a:tr h="536635">
                <a:tc>
                  <a:txBody>
                    <a:bodyPr/>
                    <a:lstStyle/>
                    <a:p>
                      <a:pP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1</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2</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3</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4</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5</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6</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extLst>
                  <a:ext uri="{0D108BD9-81ED-4DB2-BD59-A6C34878D82A}">
                    <a16:rowId xmlns:a16="http://schemas.microsoft.com/office/drawing/2014/main" val="4217083340"/>
                  </a:ext>
                </a:extLst>
              </a:tr>
              <a:tr h="536635">
                <a:tc>
                  <a:txBody>
                    <a:bodyPr/>
                    <a:lstStyle/>
                    <a:p>
                      <a:pPr>
                        <a:lnSpc>
                          <a:spcPct val="107000"/>
                        </a:lnSpc>
                        <a:spcAft>
                          <a:spcPts val="800"/>
                        </a:spcAft>
                      </a:pPr>
                      <a:r>
                        <a:rPr lang="en-MY" sz="2500">
                          <a:solidFill>
                            <a:schemeClr val="tx1"/>
                          </a:solidFill>
                          <a:effectLst/>
                        </a:rPr>
                        <a:t>Regular cust?</a:t>
                      </a:r>
                      <a:endParaRPr lang="en-MY" sz="2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Y</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dirty="0">
                          <a:effectLst/>
                        </a:rPr>
                        <a:t>Y</a:t>
                      </a:r>
                      <a:endParaRPr lang="en-MY" sz="2500" dirty="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Y</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N</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dirty="0">
                          <a:effectLst/>
                        </a:rPr>
                        <a:t>N</a:t>
                      </a:r>
                      <a:endParaRPr lang="en-MY" sz="2500" dirty="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N</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extLst>
                  <a:ext uri="{0D108BD9-81ED-4DB2-BD59-A6C34878D82A}">
                    <a16:rowId xmlns:a16="http://schemas.microsoft.com/office/drawing/2014/main" val="3763272556"/>
                  </a:ext>
                </a:extLst>
              </a:tr>
              <a:tr h="536635">
                <a:tc>
                  <a:txBody>
                    <a:bodyPr/>
                    <a:lstStyle/>
                    <a:p>
                      <a:pPr>
                        <a:lnSpc>
                          <a:spcPct val="107000"/>
                        </a:lnSpc>
                        <a:spcAft>
                          <a:spcPts val="800"/>
                        </a:spcAft>
                      </a:pPr>
                      <a:r>
                        <a:rPr lang="en-MY" sz="2500" dirty="0">
                          <a:solidFill>
                            <a:schemeClr val="tx1"/>
                          </a:solidFill>
                          <a:effectLst/>
                        </a:rPr>
                        <a:t>Order 0-99?</a:t>
                      </a:r>
                      <a:endParaRPr lang="en-MY" sz="25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Y</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dirty="0">
                          <a:effectLst/>
                        </a:rPr>
                        <a:t>N</a:t>
                      </a:r>
                      <a:endParaRPr lang="en-MY" sz="2500" dirty="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dirty="0">
                          <a:effectLst/>
                        </a:rPr>
                        <a:t>N</a:t>
                      </a:r>
                      <a:endParaRPr lang="en-MY" sz="2500" dirty="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Y</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dirty="0">
                          <a:effectLst/>
                        </a:rPr>
                        <a:t>N</a:t>
                      </a:r>
                      <a:endParaRPr lang="en-MY" sz="2500" dirty="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N</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extLst>
                  <a:ext uri="{0D108BD9-81ED-4DB2-BD59-A6C34878D82A}">
                    <a16:rowId xmlns:a16="http://schemas.microsoft.com/office/drawing/2014/main" val="4208980324"/>
                  </a:ext>
                </a:extLst>
              </a:tr>
              <a:tr h="888523">
                <a:tc>
                  <a:txBody>
                    <a:bodyPr/>
                    <a:lstStyle/>
                    <a:p>
                      <a:pPr>
                        <a:lnSpc>
                          <a:spcPct val="107000"/>
                        </a:lnSpc>
                        <a:spcAft>
                          <a:spcPts val="800"/>
                        </a:spcAft>
                      </a:pPr>
                      <a:r>
                        <a:rPr lang="en-MY" sz="2500" dirty="0">
                          <a:solidFill>
                            <a:schemeClr val="tx1"/>
                          </a:solidFill>
                          <a:effectLst/>
                        </a:rPr>
                        <a:t>Order 100-500?</a:t>
                      </a:r>
                      <a:endParaRPr lang="en-MY" sz="25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Y</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dirty="0">
                          <a:effectLst/>
                        </a:rPr>
                        <a:t>N</a:t>
                      </a:r>
                      <a:endParaRPr lang="en-MY" sz="2500" dirty="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a:effectLst/>
                        </a:rPr>
                        <a:t>Y</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tc>
                  <a:txBody>
                    <a:bodyPr/>
                    <a:lstStyle/>
                    <a:p>
                      <a:pPr algn="ctr">
                        <a:lnSpc>
                          <a:spcPct val="107000"/>
                        </a:lnSpc>
                        <a:spcAft>
                          <a:spcPts val="800"/>
                        </a:spcAft>
                      </a:pPr>
                      <a:r>
                        <a:rPr lang="en-MY" sz="2500" dirty="0">
                          <a:effectLst/>
                        </a:rPr>
                        <a:t>N</a:t>
                      </a:r>
                      <a:endParaRPr lang="en-MY" sz="2500" dirty="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solidFill>
                      <a:schemeClr val="accent3">
                        <a:lumMod val="85000"/>
                      </a:schemeClr>
                    </a:solidFill>
                  </a:tcPr>
                </a:tc>
                <a:extLst>
                  <a:ext uri="{0D108BD9-81ED-4DB2-BD59-A6C34878D82A}">
                    <a16:rowId xmlns:a16="http://schemas.microsoft.com/office/drawing/2014/main" val="2235516035"/>
                  </a:ext>
                </a:extLst>
              </a:tr>
              <a:tr h="536635">
                <a:tc>
                  <a:txBody>
                    <a:bodyPr/>
                    <a:lstStyle/>
                    <a:p>
                      <a:pPr>
                        <a:lnSpc>
                          <a:spcPct val="107000"/>
                        </a:lnSpc>
                        <a:spcAft>
                          <a:spcPts val="800"/>
                        </a:spcAft>
                      </a:pPr>
                      <a:r>
                        <a:rPr lang="en-MY" sz="2500" dirty="0">
                          <a:solidFill>
                            <a:schemeClr val="tx1">
                              <a:lumMod val="65000"/>
                              <a:lumOff val="35000"/>
                            </a:schemeClr>
                          </a:solidFill>
                          <a:effectLst/>
                        </a:rPr>
                        <a:t>No discount</a:t>
                      </a:r>
                      <a:endParaRPr lang="en-MY" sz="2500" dirty="0">
                        <a:solidFill>
                          <a:schemeClr val="tx1">
                            <a:lumMod val="65000"/>
                            <a:lumOff val="3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X</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dirty="0">
                          <a:effectLst/>
                        </a:rPr>
                        <a:t> </a:t>
                      </a:r>
                      <a:endParaRPr lang="en-MY" sz="2500" dirty="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X</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dirty="0">
                          <a:effectLst/>
                        </a:rPr>
                        <a:t> </a:t>
                      </a:r>
                      <a:endParaRPr lang="en-MY" sz="2500" dirty="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extLst>
                  <a:ext uri="{0D108BD9-81ED-4DB2-BD59-A6C34878D82A}">
                    <a16:rowId xmlns:a16="http://schemas.microsoft.com/office/drawing/2014/main" val="1891492815"/>
                  </a:ext>
                </a:extLst>
              </a:tr>
              <a:tr h="536635">
                <a:tc>
                  <a:txBody>
                    <a:bodyPr/>
                    <a:lstStyle/>
                    <a:p>
                      <a:pPr>
                        <a:lnSpc>
                          <a:spcPct val="107000"/>
                        </a:lnSpc>
                        <a:spcAft>
                          <a:spcPts val="800"/>
                        </a:spcAft>
                      </a:pPr>
                      <a:r>
                        <a:rPr lang="en-MY" sz="2500">
                          <a:solidFill>
                            <a:schemeClr val="tx1">
                              <a:lumMod val="65000"/>
                              <a:lumOff val="35000"/>
                            </a:schemeClr>
                          </a:solidFill>
                          <a:effectLst/>
                        </a:rPr>
                        <a:t>Discount 10%</a:t>
                      </a:r>
                      <a:endParaRPr lang="en-MY" sz="2500">
                        <a:solidFill>
                          <a:schemeClr val="tx1">
                            <a:lumMod val="65000"/>
                            <a:lumOff val="3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dirty="0">
                          <a:effectLst/>
                        </a:rPr>
                        <a:t> </a:t>
                      </a:r>
                      <a:endParaRPr lang="en-MY" sz="2500" dirty="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X</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dirty="0">
                          <a:effectLst/>
                        </a:rPr>
                        <a:t> </a:t>
                      </a:r>
                      <a:endParaRPr lang="en-MY" sz="2500" dirty="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extLst>
                  <a:ext uri="{0D108BD9-81ED-4DB2-BD59-A6C34878D82A}">
                    <a16:rowId xmlns:a16="http://schemas.microsoft.com/office/drawing/2014/main" val="1738746717"/>
                  </a:ext>
                </a:extLst>
              </a:tr>
              <a:tr h="536635">
                <a:tc>
                  <a:txBody>
                    <a:bodyPr/>
                    <a:lstStyle/>
                    <a:p>
                      <a:pPr>
                        <a:lnSpc>
                          <a:spcPct val="107000"/>
                        </a:lnSpc>
                        <a:spcAft>
                          <a:spcPts val="800"/>
                        </a:spcAft>
                      </a:pPr>
                      <a:r>
                        <a:rPr lang="en-MY" sz="2500">
                          <a:solidFill>
                            <a:schemeClr val="tx1">
                              <a:lumMod val="65000"/>
                              <a:lumOff val="35000"/>
                            </a:schemeClr>
                          </a:solidFill>
                          <a:effectLst/>
                        </a:rPr>
                        <a:t>Discount 15%</a:t>
                      </a:r>
                      <a:endParaRPr lang="en-MY" sz="2500">
                        <a:solidFill>
                          <a:schemeClr val="tx1">
                            <a:lumMod val="65000"/>
                            <a:lumOff val="3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X</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dirty="0">
                          <a:effectLst/>
                        </a:rPr>
                        <a:t> </a:t>
                      </a:r>
                      <a:endParaRPr lang="en-MY" sz="2500" dirty="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dirty="0">
                          <a:effectLst/>
                        </a:rPr>
                        <a:t>X</a:t>
                      </a:r>
                      <a:endParaRPr lang="en-MY" sz="2500" dirty="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extLst>
                  <a:ext uri="{0D108BD9-81ED-4DB2-BD59-A6C34878D82A}">
                    <a16:rowId xmlns:a16="http://schemas.microsoft.com/office/drawing/2014/main" val="2006800317"/>
                  </a:ext>
                </a:extLst>
              </a:tr>
              <a:tr h="536635">
                <a:tc>
                  <a:txBody>
                    <a:bodyPr/>
                    <a:lstStyle/>
                    <a:p>
                      <a:pPr>
                        <a:lnSpc>
                          <a:spcPct val="107000"/>
                        </a:lnSpc>
                        <a:spcAft>
                          <a:spcPts val="800"/>
                        </a:spcAft>
                      </a:pPr>
                      <a:r>
                        <a:rPr lang="en-MY" sz="2500">
                          <a:solidFill>
                            <a:schemeClr val="tx1">
                              <a:lumMod val="65000"/>
                              <a:lumOff val="35000"/>
                            </a:schemeClr>
                          </a:solidFill>
                          <a:effectLst/>
                        </a:rPr>
                        <a:t>Discount 20%</a:t>
                      </a:r>
                      <a:endParaRPr lang="en-MY" sz="2500">
                        <a:solidFill>
                          <a:schemeClr val="tx1">
                            <a:lumMod val="65000"/>
                            <a:lumOff val="3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dirty="0">
                          <a:effectLst/>
                        </a:rPr>
                        <a:t>X</a:t>
                      </a:r>
                      <a:endParaRPr lang="en-MY" sz="2500" dirty="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dirty="0">
                          <a:effectLst/>
                        </a:rPr>
                        <a:t> </a:t>
                      </a:r>
                      <a:endParaRPr lang="en-MY" sz="2500" dirty="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dirty="0">
                          <a:effectLst/>
                        </a:rPr>
                        <a:t> </a:t>
                      </a:r>
                      <a:endParaRPr lang="en-MY" sz="2500" dirty="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extLst>
                  <a:ext uri="{0D108BD9-81ED-4DB2-BD59-A6C34878D82A}">
                    <a16:rowId xmlns:a16="http://schemas.microsoft.com/office/drawing/2014/main" val="1991485769"/>
                  </a:ext>
                </a:extLst>
              </a:tr>
              <a:tr h="536635">
                <a:tc>
                  <a:txBody>
                    <a:bodyPr/>
                    <a:lstStyle/>
                    <a:p>
                      <a:pPr>
                        <a:lnSpc>
                          <a:spcPct val="107000"/>
                        </a:lnSpc>
                        <a:spcAft>
                          <a:spcPts val="800"/>
                        </a:spcAft>
                      </a:pPr>
                      <a:r>
                        <a:rPr lang="en-MY" sz="2500" dirty="0">
                          <a:solidFill>
                            <a:schemeClr val="tx1">
                              <a:lumMod val="65000"/>
                              <a:lumOff val="35000"/>
                            </a:schemeClr>
                          </a:solidFill>
                          <a:effectLst/>
                        </a:rPr>
                        <a:t>Free Gift</a:t>
                      </a:r>
                      <a:endParaRPr lang="en-MY" sz="2500" dirty="0">
                        <a:solidFill>
                          <a:schemeClr val="tx1">
                            <a:lumMod val="65000"/>
                            <a:lumOff val="3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X</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dirty="0">
                          <a:effectLst/>
                        </a:rPr>
                        <a:t> </a:t>
                      </a:r>
                      <a:endParaRPr lang="en-MY" sz="2500" dirty="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a:effectLst/>
                        </a:rPr>
                        <a:t> </a:t>
                      </a:r>
                      <a:endParaRPr lang="en-MY" sz="250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tc>
                  <a:txBody>
                    <a:bodyPr/>
                    <a:lstStyle/>
                    <a:p>
                      <a:pPr algn="ctr">
                        <a:lnSpc>
                          <a:spcPct val="107000"/>
                        </a:lnSpc>
                        <a:spcAft>
                          <a:spcPts val="800"/>
                        </a:spcAft>
                      </a:pPr>
                      <a:r>
                        <a:rPr lang="en-MY" sz="2500" dirty="0">
                          <a:effectLst/>
                        </a:rPr>
                        <a:t>X</a:t>
                      </a:r>
                      <a:endParaRPr lang="en-MY" sz="2500" dirty="0">
                        <a:effectLst/>
                        <a:latin typeface="Calibri" panose="020F0502020204030204" pitchFamily="34" charset="0"/>
                        <a:ea typeface="Calibri" panose="020F0502020204030204" pitchFamily="34" charset="0"/>
                        <a:cs typeface="Times New Roman" panose="02020603050405020304" pitchFamily="18" charset="0"/>
                      </a:endParaRPr>
                    </a:p>
                  </a:txBody>
                  <a:tcPr marL="86008" marR="86008" marT="0" marB="0"/>
                </a:tc>
                <a:extLst>
                  <a:ext uri="{0D108BD9-81ED-4DB2-BD59-A6C34878D82A}">
                    <a16:rowId xmlns:a16="http://schemas.microsoft.com/office/drawing/2014/main" val="3412698811"/>
                  </a:ext>
                </a:extLst>
              </a:tr>
            </a:tbl>
          </a:graphicData>
        </a:graphic>
      </p:graphicFrame>
    </p:spTree>
    <p:extLst>
      <p:ext uri="{BB962C8B-B14F-4D97-AF65-F5344CB8AC3E}">
        <p14:creationId xmlns:p14="http://schemas.microsoft.com/office/powerpoint/2010/main" val="14105540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p:cNvSpPr txBox="1">
            <a:spLocks noChangeArrowheads="1"/>
          </p:cNvSpPr>
          <p:nvPr/>
        </p:nvSpPr>
        <p:spPr bwMode="auto">
          <a:xfrm>
            <a:off x="596900" y="293688"/>
            <a:ext cx="77216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3000" b="1" i="0" u="none" strike="noStrike" kern="1200" cap="none" spc="0" normalizeH="0" baseline="0" noProof="0">
                <a:ln>
                  <a:noFill/>
                </a:ln>
                <a:solidFill>
                  <a:srgbClr val="000000"/>
                </a:solidFill>
                <a:effectLst/>
                <a:uLnTx/>
                <a:uFillTx/>
                <a:latin typeface="Verdana" pitchFamily="34" charset="0"/>
                <a:ea typeface="+mn-ea"/>
                <a:cs typeface="Arial" charset="0"/>
              </a:rPr>
              <a:t>Decision Table: Variations</a:t>
            </a:r>
            <a:endParaRPr kumimoji="0" lang="en-GB" altLang="en-US" sz="2400" b="1" i="0" u="sng" strike="noStrike" kern="1200" cap="none" spc="0" normalizeH="0" baseline="0" noProof="0">
              <a:ln>
                <a:noFill/>
              </a:ln>
              <a:solidFill>
                <a:srgbClr val="000000"/>
              </a:solidFill>
              <a:effectLst/>
              <a:uLnTx/>
              <a:uFillTx/>
              <a:latin typeface="Verdana" pitchFamily="34" charset="0"/>
              <a:ea typeface="+mn-ea"/>
              <a:cs typeface="Arial" charset="0"/>
            </a:endParaRPr>
          </a:p>
        </p:txBody>
      </p:sp>
      <p:graphicFrame>
        <p:nvGraphicFramePr>
          <p:cNvPr id="941131" name="Group 75"/>
          <p:cNvGraphicFramePr>
            <a:graphicFrameLocks noGrp="1"/>
          </p:cNvGraphicFramePr>
          <p:nvPr/>
        </p:nvGraphicFramePr>
        <p:xfrm>
          <a:off x="1168400" y="1473200"/>
          <a:ext cx="6778625" cy="2711452"/>
        </p:xfrm>
        <a:graphic>
          <a:graphicData uri="http://schemas.openxmlformats.org/drawingml/2006/table">
            <a:tbl>
              <a:tblPr/>
              <a:tblGrid>
                <a:gridCol w="1930400">
                  <a:extLst>
                    <a:ext uri="{9D8B030D-6E8A-4147-A177-3AD203B41FA5}">
                      <a16:colId xmlns:a16="http://schemas.microsoft.com/office/drawing/2014/main" val="20000"/>
                    </a:ext>
                  </a:extLst>
                </a:gridCol>
                <a:gridCol w="806450">
                  <a:extLst>
                    <a:ext uri="{9D8B030D-6E8A-4147-A177-3AD203B41FA5}">
                      <a16:colId xmlns:a16="http://schemas.microsoft.com/office/drawing/2014/main" val="20001"/>
                    </a:ext>
                  </a:extLst>
                </a:gridCol>
                <a:gridCol w="809625">
                  <a:extLst>
                    <a:ext uri="{9D8B030D-6E8A-4147-A177-3AD203B41FA5}">
                      <a16:colId xmlns:a16="http://schemas.microsoft.com/office/drawing/2014/main" val="20002"/>
                    </a:ext>
                  </a:extLst>
                </a:gridCol>
                <a:gridCol w="808038">
                  <a:extLst>
                    <a:ext uri="{9D8B030D-6E8A-4147-A177-3AD203B41FA5}">
                      <a16:colId xmlns:a16="http://schemas.microsoft.com/office/drawing/2014/main" val="20003"/>
                    </a:ext>
                  </a:extLst>
                </a:gridCol>
                <a:gridCol w="808037">
                  <a:extLst>
                    <a:ext uri="{9D8B030D-6E8A-4147-A177-3AD203B41FA5}">
                      <a16:colId xmlns:a16="http://schemas.microsoft.com/office/drawing/2014/main" val="20004"/>
                    </a:ext>
                  </a:extLst>
                </a:gridCol>
                <a:gridCol w="806450">
                  <a:extLst>
                    <a:ext uri="{9D8B030D-6E8A-4147-A177-3AD203B41FA5}">
                      <a16:colId xmlns:a16="http://schemas.microsoft.com/office/drawing/2014/main" val="20005"/>
                    </a:ext>
                  </a:extLst>
                </a:gridCol>
                <a:gridCol w="809625">
                  <a:extLst>
                    <a:ext uri="{9D8B030D-6E8A-4147-A177-3AD203B41FA5}">
                      <a16:colId xmlns:a16="http://schemas.microsoft.com/office/drawing/2014/main" val="20006"/>
                    </a:ext>
                  </a:extLst>
                </a:gridCol>
              </a:tblGrid>
              <a:tr h="677863">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1" fontAlgn="base" latinLnBrk="0" hangingPunct="1">
                        <a:lnSpc>
                          <a:spcPct val="110000"/>
                        </a:lnSpc>
                        <a:spcBef>
                          <a:spcPct val="30000"/>
                        </a:spcBef>
                        <a:spcAft>
                          <a:spcPct val="20000"/>
                        </a:spcAft>
                        <a:buClrTx/>
                        <a:buSzTx/>
                        <a:buFontTx/>
                        <a:buNone/>
                        <a:tabLst/>
                      </a:pPr>
                      <a:r>
                        <a:rPr kumimoji="0" lang="en-GB" altLang="en-US" sz="1600" b="0" i="0" u="none" strike="noStrike" cap="none" normalizeH="0" baseline="0" dirty="0">
                          <a:ln>
                            <a:noFill/>
                          </a:ln>
                          <a:solidFill>
                            <a:srgbClr val="004DB1"/>
                          </a:solidFill>
                          <a:effectLst/>
                          <a:latin typeface="Verdana" pitchFamily="34" charset="0"/>
                          <a:cs typeface="Arial" charset="0"/>
                        </a:rPr>
                        <a:t>Regular customer?</a:t>
                      </a:r>
                      <a:endParaRPr kumimoji="0" lang="en-US" altLang="en-US" sz="1600" b="0" i="0" u="none" strike="noStrike" cap="none" normalizeH="0" baseline="0" dirty="0">
                        <a:ln>
                          <a:noFill/>
                        </a:ln>
                        <a:solidFill>
                          <a:srgbClr val="004DB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Y</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Y</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Y</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N</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N</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N</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77863">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1" fontAlgn="base" latinLnBrk="0" hangingPunct="1">
                        <a:lnSpc>
                          <a:spcPct val="110000"/>
                        </a:lnSpc>
                        <a:spcBef>
                          <a:spcPct val="30000"/>
                        </a:spcBef>
                        <a:spcAft>
                          <a:spcPct val="20000"/>
                        </a:spcAft>
                        <a:buClrTx/>
                        <a:buSzTx/>
                        <a:buFontTx/>
                        <a:buNone/>
                        <a:tabLst/>
                      </a:pPr>
                      <a:r>
                        <a:rPr kumimoji="0" lang="en-GB" altLang="en-US" sz="1600" b="0" i="0" u="none" strike="noStrike" cap="none" normalizeH="0" baseline="0" dirty="0">
                          <a:ln>
                            <a:noFill/>
                          </a:ln>
                          <a:solidFill>
                            <a:srgbClr val="004DB1"/>
                          </a:solidFill>
                          <a:effectLst/>
                          <a:latin typeface="Verdana" pitchFamily="34" charset="0"/>
                          <a:cs typeface="Arial" charset="0"/>
                        </a:rPr>
                        <a:t>Order value (£)</a:t>
                      </a:r>
                      <a:endParaRPr kumimoji="0" lang="en-US" altLang="en-US" sz="1600" b="0" i="0" u="none" strike="noStrike" cap="none" normalizeH="0" baseline="0" dirty="0">
                        <a:ln>
                          <a:noFill/>
                        </a:ln>
                        <a:solidFill>
                          <a:srgbClr val="004DB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0-99</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100-500</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&gt;500</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0-99</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100-500</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&gt;500</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77863">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1" fontAlgn="base" latinLnBrk="0" hangingPunct="1">
                        <a:lnSpc>
                          <a:spcPct val="110000"/>
                        </a:lnSpc>
                        <a:spcBef>
                          <a:spcPct val="30000"/>
                        </a:spcBef>
                        <a:spcAft>
                          <a:spcPct val="20000"/>
                        </a:spcAft>
                        <a:buClrTx/>
                        <a:buSzTx/>
                        <a:buFontTx/>
                        <a:buNone/>
                        <a:tabLst/>
                      </a:pPr>
                      <a:r>
                        <a:rPr kumimoji="0" lang="en-GB" altLang="en-US" sz="1600" b="0" i="0" u="none" strike="noStrike" cap="none" normalizeH="0" baseline="0">
                          <a:ln>
                            <a:noFill/>
                          </a:ln>
                          <a:solidFill>
                            <a:srgbClr val="004DB1"/>
                          </a:solidFill>
                          <a:effectLst/>
                          <a:latin typeface="Verdana" pitchFamily="34" charset="0"/>
                          <a:cs typeface="Arial" charset="0"/>
                        </a:rPr>
                        <a:t>Discount given</a:t>
                      </a:r>
                      <a:endParaRPr kumimoji="0" lang="en-US" altLang="en-US" sz="1600" b="0" i="0" u="none" strike="noStrike" cap="none" normalizeH="0" baseline="0">
                        <a:ln>
                          <a:noFill/>
                        </a:ln>
                        <a:solidFill>
                          <a:srgbClr val="004DB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0</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15%</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20%</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0</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10%</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15%</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77863">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l" defTabSz="914400" rtl="0" eaLnBrk="1" fontAlgn="base" latinLnBrk="0" hangingPunct="1">
                        <a:lnSpc>
                          <a:spcPct val="110000"/>
                        </a:lnSpc>
                        <a:spcBef>
                          <a:spcPct val="30000"/>
                        </a:spcBef>
                        <a:spcAft>
                          <a:spcPct val="20000"/>
                        </a:spcAft>
                        <a:buClrTx/>
                        <a:buSzTx/>
                        <a:buFontTx/>
                        <a:buNone/>
                        <a:tabLst/>
                      </a:pPr>
                      <a:r>
                        <a:rPr kumimoji="0" lang="en-GB" altLang="en-US" sz="1600" b="0" i="0" u="none" strike="noStrike" cap="none" normalizeH="0" baseline="0">
                          <a:ln>
                            <a:noFill/>
                          </a:ln>
                          <a:solidFill>
                            <a:srgbClr val="004DB1"/>
                          </a:solidFill>
                          <a:effectLst/>
                          <a:latin typeface="Verdana" pitchFamily="34" charset="0"/>
                          <a:cs typeface="Arial" charset="0"/>
                        </a:rPr>
                        <a:t>Free gift</a:t>
                      </a:r>
                      <a:endParaRPr kumimoji="0" lang="en-US" altLang="en-US" sz="1600" b="0" i="0" u="none" strike="noStrike" cap="none" normalizeH="0" baseline="0">
                        <a:ln>
                          <a:noFill/>
                        </a:ln>
                        <a:solidFill>
                          <a:srgbClr val="004DB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X</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0000"/>
                        </a:lnSpc>
                        <a:spcBef>
                          <a:spcPct val="30000"/>
                        </a:spcBef>
                        <a:spcAft>
                          <a:spcPct val="20000"/>
                        </a:spcAft>
                        <a:defRPr sz="1600">
                          <a:solidFill>
                            <a:srgbClr val="004D75"/>
                          </a:solidFill>
                          <a:latin typeface="Verdana" pitchFamily="34" charset="0"/>
                        </a:defRPr>
                      </a:lvl1pPr>
                      <a:lvl2pPr marL="742950" indent="-285750">
                        <a:lnSpc>
                          <a:spcPct val="90000"/>
                        </a:lnSpc>
                        <a:spcBef>
                          <a:spcPct val="20000"/>
                        </a:spcBef>
                        <a:spcAft>
                          <a:spcPct val="10000"/>
                        </a:spcAft>
                        <a:defRPr sz="1300">
                          <a:solidFill>
                            <a:srgbClr val="004D75"/>
                          </a:solidFill>
                          <a:latin typeface="Verdana" pitchFamily="34" charset="0"/>
                        </a:defRPr>
                      </a:lvl2pPr>
                      <a:lvl3pPr marL="1143000" indent="-228600">
                        <a:lnSpc>
                          <a:spcPct val="90000"/>
                        </a:lnSpc>
                        <a:spcBef>
                          <a:spcPct val="20000"/>
                        </a:spcBef>
                        <a:spcAft>
                          <a:spcPct val="20000"/>
                        </a:spcAft>
                        <a:defRPr sz="1000">
                          <a:solidFill>
                            <a:srgbClr val="004D75"/>
                          </a:solidFill>
                          <a:latin typeface="Verdana" pitchFamily="34" charset="0"/>
                        </a:defRPr>
                      </a:lvl3pPr>
                      <a:lvl4pPr marL="1600200" indent="-228600">
                        <a:lnSpc>
                          <a:spcPct val="90000"/>
                        </a:lnSpc>
                        <a:spcBef>
                          <a:spcPct val="20000"/>
                        </a:spcBef>
                        <a:spcAft>
                          <a:spcPct val="20000"/>
                        </a:spcAft>
                        <a:defRPr sz="1000">
                          <a:solidFill>
                            <a:srgbClr val="004D75"/>
                          </a:solidFill>
                          <a:latin typeface="Verdana" pitchFamily="34" charset="0"/>
                        </a:defRPr>
                      </a:lvl4pPr>
                      <a:lvl5pPr marL="2057400" indent="-228600">
                        <a:lnSpc>
                          <a:spcPct val="90000"/>
                        </a:lnSpc>
                        <a:spcBef>
                          <a:spcPct val="20000"/>
                        </a:spcBef>
                        <a:spcAft>
                          <a:spcPct val="20000"/>
                        </a:spcAft>
                        <a:defRPr sz="1000">
                          <a:solidFill>
                            <a:srgbClr val="004D75"/>
                          </a:solidFill>
                          <a:latin typeface="Verdana" pitchFamily="34" charset="0"/>
                        </a:defRPr>
                      </a:lvl5pPr>
                      <a:lvl6pPr marL="2514600" indent="-228600" eaLnBrk="0" fontAlgn="base" hangingPunct="0">
                        <a:lnSpc>
                          <a:spcPct val="90000"/>
                        </a:lnSpc>
                        <a:spcBef>
                          <a:spcPct val="20000"/>
                        </a:spcBef>
                        <a:spcAft>
                          <a:spcPct val="20000"/>
                        </a:spcAft>
                        <a:defRPr sz="1000">
                          <a:solidFill>
                            <a:srgbClr val="004D75"/>
                          </a:solidFill>
                          <a:latin typeface="Verdana" pitchFamily="34" charset="0"/>
                        </a:defRPr>
                      </a:lvl6pPr>
                      <a:lvl7pPr marL="2971800" indent="-228600" eaLnBrk="0" fontAlgn="base" hangingPunct="0">
                        <a:lnSpc>
                          <a:spcPct val="90000"/>
                        </a:lnSpc>
                        <a:spcBef>
                          <a:spcPct val="20000"/>
                        </a:spcBef>
                        <a:spcAft>
                          <a:spcPct val="20000"/>
                        </a:spcAft>
                        <a:defRPr sz="1000">
                          <a:solidFill>
                            <a:srgbClr val="004D75"/>
                          </a:solidFill>
                          <a:latin typeface="Verdana" pitchFamily="34" charset="0"/>
                        </a:defRPr>
                      </a:lvl7pPr>
                      <a:lvl8pPr marL="3429000" indent="-228600" eaLnBrk="0" fontAlgn="base" hangingPunct="0">
                        <a:lnSpc>
                          <a:spcPct val="90000"/>
                        </a:lnSpc>
                        <a:spcBef>
                          <a:spcPct val="20000"/>
                        </a:spcBef>
                        <a:spcAft>
                          <a:spcPct val="20000"/>
                        </a:spcAft>
                        <a:defRPr sz="1000">
                          <a:solidFill>
                            <a:srgbClr val="004D75"/>
                          </a:solidFill>
                          <a:latin typeface="Verdana" pitchFamily="34" charset="0"/>
                        </a:defRPr>
                      </a:lvl8pPr>
                      <a:lvl9pPr marL="3886200" indent="-228600" eaLnBrk="0" fontAlgn="base" hangingPunct="0">
                        <a:lnSpc>
                          <a:spcPct val="90000"/>
                        </a:lnSpc>
                        <a:spcBef>
                          <a:spcPct val="20000"/>
                        </a:spcBef>
                        <a:spcAft>
                          <a:spcPct val="20000"/>
                        </a:spcAft>
                        <a:defRPr sz="1000">
                          <a:solidFill>
                            <a:srgbClr val="004D75"/>
                          </a:solidFill>
                          <a:latin typeface="Verdana" pitchFamily="34" charset="0"/>
                        </a:defRPr>
                      </a:lvl9pPr>
                    </a:lstStyle>
                    <a:p>
                      <a:pPr marL="0" marR="0" lvl="0" indent="0" algn="ctr" defTabSz="914400" rtl="0" eaLnBrk="1" fontAlgn="base" latinLnBrk="0" hangingPunct="1">
                        <a:lnSpc>
                          <a:spcPct val="110000"/>
                        </a:lnSpc>
                        <a:spcBef>
                          <a:spcPct val="30000"/>
                        </a:spcBef>
                        <a:spcAft>
                          <a:spcPct val="20000"/>
                        </a:spcAft>
                        <a:buClrTx/>
                        <a:buSzTx/>
                        <a:buFontTx/>
                        <a:buNone/>
                        <a:tabLst/>
                      </a:pPr>
                      <a:r>
                        <a:rPr kumimoji="0" lang="en-GB" altLang="en-US" sz="1600" b="1" i="0" u="none" strike="noStrike" cap="none" normalizeH="0" baseline="0">
                          <a:ln>
                            <a:noFill/>
                          </a:ln>
                          <a:solidFill>
                            <a:schemeClr val="hlink"/>
                          </a:solidFill>
                          <a:effectLst/>
                          <a:latin typeface="Verdana" pitchFamily="34" charset="0"/>
                          <a:cs typeface="Arial" charset="0"/>
                        </a:rPr>
                        <a:t>X</a:t>
                      </a:r>
                      <a:endParaRPr kumimoji="0" lang="en-US" altLang="en-US" sz="1600" b="1" i="0" u="none" strike="noStrike" cap="none" normalizeH="0" baseline="0">
                        <a:ln>
                          <a:noFill/>
                        </a:ln>
                        <a:solidFill>
                          <a:schemeClr val="hlink"/>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3837" name="Text Box 76"/>
          <p:cNvSpPr txBox="1">
            <a:spLocks noChangeArrowheads="1"/>
          </p:cNvSpPr>
          <p:nvPr/>
        </p:nvSpPr>
        <p:spPr bwMode="auto">
          <a:xfrm>
            <a:off x="1123950" y="6521450"/>
            <a:ext cx="8020050" cy="336550"/>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r" defTabSz="914400" rtl="0" eaLnBrk="0" fontAlgn="base" latinLnBrk="0" hangingPunct="0">
              <a:lnSpc>
                <a:spcPct val="100000"/>
              </a:lnSpc>
              <a:spcBef>
                <a:spcPct val="0"/>
              </a:spcBef>
              <a:spcAft>
                <a:spcPct val="0"/>
              </a:spcAft>
              <a:buClrTx/>
              <a:buSzTx/>
              <a:buFont typeface="Symbol" pitchFamily="18" charset="2"/>
              <a:buNone/>
              <a:tabLst/>
              <a:defRPr/>
            </a:pPr>
            <a:r>
              <a:rPr kumimoji="0" lang="en-GB" altLang="en-US" sz="1400" b="0" i="0" u="none" strike="noStrike" kern="1200" cap="none" spc="0" normalizeH="0" baseline="0" noProof="0">
                <a:ln>
                  <a:noFill/>
                </a:ln>
                <a:solidFill>
                  <a:srgbClr val="000000"/>
                </a:solidFill>
                <a:effectLst/>
                <a:uLnTx/>
                <a:uFillTx/>
                <a:latin typeface="Times New Roman" pitchFamily="18" charset="0"/>
                <a:ea typeface="+mn-ea"/>
                <a:cs typeface="Arial" charset="0"/>
              </a:rPr>
              <a:t>Adapted from </a:t>
            </a:r>
            <a:r>
              <a:rPr kumimoji="0" lang="en-US" altLang="en-US" sz="1400" b="0" i="0" u="none" strike="noStrike" kern="1200" cap="none" spc="0" normalizeH="0" baseline="0" noProof="0">
                <a:ln>
                  <a:noFill/>
                </a:ln>
                <a:solidFill>
                  <a:srgbClr val="000000"/>
                </a:solidFill>
                <a:effectLst/>
                <a:uLnTx/>
                <a:uFillTx/>
                <a:latin typeface="Times New Roman" pitchFamily="18" charset="0"/>
                <a:ea typeface="+mn-ea"/>
                <a:cs typeface="Arial" charset="0"/>
              </a:rPr>
              <a:t>Lejk &amp; Deeks (2002), pp 105.</a:t>
            </a:r>
            <a:endParaRPr kumimoji="0" lang="en-GB" altLang="en-US" sz="1400" b="0" i="0" u="none" strike="noStrike" kern="1200" cap="none" spc="0" normalizeH="0" baseline="0" noProof="0">
              <a:ln>
                <a:noFill/>
              </a:ln>
              <a:solidFill>
                <a:srgbClr val="000000"/>
              </a:solidFill>
              <a:effectLst/>
              <a:uLnTx/>
              <a:uFillTx/>
              <a:latin typeface="Times New Roman" pitchFamily="18" charset="0"/>
              <a:ea typeface="+mn-ea"/>
              <a:cs typeface="Arial" charset="0"/>
            </a:endParaRPr>
          </a:p>
        </p:txBody>
      </p:sp>
    </p:spTree>
    <p:extLst>
      <p:ext uri="{BB962C8B-B14F-4D97-AF65-F5344CB8AC3E}">
        <p14:creationId xmlns:p14="http://schemas.microsoft.com/office/powerpoint/2010/main" val="36836579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altLang="en-US" b="1"/>
              <a:t>Multiple Outcomes </a:t>
            </a:r>
          </a:p>
        </p:txBody>
      </p:sp>
      <p:sp>
        <p:nvSpPr>
          <p:cNvPr id="40963" name="Content Placeholder 2"/>
          <p:cNvSpPr>
            <a:spLocks noGrp="1"/>
          </p:cNvSpPr>
          <p:nvPr>
            <p:ph idx="1"/>
          </p:nvPr>
        </p:nvSpPr>
        <p:spPr>
          <a:xfrm>
            <a:off x="381000" y="1447800"/>
            <a:ext cx="8305800" cy="4745082"/>
          </a:xfrm>
        </p:spPr>
        <p:txBody>
          <a:bodyPr/>
          <a:lstStyle/>
          <a:p>
            <a:r>
              <a:rPr lang="en-US" altLang="en-US" sz="2400" dirty="0"/>
              <a:t>In addition to multiple conditions, decision tables can have more than two possible outcomes. </a:t>
            </a:r>
          </a:p>
          <a:p>
            <a:r>
              <a:rPr lang="en-US" altLang="en-US" sz="2400" dirty="0"/>
              <a:t>For example, the sales promotion policy shown in the next slide includes three conditions: </a:t>
            </a:r>
          </a:p>
          <a:p>
            <a:pPr lvl="1"/>
            <a:r>
              <a:rPr lang="en-US" altLang="en-US" sz="1600" dirty="0"/>
              <a:t>Was the customer a preferred customer, </a:t>
            </a:r>
          </a:p>
          <a:p>
            <a:pPr lvl="1"/>
            <a:r>
              <a:rPr lang="en-US" altLang="en-US" sz="1600" dirty="0"/>
              <a:t>did the customer order $1,000 or more, and </a:t>
            </a:r>
          </a:p>
          <a:p>
            <a:pPr lvl="1"/>
            <a:r>
              <a:rPr lang="en-US" altLang="en-US" sz="1600" dirty="0"/>
              <a:t>did the customer use our company charge card?</a:t>
            </a:r>
          </a:p>
          <a:p>
            <a:r>
              <a:rPr lang="en-US" altLang="en-US" sz="2400" dirty="0"/>
              <a:t>Based on these conditions, </a:t>
            </a:r>
            <a:r>
              <a:rPr lang="en-US" altLang="en-US" sz="2400" dirty="0">
                <a:solidFill>
                  <a:srgbClr val="00B0F0"/>
                </a:solidFill>
              </a:rPr>
              <a:t>four possible </a:t>
            </a:r>
            <a:r>
              <a:rPr lang="en-US" altLang="en-US" sz="2400" b="1" dirty="0">
                <a:solidFill>
                  <a:srgbClr val="00B0F0"/>
                </a:solidFill>
              </a:rPr>
              <a:t>actions</a:t>
            </a:r>
            <a:r>
              <a:rPr lang="en-US" altLang="en-US" sz="2400" dirty="0">
                <a:solidFill>
                  <a:srgbClr val="00B0F0"/>
                </a:solidFill>
              </a:rPr>
              <a:t> </a:t>
            </a:r>
            <a:r>
              <a:rPr lang="en-US" altLang="en-US" sz="2400" dirty="0"/>
              <a:t>can occur, as shown in the decision table in the next slide.</a:t>
            </a:r>
          </a:p>
          <a:p>
            <a:endParaRPr lang="en-US" altLang="en-US" sz="2400" dirty="0"/>
          </a:p>
        </p:txBody>
      </p:sp>
      <p:sp>
        <p:nvSpPr>
          <p:cNvPr id="40964" name="Slide Number Placeholder 3"/>
          <p:cNvSpPr>
            <a:spLocks noGrp="1"/>
          </p:cNvSpPr>
          <p:nvPr>
            <p:ph type="sldNum" sz="quarter" idx="4294967295"/>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fld id="{0E44DCCC-486F-46ED-9798-4BCA552D6076}" type="slidenum">
              <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rPr>
              <a:pPr marL="0" marR="0" lvl="0" indent="0" algn="l" defTabSz="914400" rtl="0" eaLnBrk="0" fontAlgn="base" latinLnBrk="0" hangingPunct="0">
                <a:lnSpc>
                  <a:spcPct val="100000"/>
                </a:lnSpc>
                <a:spcBef>
                  <a:spcPct val="0"/>
                </a:spcBef>
                <a:spcAft>
                  <a:spcPct val="0"/>
                </a:spcAft>
                <a:buClrTx/>
                <a:buSzTx/>
                <a:buFontTx/>
                <a:buNone/>
                <a:tabLst/>
                <a:defRPr/>
              </a:pPr>
              <a:t>30</a:t>
            </a:fld>
            <a:endPar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endParaRPr>
          </a:p>
        </p:txBody>
      </p:sp>
    </p:spTree>
    <p:extLst>
      <p:ext uri="{BB962C8B-B14F-4D97-AF65-F5344CB8AC3E}">
        <p14:creationId xmlns:p14="http://schemas.microsoft.com/office/powerpoint/2010/main" val="35603979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altLang="en-US" b="1"/>
              <a:t>Sales Promotion Policy (initial version) - Example </a:t>
            </a:r>
          </a:p>
        </p:txBody>
      </p:sp>
      <p:sp>
        <p:nvSpPr>
          <p:cNvPr id="41987" name="Slide Number Placeholder 3"/>
          <p:cNvSpPr>
            <a:spLocks noGrp="1"/>
          </p:cNvSpPr>
          <p:nvPr>
            <p:ph type="sldNum" sz="quarter" idx="4294967295"/>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fld id="{B38D58CE-CBD1-46D1-90D4-5D56BE04843B}" type="slidenum">
              <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rPr>
              <a:pPr marL="0" marR="0" lvl="0" indent="0" algn="l" defTabSz="914400" rtl="0" eaLnBrk="0" fontAlgn="base" latinLnBrk="0" hangingPunct="0">
                <a:lnSpc>
                  <a:spcPct val="100000"/>
                </a:lnSpc>
                <a:spcBef>
                  <a:spcPct val="0"/>
                </a:spcBef>
                <a:spcAft>
                  <a:spcPct val="0"/>
                </a:spcAft>
                <a:buClrTx/>
                <a:buSzTx/>
                <a:buFontTx/>
                <a:buNone/>
                <a:tabLst/>
                <a:defRPr/>
              </a:pPr>
              <a:t>31</a:t>
            </a:fld>
            <a:endPar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endParaRPr>
          </a:p>
        </p:txBody>
      </p:sp>
      <p:pic>
        <p:nvPicPr>
          <p:cNvPr id="4198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81038" y="3810000"/>
            <a:ext cx="7700962" cy="2854325"/>
          </a:xfrm>
        </p:spPr>
      </p:pic>
      <p:pic>
        <p:nvPicPr>
          <p:cNvPr id="4198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038" y="1600200"/>
            <a:ext cx="7700962" cy="190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758997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r>
              <a:rPr lang="en-US" altLang="en-US" b="1" dirty="0"/>
              <a:t>Sales Promotion Policy (initial version) - Example (Explanation)</a:t>
            </a:r>
          </a:p>
        </p:txBody>
      </p:sp>
      <p:sp>
        <p:nvSpPr>
          <p:cNvPr id="43011" name="Content Placeholder 2"/>
          <p:cNvSpPr>
            <a:spLocks noGrp="1"/>
          </p:cNvSpPr>
          <p:nvPr>
            <p:ph idx="1"/>
          </p:nvPr>
        </p:nvSpPr>
        <p:spPr/>
        <p:txBody>
          <a:bodyPr/>
          <a:lstStyle/>
          <a:p>
            <a:r>
              <a:rPr lang="en-US" altLang="en-US" sz="1400" dirty="0"/>
              <a:t>When you study the conditions and outcomes, you realize that:</a:t>
            </a:r>
          </a:p>
          <a:p>
            <a:pPr marL="400050" lvl="1" indent="0">
              <a:buFontTx/>
              <a:buNone/>
            </a:pPr>
            <a:r>
              <a:rPr lang="en-US" altLang="en-US" sz="1200" dirty="0"/>
              <a:t>• In Rule 1, all three conditions are met, so </a:t>
            </a:r>
            <a:r>
              <a:rPr lang="en-US" altLang="en-US" sz="1200" i="1" dirty="0"/>
              <a:t>both </a:t>
            </a:r>
            <a:r>
              <a:rPr lang="en-US" altLang="en-US" sz="1200" dirty="0"/>
              <a:t>5% discounts apply.</a:t>
            </a:r>
          </a:p>
          <a:p>
            <a:pPr marL="400050" lvl="1" indent="0">
              <a:buFontTx/>
              <a:buNone/>
            </a:pPr>
            <a:r>
              <a:rPr lang="en-US" altLang="en-US" sz="1200" dirty="0"/>
              <a:t>• In Rule 2, a preferred customer orders $1,000 or more, but does not use our charge card, so only </a:t>
            </a:r>
            <a:r>
              <a:rPr lang="en-US" altLang="en-US" sz="1200" i="1" dirty="0"/>
              <a:t>one </a:t>
            </a:r>
            <a:r>
              <a:rPr lang="en-US" altLang="en-US" sz="1200" dirty="0"/>
              <a:t>5% discount applies.</a:t>
            </a:r>
          </a:p>
          <a:p>
            <a:pPr marL="400050" lvl="1" indent="0">
              <a:buFontTx/>
              <a:buNone/>
            </a:pPr>
            <a:r>
              <a:rPr lang="en-US" altLang="en-US" sz="1200" dirty="0"/>
              <a:t>• Rules 3 and 4 can be combined into a single rule. Why? If preferred customers do not order $1,000 or more, it does not matter whether they use our charge card – either way, they only earn a $25 bonus coupon. Therefore, Rules 3 and 4 really are a single rule.</a:t>
            </a:r>
          </a:p>
          <a:p>
            <a:pPr marL="400050" lvl="1" indent="0">
              <a:buFontTx/>
              <a:buNone/>
            </a:pPr>
            <a:r>
              <a:rPr lang="en-US" altLang="en-US" sz="1200" dirty="0"/>
              <a:t>• Rules 5, 6, 7, and 8 also can be combined into a single rule – because if the person is </a:t>
            </a:r>
            <a:r>
              <a:rPr lang="en-US" altLang="en-US" sz="1200" i="1" dirty="0"/>
              <a:t>not </a:t>
            </a:r>
            <a:r>
              <a:rPr lang="en-US" altLang="en-US" sz="1200" dirty="0"/>
              <a:t>a preferred customer, he or she can </a:t>
            </a:r>
            <a:r>
              <a:rPr lang="en-US" altLang="en-US" sz="1200" i="1" dirty="0"/>
              <a:t>only </a:t>
            </a:r>
            <a:r>
              <a:rPr lang="en-US" altLang="en-US" sz="1200" dirty="0"/>
              <a:t>receive a $5 bonus coupon, and the other conditions simply do not matter. So, you insert a dash if a condition is irrelevant, as shown in Figure 5-41.</a:t>
            </a:r>
          </a:p>
          <a:p>
            <a:r>
              <a:rPr lang="en-US" altLang="en-US" sz="1400" dirty="0"/>
              <a:t>If you add dashes for rules that are not relevant, your table should resemble the one shown in Figure 5-41. </a:t>
            </a:r>
          </a:p>
          <a:p>
            <a:r>
              <a:rPr lang="en-US" altLang="en-US" sz="1400" dirty="0"/>
              <a:t>When you combine and simplify the results, only four rules remain: Rule 1, Rule 2, Rule 3 (a combination of initial Rules 3 and 4), and Rule 4 (a combination of initial Rules 5, 6, 7, and 8).</a:t>
            </a:r>
          </a:p>
          <a:p>
            <a:r>
              <a:rPr lang="en-US" altLang="en-US" sz="1400" dirty="0"/>
              <a:t>Decision tables often are the best way to describe a complex set of conditions. </a:t>
            </a:r>
          </a:p>
          <a:p>
            <a:r>
              <a:rPr lang="en-US" altLang="en-US" sz="1400" dirty="0"/>
              <a:t>Many analysts use decision tables because they are easy to construct and understand, and programmers find it easy to work from a decision table when developing code.</a:t>
            </a:r>
          </a:p>
        </p:txBody>
      </p:sp>
      <p:sp>
        <p:nvSpPr>
          <p:cNvPr id="43012" name="Slide Number Placeholder 3"/>
          <p:cNvSpPr>
            <a:spLocks noGrp="1"/>
          </p:cNvSpPr>
          <p:nvPr>
            <p:ph type="sldNum" sz="quarter" idx="4294967295"/>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fld id="{4AA1E999-BE82-4BF2-A44F-37B910CF28D3}" type="slidenum">
              <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rPr>
              <a:pPr marL="0" marR="0" lvl="0" indent="0" algn="l" defTabSz="914400" rtl="0" eaLnBrk="0" fontAlgn="base" latinLnBrk="0" hangingPunct="0">
                <a:lnSpc>
                  <a:spcPct val="100000"/>
                </a:lnSpc>
                <a:spcBef>
                  <a:spcPct val="0"/>
                </a:spcBef>
                <a:spcAft>
                  <a:spcPct val="0"/>
                </a:spcAft>
                <a:buClrTx/>
                <a:buSzTx/>
                <a:buFontTx/>
                <a:buNone/>
                <a:tabLst/>
                <a:defRPr/>
              </a:pPr>
              <a:t>32</a:t>
            </a:fld>
            <a:endPar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endParaRPr>
          </a:p>
        </p:txBody>
      </p:sp>
    </p:spTree>
    <p:extLst>
      <p:ext uri="{BB962C8B-B14F-4D97-AF65-F5344CB8AC3E}">
        <p14:creationId xmlns:p14="http://schemas.microsoft.com/office/powerpoint/2010/main" val="22998103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86EBD5C1-8138-47F1-BEF0-998E17460538}"/>
              </a:ext>
            </a:extLst>
          </p:cNvPr>
          <p:cNvSpPr>
            <a:spLocks noGrp="1"/>
          </p:cNvSpPr>
          <p:nvPr>
            <p:ph type="title"/>
          </p:nvPr>
        </p:nvSpPr>
        <p:spPr>
          <a:xfrm>
            <a:off x="1033463" y="268288"/>
            <a:ext cx="7156450" cy="590550"/>
          </a:xfrm>
        </p:spPr>
        <p:txBody>
          <a:bodyPr/>
          <a:lstStyle/>
          <a:p>
            <a:r>
              <a:rPr lang="en-US" altLang="en-US"/>
              <a:t>Steps to create a Decision Table</a:t>
            </a:r>
          </a:p>
        </p:txBody>
      </p:sp>
      <p:sp>
        <p:nvSpPr>
          <p:cNvPr id="31747" name="Content Placeholder 2">
            <a:extLst>
              <a:ext uri="{FF2B5EF4-FFF2-40B4-BE49-F238E27FC236}">
                <a16:creationId xmlns:a16="http://schemas.microsoft.com/office/drawing/2014/main" id="{23419529-F18B-489F-AB5C-E1F6E0DAC7A4}"/>
              </a:ext>
            </a:extLst>
          </p:cNvPr>
          <p:cNvSpPr>
            <a:spLocks noGrp="1"/>
          </p:cNvSpPr>
          <p:nvPr>
            <p:ph idx="1"/>
          </p:nvPr>
        </p:nvSpPr>
        <p:spPr>
          <a:xfrm>
            <a:off x="457200" y="1600200"/>
            <a:ext cx="8229600" cy="5105400"/>
          </a:xfrm>
        </p:spPr>
        <p:txBody>
          <a:bodyPr/>
          <a:lstStyle/>
          <a:p>
            <a:pPr marL="514350" indent="-514350">
              <a:spcBef>
                <a:spcPct val="0"/>
              </a:spcBef>
              <a:buFont typeface="Calibri" panose="020F0502020204030204" pitchFamily="34" charset="0"/>
              <a:buAutoNum type="arabicPeriod"/>
            </a:pPr>
            <a:r>
              <a:rPr lang="en-US" altLang="en-US" sz="2100"/>
              <a:t>Place the name of the process in the heading at the top left.</a:t>
            </a:r>
          </a:p>
          <a:p>
            <a:pPr marL="514350" indent="-514350">
              <a:spcBef>
                <a:spcPct val="0"/>
              </a:spcBef>
              <a:buFont typeface="Calibri" panose="020F0502020204030204" pitchFamily="34" charset="0"/>
              <a:buAutoNum type="arabicPeriod"/>
            </a:pPr>
            <a:r>
              <a:rPr lang="en-US" altLang="en-US" sz="2100"/>
              <a:t>Enter the conditions under the heading, with one condition per line.</a:t>
            </a:r>
          </a:p>
          <a:p>
            <a:pPr marL="514350" indent="-514350">
              <a:spcBef>
                <a:spcPct val="0"/>
              </a:spcBef>
              <a:buFont typeface="Calibri" panose="020F0502020204030204" pitchFamily="34" charset="0"/>
              <a:buAutoNum type="arabicPeriod"/>
            </a:pPr>
            <a:r>
              <a:rPr lang="en-US" altLang="en-US" sz="2100"/>
              <a:t>Enter all the potential combinations of yes and no (Y/N) for the conditions. Each column represents a numbered possibility called a rule.</a:t>
            </a:r>
          </a:p>
          <a:p>
            <a:pPr marL="514350" indent="-514350">
              <a:spcBef>
                <a:spcPct val="0"/>
              </a:spcBef>
              <a:buFont typeface="Calibri" panose="020F0502020204030204" pitchFamily="34" charset="0"/>
              <a:buAutoNum type="arabicPeriod"/>
            </a:pPr>
            <a:r>
              <a:rPr lang="en-US" altLang="en-US" sz="2100"/>
              <a:t>Place an X in the action entries area for each rule to indicate what actions to take. </a:t>
            </a:r>
          </a:p>
        </p:txBody>
      </p:sp>
      <p:sp>
        <p:nvSpPr>
          <p:cNvPr id="31748" name="Slide Number Placeholder 3">
            <a:extLst>
              <a:ext uri="{FF2B5EF4-FFF2-40B4-BE49-F238E27FC236}">
                <a16:creationId xmlns:a16="http://schemas.microsoft.com/office/drawing/2014/main" id="{70803E95-C789-42C2-9294-6D07169F1D7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B0007FB-6264-40B3-A167-ABEED2BD21BE}" type="slidenum">
              <a:rPr lang="en-US" altLang="en-US" sz="1200">
                <a:solidFill>
                  <a:srgbClr val="898989"/>
                </a:solidFill>
              </a:rPr>
              <a:pPr>
                <a:spcBef>
                  <a:spcPct val="0"/>
                </a:spcBef>
                <a:buFontTx/>
                <a:buNone/>
              </a:pPr>
              <a:t>33</a:t>
            </a:fld>
            <a:endParaRPr lang="en-US" altLang="en-US" sz="1200">
              <a:solidFill>
                <a:srgbClr val="898989"/>
              </a:solidFill>
            </a:endParaRPr>
          </a:p>
        </p:txBody>
      </p:sp>
      <p:pic>
        <p:nvPicPr>
          <p:cNvPr id="31749" name="Picture 2">
            <a:extLst>
              <a:ext uri="{FF2B5EF4-FFF2-40B4-BE49-F238E27FC236}">
                <a16:creationId xmlns:a16="http://schemas.microsoft.com/office/drawing/2014/main" id="{30EC7C8B-4185-4D0F-9788-E0A5ACE73E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6488" y="5029200"/>
            <a:ext cx="6800850" cy="1619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1750" name="Picture 4">
            <a:extLst>
              <a:ext uri="{FF2B5EF4-FFF2-40B4-BE49-F238E27FC236}">
                <a16:creationId xmlns:a16="http://schemas.microsoft.com/office/drawing/2014/main" id="{D544B9E5-A7AB-49F5-A4AC-4BEEB82255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25" y="4194175"/>
            <a:ext cx="6589713" cy="857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CE570-7717-4BDC-89BF-D95C673B1F4B}"/>
              </a:ext>
            </a:extLst>
          </p:cNvPr>
          <p:cNvSpPr>
            <a:spLocks noGrp="1"/>
          </p:cNvSpPr>
          <p:nvPr>
            <p:ph type="title"/>
          </p:nvPr>
        </p:nvSpPr>
        <p:spPr>
          <a:xfrm>
            <a:off x="917575" y="304800"/>
            <a:ext cx="7156450" cy="590550"/>
          </a:xfrm>
        </p:spPr>
        <p:txBody>
          <a:bodyPr>
            <a:normAutofit fontScale="90000"/>
          </a:bodyPr>
          <a:lstStyle/>
          <a:p>
            <a:pPr>
              <a:defRPr/>
            </a:pPr>
            <a:r>
              <a:rPr kumimoji="1" lang="en-US" altLang="en-US" dirty="0"/>
              <a:t>Decision Table – Three Conditions Example</a:t>
            </a:r>
            <a:endParaRPr lang="en-US" dirty="0"/>
          </a:p>
        </p:txBody>
      </p:sp>
      <p:sp>
        <p:nvSpPr>
          <p:cNvPr id="32771" name="Slide Number Placeholder 3">
            <a:extLst>
              <a:ext uri="{FF2B5EF4-FFF2-40B4-BE49-F238E27FC236}">
                <a16:creationId xmlns:a16="http://schemas.microsoft.com/office/drawing/2014/main" id="{59AE86A0-E8EB-44BA-B967-0B3CD693D2B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7152753-5EC5-4061-9CB6-6F576BF153EE}" type="slidenum">
              <a:rPr lang="en-US" altLang="en-US" sz="1200">
                <a:solidFill>
                  <a:srgbClr val="898989"/>
                </a:solidFill>
              </a:rPr>
              <a:pPr>
                <a:spcBef>
                  <a:spcPct val="0"/>
                </a:spcBef>
                <a:buFontTx/>
                <a:buNone/>
              </a:pPr>
              <a:t>34</a:t>
            </a:fld>
            <a:endParaRPr lang="en-US" altLang="en-US" sz="1200">
              <a:solidFill>
                <a:srgbClr val="898989"/>
              </a:solidFill>
            </a:endParaRPr>
          </a:p>
        </p:txBody>
      </p:sp>
      <p:pic>
        <p:nvPicPr>
          <p:cNvPr id="32772" name="Picture 2">
            <a:extLst>
              <a:ext uri="{FF2B5EF4-FFF2-40B4-BE49-F238E27FC236}">
                <a16:creationId xmlns:a16="http://schemas.microsoft.com/office/drawing/2014/main" id="{3B26C66E-A7BE-46D7-83D7-667F9996FC7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90600" y="1566863"/>
            <a:ext cx="7010400" cy="44005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A5900363-C792-4F0A-8CF9-A0DCCD47C6BA}"/>
              </a:ext>
            </a:extLst>
          </p:cNvPr>
          <p:cNvSpPr>
            <a:spLocks noGrp="1"/>
          </p:cNvSpPr>
          <p:nvPr>
            <p:ph type="title"/>
          </p:nvPr>
        </p:nvSpPr>
        <p:spPr/>
        <p:txBody>
          <a:bodyPr/>
          <a:lstStyle/>
          <a:p>
            <a:r>
              <a:rPr lang="en-US" altLang="en-US"/>
              <a:t>Simplifying the Decision Table</a:t>
            </a:r>
          </a:p>
        </p:txBody>
      </p:sp>
      <p:sp>
        <p:nvSpPr>
          <p:cNvPr id="3" name="Content Placeholder 2">
            <a:extLst>
              <a:ext uri="{FF2B5EF4-FFF2-40B4-BE49-F238E27FC236}">
                <a16:creationId xmlns:a16="http://schemas.microsoft.com/office/drawing/2014/main" id="{C9435EE1-64F9-4FEF-B300-7DE1B357D03A}"/>
              </a:ext>
            </a:extLst>
          </p:cNvPr>
          <p:cNvSpPr>
            <a:spLocks noGrp="1"/>
          </p:cNvSpPr>
          <p:nvPr>
            <p:ph idx="1"/>
          </p:nvPr>
        </p:nvSpPr>
        <p:spPr>
          <a:xfrm>
            <a:off x="665163" y="1593850"/>
            <a:ext cx="7813675" cy="4502150"/>
          </a:xfrm>
        </p:spPr>
        <p:txBody>
          <a:bodyPr>
            <a:normAutofit fontScale="55000" lnSpcReduction="20000"/>
          </a:bodyPr>
          <a:lstStyle/>
          <a:p>
            <a:pPr>
              <a:defRPr/>
            </a:pPr>
            <a:r>
              <a:rPr lang="en-US" dirty="0"/>
              <a:t>When all the outcomes have been determined, you are ready to simplify the table. </a:t>
            </a:r>
          </a:p>
          <a:p>
            <a:pPr>
              <a:defRPr/>
            </a:pPr>
            <a:endParaRPr lang="en-US" dirty="0"/>
          </a:p>
          <a:p>
            <a:pPr>
              <a:defRPr/>
            </a:pPr>
            <a:r>
              <a:rPr lang="en-US" dirty="0"/>
              <a:t>In a multi-condition table, some rules might be duplicates, redundant, or unrealistic. </a:t>
            </a:r>
          </a:p>
          <a:p>
            <a:pPr>
              <a:defRPr/>
            </a:pPr>
            <a:endParaRPr lang="en-US" dirty="0"/>
          </a:p>
          <a:p>
            <a:pPr>
              <a:defRPr/>
            </a:pPr>
            <a:r>
              <a:rPr lang="en-US" dirty="0"/>
              <a:t>To simplify the table, follow these steps:</a:t>
            </a:r>
          </a:p>
          <a:p>
            <a:pPr marL="457200" lvl="1" indent="0">
              <a:buFont typeface="Arial" panose="020B0604020202020204" pitchFamily="34" charset="0"/>
              <a:buNone/>
              <a:defRPr/>
            </a:pPr>
            <a:r>
              <a:rPr lang="en-US" dirty="0"/>
              <a:t>	</a:t>
            </a:r>
            <a:r>
              <a:rPr lang="en-US" sz="2600" dirty="0">
                <a:latin typeface="Arial" panose="020B0604020202020204" pitchFamily="34" charset="0"/>
                <a:cs typeface="Arial" panose="020B0604020202020204" pitchFamily="34" charset="0"/>
              </a:rPr>
              <a:t>1. </a:t>
            </a:r>
            <a:r>
              <a:rPr lang="en-US" sz="3100" dirty="0">
                <a:latin typeface="Arial" panose="020B0604020202020204" pitchFamily="34" charset="0"/>
                <a:cs typeface="Arial" panose="020B0604020202020204" pitchFamily="34" charset="0"/>
              </a:rPr>
              <a:t>Study each combination of conditions and outcomes.   </a:t>
            </a:r>
            <a:br>
              <a:rPr lang="en-US" sz="3100" dirty="0">
                <a:latin typeface="Arial" panose="020B0604020202020204" pitchFamily="34" charset="0"/>
                <a:cs typeface="Arial" panose="020B0604020202020204" pitchFamily="34" charset="0"/>
              </a:rPr>
            </a:br>
            <a:r>
              <a:rPr lang="en-US" sz="3100" dirty="0">
                <a:latin typeface="Arial" panose="020B0604020202020204" pitchFamily="34" charset="0"/>
                <a:cs typeface="Arial" panose="020B0604020202020204" pitchFamily="34" charset="0"/>
              </a:rPr>
              <a:t>         When you have rules with three conditions, only one </a:t>
            </a:r>
            <a:br>
              <a:rPr lang="en-US" sz="3100" dirty="0">
                <a:latin typeface="Arial" panose="020B0604020202020204" pitchFamily="34" charset="0"/>
                <a:cs typeface="Arial" panose="020B0604020202020204" pitchFamily="34" charset="0"/>
              </a:rPr>
            </a:br>
            <a:r>
              <a:rPr lang="en-US" sz="3100" dirty="0">
                <a:latin typeface="Arial" panose="020B0604020202020204" pitchFamily="34" charset="0"/>
                <a:cs typeface="Arial" panose="020B0604020202020204" pitchFamily="34" charset="0"/>
              </a:rPr>
              <a:t>          or two of them may control the outcome, and the </a:t>
            </a:r>
            <a:br>
              <a:rPr lang="en-US" sz="3100" dirty="0">
                <a:latin typeface="Arial" panose="020B0604020202020204" pitchFamily="34" charset="0"/>
                <a:cs typeface="Arial" panose="020B0604020202020204" pitchFamily="34" charset="0"/>
              </a:rPr>
            </a:br>
            <a:r>
              <a:rPr lang="en-US" sz="3100" dirty="0">
                <a:latin typeface="Arial" panose="020B0604020202020204" pitchFamily="34" charset="0"/>
                <a:cs typeface="Arial" panose="020B0604020202020204" pitchFamily="34" charset="0"/>
              </a:rPr>
              <a:t>         other conditions simply do not matter.</a:t>
            </a:r>
          </a:p>
          <a:p>
            <a:pPr marL="457200" lvl="1" indent="0">
              <a:buFont typeface="Arial" panose="020B0604020202020204" pitchFamily="34" charset="0"/>
              <a:buNone/>
              <a:defRPr/>
            </a:pPr>
            <a:endParaRPr lang="en-US" sz="3100" dirty="0">
              <a:latin typeface="Arial" panose="020B0604020202020204" pitchFamily="34" charset="0"/>
              <a:cs typeface="Arial" panose="020B0604020202020204" pitchFamily="34" charset="0"/>
            </a:endParaRPr>
          </a:p>
          <a:p>
            <a:pPr marL="0" indent="0">
              <a:buFont typeface="Wingdings" pitchFamily="2" charset="2"/>
              <a:buNone/>
              <a:defRPr/>
            </a:pPr>
            <a:r>
              <a:rPr lang="en-US" dirty="0"/>
              <a:t>	2. If you identify conditions that do not affect the </a:t>
            </a:r>
            <a:br>
              <a:rPr lang="en-US" dirty="0"/>
            </a:br>
            <a:r>
              <a:rPr lang="en-US" dirty="0"/>
              <a:t>                outcome, mark them with dashes (-) </a:t>
            </a:r>
          </a:p>
          <a:p>
            <a:pPr marL="0" indent="0">
              <a:buFont typeface="Wingdings" pitchFamily="2" charset="2"/>
              <a:buNone/>
              <a:defRPr/>
            </a:pPr>
            <a:endParaRPr lang="en-US" dirty="0"/>
          </a:p>
          <a:p>
            <a:pPr marL="0" indent="0">
              <a:buFont typeface="Wingdings" pitchFamily="2" charset="2"/>
              <a:buNone/>
              <a:defRPr/>
            </a:pPr>
            <a:r>
              <a:rPr lang="en-US" dirty="0"/>
              <a:t>	3. Now combine and renumber the rules</a:t>
            </a:r>
          </a:p>
        </p:txBody>
      </p:sp>
      <p:sp>
        <p:nvSpPr>
          <p:cNvPr id="33796" name="Slide Number Placeholder 3">
            <a:extLst>
              <a:ext uri="{FF2B5EF4-FFF2-40B4-BE49-F238E27FC236}">
                <a16:creationId xmlns:a16="http://schemas.microsoft.com/office/drawing/2014/main" id="{34591ACB-93DE-47A9-8EE3-C263A74C042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0ABCE9F-71A2-4401-A42B-FE3D9AE658C2}" type="slidenum">
              <a:rPr lang="en-US" altLang="en-US" sz="1200">
                <a:solidFill>
                  <a:srgbClr val="898989"/>
                </a:solidFill>
              </a:rPr>
              <a:pPr>
                <a:spcBef>
                  <a:spcPct val="0"/>
                </a:spcBef>
                <a:buFontTx/>
                <a:buNone/>
              </a:pPr>
              <a:t>35</a:t>
            </a:fld>
            <a:endParaRPr lang="en-US" altLang="en-US" sz="1200">
              <a:solidFill>
                <a:srgbClr val="898989"/>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a:extLst>
              <a:ext uri="{FF2B5EF4-FFF2-40B4-BE49-F238E27FC236}">
                <a16:creationId xmlns:a16="http://schemas.microsoft.com/office/drawing/2014/main" id="{48A29764-DBC5-4BBC-A945-799B41A1734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9863" y="1617663"/>
            <a:ext cx="8501062" cy="5240337"/>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a:extLst>
              <a:ext uri="{FF2B5EF4-FFF2-40B4-BE49-F238E27FC236}">
                <a16:creationId xmlns:a16="http://schemas.microsoft.com/office/drawing/2014/main" id="{03E56F53-B85E-481B-8BF6-18872C72657E}"/>
              </a:ext>
            </a:extLst>
          </p:cNvPr>
          <p:cNvSpPr>
            <a:spLocks noGrp="1"/>
          </p:cNvSpPr>
          <p:nvPr>
            <p:ph type="title"/>
          </p:nvPr>
        </p:nvSpPr>
        <p:spPr/>
        <p:txBody>
          <a:bodyPr>
            <a:normAutofit fontScale="90000"/>
          </a:bodyPr>
          <a:lstStyle/>
          <a:p>
            <a:pPr>
              <a:defRPr/>
            </a:pPr>
            <a:r>
              <a:rPr lang="en-US" dirty="0"/>
              <a:t>Simplifying the Decision Table - </a:t>
            </a:r>
            <a:r>
              <a:rPr kumimoji="1" lang="en-US" altLang="en-US" dirty="0"/>
              <a:t>Three Conditions </a:t>
            </a:r>
            <a:r>
              <a:rPr lang="en-US" dirty="0"/>
              <a:t>Example</a:t>
            </a:r>
          </a:p>
        </p:txBody>
      </p:sp>
      <p:sp>
        <p:nvSpPr>
          <p:cNvPr id="34820" name="Slide Number Placeholder 3">
            <a:extLst>
              <a:ext uri="{FF2B5EF4-FFF2-40B4-BE49-F238E27FC236}">
                <a16:creationId xmlns:a16="http://schemas.microsoft.com/office/drawing/2014/main" id="{41E54FBE-3F6B-4D2F-9B41-135078413F9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985426D-7BE2-4349-96CA-C23DD40B9D41}" type="slidenum">
              <a:rPr lang="en-US" altLang="en-US" sz="1200">
                <a:solidFill>
                  <a:srgbClr val="898989"/>
                </a:solidFill>
              </a:rPr>
              <a:pPr>
                <a:spcBef>
                  <a:spcPct val="0"/>
                </a:spcBef>
                <a:buFontTx/>
                <a:buNone/>
              </a:pPr>
              <a:t>36</a:t>
            </a:fld>
            <a:endParaRPr lang="en-US" altLang="en-US" sz="1200">
              <a:solidFill>
                <a:srgbClr val="898989"/>
              </a:solidFill>
            </a:endParaRPr>
          </a:p>
        </p:txBody>
      </p:sp>
      <p:sp>
        <p:nvSpPr>
          <p:cNvPr id="34821" name="TextBox 4">
            <a:extLst>
              <a:ext uri="{FF2B5EF4-FFF2-40B4-BE49-F238E27FC236}">
                <a16:creationId xmlns:a16="http://schemas.microsoft.com/office/drawing/2014/main" id="{216F3B2A-96E3-4EA8-92BB-95FF748A1AF6}"/>
              </a:ext>
            </a:extLst>
          </p:cNvPr>
          <p:cNvSpPr txBox="1">
            <a:spLocks noChangeArrowheads="1"/>
          </p:cNvSpPr>
          <p:nvPr/>
        </p:nvSpPr>
        <p:spPr bwMode="auto">
          <a:xfrm>
            <a:off x="7315200" y="3568700"/>
            <a:ext cx="1600200" cy="2970213"/>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100">
                <a:latin typeface="Arial" panose="020B0604020202020204" pitchFamily="34" charset="0"/>
              </a:rPr>
              <a:t>If you follow these steps, you will see that Rules 1 and 2 can be combined because</a:t>
            </a:r>
          </a:p>
          <a:p>
            <a:pPr>
              <a:spcBef>
                <a:spcPct val="0"/>
              </a:spcBef>
              <a:buFontTx/>
              <a:buNone/>
            </a:pPr>
            <a:r>
              <a:rPr lang="en-US" altLang="en-US" sz="1100">
                <a:latin typeface="Arial" panose="020B0604020202020204" pitchFamily="34" charset="0"/>
              </a:rPr>
              <a:t>credit status is OK in both rules, so the waiver would not matter. Rules 3, 4, 7, and 8</a:t>
            </a:r>
          </a:p>
          <a:p>
            <a:pPr>
              <a:spcBef>
                <a:spcPct val="0"/>
              </a:spcBef>
              <a:buFontTx/>
              <a:buNone/>
            </a:pPr>
            <a:r>
              <a:rPr lang="en-US" altLang="en-US" sz="1100">
                <a:latin typeface="Arial" panose="020B0604020202020204" pitchFamily="34" charset="0"/>
              </a:rPr>
              <a:t>also can be combined because the product is not in stock, so other conditions do not</a:t>
            </a:r>
          </a:p>
          <a:p>
            <a:pPr>
              <a:spcBef>
                <a:spcPct val="0"/>
              </a:spcBef>
              <a:buFontTx/>
              <a:buNone/>
            </a:pPr>
            <a:r>
              <a:rPr lang="en-US" altLang="en-US" sz="1100">
                <a:latin typeface="Arial" panose="020B0604020202020204" pitchFamily="34" charset="0"/>
              </a:rPr>
              <a:t>matter. The result is that instead of eight possibilities, only four logical rules control the</a:t>
            </a:r>
          </a:p>
          <a:p>
            <a:pPr>
              <a:spcBef>
                <a:spcPct val="0"/>
              </a:spcBef>
              <a:buFontTx/>
              <a:buNone/>
            </a:pPr>
            <a:r>
              <a:rPr lang="en-US" altLang="en-US" sz="1100">
                <a:latin typeface="Arial" panose="020B0604020202020204" pitchFamily="34" charset="0"/>
              </a:rPr>
              <a:t>Verify Order process.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21AA0668-3DAC-44AE-82DD-43B8D38BA667}"/>
              </a:ext>
            </a:extLst>
          </p:cNvPr>
          <p:cNvSpPr>
            <a:spLocks noGrp="1"/>
          </p:cNvSpPr>
          <p:nvPr>
            <p:ph type="title"/>
          </p:nvPr>
        </p:nvSpPr>
        <p:spPr/>
        <p:txBody>
          <a:bodyPr/>
          <a:lstStyle/>
          <a:p>
            <a:r>
              <a:rPr lang="en-US" altLang="en-US"/>
              <a:t>3.</a:t>
            </a:r>
            <a:r>
              <a:rPr kumimoji="1" lang="en-US" altLang="en-US"/>
              <a:t> DECISION TREE</a:t>
            </a:r>
            <a:endParaRPr lang="en-US" altLang="en-US"/>
          </a:p>
        </p:txBody>
      </p:sp>
      <p:sp>
        <p:nvSpPr>
          <p:cNvPr id="40963" name="Content Placeholder 2">
            <a:extLst>
              <a:ext uri="{FF2B5EF4-FFF2-40B4-BE49-F238E27FC236}">
                <a16:creationId xmlns:a16="http://schemas.microsoft.com/office/drawing/2014/main" id="{701DA07E-2C13-44A0-832C-3C484B451CE5}"/>
              </a:ext>
            </a:extLst>
          </p:cNvPr>
          <p:cNvSpPr>
            <a:spLocks noGrp="1"/>
          </p:cNvSpPr>
          <p:nvPr>
            <p:ph idx="1"/>
          </p:nvPr>
        </p:nvSpPr>
        <p:spPr/>
        <p:txBody>
          <a:bodyPr/>
          <a:lstStyle/>
          <a:p>
            <a:pPr>
              <a:spcBef>
                <a:spcPct val="0"/>
              </a:spcBef>
            </a:pPr>
            <a:r>
              <a:rPr lang="en-US" altLang="en-US" sz="3200"/>
              <a:t>A </a:t>
            </a:r>
            <a:r>
              <a:rPr lang="en-US" altLang="en-US" sz="3200" b="1"/>
              <a:t>decision tree </a:t>
            </a:r>
            <a:r>
              <a:rPr lang="en-US" altLang="en-US" sz="3200"/>
              <a:t>is a graphical representation of the conditions, actions, and rules found in a decision table. It is a graphical representation of a decision situation.</a:t>
            </a:r>
          </a:p>
          <a:p>
            <a:pPr>
              <a:spcBef>
                <a:spcPct val="0"/>
              </a:spcBef>
            </a:pPr>
            <a:r>
              <a:rPr lang="en-US" altLang="en-US" sz="3200"/>
              <a:t>Decision trees show the logic structure in a horizontal form that resembles a tree with the roots at the left and the branches to the right. </a:t>
            </a:r>
          </a:p>
          <a:p>
            <a:pPr>
              <a:spcBef>
                <a:spcPct val="0"/>
              </a:spcBef>
            </a:pPr>
            <a:r>
              <a:rPr lang="en-US" altLang="en-US" sz="3200"/>
              <a:t>Like flowcharts, decision trees are useful ways to present the system to management. </a:t>
            </a:r>
          </a:p>
          <a:p>
            <a:pPr>
              <a:spcBef>
                <a:spcPct val="0"/>
              </a:spcBef>
            </a:pPr>
            <a:endParaRPr lang="en-US" altLang="en-US"/>
          </a:p>
        </p:txBody>
      </p:sp>
      <p:sp>
        <p:nvSpPr>
          <p:cNvPr id="4" name="Footer Placeholder 3">
            <a:extLst>
              <a:ext uri="{FF2B5EF4-FFF2-40B4-BE49-F238E27FC236}">
                <a16:creationId xmlns:a16="http://schemas.microsoft.com/office/drawing/2014/main" id="{5A290CD9-1C8A-4C44-9568-C4C8E5633C68}"/>
              </a:ext>
            </a:extLst>
          </p:cNvPr>
          <p:cNvSpPr>
            <a:spLocks noGrp="1"/>
          </p:cNvSpPr>
          <p:nvPr>
            <p:ph type="ftr" sz="quarter" idx="11"/>
          </p:nvPr>
        </p:nvSpPr>
        <p:spPr/>
        <p:txBody>
          <a:bodyPr/>
          <a:lstStyle/>
          <a:p>
            <a:pPr>
              <a:defRPr/>
            </a:pPr>
            <a:r>
              <a:rPr lang="en-US"/>
              <a:t>© Copyright 2011 John Wiley &amp; Sons, Inc.</a:t>
            </a:r>
          </a:p>
        </p:txBody>
      </p:sp>
      <p:sp>
        <p:nvSpPr>
          <p:cNvPr id="40965" name="Slide Number Placeholder 4">
            <a:extLst>
              <a:ext uri="{FF2B5EF4-FFF2-40B4-BE49-F238E27FC236}">
                <a16:creationId xmlns:a16="http://schemas.microsoft.com/office/drawing/2014/main" id="{932D6E0C-EDEA-4B92-B86A-81ABA5124D1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5-</a:t>
            </a:r>
            <a:fld id="{7B95B096-21A0-450D-9F5F-949A5B7CBE41}" type="slidenum">
              <a:rPr lang="en-US" altLang="en-US" sz="1200">
                <a:solidFill>
                  <a:srgbClr val="898989"/>
                </a:solidFill>
              </a:rPr>
              <a:pPr>
                <a:spcBef>
                  <a:spcPct val="0"/>
                </a:spcBef>
                <a:buFontTx/>
                <a:buNone/>
              </a:pPr>
              <a:t>37</a:t>
            </a:fld>
            <a:endParaRPr lang="en-US" altLang="en-US" sz="1200">
              <a:solidFill>
                <a:srgbClr val="898989"/>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9199411E-D0D3-4B7D-A43C-022DDA97BC1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3423B9E-32B5-4820-AC36-2EA65FDB4C68}" type="slidenum">
              <a:rPr lang="en-US" altLang="en-US" sz="1200">
                <a:latin typeface="Arial" panose="020B0604020202020204" pitchFamily="34" charset="0"/>
              </a:rPr>
              <a:pPr>
                <a:spcBef>
                  <a:spcPct val="0"/>
                </a:spcBef>
                <a:buFontTx/>
                <a:buNone/>
              </a:pPr>
              <a:t>38</a:t>
            </a:fld>
            <a:endParaRPr lang="en-US" altLang="en-US" sz="1200">
              <a:latin typeface="Arial" panose="020B0604020202020204" pitchFamily="34" charset="0"/>
            </a:endParaRPr>
          </a:p>
        </p:txBody>
      </p:sp>
      <p:sp>
        <p:nvSpPr>
          <p:cNvPr id="41987" name="Rectangle 1026">
            <a:extLst>
              <a:ext uri="{FF2B5EF4-FFF2-40B4-BE49-F238E27FC236}">
                <a16:creationId xmlns:a16="http://schemas.microsoft.com/office/drawing/2014/main" id="{F10A054E-137D-48DC-AB7B-F6A5813DE2B3}"/>
              </a:ext>
            </a:extLst>
          </p:cNvPr>
          <p:cNvSpPr>
            <a:spLocks noGrp="1"/>
          </p:cNvSpPr>
          <p:nvPr>
            <p:ph type="title"/>
          </p:nvPr>
        </p:nvSpPr>
        <p:spPr/>
        <p:txBody>
          <a:bodyPr/>
          <a:lstStyle/>
          <a:p>
            <a:pPr eaLnBrk="1" hangingPunct="1"/>
            <a:r>
              <a:rPr lang="en-GB" altLang="en-US" sz="3600"/>
              <a:t>Logic Modelling using Decision Trees</a:t>
            </a:r>
          </a:p>
        </p:txBody>
      </p:sp>
      <p:sp>
        <p:nvSpPr>
          <p:cNvPr id="23558" name="Rectangle 1027">
            <a:extLst>
              <a:ext uri="{FF2B5EF4-FFF2-40B4-BE49-F238E27FC236}">
                <a16:creationId xmlns:a16="http://schemas.microsoft.com/office/drawing/2014/main" id="{1F3DA6C7-9A74-4318-9CA3-F2B1CF49F043}"/>
              </a:ext>
            </a:extLst>
          </p:cNvPr>
          <p:cNvSpPr>
            <a:spLocks noGrp="1" noChangeArrowheads="1"/>
          </p:cNvSpPr>
          <p:nvPr>
            <p:ph type="body" idx="1"/>
          </p:nvPr>
        </p:nvSpPr>
        <p:spPr>
          <a:xfrm>
            <a:off x="457200" y="1600200"/>
            <a:ext cx="8229600" cy="4446588"/>
          </a:xfrm>
        </p:spPr>
        <p:txBody>
          <a:bodyPr>
            <a:normAutofit fontScale="77500" lnSpcReduction="20000"/>
          </a:bodyPr>
          <a:lstStyle/>
          <a:p>
            <a:pPr>
              <a:defRPr/>
            </a:pPr>
            <a:r>
              <a:rPr lang="en-US" dirty="0"/>
              <a:t>Decision trees and decision tables provide the same results, but in different forms. </a:t>
            </a:r>
          </a:p>
          <a:p>
            <a:pPr>
              <a:defRPr/>
            </a:pPr>
            <a:r>
              <a:rPr lang="en-US" dirty="0"/>
              <a:t>In many situations, a graphic is the most effective means of communication.</a:t>
            </a:r>
          </a:p>
          <a:p>
            <a:pPr>
              <a:defRPr/>
            </a:pPr>
            <a:r>
              <a:rPr lang="en-US" dirty="0"/>
              <a:t>A decision tree is read from left to right, with the conditions along the various branches and the actions at the far right. </a:t>
            </a:r>
          </a:p>
          <a:p>
            <a:pPr>
              <a:defRPr/>
            </a:pPr>
            <a:r>
              <a:rPr lang="en-US" dirty="0"/>
              <a:t>Like a decision table, a decision tree shows all combinations of conditions and outcomes. The main difference is the graphical format, which many viewers find easier to interpret.</a:t>
            </a:r>
          </a:p>
          <a:p>
            <a:pPr>
              <a:defRPr/>
            </a:pPr>
            <a:endParaRPr lang="en-US" altLang="en-US" dirty="0"/>
          </a:p>
          <a:p>
            <a:pPr marL="0" indent="0" eaLnBrk="1" hangingPunct="1">
              <a:buClr>
                <a:schemeClr val="tx1"/>
              </a:buClr>
              <a:buSzPct val="80000"/>
              <a:buFont typeface="Wingdings" pitchFamily="2" charset="2"/>
              <a:buNone/>
              <a:defRPr/>
            </a:pPr>
            <a:endParaRPr lang="en-US" altLang="en-US" u="sng" dirty="0">
              <a:solidFill>
                <a:srgbClr val="FF000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381000" y="381000"/>
            <a:ext cx="8305800" cy="847725"/>
          </a:xfrm>
        </p:spPr>
        <p:txBody>
          <a:bodyPr/>
          <a:lstStyle/>
          <a:p>
            <a:pPr eaLnBrk="1" hangingPunct="1"/>
            <a:r>
              <a:rPr lang="en-GB" altLang="en-US" sz="3200" b="1"/>
              <a:t>Decision Trees</a:t>
            </a:r>
          </a:p>
        </p:txBody>
      </p:sp>
      <p:sp>
        <p:nvSpPr>
          <p:cNvPr id="46083" name="Rectangle 3"/>
          <p:cNvSpPr>
            <a:spLocks noGrp="1" noChangeArrowheads="1"/>
          </p:cNvSpPr>
          <p:nvPr>
            <p:ph type="body" idx="1"/>
          </p:nvPr>
        </p:nvSpPr>
        <p:spPr>
          <a:xfrm>
            <a:off x="381000" y="1171575"/>
            <a:ext cx="8763000" cy="4181145"/>
          </a:xfrm>
        </p:spPr>
        <p:txBody>
          <a:bodyPr/>
          <a:lstStyle/>
          <a:p>
            <a:pPr marL="342900" indent="-342900" eaLnBrk="1" hangingPunct="1"/>
            <a:r>
              <a:rPr lang="en-GB" altLang="en-US" sz="2400" dirty="0"/>
              <a:t>A </a:t>
            </a:r>
            <a:r>
              <a:rPr lang="en-GB" altLang="en-US" sz="2400" b="1" dirty="0"/>
              <a:t>graphical representation </a:t>
            </a:r>
            <a:r>
              <a:rPr lang="en-GB" altLang="en-US" sz="2400" dirty="0"/>
              <a:t>of a decision situation</a:t>
            </a:r>
          </a:p>
          <a:p>
            <a:pPr marL="342900" indent="-342900" eaLnBrk="1" hangingPunct="1"/>
            <a:r>
              <a:rPr lang="en-GB" altLang="en-US" sz="2400" dirty="0"/>
              <a:t>Decision situation points are connected together by </a:t>
            </a:r>
            <a:r>
              <a:rPr lang="en-GB" altLang="en-US" sz="2400" b="1" dirty="0"/>
              <a:t>arcs/nodes</a:t>
            </a:r>
            <a:r>
              <a:rPr lang="en-GB" altLang="en-US" sz="2400" dirty="0"/>
              <a:t> and terminate in </a:t>
            </a:r>
            <a:r>
              <a:rPr lang="en-GB" altLang="en-US" sz="2400" b="1" dirty="0"/>
              <a:t>ovals</a:t>
            </a:r>
          </a:p>
          <a:p>
            <a:pPr marL="342900" indent="-342900" eaLnBrk="1" hangingPunct="1"/>
            <a:endParaRPr lang="en-GB" altLang="en-US" sz="2400" dirty="0"/>
          </a:p>
          <a:p>
            <a:pPr marL="342900" indent="-342900" eaLnBrk="1" hangingPunct="1"/>
            <a:r>
              <a:rPr lang="en-GB" altLang="en-US" sz="2400" dirty="0"/>
              <a:t>Two main components:</a:t>
            </a:r>
            <a:br>
              <a:rPr lang="en-GB" altLang="en-US" sz="2400" dirty="0"/>
            </a:br>
            <a:endParaRPr lang="en-GB" altLang="en-US" sz="2400" dirty="0"/>
          </a:p>
          <a:p>
            <a:pPr marL="533400" lvl="1" indent="-342900" eaLnBrk="1" hangingPunct="1"/>
            <a:r>
              <a:rPr lang="en-GB" altLang="en-US" sz="1900" b="1" dirty="0"/>
              <a:t>Decision points</a:t>
            </a:r>
            <a:r>
              <a:rPr lang="en-GB" altLang="en-US" sz="1900" dirty="0"/>
              <a:t> represented by arcs/nodes</a:t>
            </a:r>
          </a:p>
          <a:p>
            <a:pPr marL="476250" lvl="1" indent="-285750" eaLnBrk="1" hangingPunct="1"/>
            <a:endParaRPr lang="en-GB" altLang="en-US" sz="1900" b="1" dirty="0"/>
          </a:p>
          <a:p>
            <a:pPr marL="476250" lvl="1" indent="-285750" eaLnBrk="1" hangingPunct="1"/>
            <a:r>
              <a:rPr lang="en-GB" altLang="en-US" sz="1900" b="1" dirty="0"/>
              <a:t>Actions</a:t>
            </a:r>
            <a:r>
              <a:rPr lang="en-GB" altLang="en-US" sz="1900" dirty="0"/>
              <a:t> represented by ovals</a:t>
            </a:r>
          </a:p>
        </p:txBody>
      </p:sp>
      <p:sp>
        <p:nvSpPr>
          <p:cNvPr id="4" name="Oval 7"/>
          <p:cNvSpPr>
            <a:spLocks noChangeArrowheads="1"/>
          </p:cNvSpPr>
          <p:nvPr/>
        </p:nvSpPr>
        <p:spPr bwMode="auto">
          <a:xfrm>
            <a:off x="6515869" y="4198861"/>
            <a:ext cx="546100" cy="477838"/>
          </a:xfrm>
          <a:prstGeom prst="ellipse">
            <a:avLst/>
          </a:prstGeom>
          <a:solidFill>
            <a:schemeClr val="bg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endParaRPr>
          </a:p>
        </p:txBody>
      </p:sp>
      <p:grpSp>
        <p:nvGrpSpPr>
          <p:cNvPr id="5" name="Group 12"/>
          <p:cNvGrpSpPr>
            <a:grpSpLocks/>
          </p:cNvGrpSpPr>
          <p:nvPr/>
        </p:nvGrpSpPr>
        <p:grpSpPr bwMode="auto">
          <a:xfrm>
            <a:off x="4809460" y="4883746"/>
            <a:ext cx="1866900" cy="601663"/>
            <a:chOff x="3768" y="928"/>
            <a:chExt cx="1176" cy="528"/>
          </a:xfrm>
        </p:grpSpPr>
        <p:sp>
          <p:nvSpPr>
            <p:cNvPr id="6" name="Oval 13"/>
            <p:cNvSpPr>
              <a:spLocks noChangeArrowheads="1"/>
            </p:cNvSpPr>
            <p:nvPr/>
          </p:nvSpPr>
          <p:spPr bwMode="auto">
            <a:xfrm>
              <a:off x="3768" y="928"/>
              <a:ext cx="1176" cy="528"/>
            </a:xfrm>
            <a:prstGeom prst="ellipse">
              <a:avLst/>
            </a:prstGeom>
            <a:solidFill>
              <a:schemeClr val="bg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endParaRPr>
            </a:p>
          </p:txBody>
        </p:sp>
        <p:sp>
          <p:nvSpPr>
            <p:cNvPr id="7" name="Text Box 14"/>
            <p:cNvSpPr txBox="1">
              <a:spLocks noChangeArrowheads="1"/>
            </p:cNvSpPr>
            <p:nvPr/>
          </p:nvSpPr>
          <p:spPr bwMode="auto">
            <a:xfrm>
              <a:off x="3890" y="1076"/>
              <a:ext cx="939" cy="231"/>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altLang="en-US" sz="1200" b="1" i="0" u="none" strike="noStrike" kern="1200" cap="none" spc="0" normalizeH="0" baseline="0" noProof="0" dirty="0">
                <a:ln>
                  <a:noFill/>
                </a:ln>
                <a:solidFill>
                  <a:srgbClr val="000000"/>
                </a:solidFill>
                <a:effectLst/>
                <a:uLnTx/>
                <a:uFillTx/>
                <a:latin typeface="Times New Roman" pitchFamily="18" charset="0"/>
                <a:ea typeface="+mn-ea"/>
                <a:cs typeface="Arial" charset="0"/>
              </a:endParaRPr>
            </a:p>
          </p:txBody>
        </p:sp>
      </p:grpSp>
    </p:spTree>
    <p:extLst>
      <p:ext uri="{BB962C8B-B14F-4D97-AF65-F5344CB8AC3E}">
        <p14:creationId xmlns:p14="http://schemas.microsoft.com/office/powerpoint/2010/main" val="3236543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fade">
                                      <p:cBhvr>
                                        <p:cTn id="7" dur="1000"/>
                                        <p:tgtEl>
                                          <p:spTgt spid="46083">
                                            <p:txEl>
                                              <p:pRg st="0" end="0"/>
                                            </p:txEl>
                                          </p:spTgt>
                                        </p:tgtEl>
                                      </p:cBhvr>
                                    </p:animEffect>
                                    <p:anim calcmode="lin" valueType="num">
                                      <p:cBhvr>
                                        <p:cTn id="8" dur="1000" fill="hold"/>
                                        <p:tgtEl>
                                          <p:spTgt spid="4608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608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6083">
                                            <p:txEl>
                                              <p:pRg st="1" end="1"/>
                                            </p:txEl>
                                          </p:spTgt>
                                        </p:tgtEl>
                                        <p:attrNameLst>
                                          <p:attrName>style.visibility</p:attrName>
                                        </p:attrNameLst>
                                      </p:cBhvr>
                                      <p:to>
                                        <p:strVal val="visible"/>
                                      </p:to>
                                    </p:set>
                                    <p:animEffect transition="in" filter="fade">
                                      <p:cBhvr>
                                        <p:cTn id="14" dur="1000"/>
                                        <p:tgtEl>
                                          <p:spTgt spid="46083">
                                            <p:txEl>
                                              <p:pRg st="1" end="1"/>
                                            </p:txEl>
                                          </p:spTgt>
                                        </p:tgtEl>
                                      </p:cBhvr>
                                    </p:animEffect>
                                    <p:anim calcmode="lin" valueType="num">
                                      <p:cBhvr>
                                        <p:cTn id="15" dur="1000" fill="hold"/>
                                        <p:tgtEl>
                                          <p:spTgt spid="4608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608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6083">
                                            <p:txEl>
                                              <p:pRg st="3" end="3"/>
                                            </p:txEl>
                                          </p:spTgt>
                                        </p:tgtEl>
                                        <p:attrNameLst>
                                          <p:attrName>style.visibility</p:attrName>
                                        </p:attrNameLst>
                                      </p:cBhvr>
                                      <p:to>
                                        <p:strVal val="visible"/>
                                      </p:to>
                                    </p:set>
                                    <p:animEffect transition="in" filter="fade">
                                      <p:cBhvr>
                                        <p:cTn id="21" dur="1000"/>
                                        <p:tgtEl>
                                          <p:spTgt spid="46083">
                                            <p:txEl>
                                              <p:pRg st="3" end="3"/>
                                            </p:txEl>
                                          </p:spTgt>
                                        </p:tgtEl>
                                      </p:cBhvr>
                                    </p:animEffect>
                                    <p:anim calcmode="lin" valueType="num">
                                      <p:cBhvr>
                                        <p:cTn id="22" dur="1000" fill="hold"/>
                                        <p:tgtEl>
                                          <p:spTgt spid="4608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4608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6083">
                                            <p:txEl>
                                              <p:pRg st="4" end="4"/>
                                            </p:txEl>
                                          </p:spTgt>
                                        </p:tgtEl>
                                        <p:attrNameLst>
                                          <p:attrName>style.visibility</p:attrName>
                                        </p:attrNameLst>
                                      </p:cBhvr>
                                      <p:to>
                                        <p:strVal val="visible"/>
                                      </p:to>
                                    </p:set>
                                    <p:animEffect transition="in" filter="fade">
                                      <p:cBhvr>
                                        <p:cTn id="28" dur="1000"/>
                                        <p:tgtEl>
                                          <p:spTgt spid="46083">
                                            <p:txEl>
                                              <p:pRg st="4" end="4"/>
                                            </p:txEl>
                                          </p:spTgt>
                                        </p:tgtEl>
                                      </p:cBhvr>
                                    </p:animEffect>
                                    <p:anim calcmode="lin" valueType="num">
                                      <p:cBhvr>
                                        <p:cTn id="29" dur="1000" fill="hold"/>
                                        <p:tgtEl>
                                          <p:spTgt spid="4608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46083">
                                            <p:txEl>
                                              <p:pRg st="4" end="4"/>
                                            </p:txEl>
                                          </p:spTgt>
                                        </p:tgtEl>
                                        <p:attrNameLst>
                                          <p:attrName>ppt_y</p:attrName>
                                        </p:attrNameLst>
                                      </p:cBhvr>
                                      <p:tavLst>
                                        <p:tav tm="0">
                                          <p:val>
                                            <p:strVal val="#ppt_y+.1"/>
                                          </p:val>
                                        </p:tav>
                                        <p:tav tm="100000">
                                          <p:val>
                                            <p:strVal val="#ppt_y"/>
                                          </p:val>
                                        </p:tav>
                                      </p:tavLst>
                                    </p:anim>
                                  </p:childTnLst>
                                </p:cTn>
                              </p:par>
                            </p:childTnLst>
                          </p:cTn>
                        </p:par>
                        <p:par>
                          <p:cTn id="31" fill="hold">
                            <p:stCondLst>
                              <p:cond delay="1000"/>
                            </p:stCondLst>
                            <p:childTnLst>
                              <p:par>
                                <p:cTn id="32" presetID="42" presetClass="entr" presetSubtype="0" fill="hold" grpId="0" nodeType="after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1000"/>
                                        <p:tgtEl>
                                          <p:spTgt spid="4"/>
                                        </p:tgtEl>
                                      </p:cBhvr>
                                    </p:animEffect>
                                    <p:anim calcmode="lin" valueType="num">
                                      <p:cBhvr>
                                        <p:cTn id="35" dur="1000" fill="hold"/>
                                        <p:tgtEl>
                                          <p:spTgt spid="4"/>
                                        </p:tgtEl>
                                        <p:attrNameLst>
                                          <p:attrName>ppt_x</p:attrName>
                                        </p:attrNameLst>
                                      </p:cBhvr>
                                      <p:tavLst>
                                        <p:tav tm="0">
                                          <p:val>
                                            <p:strVal val="#ppt_x"/>
                                          </p:val>
                                        </p:tav>
                                        <p:tav tm="100000">
                                          <p:val>
                                            <p:strVal val="#ppt_x"/>
                                          </p:val>
                                        </p:tav>
                                      </p:tavLst>
                                    </p:anim>
                                    <p:anim calcmode="lin" valueType="num">
                                      <p:cBhvr>
                                        <p:cTn id="3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46083">
                                            <p:txEl>
                                              <p:pRg st="6" end="6"/>
                                            </p:txEl>
                                          </p:spTgt>
                                        </p:tgtEl>
                                        <p:attrNameLst>
                                          <p:attrName>style.visibility</p:attrName>
                                        </p:attrNameLst>
                                      </p:cBhvr>
                                      <p:to>
                                        <p:strVal val="visible"/>
                                      </p:to>
                                    </p:set>
                                    <p:animEffect transition="in" filter="fade">
                                      <p:cBhvr>
                                        <p:cTn id="41" dur="1000"/>
                                        <p:tgtEl>
                                          <p:spTgt spid="46083">
                                            <p:txEl>
                                              <p:pRg st="6" end="6"/>
                                            </p:txEl>
                                          </p:spTgt>
                                        </p:tgtEl>
                                      </p:cBhvr>
                                    </p:animEffect>
                                    <p:anim calcmode="lin" valueType="num">
                                      <p:cBhvr>
                                        <p:cTn id="42" dur="1000" fill="hold"/>
                                        <p:tgtEl>
                                          <p:spTgt spid="46083">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46083">
                                            <p:txEl>
                                              <p:pRg st="6" end="6"/>
                                            </p:txEl>
                                          </p:spTgt>
                                        </p:tgtEl>
                                        <p:attrNameLst>
                                          <p:attrName>ppt_y</p:attrName>
                                        </p:attrNameLst>
                                      </p:cBhvr>
                                      <p:tavLst>
                                        <p:tav tm="0">
                                          <p:val>
                                            <p:strVal val="#ppt_y+.1"/>
                                          </p:val>
                                        </p:tav>
                                        <p:tav tm="100000">
                                          <p:val>
                                            <p:strVal val="#ppt_y"/>
                                          </p:val>
                                        </p:tav>
                                      </p:tavLst>
                                    </p:anim>
                                  </p:childTnLst>
                                </p:cTn>
                              </p:par>
                            </p:childTnLst>
                          </p:cTn>
                        </p:par>
                        <p:par>
                          <p:cTn id="44" fill="hold">
                            <p:stCondLst>
                              <p:cond delay="1000"/>
                            </p:stCondLst>
                            <p:childTnLst>
                              <p:par>
                                <p:cTn id="45" presetID="42" presetClass="entr" presetSubtype="0" fill="hold" nodeType="after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fade">
                                      <p:cBhvr>
                                        <p:cTn id="47" dur="1000"/>
                                        <p:tgtEl>
                                          <p:spTgt spid="5"/>
                                        </p:tgtEl>
                                      </p:cBhvr>
                                    </p:animEffect>
                                    <p:anim calcmode="lin" valueType="num">
                                      <p:cBhvr>
                                        <p:cTn id="48" dur="1000" fill="hold"/>
                                        <p:tgtEl>
                                          <p:spTgt spid="5"/>
                                        </p:tgtEl>
                                        <p:attrNameLst>
                                          <p:attrName>ppt_x</p:attrName>
                                        </p:attrNameLst>
                                      </p:cBhvr>
                                      <p:tavLst>
                                        <p:tav tm="0">
                                          <p:val>
                                            <p:strVal val="#ppt_x"/>
                                          </p:val>
                                        </p:tav>
                                        <p:tav tm="100000">
                                          <p:val>
                                            <p:strVal val="#ppt_x"/>
                                          </p:val>
                                        </p:tav>
                                      </p:tavLst>
                                    </p:anim>
                                    <p:anim calcmode="lin" valueType="num">
                                      <p:cBhvr>
                                        <p:cTn id="4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uiExpand="1" build="p"/>
      <p:bldP spid="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ChangeArrowheads="1"/>
          </p:cNvSpPr>
          <p:nvPr/>
        </p:nvSpPr>
        <p:spPr bwMode="auto">
          <a:xfrm>
            <a:off x="533400" y="4762500"/>
            <a:ext cx="2684462" cy="1150144"/>
          </a:xfrm>
          <a:prstGeom prst="rect">
            <a:avLst/>
          </a:prstGeom>
          <a:solidFill>
            <a:schemeClr val="bg1"/>
          </a:solidFill>
          <a:ln w="12700" cap="sq">
            <a:solidFill>
              <a:schemeClr val="bg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endParaRPr>
          </a:p>
        </p:txBody>
      </p:sp>
      <p:sp>
        <p:nvSpPr>
          <p:cNvPr id="47107" name="Text Box 4"/>
          <p:cNvSpPr txBox="1">
            <a:spLocks noChangeArrowheads="1"/>
          </p:cNvSpPr>
          <p:nvPr/>
        </p:nvSpPr>
        <p:spPr bwMode="auto">
          <a:xfrm>
            <a:off x="555625" y="4749800"/>
            <a:ext cx="2727325" cy="1270000"/>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457200" marR="0" lvl="0" indent="-457200" algn="l" defTabSz="914400" rtl="0" eaLnBrk="0" fontAlgn="base" latinLnBrk="0" hangingPunct="0">
              <a:lnSpc>
                <a:spcPct val="100000"/>
              </a:lnSpc>
              <a:spcBef>
                <a:spcPct val="0"/>
              </a:spcBef>
              <a:spcAft>
                <a:spcPct val="0"/>
              </a:spcAft>
              <a:buClrTx/>
              <a:buSzTx/>
              <a:buFontTx/>
              <a:buNone/>
              <a:tabLst/>
              <a:defRPr/>
            </a:pPr>
            <a:r>
              <a:rPr kumimoji="0" lang="en-GB" altLang="en-US" sz="1800" b="1" i="0" u="sng" strike="noStrike" kern="1200" cap="none" spc="0" normalizeH="0" baseline="0" noProof="0" dirty="0">
                <a:ln>
                  <a:noFill/>
                </a:ln>
                <a:solidFill>
                  <a:srgbClr val="000000"/>
                </a:solidFill>
                <a:effectLst/>
                <a:uLnTx/>
                <a:uFillTx/>
                <a:latin typeface="Times New Roman" pitchFamily="18" charset="0"/>
                <a:ea typeface="+mn-ea"/>
                <a:cs typeface="Arial" charset="0"/>
              </a:rPr>
              <a:t>Legend</a:t>
            </a:r>
          </a:p>
          <a:p>
            <a:pPr marL="457200" marR="0" lvl="0" indent="-457200" algn="l" defTabSz="914400" rtl="0" eaLnBrk="0" fontAlgn="base" latinLnBrk="0" hangingPunct="0">
              <a:lnSpc>
                <a:spcPct val="100000"/>
              </a:lnSpc>
              <a:spcBef>
                <a:spcPct val="0"/>
              </a:spcBef>
              <a:spcAft>
                <a:spcPct val="0"/>
              </a:spcAft>
              <a:buClrTx/>
              <a:buSzTx/>
              <a:buFontTx/>
              <a:buAutoNum type="arabicParenR"/>
              <a:tabLst/>
              <a:defRPr/>
            </a:pPr>
            <a:r>
              <a:rPr kumimoji="0" lang="en-GB" altLang="en-US" sz="1800" b="0" i="0" u="none" strike="noStrike" kern="1200" cap="none" spc="0" normalizeH="0" baseline="0" noProof="0" dirty="0">
                <a:ln>
                  <a:noFill/>
                </a:ln>
                <a:solidFill>
                  <a:srgbClr val="000000"/>
                </a:solidFill>
                <a:effectLst/>
                <a:uLnTx/>
                <a:uFillTx/>
                <a:latin typeface="Times New Roman" pitchFamily="18" charset="0"/>
                <a:ea typeface="+mn-ea"/>
                <a:cs typeface="Arial" charset="0"/>
              </a:rPr>
              <a:t>Dimensions ok?</a:t>
            </a:r>
          </a:p>
          <a:p>
            <a:pPr marL="457200" marR="0" lvl="0" indent="-457200" algn="l" defTabSz="914400" rtl="0" eaLnBrk="0" fontAlgn="base" latinLnBrk="0" hangingPunct="0">
              <a:lnSpc>
                <a:spcPct val="100000"/>
              </a:lnSpc>
              <a:spcBef>
                <a:spcPct val="0"/>
              </a:spcBef>
              <a:spcAft>
                <a:spcPct val="0"/>
              </a:spcAft>
              <a:buClrTx/>
              <a:buSzTx/>
              <a:buFontTx/>
              <a:buAutoNum type="arabicParenR"/>
              <a:tabLst/>
              <a:defRPr/>
            </a:pPr>
            <a:r>
              <a:rPr kumimoji="0" lang="en-GB" altLang="en-US" sz="1800" b="0" i="0" u="none" strike="noStrike" kern="1200" cap="none" spc="0" normalizeH="0" baseline="0" noProof="0" dirty="0">
                <a:ln>
                  <a:noFill/>
                </a:ln>
                <a:solidFill>
                  <a:srgbClr val="000000"/>
                </a:solidFill>
                <a:effectLst/>
                <a:uLnTx/>
                <a:uFillTx/>
                <a:latin typeface="Times New Roman" pitchFamily="18" charset="0"/>
                <a:ea typeface="+mn-ea"/>
                <a:cs typeface="Arial" charset="0"/>
              </a:rPr>
              <a:t>Pass mechanical test?</a:t>
            </a:r>
          </a:p>
          <a:p>
            <a:pPr marL="457200" marR="0" lvl="0" indent="-457200" algn="l" defTabSz="914400" rtl="0" eaLnBrk="0" fontAlgn="base" latinLnBrk="0" hangingPunct="0">
              <a:lnSpc>
                <a:spcPct val="100000"/>
              </a:lnSpc>
              <a:spcBef>
                <a:spcPct val="0"/>
              </a:spcBef>
              <a:spcAft>
                <a:spcPct val="0"/>
              </a:spcAft>
              <a:buClrTx/>
              <a:buSzTx/>
              <a:buFontTx/>
              <a:buAutoNum type="arabicParenR"/>
              <a:tabLst/>
              <a:defRPr/>
            </a:pPr>
            <a:r>
              <a:rPr kumimoji="0" lang="en-GB" altLang="en-US" sz="1800" b="0" i="0" u="none" strike="noStrike" kern="1200" cap="none" spc="0" normalizeH="0" baseline="0" noProof="0" dirty="0">
                <a:ln>
                  <a:noFill/>
                </a:ln>
                <a:solidFill>
                  <a:srgbClr val="000000"/>
                </a:solidFill>
                <a:effectLst/>
                <a:uLnTx/>
                <a:uFillTx/>
                <a:latin typeface="Times New Roman" pitchFamily="18" charset="0"/>
                <a:ea typeface="+mn-ea"/>
                <a:cs typeface="Arial" charset="0"/>
              </a:rPr>
              <a:t>Pass electrical test?</a:t>
            </a:r>
          </a:p>
        </p:txBody>
      </p:sp>
      <p:sp>
        <p:nvSpPr>
          <p:cNvPr id="47108" name="Text Box 5"/>
          <p:cNvSpPr txBox="1">
            <a:spLocks noChangeArrowheads="1"/>
          </p:cNvSpPr>
          <p:nvPr/>
        </p:nvSpPr>
        <p:spPr bwMode="auto">
          <a:xfrm>
            <a:off x="2713038" y="279400"/>
            <a:ext cx="3770312"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3000" b="1" i="0" u="none" strike="noStrike" kern="1200" cap="none" spc="0" normalizeH="0" baseline="0" noProof="0">
                <a:ln>
                  <a:noFill/>
                </a:ln>
                <a:solidFill>
                  <a:srgbClr val="000000"/>
                </a:solidFill>
                <a:effectLst/>
                <a:uLnTx/>
                <a:uFillTx/>
                <a:latin typeface="Times New Roman" pitchFamily="18" charset="0"/>
                <a:ea typeface="+mn-ea"/>
                <a:cs typeface="Arial" charset="0"/>
              </a:rPr>
              <a:t>Decision Tree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2400" b="0" i="1" u="none" strike="noStrike" kern="1200" cap="none" spc="0" normalizeH="0" baseline="0" noProof="0">
                <a:ln>
                  <a:noFill/>
                </a:ln>
                <a:solidFill>
                  <a:srgbClr val="000000"/>
                </a:solidFill>
                <a:effectLst/>
                <a:uLnTx/>
                <a:uFillTx/>
                <a:latin typeface="Times New Roman" pitchFamily="18" charset="0"/>
                <a:ea typeface="+mn-ea"/>
                <a:cs typeface="Arial" charset="0"/>
              </a:rPr>
              <a:t>2 Choices per Decision Point</a:t>
            </a:r>
            <a:endParaRPr kumimoji="0" lang="en-GB" altLang="en-US" sz="2400" b="1" i="0" u="sng" strike="noStrike" kern="1200" cap="none" spc="0" normalizeH="0" baseline="0" noProof="0">
              <a:ln>
                <a:noFill/>
              </a:ln>
              <a:solidFill>
                <a:srgbClr val="000000"/>
              </a:solidFill>
              <a:effectLst/>
              <a:uLnTx/>
              <a:uFillTx/>
              <a:latin typeface="Times New Roman" pitchFamily="18" charset="0"/>
              <a:ea typeface="+mn-ea"/>
              <a:cs typeface="Arial" charset="0"/>
            </a:endParaRPr>
          </a:p>
        </p:txBody>
      </p:sp>
      <p:grpSp>
        <p:nvGrpSpPr>
          <p:cNvPr id="47109" name="Group 6"/>
          <p:cNvGrpSpPr>
            <a:grpSpLocks/>
          </p:cNvGrpSpPr>
          <p:nvPr/>
        </p:nvGrpSpPr>
        <p:grpSpPr bwMode="auto">
          <a:xfrm>
            <a:off x="1625600" y="1689100"/>
            <a:ext cx="546100" cy="588963"/>
            <a:chOff x="1024" y="1064"/>
            <a:chExt cx="344" cy="371"/>
          </a:xfrm>
        </p:grpSpPr>
        <p:sp>
          <p:nvSpPr>
            <p:cNvPr id="47149" name="Oval 7"/>
            <p:cNvSpPr>
              <a:spLocks noChangeArrowheads="1"/>
            </p:cNvSpPr>
            <p:nvPr/>
          </p:nvSpPr>
          <p:spPr bwMode="auto">
            <a:xfrm>
              <a:off x="1024" y="1064"/>
              <a:ext cx="344" cy="301"/>
            </a:xfrm>
            <a:prstGeom prst="ellipse">
              <a:avLst/>
            </a:prstGeom>
            <a:solidFill>
              <a:schemeClr val="bg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endParaRPr>
            </a:p>
          </p:txBody>
        </p:sp>
        <p:sp>
          <p:nvSpPr>
            <p:cNvPr id="47150" name="Text Box 8"/>
            <p:cNvSpPr txBox="1">
              <a:spLocks noChangeArrowheads="1"/>
            </p:cNvSpPr>
            <p:nvPr/>
          </p:nvSpPr>
          <p:spPr bwMode="auto">
            <a:xfrm>
              <a:off x="1085" y="1103"/>
              <a:ext cx="238" cy="33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1400" b="1" i="0" u="none" strike="noStrike" kern="1200" cap="none" spc="0" normalizeH="0" baseline="0" noProof="0">
                  <a:ln>
                    <a:noFill/>
                  </a:ln>
                  <a:solidFill>
                    <a:srgbClr val="000000"/>
                  </a:solidFill>
                  <a:effectLst/>
                  <a:uLnTx/>
                  <a:uFillTx/>
                  <a:latin typeface="Times New Roman" pitchFamily="18" charset="0"/>
                  <a:ea typeface="+mn-ea"/>
                  <a:cs typeface="Arial" charset="0"/>
                </a:rPr>
                <a:t>1 </a:t>
              </a:r>
              <a:endParaRPr kumimoji="0" lang="en-GB" altLang="en-US" sz="1200" b="1" i="0" u="none" strike="noStrike" kern="1200" cap="none" spc="0" normalizeH="0" baseline="0" noProof="0">
                <a:ln>
                  <a:noFill/>
                </a:ln>
                <a:solidFill>
                  <a:srgbClr val="000000"/>
                </a:solidFill>
                <a:effectLst/>
                <a:uLnTx/>
                <a:uFillTx/>
                <a:latin typeface="Times New Roman" pitchFamily="18" charset="0"/>
                <a:ea typeface="+mn-ea"/>
                <a:cs typeface="Arial" charset="0"/>
              </a:endParaRPr>
            </a:p>
          </p:txBody>
        </p:sp>
      </p:grpSp>
      <p:sp>
        <p:nvSpPr>
          <p:cNvPr id="47110" name="Line 11"/>
          <p:cNvSpPr>
            <a:spLocks noChangeShapeType="1"/>
          </p:cNvSpPr>
          <p:nvPr/>
        </p:nvSpPr>
        <p:spPr bwMode="auto">
          <a:xfrm flipH="1">
            <a:off x="2146300" y="1943100"/>
            <a:ext cx="3848100" cy="25400"/>
          </a:xfrm>
          <a:prstGeom prst="line">
            <a:avLst/>
          </a:prstGeom>
          <a:noFill/>
          <a:ln w="22225">
            <a:solidFill>
              <a:schemeClr val="tx1"/>
            </a:solidFill>
            <a:round/>
            <a:headEnd type="none" w="lg" len="me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4D75"/>
              </a:solidFill>
              <a:effectLst/>
              <a:uLnTx/>
              <a:uFillTx/>
              <a:latin typeface="Verdana"/>
              <a:ea typeface="+mn-ea"/>
              <a:cs typeface="Arial" charset="0"/>
            </a:endParaRPr>
          </a:p>
        </p:txBody>
      </p:sp>
      <p:grpSp>
        <p:nvGrpSpPr>
          <p:cNvPr id="47111" name="Group 12"/>
          <p:cNvGrpSpPr>
            <a:grpSpLocks/>
          </p:cNvGrpSpPr>
          <p:nvPr/>
        </p:nvGrpSpPr>
        <p:grpSpPr bwMode="auto">
          <a:xfrm>
            <a:off x="5981700" y="1473200"/>
            <a:ext cx="1866900" cy="838200"/>
            <a:chOff x="3768" y="928"/>
            <a:chExt cx="1176" cy="528"/>
          </a:xfrm>
        </p:grpSpPr>
        <p:sp>
          <p:nvSpPr>
            <p:cNvPr id="47147" name="Oval 13"/>
            <p:cNvSpPr>
              <a:spLocks noChangeArrowheads="1"/>
            </p:cNvSpPr>
            <p:nvPr/>
          </p:nvSpPr>
          <p:spPr bwMode="auto">
            <a:xfrm>
              <a:off x="3768" y="928"/>
              <a:ext cx="1176" cy="528"/>
            </a:xfrm>
            <a:prstGeom prst="ellipse">
              <a:avLst/>
            </a:prstGeom>
            <a:solidFill>
              <a:schemeClr val="bg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endParaRPr>
            </a:p>
          </p:txBody>
        </p:sp>
        <p:sp>
          <p:nvSpPr>
            <p:cNvPr id="47148" name="Text Box 14"/>
            <p:cNvSpPr txBox="1">
              <a:spLocks noChangeArrowheads="1"/>
            </p:cNvSpPr>
            <p:nvPr/>
          </p:nvSpPr>
          <p:spPr bwMode="auto">
            <a:xfrm>
              <a:off x="3890" y="1076"/>
              <a:ext cx="939" cy="231"/>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1400" b="1" i="0" u="none" strike="noStrike" kern="1200" cap="none" spc="0" normalizeH="0" baseline="0" noProof="0">
                  <a:ln>
                    <a:noFill/>
                  </a:ln>
                  <a:solidFill>
                    <a:srgbClr val="000000"/>
                  </a:solidFill>
                  <a:effectLst/>
                  <a:uLnTx/>
                  <a:uFillTx/>
                  <a:latin typeface="Times New Roman" pitchFamily="18" charset="0"/>
                  <a:ea typeface="+mn-ea"/>
                  <a:cs typeface="Arial" charset="0"/>
                </a:rPr>
                <a:t>Reject product</a:t>
              </a:r>
              <a:endParaRPr kumimoji="0" lang="en-GB" altLang="en-US" sz="1200" b="1" i="0" u="none" strike="noStrike" kern="1200" cap="none" spc="0" normalizeH="0" baseline="0" noProof="0">
                <a:ln>
                  <a:noFill/>
                </a:ln>
                <a:solidFill>
                  <a:srgbClr val="000000"/>
                </a:solidFill>
                <a:effectLst/>
                <a:uLnTx/>
                <a:uFillTx/>
                <a:latin typeface="Times New Roman" pitchFamily="18" charset="0"/>
                <a:ea typeface="+mn-ea"/>
                <a:cs typeface="Arial" charset="0"/>
              </a:endParaRPr>
            </a:p>
          </p:txBody>
        </p:sp>
      </p:grpSp>
      <p:sp>
        <p:nvSpPr>
          <p:cNvPr id="47112" name="Text Box 15"/>
          <p:cNvSpPr txBox="1">
            <a:spLocks noChangeArrowheads="1"/>
          </p:cNvSpPr>
          <p:nvPr/>
        </p:nvSpPr>
        <p:spPr bwMode="auto">
          <a:xfrm rot="-46932">
            <a:off x="2198688" y="1681163"/>
            <a:ext cx="722312"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1400" b="0" i="1" u="none" strike="noStrike" kern="1200" cap="none" spc="0" normalizeH="0" baseline="0" noProof="0">
                <a:ln>
                  <a:noFill/>
                </a:ln>
                <a:solidFill>
                  <a:srgbClr val="000000"/>
                </a:solidFill>
                <a:effectLst/>
                <a:uLnTx/>
                <a:uFillTx/>
                <a:latin typeface="Times New Roman" pitchFamily="18" charset="0"/>
                <a:ea typeface="+mn-ea"/>
                <a:cs typeface="Arial" charset="0"/>
              </a:rPr>
              <a:t>No</a:t>
            </a:r>
          </a:p>
        </p:txBody>
      </p:sp>
      <p:grpSp>
        <p:nvGrpSpPr>
          <p:cNvPr id="47113" name="Group 17"/>
          <p:cNvGrpSpPr>
            <a:grpSpLocks/>
          </p:cNvGrpSpPr>
          <p:nvPr/>
        </p:nvGrpSpPr>
        <p:grpSpPr bwMode="auto">
          <a:xfrm>
            <a:off x="1627188" y="2159000"/>
            <a:ext cx="1497012" cy="1185863"/>
            <a:chOff x="1025" y="1360"/>
            <a:chExt cx="943" cy="747"/>
          </a:xfrm>
        </p:grpSpPr>
        <p:sp>
          <p:nvSpPr>
            <p:cNvPr id="47142" name="Text Box 18"/>
            <p:cNvSpPr txBox="1">
              <a:spLocks noChangeArrowheads="1"/>
            </p:cNvSpPr>
            <p:nvPr/>
          </p:nvSpPr>
          <p:spPr bwMode="auto">
            <a:xfrm rot="-46932">
              <a:off x="1025" y="1427"/>
              <a:ext cx="455" cy="192"/>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1400" b="0" i="1" u="none" strike="noStrike" kern="1200" cap="none" spc="0" normalizeH="0" baseline="0" noProof="0">
                  <a:ln>
                    <a:noFill/>
                  </a:ln>
                  <a:solidFill>
                    <a:srgbClr val="000000"/>
                  </a:solidFill>
                  <a:effectLst/>
                  <a:uLnTx/>
                  <a:uFillTx/>
                  <a:latin typeface="Times New Roman" pitchFamily="18" charset="0"/>
                  <a:ea typeface="+mn-ea"/>
                  <a:cs typeface="Arial" charset="0"/>
                </a:rPr>
                <a:t>Yes</a:t>
              </a:r>
            </a:p>
          </p:txBody>
        </p:sp>
        <p:grpSp>
          <p:nvGrpSpPr>
            <p:cNvPr id="47143" name="Group 19"/>
            <p:cNvGrpSpPr>
              <a:grpSpLocks/>
            </p:cNvGrpSpPr>
            <p:nvPr/>
          </p:nvGrpSpPr>
          <p:grpSpPr bwMode="auto">
            <a:xfrm>
              <a:off x="1624" y="1736"/>
              <a:ext cx="344" cy="371"/>
              <a:chOff x="1624" y="1736"/>
              <a:chExt cx="344" cy="371"/>
            </a:xfrm>
          </p:grpSpPr>
          <p:sp>
            <p:nvSpPr>
              <p:cNvPr id="47145" name="Oval 20"/>
              <p:cNvSpPr>
                <a:spLocks noChangeArrowheads="1"/>
              </p:cNvSpPr>
              <p:nvPr/>
            </p:nvSpPr>
            <p:spPr bwMode="auto">
              <a:xfrm>
                <a:off x="1624" y="1736"/>
                <a:ext cx="344" cy="301"/>
              </a:xfrm>
              <a:prstGeom prst="ellipse">
                <a:avLst/>
              </a:prstGeom>
              <a:solidFill>
                <a:schemeClr val="bg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endParaRPr>
              </a:p>
            </p:txBody>
          </p:sp>
          <p:sp>
            <p:nvSpPr>
              <p:cNvPr id="47146" name="Text Box 21"/>
              <p:cNvSpPr txBox="1">
                <a:spLocks noChangeArrowheads="1"/>
              </p:cNvSpPr>
              <p:nvPr/>
            </p:nvSpPr>
            <p:spPr bwMode="auto">
              <a:xfrm>
                <a:off x="1685" y="1775"/>
                <a:ext cx="238" cy="33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1400" b="1" i="0" u="none" strike="noStrike" kern="1200" cap="none" spc="0" normalizeH="0" baseline="0" noProof="0">
                    <a:ln>
                      <a:noFill/>
                    </a:ln>
                    <a:solidFill>
                      <a:srgbClr val="000000"/>
                    </a:solidFill>
                    <a:effectLst/>
                    <a:uLnTx/>
                    <a:uFillTx/>
                    <a:latin typeface="Times New Roman" pitchFamily="18" charset="0"/>
                    <a:ea typeface="+mn-ea"/>
                    <a:cs typeface="Arial" charset="0"/>
                  </a:rPr>
                  <a:t>2 </a:t>
                </a:r>
                <a:endParaRPr kumimoji="0" lang="en-GB" altLang="en-US" sz="1200" b="1" i="0" u="none" strike="noStrike" kern="1200" cap="none" spc="0" normalizeH="0" baseline="0" noProof="0">
                  <a:ln>
                    <a:noFill/>
                  </a:ln>
                  <a:solidFill>
                    <a:srgbClr val="000000"/>
                  </a:solidFill>
                  <a:effectLst/>
                  <a:uLnTx/>
                  <a:uFillTx/>
                  <a:latin typeface="Times New Roman" pitchFamily="18" charset="0"/>
                  <a:ea typeface="+mn-ea"/>
                  <a:cs typeface="Arial" charset="0"/>
                </a:endParaRPr>
              </a:p>
            </p:txBody>
          </p:sp>
        </p:grpSp>
        <p:sp>
          <p:nvSpPr>
            <p:cNvPr id="47144" name="Line 22"/>
            <p:cNvSpPr>
              <a:spLocks noChangeShapeType="1"/>
            </p:cNvSpPr>
            <p:nvPr/>
          </p:nvSpPr>
          <p:spPr bwMode="auto">
            <a:xfrm flipH="1" flipV="1">
              <a:off x="1256" y="1360"/>
              <a:ext cx="416" cy="416"/>
            </a:xfrm>
            <a:prstGeom prst="line">
              <a:avLst/>
            </a:prstGeom>
            <a:noFill/>
            <a:ln w="22225">
              <a:solidFill>
                <a:schemeClr val="tx1"/>
              </a:solidFill>
              <a:round/>
              <a:headEnd type="none" w="lg" len="me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4D75"/>
                </a:solidFill>
                <a:effectLst/>
                <a:uLnTx/>
                <a:uFillTx/>
                <a:latin typeface="Verdana"/>
                <a:ea typeface="+mn-ea"/>
                <a:cs typeface="Arial" charset="0"/>
              </a:endParaRPr>
            </a:p>
          </p:txBody>
        </p:sp>
      </p:grpSp>
      <p:sp>
        <p:nvSpPr>
          <p:cNvPr id="47114" name="Line 24"/>
          <p:cNvSpPr>
            <a:spLocks noChangeShapeType="1"/>
          </p:cNvSpPr>
          <p:nvPr/>
        </p:nvSpPr>
        <p:spPr bwMode="auto">
          <a:xfrm flipH="1">
            <a:off x="3098800" y="2946400"/>
            <a:ext cx="914400" cy="0"/>
          </a:xfrm>
          <a:prstGeom prst="line">
            <a:avLst/>
          </a:prstGeom>
          <a:noFill/>
          <a:ln w="22225">
            <a:solidFill>
              <a:schemeClr val="tx1"/>
            </a:solidFill>
            <a:round/>
            <a:headEnd type="none" w="lg" len="me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4D75"/>
              </a:solidFill>
              <a:effectLst/>
              <a:uLnTx/>
              <a:uFillTx/>
              <a:latin typeface="Verdana"/>
              <a:ea typeface="+mn-ea"/>
              <a:cs typeface="Arial" charset="0"/>
            </a:endParaRPr>
          </a:p>
        </p:txBody>
      </p:sp>
      <p:sp>
        <p:nvSpPr>
          <p:cNvPr id="47115" name="Text Box 29"/>
          <p:cNvSpPr txBox="1">
            <a:spLocks noChangeArrowheads="1"/>
          </p:cNvSpPr>
          <p:nvPr/>
        </p:nvSpPr>
        <p:spPr bwMode="auto">
          <a:xfrm rot="-46932">
            <a:off x="3113088" y="2659063"/>
            <a:ext cx="722312"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1400" b="0" i="1" u="none" strike="noStrike" kern="1200" cap="none" spc="0" normalizeH="0" baseline="0" noProof="0">
                <a:ln>
                  <a:noFill/>
                </a:ln>
                <a:solidFill>
                  <a:srgbClr val="000000"/>
                </a:solidFill>
                <a:effectLst/>
                <a:uLnTx/>
                <a:uFillTx/>
                <a:latin typeface="Times New Roman" pitchFamily="18" charset="0"/>
                <a:ea typeface="+mn-ea"/>
                <a:cs typeface="Arial" charset="0"/>
              </a:rPr>
              <a:t>No</a:t>
            </a:r>
          </a:p>
        </p:txBody>
      </p:sp>
      <p:grpSp>
        <p:nvGrpSpPr>
          <p:cNvPr id="47116" name="Group 31"/>
          <p:cNvGrpSpPr>
            <a:grpSpLocks/>
          </p:cNvGrpSpPr>
          <p:nvPr/>
        </p:nvGrpSpPr>
        <p:grpSpPr bwMode="auto">
          <a:xfrm>
            <a:off x="4051300" y="4102100"/>
            <a:ext cx="546100" cy="588963"/>
            <a:chOff x="2224" y="2248"/>
            <a:chExt cx="344" cy="371"/>
          </a:xfrm>
        </p:grpSpPr>
        <p:sp>
          <p:nvSpPr>
            <p:cNvPr id="47140" name="Oval 32"/>
            <p:cNvSpPr>
              <a:spLocks noChangeArrowheads="1"/>
            </p:cNvSpPr>
            <p:nvPr/>
          </p:nvSpPr>
          <p:spPr bwMode="auto">
            <a:xfrm>
              <a:off x="2224" y="2248"/>
              <a:ext cx="344" cy="301"/>
            </a:xfrm>
            <a:prstGeom prst="ellipse">
              <a:avLst/>
            </a:prstGeom>
            <a:solidFill>
              <a:schemeClr val="bg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endParaRPr>
            </a:p>
          </p:txBody>
        </p:sp>
        <p:sp>
          <p:nvSpPr>
            <p:cNvPr id="47141" name="Text Box 33"/>
            <p:cNvSpPr txBox="1">
              <a:spLocks noChangeArrowheads="1"/>
            </p:cNvSpPr>
            <p:nvPr/>
          </p:nvSpPr>
          <p:spPr bwMode="auto">
            <a:xfrm>
              <a:off x="2285" y="2287"/>
              <a:ext cx="238" cy="33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1400" b="1" i="0" u="none" strike="noStrike" kern="1200" cap="none" spc="0" normalizeH="0" baseline="0" noProof="0">
                  <a:ln>
                    <a:noFill/>
                  </a:ln>
                  <a:solidFill>
                    <a:srgbClr val="000000"/>
                  </a:solidFill>
                  <a:effectLst/>
                  <a:uLnTx/>
                  <a:uFillTx/>
                  <a:latin typeface="Times New Roman" pitchFamily="18" charset="0"/>
                  <a:ea typeface="+mn-ea"/>
                  <a:cs typeface="Arial" charset="0"/>
                </a:rPr>
                <a:t>3 </a:t>
              </a:r>
              <a:endParaRPr kumimoji="0" lang="en-GB" altLang="en-US" sz="1200" b="1" i="0" u="none" strike="noStrike" kern="1200" cap="none" spc="0" normalizeH="0" baseline="0" noProof="0">
                <a:ln>
                  <a:noFill/>
                </a:ln>
                <a:solidFill>
                  <a:srgbClr val="000000"/>
                </a:solidFill>
                <a:effectLst/>
                <a:uLnTx/>
                <a:uFillTx/>
                <a:latin typeface="Times New Roman" pitchFamily="18" charset="0"/>
                <a:ea typeface="+mn-ea"/>
                <a:cs typeface="Arial" charset="0"/>
              </a:endParaRPr>
            </a:p>
          </p:txBody>
        </p:sp>
      </p:grpSp>
      <p:sp>
        <p:nvSpPr>
          <p:cNvPr id="47117" name="Line 34"/>
          <p:cNvSpPr>
            <a:spLocks noChangeShapeType="1"/>
          </p:cNvSpPr>
          <p:nvPr/>
        </p:nvSpPr>
        <p:spPr bwMode="auto">
          <a:xfrm flipH="1" flipV="1">
            <a:off x="3022600" y="3175000"/>
            <a:ext cx="1104900" cy="1003300"/>
          </a:xfrm>
          <a:prstGeom prst="line">
            <a:avLst/>
          </a:prstGeom>
          <a:noFill/>
          <a:ln w="22225">
            <a:solidFill>
              <a:schemeClr val="tx1"/>
            </a:solidFill>
            <a:round/>
            <a:headEnd type="none" w="lg" len="me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4D75"/>
              </a:solidFill>
              <a:effectLst/>
              <a:uLnTx/>
              <a:uFillTx/>
              <a:latin typeface="Verdana"/>
              <a:ea typeface="+mn-ea"/>
              <a:cs typeface="Arial" charset="0"/>
            </a:endParaRPr>
          </a:p>
        </p:txBody>
      </p:sp>
      <p:sp>
        <p:nvSpPr>
          <p:cNvPr id="47118" name="Text Box 35"/>
          <p:cNvSpPr txBox="1">
            <a:spLocks noChangeArrowheads="1"/>
          </p:cNvSpPr>
          <p:nvPr/>
        </p:nvSpPr>
        <p:spPr bwMode="auto">
          <a:xfrm rot="-46932">
            <a:off x="2643188" y="3217863"/>
            <a:ext cx="722312"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1400" b="0" i="1" u="none" strike="noStrike" kern="1200" cap="none" spc="0" normalizeH="0" baseline="0" noProof="0">
                <a:ln>
                  <a:noFill/>
                </a:ln>
                <a:solidFill>
                  <a:srgbClr val="000000"/>
                </a:solidFill>
                <a:effectLst/>
                <a:uLnTx/>
                <a:uFillTx/>
                <a:latin typeface="Times New Roman" pitchFamily="18" charset="0"/>
                <a:ea typeface="+mn-ea"/>
                <a:cs typeface="Arial" charset="0"/>
              </a:rPr>
              <a:t>Yes</a:t>
            </a:r>
          </a:p>
        </p:txBody>
      </p:sp>
      <p:grpSp>
        <p:nvGrpSpPr>
          <p:cNvPr id="47119" name="Group 37"/>
          <p:cNvGrpSpPr>
            <a:grpSpLocks/>
          </p:cNvGrpSpPr>
          <p:nvPr/>
        </p:nvGrpSpPr>
        <p:grpSpPr bwMode="auto">
          <a:xfrm>
            <a:off x="6057900" y="4419600"/>
            <a:ext cx="1866900" cy="838200"/>
            <a:chOff x="3832" y="2072"/>
            <a:chExt cx="1176" cy="528"/>
          </a:xfrm>
        </p:grpSpPr>
        <p:sp>
          <p:nvSpPr>
            <p:cNvPr id="47138" name="Oval 38"/>
            <p:cNvSpPr>
              <a:spLocks noChangeArrowheads="1"/>
            </p:cNvSpPr>
            <p:nvPr/>
          </p:nvSpPr>
          <p:spPr bwMode="auto">
            <a:xfrm>
              <a:off x="3832" y="2072"/>
              <a:ext cx="1176" cy="528"/>
            </a:xfrm>
            <a:prstGeom prst="ellipse">
              <a:avLst/>
            </a:prstGeom>
            <a:solidFill>
              <a:schemeClr val="bg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endParaRPr>
            </a:p>
          </p:txBody>
        </p:sp>
        <p:sp>
          <p:nvSpPr>
            <p:cNvPr id="47139" name="Text Box 39"/>
            <p:cNvSpPr txBox="1">
              <a:spLocks noChangeArrowheads="1"/>
            </p:cNvSpPr>
            <p:nvPr/>
          </p:nvSpPr>
          <p:spPr bwMode="auto">
            <a:xfrm>
              <a:off x="3954" y="2236"/>
              <a:ext cx="987" cy="231"/>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1400" b="1" i="0" u="none" strike="noStrike" kern="1200" cap="none" spc="0" normalizeH="0" baseline="0" noProof="0">
                  <a:ln>
                    <a:noFill/>
                  </a:ln>
                  <a:solidFill>
                    <a:srgbClr val="000000"/>
                  </a:solidFill>
                  <a:effectLst/>
                  <a:uLnTx/>
                  <a:uFillTx/>
                  <a:latin typeface="Times New Roman" pitchFamily="18" charset="0"/>
                  <a:ea typeface="+mn-ea"/>
                  <a:cs typeface="Arial" charset="0"/>
                </a:rPr>
                <a:t>Repair product</a:t>
              </a:r>
              <a:endParaRPr kumimoji="0" lang="en-GB" altLang="en-US" sz="1200" b="1" i="0" u="none" strike="noStrike" kern="1200" cap="none" spc="0" normalizeH="0" baseline="0" noProof="0">
                <a:ln>
                  <a:noFill/>
                </a:ln>
                <a:solidFill>
                  <a:srgbClr val="000000"/>
                </a:solidFill>
                <a:effectLst/>
                <a:uLnTx/>
                <a:uFillTx/>
                <a:latin typeface="Times New Roman" pitchFamily="18" charset="0"/>
                <a:ea typeface="+mn-ea"/>
                <a:cs typeface="Arial" charset="0"/>
              </a:endParaRPr>
            </a:p>
          </p:txBody>
        </p:sp>
      </p:grpSp>
      <p:sp>
        <p:nvSpPr>
          <p:cNvPr id="47120" name="Line 40"/>
          <p:cNvSpPr>
            <a:spLocks noChangeShapeType="1"/>
          </p:cNvSpPr>
          <p:nvPr/>
        </p:nvSpPr>
        <p:spPr bwMode="auto">
          <a:xfrm flipH="1" flipV="1">
            <a:off x="4521200" y="4483100"/>
            <a:ext cx="1562100" cy="380206"/>
          </a:xfrm>
          <a:prstGeom prst="line">
            <a:avLst/>
          </a:prstGeom>
          <a:noFill/>
          <a:ln w="22225">
            <a:solidFill>
              <a:schemeClr val="tx1"/>
            </a:solidFill>
            <a:round/>
            <a:headEnd type="none" w="lg" len="me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4D75"/>
              </a:solidFill>
              <a:effectLst/>
              <a:uLnTx/>
              <a:uFillTx/>
              <a:latin typeface="Verdana"/>
              <a:ea typeface="+mn-ea"/>
              <a:cs typeface="Arial" charset="0"/>
            </a:endParaRPr>
          </a:p>
        </p:txBody>
      </p:sp>
      <p:sp>
        <p:nvSpPr>
          <p:cNvPr id="47121" name="Text Box 41"/>
          <p:cNvSpPr txBox="1">
            <a:spLocks noChangeArrowheads="1"/>
          </p:cNvSpPr>
          <p:nvPr/>
        </p:nvSpPr>
        <p:spPr bwMode="auto">
          <a:xfrm rot="-46932">
            <a:off x="4713288" y="4195917"/>
            <a:ext cx="722312"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1400" b="0" i="1" u="none" strike="noStrike" kern="1200" cap="none" spc="0" normalizeH="0" baseline="0" noProof="0" dirty="0">
                <a:ln>
                  <a:noFill/>
                </a:ln>
                <a:solidFill>
                  <a:srgbClr val="000000"/>
                </a:solidFill>
                <a:effectLst/>
                <a:uLnTx/>
                <a:uFillTx/>
                <a:latin typeface="Times New Roman" pitchFamily="18" charset="0"/>
                <a:ea typeface="+mn-ea"/>
                <a:cs typeface="Arial" charset="0"/>
              </a:rPr>
              <a:t>No</a:t>
            </a:r>
          </a:p>
        </p:txBody>
      </p:sp>
      <p:sp>
        <p:nvSpPr>
          <p:cNvPr id="47122" name="Oval 44"/>
          <p:cNvSpPr>
            <a:spLocks noChangeArrowheads="1"/>
          </p:cNvSpPr>
          <p:nvPr/>
        </p:nvSpPr>
        <p:spPr bwMode="auto">
          <a:xfrm>
            <a:off x="6096000" y="5410200"/>
            <a:ext cx="1866900" cy="838200"/>
          </a:xfrm>
          <a:prstGeom prst="ellipse">
            <a:avLst/>
          </a:prstGeom>
          <a:solidFill>
            <a:schemeClr val="bg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endParaRPr>
          </a:p>
        </p:txBody>
      </p:sp>
      <p:sp>
        <p:nvSpPr>
          <p:cNvPr id="47123" name="Text Box 45"/>
          <p:cNvSpPr txBox="1">
            <a:spLocks noChangeArrowheads="1"/>
          </p:cNvSpPr>
          <p:nvPr/>
        </p:nvSpPr>
        <p:spPr bwMode="auto">
          <a:xfrm>
            <a:off x="6324600" y="5729287"/>
            <a:ext cx="1566863" cy="366713"/>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1400" b="1" i="0" u="none" strike="noStrike" kern="1200" cap="none" spc="0" normalizeH="0" baseline="0" noProof="0" dirty="0">
                <a:ln>
                  <a:noFill/>
                </a:ln>
                <a:solidFill>
                  <a:srgbClr val="000000"/>
                </a:solidFill>
                <a:effectLst/>
                <a:uLnTx/>
                <a:uFillTx/>
                <a:latin typeface="Times New Roman" pitchFamily="18" charset="0"/>
                <a:ea typeface="+mn-ea"/>
                <a:cs typeface="Arial" charset="0"/>
              </a:rPr>
              <a:t>Pass product</a:t>
            </a:r>
            <a:endParaRPr kumimoji="0" lang="en-GB" altLang="en-US" sz="1200" b="1" i="0" u="none" strike="noStrike" kern="1200" cap="none" spc="0" normalizeH="0" baseline="0" noProof="0" dirty="0">
              <a:ln>
                <a:noFill/>
              </a:ln>
              <a:solidFill>
                <a:srgbClr val="000000"/>
              </a:solidFill>
              <a:effectLst/>
              <a:uLnTx/>
              <a:uFillTx/>
              <a:latin typeface="Times New Roman" pitchFamily="18" charset="0"/>
              <a:ea typeface="+mn-ea"/>
              <a:cs typeface="Arial" charset="0"/>
            </a:endParaRPr>
          </a:p>
        </p:txBody>
      </p:sp>
      <p:sp>
        <p:nvSpPr>
          <p:cNvPr id="47124" name="Line 47"/>
          <p:cNvSpPr>
            <a:spLocks noChangeShapeType="1"/>
          </p:cNvSpPr>
          <p:nvPr/>
        </p:nvSpPr>
        <p:spPr bwMode="auto">
          <a:xfrm flipH="1" flipV="1">
            <a:off x="4483100" y="4533900"/>
            <a:ext cx="1612900" cy="1195387"/>
          </a:xfrm>
          <a:prstGeom prst="line">
            <a:avLst/>
          </a:prstGeom>
          <a:noFill/>
          <a:ln w="22225">
            <a:solidFill>
              <a:schemeClr val="tx1"/>
            </a:solidFill>
            <a:round/>
            <a:headEnd type="none" w="lg" len="me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4D75"/>
              </a:solidFill>
              <a:effectLst/>
              <a:uLnTx/>
              <a:uFillTx/>
              <a:latin typeface="Verdana"/>
              <a:ea typeface="+mn-ea"/>
              <a:cs typeface="Arial" charset="0"/>
            </a:endParaRPr>
          </a:p>
        </p:txBody>
      </p:sp>
      <p:sp>
        <p:nvSpPr>
          <p:cNvPr id="47125" name="Text Box 48"/>
          <p:cNvSpPr txBox="1">
            <a:spLocks noChangeArrowheads="1"/>
          </p:cNvSpPr>
          <p:nvPr/>
        </p:nvSpPr>
        <p:spPr bwMode="auto">
          <a:xfrm rot="-46932">
            <a:off x="4256088" y="4741863"/>
            <a:ext cx="722312"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1400" b="0" i="1" u="none" strike="noStrike" kern="1200" cap="none" spc="0" normalizeH="0" baseline="0" noProof="0">
                <a:ln>
                  <a:noFill/>
                </a:ln>
                <a:solidFill>
                  <a:srgbClr val="000000"/>
                </a:solidFill>
                <a:effectLst/>
                <a:uLnTx/>
                <a:uFillTx/>
                <a:latin typeface="Times New Roman" pitchFamily="18" charset="0"/>
                <a:ea typeface="+mn-ea"/>
                <a:cs typeface="Arial" charset="0"/>
              </a:rPr>
              <a:t>Yes</a:t>
            </a:r>
          </a:p>
        </p:txBody>
      </p:sp>
      <p:grpSp>
        <p:nvGrpSpPr>
          <p:cNvPr id="47126" name="Group 49"/>
          <p:cNvGrpSpPr>
            <a:grpSpLocks/>
          </p:cNvGrpSpPr>
          <p:nvPr/>
        </p:nvGrpSpPr>
        <p:grpSpPr bwMode="auto">
          <a:xfrm>
            <a:off x="6019800" y="2514600"/>
            <a:ext cx="1866900" cy="838200"/>
            <a:chOff x="3832" y="2072"/>
            <a:chExt cx="1176" cy="528"/>
          </a:xfrm>
        </p:grpSpPr>
        <p:sp>
          <p:nvSpPr>
            <p:cNvPr id="47136" name="Oval 50"/>
            <p:cNvSpPr>
              <a:spLocks noChangeArrowheads="1"/>
            </p:cNvSpPr>
            <p:nvPr/>
          </p:nvSpPr>
          <p:spPr bwMode="auto">
            <a:xfrm>
              <a:off x="3832" y="2072"/>
              <a:ext cx="1176" cy="528"/>
            </a:xfrm>
            <a:prstGeom prst="ellipse">
              <a:avLst/>
            </a:prstGeom>
            <a:solidFill>
              <a:schemeClr val="bg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endParaRPr>
            </a:p>
          </p:txBody>
        </p:sp>
        <p:sp>
          <p:nvSpPr>
            <p:cNvPr id="47137" name="Text Box 51"/>
            <p:cNvSpPr txBox="1">
              <a:spLocks noChangeArrowheads="1"/>
            </p:cNvSpPr>
            <p:nvPr/>
          </p:nvSpPr>
          <p:spPr bwMode="auto">
            <a:xfrm>
              <a:off x="3954" y="2236"/>
              <a:ext cx="987" cy="231"/>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1400" b="1" i="0" u="none" strike="noStrike" kern="1200" cap="none" spc="0" normalizeH="0" baseline="0" noProof="0">
                  <a:ln>
                    <a:noFill/>
                  </a:ln>
                  <a:solidFill>
                    <a:srgbClr val="000000"/>
                  </a:solidFill>
                  <a:effectLst/>
                  <a:uLnTx/>
                  <a:uFillTx/>
                  <a:latin typeface="Times New Roman" pitchFamily="18" charset="0"/>
                  <a:ea typeface="+mn-ea"/>
                  <a:cs typeface="Arial" charset="0"/>
                </a:rPr>
                <a:t>Reject product</a:t>
              </a:r>
              <a:endParaRPr kumimoji="0" lang="en-GB" altLang="en-US" sz="1200" b="1" i="0" u="none" strike="noStrike" kern="1200" cap="none" spc="0" normalizeH="0" baseline="0" noProof="0">
                <a:ln>
                  <a:noFill/>
                </a:ln>
                <a:solidFill>
                  <a:srgbClr val="000000"/>
                </a:solidFill>
                <a:effectLst/>
                <a:uLnTx/>
                <a:uFillTx/>
                <a:latin typeface="Times New Roman" pitchFamily="18" charset="0"/>
                <a:ea typeface="+mn-ea"/>
                <a:cs typeface="Arial" charset="0"/>
              </a:endParaRPr>
            </a:p>
          </p:txBody>
        </p:sp>
      </p:grpSp>
      <p:sp>
        <p:nvSpPr>
          <p:cNvPr id="47127" name="Oval 53"/>
          <p:cNvSpPr>
            <a:spLocks noChangeArrowheads="1"/>
          </p:cNvSpPr>
          <p:nvPr/>
        </p:nvSpPr>
        <p:spPr bwMode="auto">
          <a:xfrm>
            <a:off x="6057900" y="3429000"/>
            <a:ext cx="1866900" cy="838200"/>
          </a:xfrm>
          <a:prstGeom prst="ellipse">
            <a:avLst/>
          </a:prstGeom>
          <a:solidFill>
            <a:schemeClr val="bg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endParaRPr>
          </a:p>
        </p:txBody>
      </p:sp>
      <p:sp>
        <p:nvSpPr>
          <p:cNvPr id="47128" name="Text Box 54"/>
          <p:cNvSpPr txBox="1">
            <a:spLocks noChangeArrowheads="1"/>
          </p:cNvSpPr>
          <p:nvPr/>
        </p:nvSpPr>
        <p:spPr bwMode="auto">
          <a:xfrm>
            <a:off x="6205537" y="3657600"/>
            <a:ext cx="1566863" cy="366713"/>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1400" b="1" i="0" u="none" strike="noStrike" kern="1200" cap="none" spc="0" normalizeH="0" baseline="0" noProof="0">
                <a:ln>
                  <a:noFill/>
                </a:ln>
                <a:solidFill>
                  <a:srgbClr val="000000"/>
                </a:solidFill>
                <a:effectLst/>
                <a:uLnTx/>
                <a:uFillTx/>
                <a:latin typeface="Times New Roman" pitchFamily="18" charset="0"/>
                <a:ea typeface="+mn-ea"/>
                <a:cs typeface="Arial" charset="0"/>
              </a:rPr>
              <a:t>Repair product</a:t>
            </a:r>
            <a:endParaRPr kumimoji="0" lang="en-GB" altLang="en-US" sz="1200" b="1" i="0" u="none" strike="noStrike" kern="1200" cap="none" spc="0" normalizeH="0" baseline="0" noProof="0">
              <a:ln>
                <a:noFill/>
              </a:ln>
              <a:solidFill>
                <a:srgbClr val="000000"/>
              </a:solidFill>
              <a:effectLst/>
              <a:uLnTx/>
              <a:uFillTx/>
              <a:latin typeface="Times New Roman" pitchFamily="18" charset="0"/>
              <a:ea typeface="+mn-ea"/>
              <a:cs typeface="Arial" charset="0"/>
            </a:endParaRPr>
          </a:p>
        </p:txBody>
      </p:sp>
      <p:grpSp>
        <p:nvGrpSpPr>
          <p:cNvPr id="47129" name="Group 56"/>
          <p:cNvGrpSpPr>
            <a:grpSpLocks/>
          </p:cNvGrpSpPr>
          <p:nvPr/>
        </p:nvGrpSpPr>
        <p:grpSpPr bwMode="auto">
          <a:xfrm>
            <a:off x="4013200" y="2692400"/>
            <a:ext cx="546100" cy="588963"/>
            <a:chOff x="2224" y="2248"/>
            <a:chExt cx="344" cy="371"/>
          </a:xfrm>
        </p:grpSpPr>
        <p:sp>
          <p:nvSpPr>
            <p:cNvPr id="47134" name="Oval 57"/>
            <p:cNvSpPr>
              <a:spLocks noChangeArrowheads="1"/>
            </p:cNvSpPr>
            <p:nvPr/>
          </p:nvSpPr>
          <p:spPr bwMode="auto">
            <a:xfrm>
              <a:off x="2224" y="2248"/>
              <a:ext cx="344" cy="301"/>
            </a:xfrm>
            <a:prstGeom prst="ellipse">
              <a:avLst/>
            </a:prstGeom>
            <a:solidFill>
              <a:schemeClr val="bg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000" b="0" i="0" u="none" strike="noStrike" kern="1200" cap="none" spc="0" normalizeH="0" baseline="0" noProof="0">
                <a:ln>
                  <a:noFill/>
                </a:ln>
                <a:solidFill>
                  <a:srgbClr val="004D75"/>
                </a:solidFill>
                <a:effectLst/>
                <a:uLnTx/>
                <a:uFillTx/>
                <a:latin typeface="Verdana" pitchFamily="34" charset="0"/>
                <a:ea typeface="+mn-ea"/>
                <a:cs typeface="Arial" charset="0"/>
              </a:endParaRPr>
            </a:p>
          </p:txBody>
        </p:sp>
        <p:sp>
          <p:nvSpPr>
            <p:cNvPr id="47135" name="Text Box 58"/>
            <p:cNvSpPr txBox="1">
              <a:spLocks noChangeArrowheads="1"/>
            </p:cNvSpPr>
            <p:nvPr/>
          </p:nvSpPr>
          <p:spPr bwMode="auto">
            <a:xfrm>
              <a:off x="2285" y="2287"/>
              <a:ext cx="238" cy="33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1400" b="1" i="0" u="none" strike="noStrike" kern="1200" cap="none" spc="0" normalizeH="0" baseline="0" noProof="0">
                  <a:ln>
                    <a:noFill/>
                  </a:ln>
                  <a:solidFill>
                    <a:srgbClr val="000000"/>
                  </a:solidFill>
                  <a:effectLst/>
                  <a:uLnTx/>
                  <a:uFillTx/>
                  <a:latin typeface="Times New Roman" pitchFamily="18" charset="0"/>
                  <a:ea typeface="+mn-ea"/>
                  <a:cs typeface="Arial" charset="0"/>
                </a:rPr>
                <a:t>3 </a:t>
              </a:r>
              <a:endParaRPr kumimoji="0" lang="en-GB" altLang="en-US" sz="1200" b="1" i="0" u="none" strike="noStrike" kern="1200" cap="none" spc="0" normalizeH="0" baseline="0" noProof="0">
                <a:ln>
                  <a:noFill/>
                </a:ln>
                <a:solidFill>
                  <a:srgbClr val="000000"/>
                </a:solidFill>
                <a:effectLst/>
                <a:uLnTx/>
                <a:uFillTx/>
                <a:latin typeface="Times New Roman" pitchFamily="18" charset="0"/>
                <a:ea typeface="+mn-ea"/>
                <a:cs typeface="Arial" charset="0"/>
              </a:endParaRPr>
            </a:p>
          </p:txBody>
        </p:sp>
      </p:grpSp>
      <p:sp>
        <p:nvSpPr>
          <p:cNvPr id="47130" name="Line 59"/>
          <p:cNvSpPr>
            <a:spLocks noChangeShapeType="1"/>
          </p:cNvSpPr>
          <p:nvPr/>
        </p:nvSpPr>
        <p:spPr bwMode="auto">
          <a:xfrm flipH="1">
            <a:off x="4559300" y="2946400"/>
            <a:ext cx="1435100" cy="0"/>
          </a:xfrm>
          <a:prstGeom prst="line">
            <a:avLst/>
          </a:prstGeom>
          <a:noFill/>
          <a:ln w="22225">
            <a:solidFill>
              <a:schemeClr val="tx1"/>
            </a:solidFill>
            <a:round/>
            <a:headEnd type="none" w="lg" len="me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4D75"/>
              </a:solidFill>
              <a:effectLst/>
              <a:uLnTx/>
              <a:uFillTx/>
              <a:latin typeface="Verdana"/>
              <a:ea typeface="+mn-ea"/>
              <a:cs typeface="Arial" charset="0"/>
            </a:endParaRPr>
          </a:p>
        </p:txBody>
      </p:sp>
      <p:sp>
        <p:nvSpPr>
          <p:cNvPr id="47131" name="Line 60"/>
          <p:cNvSpPr>
            <a:spLocks noChangeShapeType="1"/>
          </p:cNvSpPr>
          <p:nvPr/>
        </p:nvSpPr>
        <p:spPr bwMode="auto">
          <a:xfrm flipH="1" flipV="1">
            <a:off x="4495800" y="3060700"/>
            <a:ext cx="1587500" cy="762000"/>
          </a:xfrm>
          <a:prstGeom prst="line">
            <a:avLst/>
          </a:prstGeom>
          <a:noFill/>
          <a:ln w="22225">
            <a:solidFill>
              <a:schemeClr val="tx1"/>
            </a:solidFill>
            <a:round/>
            <a:headEnd type="none" w="lg" len="me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4D75"/>
              </a:solidFill>
              <a:effectLst/>
              <a:uLnTx/>
              <a:uFillTx/>
              <a:latin typeface="Verdana"/>
              <a:ea typeface="+mn-ea"/>
              <a:cs typeface="Arial" charset="0"/>
            </a:endParaRPr>
          </a:p>
        </p:txBody>
      </p:sp>
      <p:sp>
        <p:nvSpPr>
          <p:cNvPr id="47132" name="Text Box 61"/>
          <p:cNvSpPr txBox="1">
            <a:spLocks noChangeArrowheads="1"/>
          </p:cNvSpPr>
          <p:nvPr/>
        </p:nvSpPr>
        <p:spPr bwMode="auto">
          <a:xfrm rot="-46932">
            <a:off x="4649788" y="2646363"/>
            <a:ext cx="722312"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1400" b="0" i="1" u="none" strike="noStrike" kern="1200" cap="none" spc="0" normalizeH="0" baseline="0" noProof="0">
                <a:ln>
                  <a:noFill/>
                </a:ln>
                <a:solidFill>
                  <a:srgbClr val="000000"/>
                </a:solidFill>
                <a:effectLst/>
                <a:uLnTx/>
                <a:uFillTx/>
                <a:latin typeface="Times New Roman" pitchFamily="18" charset="0"/>
                <a:ea typeface="+mn-ea"/>
                <a:cs typeface="Arial" charset="0"/>
              </a:rPr>
              <a:t>No</a:t>
            </a:r>
          </a:p>
        </p:txBody>
      </p:sp>
      <p:sp>
        <p:nvSpPr>
          <p:cNvPr id="47133" name="Text Box 62"/>
          <p:cNvSpPr txBox="1">
            <a:spLocks noChangeArrowheads="1"/>
          </p:cNvSpPr>
          <p:nvPr/>
        </p:nvSpPr>
        <p:spPr bwMode="auto">
          <a:xfrm rot="-46932">
            <a:off x="4421647" y="3255963"/>
            <a:ext cx="722312"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altLang="en-US" sz="1400" b="0" i="1" u="none" strike="noStrike" kern="1200" cap="none" spc="0" normalizeH="0" baseline="0" noProof="0">
                <a:ln>
                  <a:noFill/>
                </a:ln>
                <a:solidFill>
                  <a:srgbClr val="000000"/>
                </a:solidFill>
                <a:effectLst/>
                <a:uLnTx/>
                <a:uFillTx/>
                <a:latin typeface="Times New Roman" pitchFamily="18" charset="0"/>
                <a:ea typeface="+mn-ea"/>
                <a:cs typeface="Arial" charset="0"/>
              </a:rPr>
              <a:t>Yes</a:t>
            </a:r>
          </a:p>
        </p:txBody>
      </p:sp>
      <p:sp>
        <p:nvSpPr>
          <p:cNvPr id="2" name="TextBox 1"/>
          <p:cNvSpPr txBox="1"/>
          <p:nvPr/>
        </p:nvSpPr>
        <p:spPr>
          <a:xfrm>
            <a:off x="7035366" y="279399"/>
            <a:ext cx="1871663" cy="646331"/>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Verdana"/>
                <a:ea typeface="+mn-ea"/>
                <a:cs typeface="+mn-cs"/>
              </a:rPr>
              <a:t>We will use this notation!</a:t>
            </a:r>
          </a:p>
        </p:txBody>
      </p:sp>
      <p:sp>
        <p:nvSpPr>
          <p:cNvPr id="3" name="TextBox 2"/>
          <p:cNvSpPr txBox="1"/>
          <p:nvPr/>
        </p:nvSpPr>
        <p:spPr>
          <a:xfrm>
            <a:off x="228600" y="2454176"/>
            <a:ext cx="1670050" cy="229293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0000"/>
                </a:solidFill>
                <a:effectLst/>
                <a:uLnTx/>
                <a:uFillTx/>
                <a:latin typeface="Verdana"/>
                <a:ea typeface="+mn-ea"/>
                <a:cs typeface="+mn-cs"/>
              </a:rPr>
              <a:t>Conditions/ Decision Points </a:t>
            </a:r>
            <a:r>
              <a:rPr kumimoji="0" lang="en-US" sz="1400" b="0" i="0" u="none" strike="noStrike" kern="1200" cap="none" spc="0" normalizeH="0" baseline="0" noProof="0" dirty="0">
                <a:ln>
                  <a:noFill/>
                </a:ln>
                <a:solidFill>
                  <a:srgbClr val="FF0000"/>
                </a:solidFill>
                <a:effectLst/>
                <a:uLnTx/>
                <a:uFillTx/>
                <a:latin typeface="Verdana"/>
                <a:ea typeface="+mn-ea"/>
                <a:cs typeface="+mn-cs"/>
              </a:rPr>
              <a:t>(represented by </a:t>
            </a:r>
            <a:r>
              <a:rPr kumimoji="0" lang="en-US" sz="1400" b="0" i="0" u="none" strike="noStrike" kern="1200" cap="none" spc="0" normalizeH="0" baseline="0" noProof="0" dirty="0" err="1">
                <a:ln>
                  <a:noFill/>
                </a:ln>
                <a:solidFill>
                  <a:srgbClr val="FF0000"/>
                </a:solidFill>
                <a:effectLst/>
                <a:uLnTx/>
                <a:uFillTx/>
                <a:latin typeface="Verdana"/>
                <a:ea typeface="+mn-ea"/>
                <a:cs typeface="+mn-cs"/>
              </a:rPr>
              <a:t>archs</a:t>
            </a:r>
            <a:r>
              <a:rPr kumimoji="0" lang="en-US" sz="1400" b="0" i="0" u="none" strike="noStrike" kern="1200" cap="none" spc="0" normalizeH="0" baseline="0" noProof="0" dirty="0">
                <a:ln>
                  <a:noFill/>
                </a:ln>
                <a:solidFill>
                  <a:srgbClr val="FF0000"/>
                </a:solidFill>
                <a:effectLst/>
                <a:uLnTx/>
                <a:uFillTx/>
                <a:latin typeface="Verdana"/>
                <a:ea typeface="+mn-ea"/>
                <a:cs typeface="+mn-cs"/>
              </a:rPr>
              <a:t>/nodes)</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altLang="en-US" sz="1100" b="0" i="0" u="none" strike="noStrike" kern="1200" cap="none" spc="0" normalizeH="0" baseline="0" noProof="0" dirty="0">
                <a:ln>
                  <a:noFill/>
                </a:ln>
                <a:solidFill>
                  <a:srgbClr val="FF0000"/>
                </a:solidFill>
                <a:effectLst/>
                <a:uLnTx/>
                <a:uFillTx/>
                <a:latin typeface="Verdana"/>
                <a:ea typeface="+mn-ea"/>
                <a:cs typeface="+mn-cs"/>
              </a:rPr>
            </a:br>
            <a:r>
              <a:rPr kumimoji="0" lang="en-US" altLang="en-US" sz="1200" b="0" i="0" u="none" strike="noStrike" kern="1200" cap="none" spc="0" normalizeH="0" baseline="0" noProof="0" dirty="0">
                <a:ln>
                  <a:noFill/>
                </a:ln>
                <a:solidFill>
                  <a:srgbClr val="FF0000"/>
                </a:solidFill>
                <a:effectLst/>
                <a:uLnTx/>
                <a:uFillTx/>
                <a:latin typeface="Verdana"/>
                <a:ea typeface="+mn-ea"/>
                <a:cs typeface="+mn-cs"/>
              </a:rPr>
              <a:t>Each node corresponds to a numbered choice on a legend.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0000"/>
              </a:solidFill>
              <a:effectLst/>
              <a:uLnTx/>
              <a:uFillTx/>
              <a:latin typeface="Verdana"/>
              <a:ea typeface="+mn-ea"/>
              <a:cs typeface="+mn-cs"/>
            </a:endParaRPr>
          </a:p>
        </p:txBody>
      </p:sp>
      <p:cxnSp>
        <p:nvCxnSpPr>
          <p:cNvPr id="5" name="Straight Arrow Connector 4"/>
          <p:cNvCxnSpPr>
            <a:stCxn id="3" idx="0"/>
          </p:cNvCxnSpPr>
          <p:nvPr/>
        </p:nvCxnSpPr>
        <p:spPr bwMode="auto">
          <a:xfrm flipV="1">
            <a:off x="1063625" y="2122608"/>
            <a:ext cx="464145" cy="331568"/>
          </a:xfrm>
          <a:prstGeom prst="straightConnector1">
            <a:avLst/>
          </a:prstGeom>
          <a:solidFill>
            <a:schemeClr val="accent1"/>
          </a:solidFill>
          <a:ln w="28575"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Straight Arrow Connector 51"/>
          <p:cNvCxnSpPr/>
          <p:nvPr/>
        </p:nvCxnSpPr>
        <p:spPr bwMode="auto">
          <a:xfrm>
            <a:off x="921903" y="4495800"/>
            <a:ext cx="0" cy="241146"/>
          </a:xfrm>
          <a:prstGeom prst="straightConnector1">
            <a:avLst/>
          </a:prstGeom>
          <a:solidFill>
            <a:schemeClr val="accent1"/>
          </a:solidFill>
          <a:ln w="28575"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 name="TextBox 55"/>
          <p:cNvSpPr txBox="1"/>
          <p:nvPr/>
        </p:nvSpPr>
        <p:spPr>
          <a:xfrm>
            <a:off x="610771" y="6038418"/>
            <a:ext cx="2681287" cy="4385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050" b="1" i="0" u="none" strike="noStrike" kern="1200" cap="none" spc="0" normalizeH="0" baseline="0" noProof="0" dirty="0">
                <a:ln>
                  <a:noFill/>
                </a:ln>
                <a:solidFill>
                  <a:srgbClr val="FF0000"/>
                </a:solidFill>
                <a:effectLst/>
                <a:uLnTx/>
                <a:uFillTx/>
                <a:latin typeface="Verdana"/>
                <a:ea typeface="+mn-ea"/>
                <a:cs typeface="+mn-cs"/>
              </a:rPr>
              <a:t>* Remember to include legend.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FF0000"/>
              </a:solidFill>
              <a:effectLst/>
              <a:uLnTx/>
              <a:uFillTx/>
              <a:latin typeface="Verdana"/>
              <a:ea typeface="+mn-ea"/>
              <a:cs typeface="+mn-cs"/>
            </a:endParaRPr>
          </a:p>
        </p:txBody>
      </p:sp>
      <p:sp>
        <p:nvSpPr>
          <p:cNvPr id="57" name="TextBox 56"/>
          <p:cNvSpPr txBox="1"/>
          <p:nvPr/>
        </p:nvSpPr>
        <p:spPr>
          <a:xfrm>
            <a:off x="8001000" y="2151380"/>
            <a:ext cx="1142999" cy="229293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0000"/>
                </a:solidFill>
                <a:effectLst/>
                <a:uLnTx/>
                <a:uFillTx/>
                <a:latin typeface="Verdana"/>
                <a:ea typeface="+mn-ea"/>
                <a:cs typeface="+mn-cs"/>
              </a:rPr>
              <a:t>Actions </a:t>
            </a:r>
            <a:r>
              <a:rPr kumimoji="0" lang="en-US" sz="1400" b="0" i="0" u="none" strike="noStrike" kern="1200" cap="none" spc="0" normalizeH="0" baseline="0" noProof="0" dirty="0">
                <a:ln>
                  <a:noFill/>
                </a:ln>
                <a:solidFill>
                  <a:srgbClr val="FF0000"/>
                </a:solidFill>
                <a:effectLst/>
                <a:uLnTx/>
                <a:uFillTx/>
                <a:latin typeface="Verdana"/>
                <a:ea typeface="+mn-ea"/>
                <a:cs typeface="+mn-cs"/>
              </a:rPr>
              <a:t>(represented by ovals)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0000"/>
              </a:solidFill>
              <a:effectLst/>
              <a:uLnTx/>
              <a:uFillTx/>
              <a:latin typeface="Verdan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srgbClr val="FF0000"/>
                </a:solidFill>
                <a:effectLst/>
                <a:uLnTx/>
                <a:uFillTx/>
                <a:latin typeface="Verdana"/>
                <a:ea typeface="+mn-ea"/>
                <a:cs typeface="+mn-cs"/>
              </a:rPr>
              <a:t>All possible actions are listed on the far right.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100" b="0" i="0" u="none" strike="noStrike" kern="1200" cap="none" spc="0" normalizeH="0" baseline="0" noProof="0" dirty="0">
              <a:ln>
                <a:noFill/>
              </a:ln>
              <a:solidFill>
                <a:srgbClr val="FF0000"/>
              </a:solidFill>
              <a:effectLst/>
              <a:uLnTx/>
              <a:uFillTx/>
              <a:latin typeface="Verdan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0000"/>
              </a:solidFill>
              <a:effectLst/>
              <a:uLnTx/>
              <a:uFillTx/>
              <a:latin typeface="Verdana"/>
              <a:ea typeface="+mn-ea"/>
              <a:cs typeface="+mn-cs"/>
            </a:endParaRPr>
          </a:p>
        </p:txBody>
      </p:sp>
      <p:cxnSp>
        <p:nvCxnSpPr>
          <p:cNvPr id="58" name="Straight Arrow Connector 57"/>
          <p:cNvCxnSpPr/>
          <p:nvPr/>
        </p:nvCxnSpPr>
        <p:spPr bwMode="auto">
          <a:xfrm flipH="1" flipV="1">
            <a:off x="8016479" y="1928019"/>
            <a:ext cx="365521" cy="230981"/>
          </a:xfrm>
          <a:prstGeom prst="straightConnector1">
            <a:avLst/>
          </a:prstGeom>
          <a:solidFill>
            <a:schemeClr val="accent1"/>
          </a:solidFill>
          <a:ln w="28575"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TextBox 53"/>
          <p:cNvSpPr txBox="1"/>
          <p:nvPr/>
        </p:nvSpPr>
        <p:spPr>
          <a:xfrm>
            <a:off x="483989" y="279399"/>
            <a:ext cx="1142999" cy="123110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dirty="0">
                <a:ln>
                  <a:noFill/>
                </a:ln>
                <a:solidFill>
                  <a:srgbClr val="FF0000"/>
                </a:solidFill>
                <a:effectLst/>
                <a:uLnTx/>
                <a:uFillTx/>
                <a:latin typeface="Verdana"/>
                <a:ea typeface="+mn-ea"/>
                <a:cs typeface="+mn-cs"/>
              </a:rPr>
              <a:t>Read from left to right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1" i="0" u="none" strike="noStrike" kern="1200" cap="none" spc="0" normalizeH="0" baseline="0" noProof="0" dirty="0">
              <a:ln>
                <a:noFill/>
              </a:ln>
              <a:solidFill>
                <a:srgbClr val="FF0000"/>
              </a:solidFill>
              <a:effectLst/>
              <a:uLnTx/>
              <a:uFillTx/>
              <a:latin typeface="Verdan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0000"/>
              </a:solidFill>
              <a:effectLst/>
              <a:uLnTx/>
              <a:uFillTx/>
              <a:latin typeface="Verdana"/>
              <a:ea typeface="+mn-ea"/>
              <a:cs typeface="+mn-cs"/>
            </a:endParaRPr>
          </a:p>
        </p:txBody>
      </p:sp>
      <p:cxnSp>
        <p:nvCxnSpPr>
          <p:cNvPr id="6" name="Straight Arrow Connector 5"/>
          <p:cNvCxnSpPr/>
          <p:nvPr/>
        </p:nvCxnSpPr>
        <p:spPr bwMode="auto">
          <a:xfrm>
            <a:off x="631528" y="1066800"/>
            <a:ext cx="740072" cy="0"/>
          </a:xfrm>
          <a:prstGeom prst="straightConnector1">
            <a:avLst/>
          </a:prstGeom>
          <a:solidFill>
            <a:schemeClr val="accent1"/>
          </a:solidFill>
          <a:ln w="28575"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650778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2"/>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500" fill="hold"/>
                                        <p:tgtEl>
                                          <p:spTgt spid="54"/>
                                        </p:tgtEl>
                                        <p:attrNameLst>
                                          <p:attrName>ppt_x</p:attrName>
                                        </p:attrNameLst>
                                      </p:cBhvr>
                                      <p:tavLst>
                                        <p:tav tm="0">
                                          <p:val>
                                            <p:strVal val="0-#ppt_w/2"/>
                                          </p:val>
                                        </p:tav>
                                        <p:tav tm="100000">
                                          <p:val>
                                            <p:strVal val="#ppt_x"/>
                                          </p:val>
                                        </p:tav>
                                      </p:tavLst>
                                    </p:anim>
                                    <p:anim calcmode="lin" valueType="num">
                                      <p:cBhvr additive="base">
                                        <p:cTn id="12" dur="500" fill="hold"/>
                                        <p:tgtEl>
                                          <p:spTgt spid="54"/>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1000"/>
                                        <p:tgtEl>
                                          <p:spTgt spid="5"/>
                                        </p:tgtEl>
                                      </p:cBhvr>
                                    </p:animEffect>
                                    <p:anim calcmode="lin" valueType="num">
                                      <p:cBhvr>
                                        <p:cTn id="27" dur="1000" fill="hold"/>
                                        <p:tgtEl>
                                          <p:spTgt spid="5"/>
                                        </p:tgtEl>
                                        <p:attrNameLst>
                                          <p:attrName>ppt_x</p:attrName>
                                        </p:attrNameLst>
                                      </p:cBhvr>
                                      <p:tavLst>
                                        <p:tav tm="0">
                                          <p:val>
                                            <p:strVal val="#ppt_x"/>
                                          </p:val>
                                        </p:tav>
                                        <p:tav tm="100000">
                                          <p:val>
                                            <p:strVal val="#ppt_x"/>
                                          </p:val>
                                        </p:tav>
                                      </p:tavLst>
                                    </p:anim>
                                    <p:anim calcmode="lin" valueType="num">
                                      <p:cBhvr>
                                        <p:cTn id="28" dur="1000" fill="hold"/>
                                        <p:tgtEl>
                                          <p:spTgt spid="5"/>
                                        </p:tgtEl>
                                        <p:attrNameLst>
                                          <p:attrName>ppt_y</p:attrName>
                                        </p:attrNameLst>
                                      </p:cBhvr>
                                      <p:tavLst>
                                        <p:tav tm="0">
                                          <p:val>
                                            <p:strVal val="#ppt_y+.1"/>
                                          </p:val>
                                        </p:tav>
                                        <p:tav tm="100000">
                                          <p:val>
                                            <p:strVal val="#ppt_y"/>
                                          </p:val>
                                        </p:tav>
                                      </p:tavLst>
                                    </p:anim>
                                  </p:childTnLst>
                                </p:cTn>
                              </p:par>
                            </p:childTnLst>
                          </p:cTn>
                        </p:par>
                        <p:par>
                          <p:cTn id="29" fill="hold">
                            <p:stCondLst>
                              <p:cond delay="1000"/>
                            </p:stCondLst>
                            <p:childTnLst>
                              <p:par>
                                <p:cTn id="30" presetID="47" presetClass="entr" presetSubtype="0" fill="hold" nodeType="after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fade">
                                      <p:cBhvr>
                                        <p:cTn id="32" dur="1000"/>
                                        <p:tgtEl>
                                          <p:spTgt spid="52"/>
                                        </p:tgtEl>
                                      </p:cBhvr>
                                    </p:animEffect>
                                    <p:anim calcmode="lin" valueType="num">
                                      <p:cBhvr>
                                        <p:cTn id="33" dur="1000" fill="hold"/>
                                        <p:tgtEl>
                                          <p:spTgt spid="52"/>
                                        </p:tgtEl>
                                        <p:attrNameLst>
                                          <p:attrName>ppt_x</p:attrName>
                                        </p:attrNameLst>
                                      </p:cBhvr>
                                      <p:tavLst>
                                        <p:tav tm="0">
                                          <p:val>
                                            <p:strVal val="#ppt_x"/>
                                          </p:val>
                                        </p:tav>
                                        <p:tav tm="100000">
                                          <p:val>
                                            <p:strVal val="#ppt_x"/>
                                          </p:val>
                                        </p:tav>
                                      </p:tavLst>
                                    </p:anim>
                                    <p:anim calcmode="lin" valueType="num">
                                      <p:cBhvr>
                                        <p:cTn id="34"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56"/>
                                        </p:tgtEl>
                                        <p:attrNameLst>
                                          <p:attrName>style.visibility</p:attrName>
                                        </p:attrNameLst>
                                      </p:cBhvr>
                                      <p:to>
                                        <p:strVal val="visible"/>
                                      </p:to>
                                    </p:set>
                                    <p:animEffect transition="in" filter="fade">
                                      <p:cBhvr>
                                        <p:cTn id="39" dur="1000"/>
                                        <p:tgtEl>
                                          <p:spTgt spid="56"/>
                                        </p:tgtEl>
                                      </p:cBhvr>
                                    </p:animEffect>
                                    <p:anim calcmode="lin" valueType="num">
                                      <p:cBhvr>
                                        <p:cTn id="40" dur="1000" fill="hold"/>
                                        <p:tgtEl>
                                          <p:spTgt spid="56"/>
                                        </p:tgtEl>
                                        <p:attrNameLst>
                                          <p:attrName>ppt_x</p:attrName>
                                        </p:attrNameLst>
                                      </p:cBhvr>
                                      <p:tavLst>
                                        <p:tav tm="0">
                                          <p:val>
                                            <p:strVal val="#ppt_x"/>
                                          </p:val>
                                        </p:tav>
                                        <p:tav tm="100000">
                                          <p:val>
                                            <p:strVal val="#ppt_x"/>
                                          </p:val>
                                        </p:tav>
                                      </p:tavLst>
                                    </p:anim>
                                    <p:anim calcmode="lin" valueType="num">
                                      <p:cBhvr>
                                        <p:cTn id="41"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57"/>
                                        </p:tgtEl>
                                        <p:attrNameLst>
                                          <p:attrName>style.visibility</p:attrName>
                                        </p:attrNameLst>
                                      </p:cBhvr>
                                      <p:to>
                                        <p:strVal val="visible"/>
                                      </p:to>
                                    </p:set>
                                    <p:animEffect transition="in" filter="fade">
                                      <p:cBhvr>
                                        <p:cTn id="46" dur="1000"/>
                                        <p:tgtEl>
                                          <p:spTgt spid="57"/>
                                        </p:tgtEl>
                                      </p:cBhvr>
                                    </p:animEffect>
                                    <p:anim calcmode="lin" valueType="num">
                                      <p:cBhvr>
                                        <p:cTn id="47" dur="1000" fill="hold"/>
                                        <p:tgtEl>
                                          <p:spTgt spid="57"/>
                                        </p:tgtEl>
                                        <p:attrNameLst>
                                          <p:attrName>ppt_x</p:attrName>
                                        </p:attrNameLst>
                                      </p:cBhvr>
                                      <p:tavLst>
                                        <p:tav tm="0">
                                          <p:val>
                                            <p:strVal val="#ppt_x"/>
                                          </p:val>
                                        </p:tav>
                                        <p:tav tm="100000">
                                          <p:val>
                                            <p:strVal val="#ppt_x"/>
                                          </p:val>
                                        </p:tav>
                                      </p:tavLst>
                                    </p:anim>
                                    <p:anim calcmode="lin" valueType="num">
                                      <p:cBhvr>
                                        <p:cTn id="48" dur="1000" fill="hold"/>
                                        <p:tgtEl>
                                          <p:spTgt spid="57"/>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58"/>
                                        </p:tgtEl>
                                        <p:attrNameLst>
                                          <p:attrName>style.visibility</p:attrName>
                                        </p:attrNameLst>
                                      </p:cBhvr>
                                      <p:to>
                                        <p:strVal val="visible"/>
                                      </p:to>
                                    </p:set>
                                    <p:animEffect transition="in" filter="fade">
                                      <p:cBhvr>
                                        <p:cTn id="51" dur="1000"/>
                                        <p:tgtEl>
                                          <p:spTgt spid="58"/>
                                        </p:tgtEl>
                                      </p:cBhvr>
                                    </p:animEffect>
                                    <p:anim calcmode="lin" valueType="num">
                                      <p:cBhvr>
                                        <p:cTn id="52" dur="1000" fill="hold"/>
                                        <p:tgtEl>
                                          <p:spTgt spid="58"/>
                                        </p:tgtEl>
                                        <p:attrNameLst>
                                          <p:attrName>ppt_x</p:attrName>
                                        </p:attrNameLst>
                                      </p:cBhvr>
                                      <p:tavLst>
                                        <p:tav tm="0">
                                          <p:val>
                                            <p:strVal val="#ppt_x"/>
                                          </p:val>
                                        </p:tav>
                                        <p:tav tm="100000">
                                          <p:val>
                                            <p:strVal val="#ppt_x"/>
                                          </p:val>
                                        </p:tav>
                                      </p:tavLst>
                                    </p:anim>
                                    <p:anim calcmode="lin" valueType="num">
                                      <p:cBhvr>
                                        <p:cTn id="53"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56" grpId="0"/>
      <p:bldP spid="57" grpId="0"/>
      <p:bldP spid="5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76438431-E41B-4ECF-BC85-014AFEC426A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0EB8373-E382-4952-9B74-119BECE92A03}" type="slidenum">
              <a:rPr lang="en-US" altLang="en-US" sz="1200">
                <a:latin typeface="Arial" panose="020B0604020202020204" pitchFamily="34" charset="0"/>
              </a:rPr>
              <a:pPr>
                <a:spcBef>
                  <a:spcPct val="0"/>
                </a:spcBef>
                <a:buFontTx/>
                <a:buNone/>
              </a:pPr>
              <a:t>41</a:t>
            </a:fld>
            <a:endParaRPr lang="en-US" altLang="en-US" sz="1200">
              <a:latin typeface="Arial" panose="020B0604020202020204" pitchFamily="34" charset="0"/>
            </a:endParaRPr>
          </a:p>
        </p:txBody>
      </p:sp>
      <p:sp>
        <p:nvSpPr>
          <p:cNvPr id="38915" name="Rectangle 2">
            <a:extLst>
              <a:ext uri="{FF2B5EF4-FFF2-40B4-BE49-F238E27FC236}">
                <a16:creationId xmlns:a16="http://schemas.microsoft.com/office/drawing/2014/main" id="{13969BF9-D2FC-46FB-96CA-056B667FC84D}"/>
              </a:ext>
            </a:extLst>
          </p:cNvPr>
          <p:cNvSpPr>
            <a:spLocks noGrp="1" noChangeArrowheads="1"/>
          </p:cNvSpPr>
          <p:nvPr>
            <p:ph type="title"/>
          </p:nvPr>
        </p:nvSpPr>
        <p:spPr>
          <a:ln>
            <a:miter lim="800000"/>
            <a:headEnd/>
            <a:tailEnd/>
          </a:ln>
        </p:spPr>
        <p:txBody>
          <a:bodyPr>
            <a:normAutofit fontScale="90000"/>
          </a:bodyPr>
          <a:lstStyle/>
          <a:p>
            <a:pPr>
              <a:defRPr/>
            </a:pPr>
            <a:r>
              <a:rPr lang="en-US" altLang="en-US" sz="3600" dirty="0"/>
              <a:t>Decision Trees - </a:t>
            </a:r>
            <a:r>
              <a:rPr lang="en-US" sz="3600" dirty="0"/>
              <a:t>Sales Promotion Policy Example</a:t>
            </a:r>
            <a:endParaRPr lang="en-US" altLang="en-US" sz="3600" dirty="0"/>
          </a:p>
        </p:txBody>
      </p:sp>
      <p:pic>
        <p:nvPicPr>
          <p:cNvPr id="44036" name="Picture 8" descr="C:\renger\fall06\proj\sad7e\chapter4\CHAP04StudyTool_files\proj4\43F04-39.gif">
            <a:extLst>
              <a:ext uri="{FF2B5EF4-FFF2-40B4-BE49-F238E27FC236}">
                <a16:creationId xmlns:a16="http://schemas.microsoft.com/office/drawing/2014/main" id="{979CF9E9-3F09-4E65-8362-23DF06F29C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752600"/>
            <a:ext cx="6916738" cy="350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7" name="TextBox 1">
            <a:extLst>
              <a:ext uri="{FF2B5EF4-FFF2-40B4-BE49-F238E27FC236}">
                <a16:creationId xmlns:a16="http://schemas.microsoft.com/office/drawing/2014/main" id="{ED3D72A5-21B1-4029-BEBC-C8C3895CB696}"/>
              </a:ext>
            </a:extLst>
          </p:cNvPr>
          <p:cNvSpPr txBox="1">
            <a:spLocks noChangeArrowheads="1"/>
          </p:cNvSpPr>
          <p:nvPr/>
        </p:nvSpPr>
        <p:spPr bwMode="auto">
          <a:xfrm>
            <a:off x="381000" y="5616575"/>
            <a:ext cx="80772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a:latin typeface="Arial" panose="020B0604020202020204" pitchFamily="34" charset="0"/>
              </a:rPr>
              <a:t>This example is based on the same Sales Promotion Policy shown in the decision tables in Figures 5-40 and 5-41 on the previous slides.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Decision Tables and Decision Trees</a:t>
            </a:r>
            <a:br>
              <a:rPr lang="en-US" sz="3200" b="1" dirty="0"/>
            </a:br>
            <a:endParaRPr lang="en-US" sz="3200" b="1" dirty="0"/>
          </a:p>
        </p:txBody>
      </p:sp>
      <p:sp>
        <p:nvSpPr>
          <p:cNvPr id="3" name="Content Placeholder 2"/>
          <p:cNvSpPr>
            <a:spLocks noGrp="1"/>
          </p:cNvSpPr>
          <p:nvPr>
            <p:ph idx="1"/>
          </p:nvPr>
        </p:nvSpPr>
        <p:spPr>
          <a:xfrm>
            <a:off x="381000" y="1447800"/>
            <a:ext cx="8305800" cy="4191917"/>
          </a:xfrm>
        </p:spPr>
        <p:txBody>
          <a:bodyPr/>
          <a:lstStyle/>
          <a:p>
            <a:endParaRPr lang="en-US" sz="2400" dirty="0">
              <a:hlinkClick r:id="rId2"/>
            </a:endParaRPr>
          </a:p>
          <a:p>
            <a:r>
              <a:rPr lang="en-US" sz="2400" dirty="0">
                <a:hlinkClick r:id="rId2"/>
              </a:rPr>
              <a:t>https://www.youtube.com/watch?v=Yl463_pRvbw</a:t>
            </a:r>
            <a:endParaRPr lang="en-US" sz="2400" dirty="0"/>
          </a:p>
          <a:p>
            <a:endParaRPr lang="en-US" dirty="0"/>
          </a:p>
          <a:p>
            <a:pPr lvl="1"/>
            <a:r>
              <a:rPr lang="en-US" sz="2400" dirty="0"/>
              <a:t>Shows how a scenario can be drawn in Decision Table and Decision Tree. </a:t>
            </a:r>
          </a:p>
          <a:p>
            <a:pPr lvl="1"/>
            <a:endParaRPr lang="en-US" sz="2400" dirty="0"/>
          </a:p>
          <a:p>
            <a:pPr lvl="1"/>
            <a:endParaRPr lang="en-US" sz="2400" dirty="0"/>
          </a:p>
          <a:p>
            <a:pPr marL="190500" lvl="1" indent="0">
              <a:buNone/>
            </a:pPr>
            <a:r>
              <a:rPr lang="en-US" sz="2400" b="1" dirty="0"/>
              <a:t>Student Activity:</a:t>
            </a:r>
          </a:p>
          <a:p>
            <a:pPr lvl="1"/>
            <a:r>
              <a:rPr lang="en-US" sz="2400" dirty="0"/>
              <a:t>Pause video at 4:00 minutes. </a:t>
            </a:r>
            <a:br>
              <a:rPr lang="en-US" sz="2400" dirty="0"/>
            </a:br>
            <a:r>
              <a:rPr lang="en-US" sz="2400" dirty="0"/>
              <a:t>Draw the Decision Tree based on the notations on slide 6.</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9200" y="891986"/>
            <a:ext cx="8382000" cy="56411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81523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5" presetClass="path" presetSubtype="0" accel="50000" decel="50000" fill="hold" nodeType="clickEffect">
                                  <p:stCondLst>
                                    <p:cond delay="0"/>
                                  </p:stCondLst>
                                  <p:childTnLst>
                                    <p:animMotion origin="layout" path="M -2.22045E-16 -3.07443E-6 L -0.9 0.00324 " pathEditMode="relative" rAng="0" ptsTypes="AA">
                                      <p:cBhvr>
                                        <p:cTn id="16" dur="2000" fill="hold"/>
                                        <p:tgtEl>
                                          <p:spTgt spid="1026"/>
                                        </p:tgtEl>
                                        <p:attrNameLst>
                                          <p:attrName>ppt_x</p:attrName>
                                          <p:attrName>ppt_y</p:attrName>
                                        </p:attrNameLst>
                                      </p:cBhvr>
                                      <p:rCtr x="-45000" y="162"/>
                                    </p:animMotion>
                                  </p:childTnLst>
                                  <p:subTnLst>
                                    <p:set>
                                      <p:cBhvr override="childStyle">
                                        <p:cTn dur="1" fill="hold" display="0" masterRel="nextClick" afterEffect="1"/>
                                        <p:tgtEl>
                                          <p:spTgt spid="102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t>Compare the different Logic Modelling techniques</a:t>
            </a:r>
            <a:endParaRPr lang="en-US" b="1" dirty="0"/>
          </a:p>
        </p:txBody>
      </p:sp>
      <p:sp>
        <p:nvSpPr>
          <p:cNvPr id="3" name="Content Placeholder 2"/>
          <p:cNvSpPr>
            <a:spLocks noGrp="1"/>
          </p:cNvSpPr>
          <p:nvPr>
            <p:ph idx="1"/>
          </p:nvPr>
        </p:nvSpPr>
        <p:spPr>
          <a:xfrm>
            <a:off x="381000" y="1447800"/>
            <a:ext cx="8610600" cy="978088"/>
          </a:xfrm>
        </p:spPr>
        <p:txBody>
          <a:bodyPr/>
          <a:lstStyle/>
          <a:p>
            <a:r>
              <a:rPr lang="en-US" dirty="0"/>
              <a:t>Now let’s look at how the 3 different Logic Models (Structured English, Decision Table, and Decision Tree) can be used for a scenario.</a:t>
            </a:r>
          </a:p>
        </p:txBody>
      </p:sp>
      <p:sp>
        <p:nvSpPr>
          <p:cNvPr id="4" name="Content Placeholder 2"/>
          <p:cNvSpPr txBox="1">
            <a:spLocks/>
          </p:cNvSpPr>
          <p:nvPr/>
        </p:nvSpPr>
        <p:spPr bwMode="auto">
          <a:xfrm>
            <a:off x="381000" y="2722769"/>
            <a:ext cx="8305800" cy="3373231"/>
          </a:xfrm>
          <a:prstGeom prst="rect">
            <a:avLst/>
          </a:prstGeom>
          <a:solidFill>
            <a:schemeClr val="accent5"/>
          </a:solidFill>
          <a:ln w="38100">
            <a:solidFill>
              <a:srgbClr val="0070C0"/>
            </a:solidFill>
          </a:ln>
          <a:effectLst/>
        </p:spPr>
        <p:txBody>
          <a:bodyPr vert="horz" wrap="square" lIns="91440" tIns="45720" rIns="91440" bIns="45720" numCol="1" anchor="t" anchorCtr="0" compatLnSpc="1">
            <a:prstTxWarp prst="textNoShape">
              <a:avLst/>
            </a:prstTxWarp>
            <a:spAutoFit/>
          </a:bodyPr>
          <a:lstStyle>
            <a:lvl1pPr marL="188913" indent="-188913" algn="l" rtl="0" eaLnBrk="0" fontAlgn="base" hangingPunct="0">
              <a:lnSpc>
                <a:spcPct val="110000"/>
              </a:lnSpc>
              <a:spcBef>
                <a:spcPct val="30000"/>
              </a:spcBef>
              <a:spcAft>
                <a:spcPct val="20000"/>
              </a:spcAft>
              <a:buChar char="•"/>
              <a:defRPr>
                <a:solidFill>
                  <a:srgbClr val="004D75"/>
                </a:solidFill>
                <a:latin typeface="+mn-lt"/>
                <a:ea typeface="+mn-ea"/>
                <a:cs typeface="+mn-cs"/>
              </a:defRPr>
            </a:lvl1pPr>
            <a:lvl2pPr marL="379413" indent="-188913" algn="l" rtl="0" eaLnBrk="0" fontAlgn="base" hangingPunct="0">
              <a:lnSpc>
                <a:spcPct val="90000"/>
              </a:lnSpc>
              <a:spcBef>
                <a:spcPct val="20000"/>
              </a:spcBef>
              <a:spcAft>
                <a:spcPct val="10000"/>
              </a:spcAft>
              <a:buChar char="–"/>
              <a:defRPr sz="1500">
                <a:solidFill>
                  <a:srgbClr val="004D75"/>
                </a:solidFill>
                <a:latin typeface="+mn-lt"/>
              </a:defRPr>
            </a:lvl2pPr>
            <a:lvl3pPr marL="530225" indent="-149225" algn="l" rtl="0" eaLnBrk="0" fontAlgn="base" hangingPunct="0">
              <a:lnSpc>
                <a:spcPct val="90000"/>
              </a:lnSpc>
              <a:spcBef>
                <a:spcPct val="20000"/>
              </a:spcBef>
              <a:spcAft>
                <a:spcPct val="20000"/>
              </a:spcAft>
              <a:buChar char="•"/>
              <a:defRPr sz="1200">
                <a:solidFill>
                  <a:srgbClr val="004D75"/>
                </a:solidFill>
                <a:latin typeface="+mn-lt"/>
              </a:defRPr>
            </a:lvl3pPr>
            <a:lvl4pPr marL="862013" indent="-141288" algn="l" rtl="0" eaLnBrk="0" fontAlgn="base" hangingPunct="0">
              <a:lnSpc>
                <a:spcPct val="90000"/>
              </a:lnSpc>
              <a:spcBef>
                <a:spcPct val="20000"/>
              </a:spcBef>
              <a:spcAft>
                <a:spcPct val="20000"/>
              </a:spcAft>
              <a:buChar char="–"/>
              <a:defRPr sz="1200">
                <a:solidFill>
                  <a:srgbClr val="004D75"/>
                </a:solidFill>
                <a:latin typeface="+mn-lt"/>
              </a:defRPr>
            </a:lvl4pPr>
            <a:lvl5pPr marL="1235075" indent="-182563" algn="l" rtl="0" eaLnBrk="0" fontAlgn="base" hangingPunct="0">
              <a:lnSpc>
                <a:spcPct val="90000"/>
              </a:lnSpc>
              <a:spcBef>
                <a:spcPct val="20000"/>
              </a:spcBef>
              <a:spcAft>
                <a:spcPct val="20000"/>
              </a:spcAft>
              <a:buChar char="»"/>
              <a:defRPr sz="1200">
                <a:solidFill>
                  <a:srgbClr val="004D75"/>
                </a:solidFill>
                <a:latin typeface="+mn-lt"/>
              </a:defRPr>
            </a:lvl5pPr>
            <a:lvl6pPr marL="1692275" indent="-182563" algn="l" rtl="0" fontAlgn="base">
              <a:lnSpc>
                <a:spcPct val="90000"/>
              </a:lnSpc>
              <a:spcBef>
                <a:spcPct val="20000"/>
              </a:spcBef>
              <a:spcAft>
                <a:spcPct val="20000"/>
              </a:spcAft>
              <a:buChar char="»"/>
              <a:defRPr sz="1200">
                <a:solidFill>
                  <a:srgbClr val="004D75"/>
                </a:solidFill>
                <a:latin typeface="+mn-lt"/>
              </a:defRPr>
            </a:lvl6pPr>
            <a:lvl7pPr marL="2149475" indent="-182563" algn="l" rtl="0" fontAlgn="base">
              <a:lnSpc>
                <a:spcPct val="90000"/>
              </a:lnSpc>
              <a:spcBef>
                <a:spcPct val="20000"/>
              </a:spcBef>
              <a:spcAft>
                <a:spcPct val="20000"/>
              </a:spcAft>
              <a:buChar char="»"/>
              <a:defRPr sz="1200">
                <a:solidFill>
                  <a:srgbClr val="004D75"/>
                </a:solidFill>
                <a:latin typeface="+mn-lt"/>
              </a:defRPr>
            </a:lvl7pPr>
            <a:lvl8pPr marL="2606675" indent="-182563" algn="l" rtl="0" fontAlgn="base">
              <a:lnSpc>
                <a:spcPct val="90000"/>
              </a:lnSpc>
              <a:spcBef>
                <a:spcPct val="20000"/>
              </a:spcBef>
              <a:spcAft>
                <a:spcPct val="20000"/>
              </a:spcAft>
              <a:buChar char="»"/>
              <a:defRPr sz="1200">
                <a:solidFill>
                  <a:srgbClr val="004D75"/>
                </a:solidFill>
                <a:latin typeface="+mn-lt"/>
              </a:defRPr>
            </a:lvl8pPr>
            <a:lvl9pPr marL="3063875" indent="-182563" algn="l" rtl="0" fontAlgn="base">
              <a:lnSpc>
                <a:spcPct val="90000"/>
              </a:lnSpc>
              <a:spcBef>
                <a:spcPct val="20000"/>
              </a:spcBef>
              <a:spcAft>
                <a:spcPct val="20000"/>
              </a:spcAft>
              <a:buChar char="»"/>
              <a:defRPr sz="1200">
                <a:solidFill>
                  <a:srgbClr val="004D75"/>
                </a:solidFill>
                <a:latin typeface="+mn-lt"/>
              </a:defRPr>
            </a:lvl9pPr>
          </a:lstStyle>
          <a:p>
            <a:pPr marL="0" indent="0">
              <a:buNone/>
            </a:pPr>
            <a:r>
              <a:rPr lang="en-US" sz="2400" b="1" u="sng" kern="0" dirty="0"/>
              <a:t>Scenario:</a:t>
            </a:r>
          </a:p>
          <a:p>
            <a:pPr marL="0" indent="0">
              <a:buNone/>
            </a:pPr>
            <a:r>
              <a:rPr lang="en-US" sz="2000" kern="0" dirty="0"/>
              <a:t>Employees can either be a Full Time employee or a Part Time employee. For Full Time employees, the company will pay the base salary. For Part Time employees, they are required to work at least 40 hours per month. If they worked less than 40 hours, then the company will pay hourly wage and produce absence report. If they worked 40 hours, then the company will pay hourly wage. If they worked more than 40 hours, then the company will pay hourly wage and pay overtime wage.</a:t>
            </a:r>
          </a:p>
        </p:txBody>
      </p:sp>
      <p:sp>
        <p:nvSpPr>
          <p:cNvPr id="5" name="Content Placeholder 2"/>
          <p:cNvSpPr txBox="1">
            <a:spLocks/>
          </p:cNvSpPr>
          <p:nvPr/>
        </p:nvSpPr>
        <p:spPr bwMode="auto">
          <a:xfrm>
            <a:off x="152400" y="6108512"/>
            <a:ext cx="899160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lvl1pPr marL="188913" indent="-188913" algn="l" rtl="0" eaLnBrk="0" fontAlgn="base" hangingPunct="0">
              <a:lnSpc>
                <a:spcPct val="110000"/>
              </a:lnSpc>
              <a:spcBef>
                <a:spcPct val="30000"/>
              </a:spcBef>
              <a:spcAft>
                <a:spcPct val="20000"/>
              </a:spcAft>
              <a:buChar char="•"/>
              <a:defRPr>
                <a:solidFill>
                  <a:srgbClr val="004D75"/>
                </a:solidFill>
                <a:latin typeface="+mn-lt"/>
                <a:ea typeface="+mn-ea"/>
                <a:cs typeface="+mn-cs"/>
              </a:defRPr>
            </a:lvl1pPr>
            <a:lvl2pPr marL="379413" indent="-188913" algn="l" rtl="0" eaLnBrk="0" fontAlgn="base" hangingPunct="0">
              <a:lnSpc>
                <a:spcPct val="90000"/>
              </a:lnSpc>
              <a:spcBef>
                <a:spcPct val="20000"/>
              </a:spcBef>
              <a:spcAft>
                <a:spcPct val="10000"/>
              </a:spcAft>
              <a:buChar char="–"/>
              <a:defRPr sz="1500">
                <a:solidFill>
                  <a:srgbClr val="004D75"/>
                </a:solidFill>
                <a:latin typeface="+mn-lt"/>
              </a:defRPr>
            </a:lvl2pPr>
            <a:lvl3pPr marL="530225" indent="-149225" algn="l" rtl="0" eaLnBrk="0" fontAlgn="base" hangingPunct="0">
              <a:lnSpc>
                <a:spcPct val="90000"/>
              </a:lnSpc>
              <a:spcBef>
                <a:spcPct val="20000"/>
              </a:spcBef>
              <a:spcAft>
                <a:spcPct val="20000"/>
              </a:spcAft>
              <a:buChar char="•"/>
              <a:defRPr sz="1200">
                <a:solidFill>
                  <a:srgbClr val="004D75"/>
                </a:solidFill>
                <a:latin typeface="+mn-lt"/>
              </a:defRPr>
            </a:lvl3pPr>
            <a:lvl4pPr marL="862013" indent="-141288" algn="l" rtl="0" eaLnBrk="0" fontAlgn="base" hangingPunct="0">
              <a:lnSpc>
                <a:spcPct val="90000"/>
              </a:lnSpc>
              <a:spcBef>
                <a:spcPct val="20000"/>
              </a:spcBef>
              <a:spcAft>
                <a:spcPct val="20000"/>
              </a:spcAft>
              <a:buChar char="–"/>
              <a:defRPr sz="1200">
                <a:solidFill>
                  <a:srgbClr val="004D75"/>
                </a:solidFill>
                <a:latin typeface="+mn-lt"/>
              </a:defRPr>
            </a:lvl4pPr>
            <a:lvl5pPr marL="1235075" indent="-182563" algn="l" rtl="0" eaLnBrk="0" fontAlgn="base" hangingPunct="0">
              <a:lnSpc>
                <a:spcPct val="90000"/>
              </a:lnSpc>
              <a:spcBef>
                <a:spcPct val="20000"/>
              </a:spcBef>
              <a:spcAft>
                <a:spcPct val="20000"/>
              </a:spcAft>
              <a:buChar char="»"/>
              <a:defRPr sz="1200">
                <a:solidFill>
                  <a:srgbClr val="004D75"/>
                </a:solidFill>
                <a:latin typeface="+mn-lt"/>
              </a:defRPr>
            </a:lvl5pPr>
            <a:lvl6pPr marL="1692275" indent="-182563" algn="l" rtl="0" fontAlgn="base">
              <a:lnSpc>
                <a:spcPct val="90000"/>
              </a:lnSpc>
              <a:spcBef>
                <a:spcPct val="20000"/>
              </a:spcBef>
              <a:spcAft>
                <a:spcPct val="20000"/>
              </a:spcAft>
              <a:buChar char="»"/>
              <a:defRPr sz="1200">
                <a:solidFill>
                  <a:srgbClr val="004D75"/>
                </a:solidFill>
                <a:latin typeface="+mn-lt"/>
              </a:defRPr>
            </a:lvl6pPr>
            <a:lvl7pPr marL="2149475" indent="-182563" algn="l" rtl="0" fontAlgn="base">
              <a:lnSpc>
                <a:spcPct val="90000"/>
              </a:lnSpc>
              <a:spcBef>
                <a:spcPct val="20000"/>
              </a:spcBef>
              <a:spcAft>
                <a:spcPct val="20000"/>
              </a:spcAft>
              <a:buChar char="»"/>
              <a:defRPr sz="1200">
                <a:solidFill>
                  <a:srgbClr val="004D75"/>
                </a:solidFill>
                <a:latin typeface="+mn-lt"/>
              </a:defRPr>
            </a:lvl7pPr>
            <a:lvl8pPr marL="2606675" indent="-182563" algn="l" rtl="0" fontAlgn="base">
              <a:lnSpc>
                <a:spcPct val="90000"/>
              </a:lnSpc>
              <a:spcBef>
                <a:spcPct val="20000"/>
              </a:spcBef>
              <a:spcAft>
                <a:spcPct val="20000"/>
              </a:spcAft>
              <a:buChar char="»"/>
              <a:defRPr sz="1200">
                <a:solidFill>
                  <a:srgbClr val="004D75"/>
                </a:solidFill>
                <a:latin typeface="+mn-lt"/>
              </a:defRPr>
            </a:lvl8pPr>
            <a:lvl9pPr marL="3063875" indent="-182563" algn="l" rtl="0" fontAlgn="base">
              <a:lnSpc>
                <a:spcPct val="90000"/>
              </a:lnSpc>
              <a:spcBef>
                <a:spcPct val="20000"/>
              </a:spcBef>
              <a:spcAft>
                <a:spcPct val="20000"/>
              </a:spcAft>
              <a:buChar char="»"/>
              <a:defRPr sz="1200">
                <a:solidFill>
                  <a:srgbClr val="004D75"/>
                </a:solidFill>
                <a:latin typeface="+mn-lt"/>
              </a:defRPr>
            </a:lvl9pPr>
          </a:lstStyle>
          <a:p>
            <a:r>
              <a:rPr lang="en-US" b="1" kern="0" dirty="0">
                <a:solidFill>
                  <a:srgbClr val="00B050"/>
                </a:solidFill>
              </a:rPr>
              <a:t>Construct a Structured English, Decision Table, and Decision Tree for the above scenario (without looking at the answers).</a:t>
            </a:r>
          </a:p>
        </p:txBody>
      </p:sp>
    </p:spTree>
    <p:extLst>
      <p:ext uri="{BB962C8B-B14F-4D97-AF65-F5344CB8AC3E}">
        <p14:creationId xmlns:p14="http://schemas.microsoft.com/office/powerpoint/2010/main" val="3562696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Slide Number Placeholder 5"/>
          <p:cNvSpPr>
            <a:spLocks noGrp="1"/>
          </p:cNvSpPr>
          <p:nvPr>
            <p:ph type="sldNum" sz="quarter" idx="4294967295"/>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30000"/>
              </a:spcBef>
              <a:spcAft>
                <a:spcPct val="20000"/>
              </a:spcAft>
              <a:buChar char="•"/>
              <a:defRPr>
                <a:solidFill>
                  <a:srgbClr val="004D75"/>
                </a:solidFill>
                <a:latin typeface="Verdana" pitchFamily="34" charset="0"/>
              </a:defRPr>
            </a:lvl1pPr>
            <a:lvl2pPr marL="742950" indent="-285750">
              <a:lnSpc>
                <a:spcPct val="90000"/>
              </a:lnSpc>
              <a:spcBef>
                <a:spcPct val="20000"/>
              </a:spcBef>
              <a:spcAft>
                <a:spcPct val="10000"/>
              </a:spcAft>
              <a:buChar char="–"/>
              <a:defRPr sz="1500">
                <a:solidFill>
                  <a:srgbClr val="004D75"/>
                </a:solidFill>
                <a:latin typeface="Verdana" pitchFamily="34" charset="0"/>
              </a:defRPr>
            </a:lvl2pPr>
            <a:lvl3pPr marL="1143000" indent="-228600">
              <a:lnSpc>
                <a:spcPct val="90000"/>
              </a:lnSpc>
              <a:spcBef>
                <a:spcPct val="20000"/>
              </a:spcBef>
              <a:spcAft>
                <a:spcPct val="20000"/>
              </a:spcAft>
              <a:buChar char="•"/>
              <a:defRPr sz="1200">
                <a:solidFill>
                  <a:srgbClr val="004D75"/>
                </a:solidFill>
                <a:latin typeface="Verdana" pitchFamily="34" charset="0"/>
              </a:defRPr>
            </a:lvl3pPr>
            <a:lvl4pPr marL="1600200" indent="-228600">
              <a:lnSpc>
                <a:spcPct val="90000"/>
              </a:lnSpc>
              <a:spcBef>
                <a:spcPct val="20000"/>
              </a:spcBef>
              <a:spcAft>
                <a:spcPct val="20000"/>
              </a:spcAft>
              <a:buChar char="–"/>
              <a:defRPr sz="1200">
                <a:solidFill>
                  <a:srgbClr val="004D75"/>
                </a:solidFill>
                <a:latin typeface="Verdana" pitchFamily="34" charset="0"/>
              </a:defRPr>
            </a:lvl4pPr>
            <a:lvl5pPr marL="2057400" indent="-228600">
              <a:lnSpc>
                <a:spcPct val="90000"/>
              </a:lnSpc>
              <a:spcBef>
                <a:spcPct val="20000"/>
              </a:spcBef>
              <a:spcAft>
                <a:spcPct val="20000"/>
              </a:spcAft>
              <a:buChar char="»"/>
              <a:defRPr sz="1200">
                <a:solidFill>
                  <a:srgbClr val="004D75"/>
                </a:solidFill>
                <a:latin typeface="Verdana"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itchFamily="34" charset="0"/>
              </a:defRPr>
            </a:lvl9pPr>
          </a:lstStyle>
          <a:p>
            <a:pPr fontAlgn="base">
              <a:lnSpc>
                <a:spcPct val="100000"/>
              </a:lnSpc>
              <a:spcBef>
                <a:spcPct val="0"/>
              </a:spcBef>
              <a:spcAft>
                <a:spcPct val="0"/>
              </a:spcAft>
              <a:buFontTx/>
              <a:buNone/>
            </a:pPr>
            <a:fld id="{DD8B835D-85C2-40BB-863C-6F6615D4A28B}" type="slidenum">
              <a:rPr lang="en-US" altLang="en-US" sz="1000">
                <a:solidFill>
                  <a:srgbClr val="000000"/>
                </a:solidFill>
                <a:latin typeface="Arial" charset="0"/>
                <a:cs typeface="Arial" charset="0"/>
              </a:rPr>
              <a:pPr fontAlgn="base">
                <a:lnSpc>
                  <a:spcPct val="100000"/>
                </a:lnSpc>
                <a:spcBef>
                  <a:spcPct val="0"/>
                </a:spcBef>
                <a:spcAft>
                  <a:spcPct val="0"/>
                </a:spcAft>
                <a:buFontTx/>
                <a:buNone/>
              </a:pPr>
              <a:t>44</a:t>
            </a:fld>
            <a:endParaRPr lang="en-US" altLang="en-US" sz="1000">
              <a:solidFill>
                <a:srgbClr val="000000"/>
              </a:solidFill>
              <a:latin typeface="Arial" charset="0"/>
              <a:cs typeface="Arial" charset="0"/>
            </a:endParaRPr>
          </a:p>
        </p:txBody>
      </p:sp>
      <p:sp>
        <p:nvSpPr>
          <p:cNvPr id="50180" name="Rectangle 2"/>
          <p:cNvSpPr>
            <a:spLocks noGrp="1" noChangeArrowheads="1"/>
          </p:cNvSpPr>
          <p:nvPr>
            <p:ph type="title"/>
          </p:nvPr>
        </p:nvSpPr>
        <p:spPr/>
        <p:txBody>
          <a:bodyPr/>
          <a:lstStyle/>
          <a:p>
            <a:pPr eaLnBrk="1" hangingPunct="1"/>
            <a:r>
              <a:rPr lang="en-GB" altLang="en-US" b="1"/>
              <a:t>Example - SE Version (Salary)</a:t>
            </a:r>
          </a:p>
        </p:txBody>
      </p:sp>
      <p:sp>
        <p:nvSpPr>
          <p:cNvPr id="463879" name="Text Box 7"/>
          <p:cNvSpPr txBox="1">
            <a:spLocks noChangeArrowheads="1"/>
          </p:cNvSpPr>
          <p:nvPr/>
        </p:nvSpPr>
        <p:spPr bwMode="auto">
          <a:xfrm>
            <a:off x="457200" y="1641931"/>
            <a:ext cx="8229600" cy="5139869"/>
          </a:xfrm>
          <a:prstGeom prst="rect">
            <a:avLst/>
          </a:prstGeom>
          <a:noFill/>
          <a:ln w="12700" cap="sq">
            <a:solidFill>
              <a:srgbClr val="0070C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lnSpc>
                <a:spcPct val="110000"/>
              </a:lnSpc>
              <a:spcBef>
                <a:spcPct val="30000"/>
              </a:spcBef>
              <a:spcAft>
                <a:spcPct val="20000"/>
              </a:spcAft>
              <a:buChar char="•"/>
              <a:defRPr>
                <a:solidFill>
                  <a:srgbClr val="004D75"/>
                </a:solidFill>
                <a:latin typeface="Verdana" pitchFamily="34" charset="0"/>
              </a:defRPr>
            </a:lvl1pPr>
            <a:lvl2pPr marL="742950" indent="-285750">
              <a:lnSpc>
                <a:spcPct val="90000"/>
              </a:lnSpc>
              <a:spcBef>
                <a:spcPct val="20000"/>
              </a:spcBef>
              <a:spcAft>
                <a:spcPct val="10000"/>
              </a:spcAft>
              <a:buChar char="–"/>
              <a:defRPr sz="1500">
                <a:solidFill>
                  <a:srgbClr val="004D75"/>
                </a:solidFill>
                <a:latin typeface="Verdana" pitchFamily="34" charset="0"/>
              </a:defRPr>
            </a:lvl2pPr>
            <a:lvl3pPr marL="1143000" indent="-228600">
              <a:lnSpc>
                <a:spcPct val="90000"/>
              </a:lnSpc>
              <a:spcBef>
                <a:spcPct val="20000"/>
              </a:spcBef>
              <a:spcAft>
                <a:spcPct val="20000"/>
              </a:spcAft>
              <a:buChar char="•"/>
              <a:defRPr sz="1200">
                <a:solidFill>
                  <a:srgbClr val="004D75"/>
                </a:solidFill>
                <a:latin typeface="Verdana" pitchFamily="34" charset="0"/>
              </a:defRPr>
            </a:lvl3pPr>
            <a:lvl4pPr marL="1600200" indent="-228600">
              <a:lnSpc>
                <a:spcPct val="90000"/>
              </a:lnSpc>
              <a:spcBef>
                <a:spcPct val="20000"/>
              </a:spcBef>
              <a:spcAft>
                <a:spcPct val="20000"/>
              </a:spcAft>
              <a:buChar char="–"/>
              <a:defRPr sz="1200">
                <a:solidFill>
                  <a:srgbClr val="004D75"/>
                </a:solidFill>
                <a:latin typeface="Verdana" pitchFamily="34" charset="0"/>
              </a:defRPr>
            </a:lvl4pPr>
            <a:lvl5pPr marL="2057400" indent="-228600">
              <a:lnSpc>
                <a:spcPct val="90000"/>
              </a:lnSpc>
              <a:spcBef>
                <a:spcPct val="20000"/>
              </a:spcBef>
              <a:spcAft>
                <a:spcPct val="20000"/>
              </a:spcAft>
              <a:buChar char="»"/>
              <a:defRPr sz="1200">
                <a:solidFill>
                  <a:srgbClr val="004D75"/>
                </a:solidFill>
                <a:latin typeface="Verdana"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itchFamily="34" charset="0"/>
              </a:defRPr>
            </a:lvl9pPr>
          </a:lstStyle>
          <a:p>
            <a:pPr eaLnBrk="0" fontAlgn="base" hangingPunct="0">
              <a:lnSpc>
                <a:spcPct val="80000"/>
              </a:lnSpc>
              <a:spcBef>
                <a:spcPct val="50000"/>
              </a:spcBef>
              <a:spcAft>
                <a:spcPct val="0"/>
              </a:spcAft>
              <a:buFontTx/>
              <a:buNone/>
            </a:pPr>
            <a:r>
              <a:rPr lang="en-GB" altLang="en-US" sz="2000" b="1" i="1" dirty="0">
                <a:solidFill>
                  <a:srgbClr val="000000"/>
                </a:solidFill>
                <a:latin typeface="Times New Roman" pitchFamily="18" charset="0"/>
                <a:cs typeface="Arial" charset="0"/>
              </a:rPr>
              <a:t>If </a:t>
            </a:r>
            <a:r>
              <a:rPr lang="en-GB" altLang="en-US" sz="2000" i="1" dirty="0">
                <a:solidFill>
                  <a:srgbClr val="000000"/>
                </a:solidFill>
                <a:latin typeface="Times New Roman" pitchFamily="18" charset="0"/>
                <a:cs typeface="Arial" charset="0"/>
              </a:rPr>
              <a:t>Full Time employee </a:t>
            </a:r>
            <a:r>
              <a:rPr lang="en-GB" altLang="en-US" sz="2000" b="1" i="1" dirty="0">
                <a:solidFill>
                  <a:srgbClr val="000000"/>
                </a:solidFill>
                <a:latin typeface="Times New Roman" pitchFamily="18" charset="0"/>
                <a:cs typeface="Arial" charset="0"/>
              </a:rPr>
              <a:t>then</a:t>
            </a:r>
            <a:r>
              <a:rPr lang="en-GB" altLang="en-US" sz="2000" i="1" dirty="0">
                <a:solidFill>
                  <a:srgbClr val="000000"/>
                </a:solidFill>
                <a:latin typeface="Times New Roman" pitchFamily="18" charset="0"/>
                <a:cs typeface="Arial" charset="0"/>
              </a:rPr>
              <a:t> </a:t>
            </a:r>
          </a:p>
          <a:p>
            <a:pPr eaLnBrk="0" fontAlgn="base" hangingPunct="0">
              <a:lnSpc>
                <a:spcPct val="80000"/>
              </a:lnSpc>
              <a:spcBef>
                <a:spcPct val="50000"/>
              </a:spcBef>
              <a:spcAft>
                <a:spcPct val="0"/>
              </a:spcAft>
              <a:buFontTx/>
              <a:buNone/>
            </a:pPr>
            <a:r>
              <a:rPr lang="en-GB" altLang="en-US" sz="2000" i="1" dirty="0">
                <a:solidFill>
                  <a:srgbClr val="000000"/>
                </a:solidFill>
                <a:latin typeface="Times New Roman" pitchFamily="18" charset="0"/>
                <a:cs typeface="Arial" charset="0"/>
              </a:rPr>
              <a:t>      Pay base salary</a:t>
            </a:r>
          </a:p>
          <a:p>
            <a:pPr eaLnBrk="0" fontAlgn="base" hangingPunct="0">
              <a:lnSpc>
                <a:spcPct val="80000"/>
              </a:lnSpc>
              <a:spcBef>
                <a:spcPct val="50000"/>
              </a:spcBef>
              <a:spcAft>
                <a:spcPct val="0"/>
              </a:spcAft>
              <a:buFontTx/>
              <a:buNone/>
            </a:pPr>
            <a:r>
              <a:rPr lang="en-GB" altLang="en-US" sz="2000" b="1" i="1" dirty="0">
                <a:solidFill>
                  <a:srgbClr val="000000"/>
                </a:solidFill>
                <a:latin typeface="Times New Roman" pitchFamily="18" charset="0"/>
                <a:cs typeface="Arial" charset="0"/>
              </a:rPr>
              <a:t>else</a:t>
            </a:r>
            <a:endParaRPr lang="en-GB" altLang="en-US" sz="2000" i="1" dirty="0">
              <a:solidFill>
                <a:srgbClr val="000000"/>
              </a:solidFill>
              <a:latin typeface="Times New Roman" pitchFamily="18" charset="0"/>
              <a:cs typeface="Arial" charset="0"/>
            </a:endParaRPr>
          </a:p>
          <a:p>
            <a:pPr eaLnBrk="0" fontAlgn="base" hangingPunct="0">
              <a:lnSpc>
                <a:spcPct val="80000"/>
              </a:lnSpc>
              <a:spcBef>
                <a:spcPct val="50000"/>
              </a:spcBef>
              <a:spcAft>
                <a:spcPct val="0"/>
              </a:spcAft>
              <a:buFontTx/>
              <a:buNone/>
            </a:pPr>
            <a:r>
              <a:rPr lang="en-GB" altLang="en-US" sz="2000" b="1" i="1" dirty="0">
                <a:solidFill>
                  <a:srgbClr val="000000"/>
                </a:solidFill>
                <a:latin typeface="Times New Roman" pitchFamily="18" charset="0"/>
                <a:cs typeface="Arial" charset="0"/>
              </a:rPr>
              <a:t>     If</a:t>
            </a:r>
            <a:r>
              <a:rPr lang="en-GB" altLang="en-US" sz="2000" i="1" dirty="0">
                <a:solidFill>
                  <a:srgbClr val="000000"/>
                </a:solidFill>
                <a:latin typeface="Times New Roman" pitchFamily="18" charset="0"/>
                <a:cs typeface="Arial" charset="0"/>
              </a:rPr>
              <a:t> Hours worked &lt; 40 </a:t>
            </a:r>
            <a:r>
              <a:rPr lang="en-GB" altLang="en-US" sz="2000" b="1" i="1" dirty="0">
                <a:solidFill>
                  <a:srgbClr val="000000"/>
                </a:solidFill>
                <a:latin typeface="Times New Roman" pitchFamily="18" charset="0"/>
                <a:cs typeface="Arial" charset="0"/>
              </a:rPr>
              <a:t>then</a:t>
            </a:r>
            <a:r>
              <a:rPr lang="en-GB" altLang="en-US" sz="2000" i="1" dirty="0">
                <a:solidFill>
                  <a:srgbClr val="000000"/>
                </a:solidFill>
                <a:latin typeface="Times New Roman" pitchFamily="18" charset="0"/>
                <a:cs typeface="Arial" charset="0"/>
              </a:rPr>
              <a:t> </a:t>
            </a:r>
          </a:p>
          <a:p>
            <a:pPr eaLnBrk="0" fontAlgn="base" hangingPunct="0">
              <a:lnSpc>
                <a:spcPct val="80000"/>
              </a:lnSpc>
              <a:spcBef>
                <a:spcPct val="50000"/>
              </a:spcBef>
              <a:spcAft>
                <a:spcPct val="0"/>
              </a:spcAft>
              <a:buFontTx/>
              <a:buNone/>
            </a:pPr>
            <a:r>
              <a:rPr lang="en-GB" altLang="en-US" sz="2000" i="1" dirty="0">
                <a:solidFill>
                  <a:srgbClr val="000000"/>
                </a:solidFill>
                <a:latin typeface="Times New Roman" pitchFamily="18" charset="0"/>
                <a:cs typeface="Arial" charset="0"/>
              </a:rPr>
              <a:t>	Pay hourly wage</a:t>
            </a:r>
          </a:p>
          <a:p>
            <a:pPr eaLnBrk="0" fontAlgn="base" hangingPunct="0">
              <a:lnSpc>
                <a:spcPct val="80000"/>
              </a:lnSpc>
              <a:spcBef>
                <a:spcPct val="50000"/>
              </a:spcBef>
              <a:spcAft>
                <a:spcPct val="0"/>
              </a:spcAft>
              <a:buFontTx/>
              <a:buNone/>
            </a:pPr>
            <a:r>
              <a:rPr lang="en-GB" altLang="en-US" sz="2000" i="1" dirty="0">
                <a:solidFill>
                  <a:srgbClr val="000000"/>
                </a:solidFill>
                <a:latin typeface="Times New Roman" pitchFamily="18" charset="0"/>
                <a:cs typeface="Arial" charset="0"/>
              </a:rPr>
              <a:t>      	Absence report</a:t>
            </a:r>
          </a:p>
          <a:p>
            <a:pPr eaLnBrk="0" fontAlgn="base" hangingPunct="0">
              <a:lnSpc>
                <a:spcPct val="80000"/>
              </a:lnSpc>
              <a:spcBef>
                <a:spcPct val="50000"/>
              </a:spcBef>
              <a:spcAft>
                <a:spcPct val="0"/>
              </a:spcAft>
              <a:buFontTx/>
              <a:buNone/>
            </a:pPr>
            <a:r>
              <a:rPr lang="en-GB" altLang="en-US" sz="2000" i="1" dirty="0">
                <a:solidFill>
                  <a:srgbClr val="000000"/>
                </a:solidFill>
                <a:latin typeface="Times New Roman" pitchFamily="18" charset="0"/>
                <a:cs typeface="Arial" charset="0"/>
              </a:rPr>
              <a:t>    </a:t>
            </a:r>
            <a:r>
              <a:rPr lang="en-GB" altLang="en-US" sz="2000" b="1" i="1" dirty="0">
                <a:solidFill>
                  <a:srgbClr val="000000"/>
                </a:solidFill>
                <a:latin typeface="Times New Roman" pitchFamily="18" charset="0"/>
                <a:cs typeface="Arial" charset="0"/>
              </a:rPr>
              <a:t>else</a:t>
            </a:r>
            <a:r>
              <a:rPr lang="en-GB" altLang="en-US" sz="2000" i="1" dirty="0">
                <a:solidFill>
                  <a:srgbClr val="000000"/>
                </a:solidFill>
                <a:latin typeface="Times New Roman" pitchFamily="18" charset="0"/>
                <a:cs typeface="Arial" charset="0"/>
              </a:rPr>
              <a:t> </a:t>
            </a:r>
          </a:p>
          <a:p>
            <a:pPr eaLnBrk="0" fontAlgn="base" hangingPunct="0">
              <a:lnSpc>
                <a:spcPct val="80000"/>
              </a:lnSpc>
              <a:spcBef>
                <a:spcPct val="50000"/>
              </a:spcBef>
              <a:spcAft>
                <a:spcPct val="0"/>
              </a:spcAft>
              <a:buFontTx/>
              <a:buNone/>
            </a:pPr>
            <a:r>
              <a:rPr lang="en-GB" altLang="en-US" sz="2000" b="1" i="1" dirty="0">
                <a:solidFill>
                  <a:srgbClr val="000000"/>
                </a:solidFill>
                <a:latin typeface="Times New Roman" pitchFamily="18" charset="0"/>
                <a:cs typeface="Arial" charset="0"/>
              </a:rPr>
              <a:t>        If</a:t>
            </a:r>
            <a:r>
              <a:rPr lang="en-GB" altLang="en-US" sz="2000" i="1" dirty="0">
                <a:solidFill>
                  <a:srgbClr val="000000"/>
                </a:solidFill>
                <a:latin typeface="Times New Roman" pitchFamily="18" charset="0"/>
                <a:cs typeface="Arial" charset="0"/>
              </a:rPr>
              <a:t> Hours worked =40 </a:t>
            </a:r>
            <a:r>
              <a:rPr lang="en-GB" altLang="en-US" sz="2000" b="1" i="1" dirty="0">
                <a:solidFill>
                  <a:srgbClr val="000000"/>
                </a:solidFill>
                <a:latin typeface="Times New Roman" pitchFamily="18" charset="0"/>
                <a:cs typeface="Arial" charset="0"/>
              </a:rPr>
              <a:t>then</a:t>
            </a:r>
            <a:r>
              <a:rPr lang="en-GB" altLang="en-US" sz="2000" i="1" dirty="0">
                <a:solidFill>
                  <a:srgbClr val="000000"/>
                </a:solidFill>
                <a:latin typeface="Times New Roman" pitchFamily="18" charset="0"/>
                <a:cs typeface="Arial" charset="0"/>
              </a:rPr>
              <a:t> </a:t>
            </a:r>
          </a:p>
          <a:p>
            <a:pPr eaLnBrk="0" fontAlgn="base" hangingPunct="0">
              <a:lnSpc>
                <a:spcPct val="80000"/>
              </a:lnSpc>
              <a:spcBef>
                <a:spcPct val="50000"/>
              </a:spcBef>
              <a:spcAft>
                <a:spcPct val="0"/>
              </a:spcAft>
              <a:buFontTx/>
              <a:buNone/>
            </a:pPr>
            <a:r>
              <a:rPr lang="en-GB" altLang="en-US" sz="2000" i="1" dirty="0">
                <a:solidFill>
                  <a:srgbClr val="000000"/>
                </a:solidFill>
                <a:latin typeface="Times New Roman" pitchFamily="18" charset="0"/>
                <a:cs typeface="Arial" charset="0"/>
              </a:rPr>
              <a:t>	Pay hourly wage</a:t>
            </a:r>
          </a:p>
          <a:p>
            <a:pPr eaLnBrk="0" fontAlgn="base" hangingPunct="0">
              <a:lnSpc>
                <a:spcPct val="80000"/>
              </a:lnSpc>
              <a:spcBef>
                <a:spcPct val="50000"/>
              </a:spcBef>
              <a:spcAft>
                <a:spcPct val="0"/>
              </a:spcAft>
              <a:buFontTx/>
              <a:buNone/>
            </a:pPr>
            <a:r>
              <a:rPr lang="en-GB" altLang="en-US" sz="2000" i="1" dirty="0">
                <a:solidFill>
                  <a:srgbClr val="000000"/>
                </a:solidFill>
                <a:latin typeface="Times New Roman" pitchFamily="18" charset="0"/>
                <a:cs typeface="Arial" charset="0"/>
              </a:rPr>
              <a:t>        </a:t>
            </a:r>
            <a:r>
              <a:rPr lang="en-GB" altLang="en-US" sz="2000" b="1" i="1" dirty="0">
                <a:solidFill>
                  <a:srgbClr val="000000"/>
                </a:solidFill>
                <a:latin typeface="Times New Roman" pitchFamily="18" charset="0"/>
                <a:cs typeface="Arial" charset="0"/>
              </a:rPr>
              <a:t>else</a:t>
            </a:r>
            <a:r>
              <a:rPr lang="en-GB" altLang="en-US" sz="2000" i="1" dirty="0">
                <a:solidFill>
                  <a:srgbClr val="000000"/>
                </a:solidFill>
                <a:latin typeface="Times New Roman" pitchFamily="18" charset="0"/>
                <a:cs typeface="Arial" charset="0"/>
              </a:rPr>
              <a:t> </a:t>
            </a:r>
          </a:p>
          <a:p>
            <a:pPr eaLnBrk="0" fontAlgn="base" hangingPunct="0">
              <a:lnSpc>
                <a:spcPct val="80000"/>
              </a:lnSpc>
              <a:spcBef>
                <a:spcPct val="50000"/>
              </a:spcBef>
              <a:spcAft>
                <a:spcPct val="0"/>
              </a:spcAft>
              <a:buFontTx/>
              <a:buNone/>
            </a:pPr>
            <a:r>
              <a:rPr lang="en-GB" altLang="en-US" sz="2000" i="1" dirty="0">
                <a:solidFill>
                  <a:srgbClr val="000000"/>
                </a:solidFill>
                <a:latin typeface="Times New Roman" pitchFamily="18" charset="0"/>
                <a:cs typeface="Arial" charset="0"/>
              </a:rPr>
              <a:t>           	Pay hourly wage</a:t>
            </a:r>
          </a:p>
          <a:p>
            <a:pPr eaLnBrk="0" fontAlgn="base" hangingPunct="0">
              <a:lnSpc>
                <a:spcPct val="80000"/>
              </a:lnSpc>
              <a:spcBef>
                <a:spcPct val="50000"/>
              </a:spcBef>
              <a:spcAft>
                <a:spcPct val="0"/>
              </a:spcAft>
              <a:buFontTx/>
              <a:buNone/>
            </a:pPr>
            <a:r>
              <a:rPr lang="en-GB" altLang="en-US" sz="2000" i="1" dirty="0">
                <a:solidFill>
                  <a:srgbClr val="000000"/>
                </a:solidFill>
                <a:latin typeface="Times New Roman" pitchFamily="18" charset="0"/>
                <a:cs typeface="Arial" charset="0"/>
              </a:rPr>
              <a:t>           	Pay overtime wage</a:t>
            </a:r>
          </a:p>
          <a:p>
            <a:pPr eaLnBrk="0" fontAlgn="base" hangingPunct="0">
              <a:lnSpc>
                <a:spcPct val="80000"/>
              </a:lnSpc>
              <a:spcBef>
                <a:spcPct val="50000"/>
              </a:spcBef>
              <a:spcAft>
                <a:spcPct val="0"/>
              </a:spcAft>
              <a:buFontTx/>
              <a:buNone/>
            </a:pPr>
            <a:r>
              <a:rPr lang="en-GB" altLang="en-US" sz="2000" b="1" i="1" dirty="0">
                <a:solidFill>
                  <a:srgbClr val="000000"/>
                </a:solidFill>
                <a:latin typeface="Times New Roman" pitchFamily="18" charset="0"/>
                <a:cs typeface="Arial" charset="0"/>
              </a:rPr>
              <a:t>End If </a:t>
            </a:r>
            <a:r>
              <a:rPr lang="en-GB" altLang="en-US" sz="2000" i="1" dirty="0">
                <a:solidFill>
                  <a:srgbClr val="FF0000"/>
                </a:solidFill>
                <a:latin typeface="Times New Roman" pitchFamily="18" charset="0"/>
                <a:cs typeface="Arial" charset="0"/>
              </a:rPr>
              <a:t>(optional)</a:t>
            </a:r>
          </a:p>
        </p:txBody>
      </p:sp>
    </p:spTree>
    <p:extLst>
      <p:ext uri="{BB962C8B-B14F-4D97-AF65-F5344CB8AC3E}">
        <p14:creationId xmlns:p14="http://schemas.microsoft.com/office/powerpoint/2010/main" val="33063076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36" fill="hold" grpId="0" nodeType="clickEffect">
                                  <p:stCondLst>
                                    <p:cond delay="0"/>
                                  </p:stCondLst>
                                  <p:iterate type="lt">
                                    <p:tmPct val="10000"/>
                                  </p:iterate>
                                  <p:childTnLst>
                                    <p:set>
                                      <p:cBhvr>
                                        <p:cTn id="6" dur="1" fill="hold">
                                          <p:stCondLst>
                                            <p:cond delay="0"/>
                                          </p:stCondLst>
                                        </p:cTn>
                                        <p:tgtEl>
                                          <p:spTgt spid="463879"/>
                                        </p:tgtEl>
                                        <p:attrNameLst>
                                          <p:attrName>style.visibility</p:attrName>
                                        </p:attrNameLst>
                                      </p:cBhvr>
                                      <p:to>
                                        <p:strVal val="visible"/>
                                      </p:to>
                                    </p:set>
                                    <p:anim calcmode="lin" valueType="num">
                                      <p:cBhvr>
                                        <p:cTn id="7" dur="1000" fill="hold"/>
                                        <p:tgtEl>
                                          <p:spTgt spid="463879"/>
                                        </p:tgtEl>
                                        <p:attrNameLst>
                                          <p:attrName>ppt_w</p:attrName>
                                        </p:attrNameLst>
                                      </p:cBhvr>
                                      <p:tavLst>
                                        <p:tav tm="0">
                                          <p:val>
                                            <p:strVal val="(6*min(max(#ppt_w*#ppt_h,.3),1)-7.4)/-.7*#ppt_w"/>
                                          </p:val>
                                        </p:tav>
                                        <p:tav tm="100000">
                                          <p:val>
                                            <p:strVal val="#ppt_w"/>
                                          </p:val>
                                        </p:tav>
                                      </p:tavLst>
                                    </p:anim>
                                    <p:anim calcmode="lin" valueType="num">
                                      <p:cBhvr>
                                        <p:cTn id="8" dur="1000" fill="hold"/>
                                        <p:tgtEl>
                                          <p:spTgt spid="463879"/>
                                        </p:tgtEl>
                                        <p:attrNameLst>
                                          <p:attrName>ppt_h</p:attrName>
                                        </p:attrNameLst>
                                      </p:cBhvr>
                                      <p:tavLst>
                                        <p:tav tm="0">
                                          <p:val>
                                            <p:strVal val="(6*min(max(#ppt_w*#ppt_h,.3),1)-7.4)/-.7*#ppt_h"/>
                                          </p:val>
                                        </p:tav>
                                        <p:tav tm="100000">
                                          <p:val>
                                            <p:strVal val="#ppt_h"/>
                                          </p:val>
                                        </p:tav>
                                      </p:tavLst>
                                    </p:anim>
                                    <p:anim calcmode="lin" valueType="num">
                                      <p:cBhvr>
                                        <p:cTn id="9" dur="1000" fill="hold"/>
                                        <p:tgtEl>
                                          <p:spTgt spid="463879"/>
                                        </p:tgtEl>
                                        <p:attrNameLst>
                                          <p:attrName>ppt_x</p:attrName>
                                        </p:attrNameLst>
                                      </p:cBhvr>
                                      <p:tavLst>
                                        <p:tav tm="0">
                                          <p:val>
                                            <p:fltVal val="0.5"/>
                                          </p:val>
                                        </p:tav>
                                        <p:tav tm="100000">
                                          <p:val>
                                            <p:strVal val="#ppt_x"/>
                                          </p:val>
                                        </p:tav>
                                      </p:tavLst>
                                    </p:anim>
                                    <p:anim calcmode="lin" valueType="num">
                                      <p:cBhvr>
                                        <p:cTn id="10" dur="1000" fill="hold"/>
                                        <p:tgtEl>
                                          <p:spTgt spid="463879"/>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879" grpId="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nSpc>
                <a:spcPct val="110000"/>
              </a:lnSpc>
              <a:spcBef>
                <a:spcPct val="30000"/>
              </a:spcBef>
              <a:spcAft>
                <a:spcPct val="20000"/>
              </a:spcAft>
              <a:buChar char="•"/>
              <a:defRPr>
                <a:solidFill>
                  <a:srgbClr val="004D75"/>
                </a:solidFill>
                <a:latin typeface="Verdana" pitchFamily="34" charset="0"/>
              </a:defRPr>
            </a:lvl1pPr>
            <a:lvl2pPr marL="742950" indent="-285750">
              <a:lnSpc>
                <a:spcPct val="90000"/>
              </a:lnSpc>
              <a:spcBef>
                <a:spcPct val="20000"/>
              </a:spcBef>
              <a:spcAft>
                <a:spcPct val="10000"/>
              </a:spcAft>
              <a:buChar char="–"/>
              <a:defRPr sz="1500">
                <a:solidFill>
                  <a:srgbClr val="004D75"/>
                </a:solidFill>
                <a:latin typeface="Verdana" pitchFamily="34" charset="0"/>
              </a:defRPr>
            </a:lvl2pPr>
            <a:lvl3pPr marL="1143000" indent="-228600">
              <a:lnSpc>
                <a:spcPct val="90000"/>
              </a:lnSpc>
              <a:spcBef>
                <a:spcPct val="20000"/>
              </a:spcBef>
              <a:spcAft>
                <a:spcPct val="20000"/>
              </a:spcAft>
              <a:buChar char="•"/>
              <a:defRPr sz="1200">
                <a:solidFill>
                  <a:srgbClr val="004D75"/>
                </a:solidFill>
                <a:latin typeface="Verdana" pitchFamily="34" charset="0"/>
              </a:defRPr>
            </a:lvl3pPr>
            <a:lvl4pPr marL="1600200" indent="-228600">
              <a:lnSpc>
                <a:spcPct val="90000"/>
              </a:lnSpc>
              <a:spcBef>
                <a:spcPct val="20000"/>
              </a:spcBef>
              <a:spcAft>
                <a:spcPct val="20000"/>
              </a:spcAft>
              <a:buChar char="–"/>
              <a:defRPr sz="1200">
                <a:solidFill>
                  <a:srgbClr val="004D75"/>
                </a:solidFill>
                <a:latin typeface="Verdana" pitchFamily="34" charset="0"/>
              </a:defRPr>
            </a:lvl4pPr>
            <a:lvl5pPr marL="2057400" indent="-228600">
              <a:lnSpc>
                <a:spcPct val="90000"/>
              </a:lnSpc>
              <a:spcBef>
                <a:spcPct val="20000"/>
              </a:spcBef>
              <a:spcAft>
                <a:spcPct val="20000"/>
              </a:spcAft>
              <a:buChar char="»"/>
              <a:defRPr sz="1200">
                <a:solidFill>
                  <a:srgbClr val="004D75"/>
                </a:solidFill>
                <a:latin typeface="Verdana"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itchFamily="34" charset="0"/>
              </a:defRPr>
            </a:lvl9pPr>
          </a:lstStyle>
          <a:p>
            <a:pPr eaLnBrk="1" hangingPunct="1">
              <a:lnSpc>
                <a:spcPct val="100000"/>
              </a:lnSpc>
              <a:spcBef>
                <a:spcPct val="0"/>
              </a:spcBef>
              <a:spcAft>
                <a:spcPct val="0"/>
              </a:spcAft>
              <a:buFontTx/>
              <a:buNone/>
            </a:pPr>
            <a:fld id="{366BECA1-9FC5-4242-A6EA-C333CF0C7C6F}" type="slidenum">
              <a:rPr lang="en-US" altLang="en-US" smtClean="0">
                <a:solidFill>
                  <a:srgbClr val="000000"/>
                </a:solidFill>
                <a:latin typeface="Arial" charset="0"/>
              </a:rPr>
              <a:pPr eaLnBrk="1" hangingPunct="1">
                <a:lnSpc>
                  <a:spcPct val="100000"/>
                </a:lnSpc>
                <a:spcBef>
                  <a:spcPct val="0"/>
                </a:spcBef>
                <a:spcAft>
                  <a:spcPct val="0"/>
                </a:spcAft>
                <a:buFontTx/>
                <a:buNone/>
              </a:pPr>
              <a:t>45</a:t>
            </a:fld>
            <a:endParaRPr lang="en-US" altLang="en-US">
              <a:solidFill>
                <a:srgbClr val="000000"/>
              </a:solidFill>
              <a:latin typeface="Arial" charset="0"/>
            </a:endParaRPr>
          </a:p>
        </p:txBody>
      </p:sp>
      <p:sp>
        <p:nvSpPr>
          <p:cNvPr id="51204" name="Rectangle 2"/>
          <p:cNvSpPr>
            <a:spLocks noGrp="1" noChangeArrowheads="1"/>
          </p:cNvSpPr>
          <p:nvPr>
            <p:ph type="title"/>
          </p:nvPr>
        </p:nvSpPr>
        <p:spPr>
          <a:xfrm>
            <a:off x="609600" y="277813"/>
            <a:ext cx="8305800" cy="1143000"/>
          </a:xfrm>
          <a:ln>
            <a:solidFill>
              <a:schemeClr val="accent1"/>
            </a:solidFill>
            <a:miter lim="800000"/>
            <a:headEnd/>
            <a:tailEnd/>
          </a:ln>
        </p:spPr>
        <p:txBody>
          <a:bodyPr/>
          <a:lstStyle/>
          <a:p>
            <a:pPr algn="ctr" eaLnBrk="1" hangingPunct="1"/>
            <a:r>
              <a:rPr lang="en-US" altLang="en-US" b="1"/>
              <a:t>Example - Decision Table (Salary)</a:t>
            </a:r>
          </a:p>
        </p:txBody>
      </p:sp>
      <p:graphicFrame>
        <p:nvGraphicFramePr>
          <p:cNvPr id="512180" name="Group 180"/>
          <p:cNvGraphicFramePr>
            <a:graphicFrameLocks noGrp="1"/>
          </p:cNvGraphicFramePr>
          <p:nvPr>
            <p:ph idx="1"/>
            <p:extLst/>
          </p:nvPr>
        </p:nvGraphicFramePr>
        <p:xfrm>
          <a:off x="647700" y="1447800"/>
          <a:ext cx="8269288" cy="5007297"/>
        </p:xfrm>
        <a:graphic>
          <a:graphicData uri="http://schemas.openxmlformats.org/drawingml/2006/table">
            <a:tbl>
              <a:tblPr/>
              <a:tblGrid>
                <a:gridCol w="1155700">
                  <a:extLst>
                    <a:ext uri="{9D8B030D-6E8A-4147-A177-3AD203B41FA5}">
                      <a16:colId xmlns:a16="http://schemas.microsoft.com/office/drawing/2014/main" val="20000"/>
                    </a:ext>
                  </a:extLst>
                </a:gridCol>
                <a:gridCol w="2152650">
                  <a:extLst>
                    <a:ext uri="{9D8B030D-6E8A-4147-A177-3AD203B41FA5}">
                      <a16:colId xmlns:a16="http://schemas.microsoft.com/office/drawing/2014/main" val="20001"/>
                    </a:ext>
                  </a:extLst>
                </a:gridCol>
                <a:gridCol w="1262063">
                  <a:extLst>
                    <a:ext uri="{9D8B030D-6E8A-4147-A177-3AD203B41FA5}">
                      <a16:colId xmlns:a16="http://schemas.microsoft.com/office/drawing/2014/main" val="20002"/>
                    </a:ext>
                  </a:extLst>
                </a:gridCol>
                <a:gridCol w="1276350">
                  <a:extLst>
                    <a:ext uri="{9D8B030D-6E8A-4147-A177-3AD203B41FA5}">
                      <a16:colId xmlns:a16="http://schemas.microsoft.com/office/drawing/2014/main" val="20003"/>
                    </a:ext>
                  </a:extLst>
                </a:gridCol>
                <a:gridCol w="1209675">
                  <a:extLst>
                    <a:ext uri="{9D8B030D-6E8A-4147-A177-3AD203B41FA5}">
                      <a16:colId xmlns:a16="http://schemas.microsoft.com/office/drawing/2014/main" val="20004"/>
                    </a:ext>
                  </a:extLst>
                </a:gridCol>
                <a:gridCol w="1212850">
                  <a:extLst>
                    <a:ext uri="{9D8B030D-6E8A-4147-A177-3AD203B41FA5}">
                      <a16:colId xmlns:a16="http://schemas.microsoft.com/office/drawing/2014/main" val="20005"/>
                    </a:ext>
                  </a:extLst>
                </a:gridCol>
              </a:tblGrid>
              <a:tr h="407988">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000" b="1" i="0" u="none" strike="noStrike" cap="none" normalizeH="0" baseline="0" dirty="0">
                        <a:ln>
                          <a:noFill/>
                        </a:ln>
                        <a:solidFill>
                          <a:schemeClr val="tx1"/>
                        </a:solidFill>
                        <a:effectLst/>
                        <a:latin typeface="Arial" charset="0"/>
                      </a:endParaRP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000" b="1" i="0" u="none" strike="noStrike" cap="none" normalizeH="0" baseline="0">
                          <a:ln>
                            <a:noFill/>
                          </a:ln>
                          <a:solidFill>
                            <a:schemeClr val="tx1"/>
                          </a:solidFill>
                          <a:effectLst/>
                          <a:latin typeface="Arial" charset="0"/>
                        </a:rPr>
                        <a:t>Conditions / Course of Action</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000" b="1" i="0" u="none" strike="noStrike" cap="none" normalizeH="0" baseline="0">
                          <a:ln>
                            <a:noFill/>
                          </a:ln>
                          <a:solidFill>
                            <a:schemeClr val="tx1"/>
                          </a:solidFill>
                          <a:effectLst/>
                          <a:latin typeface="Arial" charset="0"/>
                        </a:rPr>
                        <a:t>Rules</a:t>
                      </a:r>
                    </a:p>
                  </a:txBody>
                  <a:tcPr marL="92075" marR="92075" marT="46038" marB="4603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MY"/>
                    </a:p>
                  </a:txBody>
                  <a:tcPr/>
                </a:tc>
                <a:tc hMerge="1">
                  <a:txBody>
                    <a:bodyPr/>
                    <a:lstStyle/>
                    <a:p>
                      <a:endParaRPr lang="en-MY"/>
                    </a:p>
                  </a:txBody>
                  <a:tcPr/>
                </a:tc>
                <a:tc hMerge="1">
                  <a:txBody>
                    <a:bodyPr/>
                    <a:lstStyle/>
                    <a:p>
                      <a:endParaRPr lang="en-MY"/>
                    </a:p>
                  </a:txBody>
                  <a:tcPr/>
                </a:tc>
                <a:extLst>
                  <a:ext uri="{0D108BD9-81ED-4DB2-BD59-A6C34878D82A}">
                    <a16:rowId xmlns:a16="http://schemas.microsoft.com/office/drawing/2014/main" val="10000"/>
                  </a:ext>
                </a:extLst>
              </a:tr>
              <a:tr h="627063">
                <a:tc vMerge="1">
                  <a:txBody>
                    <a:bodyPr/>
                    <a:lstStyle/>
                    <a:p>
                      <a:endParaRPr lang="en-MY"/>
                    </a:p>
                  </a:txBody>
                  <a:tcPr/>
                </a:tc>
                <a:tc vMerge="1">
                  <a:txBody>
                    <a:bodyPr/>
                    <a:lstStyle/>
                    <a:p>
                      <a:endParaRPr lang="en-MY"/>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1" i="0" u="none" strike="noStrike" cap="none" normalizeH="0" baseline="0">
                          <a:ln>
                            <a:noFill/>
                          </a:ln>
                          <a:solidFill>
                            <a:schemeClr val="tx1"/>
                          </a:solidFill>
                          <a:effectLst/>
                          <a:latin typeface="Arial" charset="0"/>
                        </a:rPr>
                        <a:t>1</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1" i="0" u="none" strike="noStrike" cap="none" normalizeH="0" baseline="0">
                          <a:ln>
                            <a:noFill/>
                          </a:ln>
                          <a:solidFill>
                            <a:schemeClr val="tx1"/>
                          </a:solidFill>
                          <a:effectLst/>
                          <a:latin typeface="Arial" charset="0"/>
                        </a:rPr>
                        <a:t>2</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1" i="0" u="none" strike="noStrike" cap="none" normalizeH="0" baseline="0">
                          <a:ln>
                            <a:noFill/>
                          </a:ln>
                          <a:solidFill>
                            <a:schemeClr val="tx1"/>
                          </a:solidFill>
                          <a:effectLst/>
                          <a:latin typeface="Arial" charset="0"/>
                        </a:rPr>
                        <a:t>3</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1" i="0" u="none" strike="noStrike" cap="none" normalizeH="0" baseline="0">
                          <a:ln>
                            <a:noFill/>
                          </a:ln>
                          <a:solidFill>
                            <a:schemeClr val="tx1"/>
                          </a:solidFill>
                          <a:effectLst/>
                          <a:latin typeface="Arial" charset="0"/>
                        </a:rPr>
                        <a:t>4</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2763">
                <a:tc rowSpan="3">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1600" b="1" i="0" u="none" strike="noStrike" cap="none" normalizeH="0" baseline="0" dirty="0">
                          <a:ln>
                            <a:noFill/>
                          </a:ln>
                          <a:solidFill>
                            <a:schemeClr val="tx1"/>
                          </a:solidFill>
                          <a:effectLst/>
                          <a:latin typeface="Arial" charset="0"/>
                        </a:rPr>
                        <a:t>Condition</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eaLnBrk="0" fontAlgn="base" hangingPunct="0">
                        <a:lnSpc>
                          <a:spcPct val="100000"/>
                        </a:lnSpc>
                        <a:spcBef>
                          <a:spcPct val="0"/>
                        </a:spcBef>
                        <a:spcAft>
                          <a:spcPct val="0"/>
                        </a:spcAft>
                        <a:buFontTx/>
                        <a:buNone/>
                      </a:pPr>
                      <a:r>
                        <a:rPr lang="en-GB" altLang="en-US" sz="1800" b="1" dirty="0">
                          <a:solidFill>
                            <a:srgbClr val="000000"/>
                          </a:solidFill>
                          <a:latin typeface="Arial" panose="020B0604020202020204" pitchFamily="34" charset="0"/>
                          <a:cs typeface="Arial" panose="020B0604020202020204" pitchFamily="34" charset="0"/>
                        </a:rPr>
                        <a:t>Full Time?</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Y</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N</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N</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N</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6100">
                <a:tc vMerge="1">
                  <a:txBody>
                    <a:bodyPr/>
                    <a:lstStyle/>
                    <a:p>
                      <a:endParaRPr lang="en-MY"/>
                    </a:p>
                  </a:txBody>
                  <a:tcPr/>
                </a:tc>
                <a:tc>
                  <a:txBody>
                    <a:bodyPr/>
                    <a:lstStyle/>
                    <a:p>
                      <a:pPr eaLnBrk="0" fontAlgn="base" hangingPunct="0">
                        <a:lnSpc>
                          <a:spcPct val="100000"/>
                        </a:lnSpc>
                        <a:spcBef>
                          <a:spcPct val="0"/>
                        </a:spcBef>
                        <a:spcAft>
                          <a:spcPct val="0"/>
                        </a:spcAft>
                        <a:buFontTx/>
                        <a:buNone/>
                      </a:pPr>
                      <a:r>
                        <a:rPr lang="en-GB" altLang="en-US" sz="1800" b="1" dirty="0">
                          <a:solidFill>
                            <a:srgbClr val="000000"/>
                          </a:solidFill>
                          <a:latin typeface="Arial" panose="020B0604020202020204" pitchFamily="34" charset="0"/>
                          <a:cs typeface="Arial" panose="020B0604020202020204" pitchFamily="34" charset="0"/>
                        </a:rPr>
                        <a:t>Hours Worked &lt; 40?</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Y</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N</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N</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5113">
                <a:tc vMerge="1">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800" b="1" i="0" u="none" strike="noStrike" cap="none" normalizeH="0" baseline="0" dirty="0">
                        <a:ln>
                          <a:noFill/>
                        </a:ln>
                        <a:solidFill>
                          <a:schemeClr val="tx1"/>
                        </a:solidFill>
                        <a:effectLst/>
                        <a:latin typeface="Arial" charset="0"/>
                      </a:endParaRP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eaLnBrk="0" fontAlgn="base" hangingPunct="0">
                        <a:lnSpc>
                          <a:spcPct val="100000"/>
                        </a:lnSpc>
                        <a:spcBef>
                          <a:spcPct val="0"/>
                        </a:spcBef>
                        <a:spcAft>
                          <a:spcPct val="0"/>
                        </a:spcAft>
                        <a:buFontTx/>
                        <a:buNone/>
                      </a:pPr>
                      <a:r>
                        <a:rPr lang="en-GB" altLang="en-US" sz="1800" b="1" dirty="0">
                          <a:solidFill>
                            <a:srgbClr val="000000"/>
                          </a:solidFill>
                          <a:latin typeface="Arial" panose="020B0604020202020204" pitchFamily="34" charset="0"/>
                          <a:cs typeface="Arial" panose="020B0604020202020204" pitchFamily="34" charset="0"/>
                        </a:rPr>
                        <a:t>Hours Worked = 40?</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Y</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N</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9900">
                <a:tc rowSpan="4">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1600" b="1" i="0" u="none" strike="noStrike" cap="none" normalizeH="0" baseline="0">
                          <a:ln>
                            <a:noFill/>
                          </a:ln>
                          <a:solidFill>
                            <a:schemeClr val="tx1"/>
                          </a:solidFill>
                          <a:effectLst/>
                          <a:latin typeface="Arial" charset="0"/>
                        </a:rPr>
                        <a:t>Action</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1600" b="1" i="0" u="none" strike="noStrike" cap="none" normalizeH="0" baseline="0" dirty="0">
                          <a:ln>
                            <a:noFill/>
                          </a:ln>
                          <a:solidFill>
                            <a:schemeClr val="tx1"/>
                          </a:solidFill>
                          <a:effectLst/>
                          <a:latin typeface="Arial" charset="0"/>
                        </a:rPr>
                        <a:t>Pay base salary</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dirty="0">
                          <a:ln>
                            <a:noFill/>
                          </a:ln>
                          <a:solidFill>
                            <a:schemeClr val="tx1"/>
                          </a:solidFill>
                          <a:effectLst/>
                          <a:latin typeface="Arial" charset="0"/>
                        </a:rPr>
                        <a:t>X</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98488">
                <a:tc vMerge="1">
                  <a:txBody>
                    <a:bodyPr/>
                    <a:lstStyle/>
                    <a:p>
                      <a:endParaRPr lang="en-MY"/>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1600" b="1" i="0" u="none" strike="noStrike" cap="none" normalizeH="0" baseline="0" dirty="0">
                          <a:ln>
                            <a:noFill/>
                          </a:ln>
                          <a:solidFill>
                            <a:schemeClr val="tx1"/>
                          </a:solidFill>
                          <a:effectLst/>
                          <a:latin typeface="Arial" charset="0"/>
                        </a:rPr>
                        <a:t>Calculate Hourly Wage</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dirty="0">
                          <a:ln>
                            <a:noFill/>
                          </a:ln>
                          <a:solidFill>
                            <a:schemeClr val="tx1"/>
                          </a:solidFill>
                          <a:effectLst/>
                          <a:latin typeface="Arial" charset="0"/>
                        </a:rPr>
                        <a:t>X</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a:ln>
                            <a:noFill/>
                          </a:ln>
                          <a:solidFill>
                            <a:schemeClr val="tx1"/>
                          </a:solidFill>
                          <a:effectLst/>
                          <a:latin typeface="Arial" charset="0"/>
                        </a:rPr>
                        <a:t>X</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dirty="0">
                          <a:ln>
                            <a:noFill/>
                          </a:ln>
                          <a:solidFill>
                            <a:schemeClr val="tx1"/>
                          </a:solidFill>
                          <a:effectLst/>
                          <a:latin typeface="Arial" charset="0"/>
                        </a:rPr>
                        <a:t>X</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2763">
                <a:tc vMerge="1">
                  <a:txBody>
                    <a:bodyPr/>
                    <a:lstStyle/>
                    <a:p>
                      <a:endParaRPr lang="en-MY"/>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1600" b="1" i="0" u="none" strike="noStrike" cap="none" normalizeH="0" baseline="0">
                          <a:ln>
                            <a:noFill/>
                          </a:ln>
                          <a:solidFill>
                            <a:schemeClr val="tx1"/>
                          </a:solidFill>
                          <a:effectLst/>
                          <a:latin typeface="Arial" charset="0"/>
                        </a:rPr>
                        <a:t>Calculate Overtime</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a:ln>
                            <a:noFill/>
                          </a:ln>
                          <a:solidFill>
                            <a:schemeClr val="tx1"/>
                          </a:solidFill>
                          <a:effectLst/>
                          <a:latin typeface="Arial" charset="0"/>
                        </a:rPr>
                        <a:t>X</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96900">
                <a:tc vMerge="1">
                  <a:txBody>
                    <a:bodyPr/>
                    <a:lstStyle/>
                    <a:p>
                      <a:endParaRPr lang="en-MY"/>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1600" b="1" i="0" u="none" strike="noStrike" cap="none" normalizeH="0" baseline="0">
                          <a:ln>
                            <a:noFill/>
                          </a:ln>
                          <a:solidFill>
                            <a:schemeClr val="tx1"/>
                          </a:solidFill>
                          <a:effectLst/>
                          <a:latin typeface="Arial" charset="0"/>
                        </a:rPr>
                        <a:t>Produce Absence Report</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dirty="0">
                          <a:ln>
                            <a:noFill/>
                          </a:ln>
                          <a:solidFill>
                            <a:schemeClr val="tx1"/>
                          </a:solidFill>
                          <a:effectLst/>
                          <a:latin typeface="Arial" charset="0"/>
                        </a:rPr>
                        <a:t>X</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dirty="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457191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1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nSpc>
                <a:spcPct val="110000"/>
              </a:lnSpc>
              <a:spcBef>
                <a:spcPct val="30000"/>
              </a:spcBef>
              <a:spcAft>
                <a:spcPct val="20000"/>
              </a:spcAft>
              <a:buChar char="•"/>
              <a:defRPr>
                <a:solidFill>
                  <a:srgbClr val="004D75"/>
                </a:solidFill>
                <a:latin typeface="Verdana" pitchFamily="34" charset="0"/>
              </a:defRPr>
            </a:lvl1pPr>
            <a:lvl2pPr marL="742950" indent="-285750">
              <a:lnSpc>
                <a:spcPct val="90000"/>
              </a:lnSpc>
              <a:spcBef>
                <a:spcPct val="20000"/>
              </a:spcBef>
              <a:spcAft>
                <a:spcPct val="10000"/>
              </a:spcAft>
              <a:buChar char="–"/>
              <a:defRPr sz="1500">
                <a:solidFill>
                  <a:srgbClr val="004D75"/>
                </a:solidFill>
                <a:latin typeface="Verdana" pitchFamily="34" charset="0"/>
              </a:defRPr>
            </a:lvl2pPr>
            <a:lvl3pPr marL="1143000" indent="-228600">
              <a:lnSpc>
                <a:spcPct val="90000"/>
              </a:lnSpc>
              <a:spcBef>
                <a:spcPct val="20000"/>
              </a:spcBef>
              <a:spcAft>
                <a:spcPct val="20000"/>
              </a:spcAft>
              <a:buChar char="•"/>
              <a:defRPr sz="1200">
                <a:solidFill>
                  <a:srgbClr val="004D75"/>
                </a:solidFill>
                <a:latin typeface="Verdana" pitchFamily="34" charset="0"/>
              </a:defRPr>
            </a:lvl3pPr>
            <a:lvl4pPr marL="1600200" indent="-228600">
              <a:lnSpc>
                <a:spcPct val="90000"/>
              </a:lnSpc>
              <a:spcBef>
                <a:spcPct val="20000"/>
              </a:spcBef>
              <a:spcAft>
                <a:spcPct val="20000"/>
              </a:spcAft>
              <a:buChar char="–"/>
              <a:defRPr sz="1200">
                <a:solidFill>
                  <a:srgbClr val="004D75"/>
                </a:solidFill>
                <a:latin typeface="Verdana" pitchFamily="34" charset="0"/>
              </a:defRPr>
            </a:lvl4pPr>
            <a:lvl5pPr marL="2057400" indent="-228600">
              <a:lnSpc>
                <a:spcPct val="90000"/>
              </a:lnSpc>
              <a:spcBef>
                <a:spcPct val="20000"/>
              </a:spcBef>
              <a:spcAft>
                <a:spcPct val="20000"/>
              </a:spcAft>
              <a:buChar char="»"/>
              <a:defRPr sz="1200">
                <a:solidFill>
                  <a:srgbClr val="004D75"/>
                </a:solidFill>
                <a:latin typeface="Verdana"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itchFamily="34" charset="0"/>
              </a:defRPr>
            </a:lvl9pPr>
          </a:lstStyle>
          <a:p>
            <a:pPr eaLnBrk="1" hangingPunct="1">
              <a:lnSpc>
                <a:spcPct val="100000"/>
              </a:lnSpc>
              <a:spcBef>
                <a:spcPct val="0"/>
              </a:spcBef>
              <a:spcAft>
                <a:spcPct val="0"/>
              </a:spcAft>
              <a:buFontTx/>
              <a:buNone/>
            </a:pPr>
            <a:fld id="{366BECA1-9FC5-4242-A6EA-C333CF0C7C6F}" type="slidenum">
              <a:rPr lang="en-US" altLang="en-US" smtClean="0">
                <a:solidFill>
                  <a:srgbClr val="000000"/>
                </a:solidFill>
                <a:latin typeface="Arial" charset="0"/>
              </a:rPr>
              <a:pPr eaLnBrk="1" hangingPunct="1">
                <a:lnSpc>
                  <a:spcPct val="100000"/>
                </a:lnSpc>
                <a:spcBef>
                  <a:spcPct val="0"/>
                </a:spcBef>
                <a:spcAft>
                  <a:spcPct val="0"/>
                </a:spcAft>
                <a:buFontTx/>
                <a:buNone/>
              </a:pPr>
              <a:t>46</a:t>
            </a:fld>
            <a:endParaRPr lang="en-US" altLang="en-US">
              <a:solidFill>
                <a:srgbClr val="000000"/>
              </a:solidFill>
              <a:latin typeface="Arial" charset="0"/>
            </a:endParaRPr>
          </a:p>
        </p:txBody>
      </p:sp>
      <p:sp>
        <p:nvSpPr>
          <p:cNvPr id="51204" name="Rectangle 2"/>
          <p:cNvSpPr>
            <a:spLocks noGrp="1" noChangeArrowheads="1"/>
          </p:cNvSpPr>
          <p:nvPr>
            <p:ph type="title"/>
          </p:nvPr>
        </p:nvSpPr>
        <p:spPr>
          <a:xfrm>
            <a:off x="609600" y="277813"/>
            <a:ext cx="8305800" cy="1143000"/>
          </a:xfrm>
          <a:ln>
            <a:solidFill>
              <a:schemeClr val="accent1"/>
            </a:solidFill>
            <a:miter lim="800000"/>
            <a:headEnd/>
            <a:tailEnd/>
          </a:ln>
        </p:spPr>
        <p:txBody>
          <a:bodyPr/>
          <a:lstStyle/>
          <a:p>
            <a:pPr algn="ctr" eaLnBrk="1" hangingPunct="1"/>
            <a:r>
              <a:rPr lang="en-US" altLang="en-US" b="1" dirty="0"/>
              <a:t>Example - Decision Table </a:t>
            </a:r>
            <a:r>
              <a:rPr lang="en-US" altLang="en-US" b="1" u="sng" dirty="0">
                <a:solidFill>
                  <a:srgbClr val="0070C0"/>
                </a:solidFill>
              </a:rPr>
              <a:t>Variation</a:t>
            </a:r>
            <a:r>
              <a:rPr lang="en-US" altLang="en-US" b="1" dirty="0">
                <a:solidFill>
                  <a:srgbClr val="0070C0"/>
                </a:solidFill>
              </a:rPr>
              <a:t> </a:t>
            </a:r>
            <a:r>
              <a:rPr lang="en-US" altLang="en-US" b="1" dirty="0"/>
              <a:t>(Salary)</a:t>
            </a:r>
          </a:p>
        </p:txBody>
      </p:sp>
      <p:graphicFrame>
        <p:nvGraphicFramePr>
          <p:cNvPr id="512180" name="Group 180"/>
          <p:cNvGraphicFramePr>
            <a:graphicFrameLocks noGrp="1"/>
          </p:cNvGraphicFramePr>
          <p:nvPr>
            <p:ph idx="1"/>
            <p:extLst/>
          </p:nvPr>
        </p:nvGraphicFramePr>
        <p:xfrm>
          <a:off x="647700" y="1447800"/>
          <a:ext cx="8269288" cy="4847911"/>
        </p:xfrm>
        <a:graphic>
          <a:graphicData uri="http://schemas.openxmlformats.org/drawingml/2006/table">
            <a:tbl>
              <a:tblPr/>
              <a:tblGrid>
                <a:gridCol w="1155700">
                  <a:extLst>
                    <a:ext uri="{9D8B030D-6E8A-4147-A177-3AD203B41FA5}">
                      <a16:colId xmlns:a16="http://schemas.microsoft.com/office/drawing/2014/main" val="20000"/>
                    </a:ext>
                  </a:extLst>
                </a:gridCol>
                <a:gridCol w="2152650">
                  <a:extLst>
                    <a:ext uri="{9D8B030D-6E8A-4147-A177-3AD203B41FA5}">
                      <a16:colId xmlns:a16="http://schemas.microsoft.com/office/drawing/2014/main" val="20001"/>
                    </a:ext>
                  </a:extLst>
                </a:gridCol>
                <a:gridCol w="1262063">
                  <a:extLst>
                    <a:ext uri="{9D8B030D-6E8A-4147-A177-3AD203B41FA5}">
                      <a16:colId xmlns:a16="http://schemas.microsoft.com/office/drawing/2014/main" val="20002"/>
                    </a:ext>
                  </a:extLst>
                </a:gridCol>
                <a:gridCol w="1276350">
                  <a:extLst>
                    <a:ext uri="{9D8B030D-6E8A-4147-A177-3AD203B41FA5}">
                      <a16:colId xmlns:a16="http://schemas.microsoft.com/office/drawing/2014/main" val="20003"/>
                    </a:ext>
                  </a:extLst>
                </a:gridCol>
                <a:gridCol w="1209675">
                  <a:extLst>
                    <a:ext uri="{9D8B030D-6E8A-4147-A177-3AD203B41FA5}">
                      <a16:colId xmlns:a16="http://schemas.microsoft.com/office/drawing/2014/main" val="20004"/>
                    </a:ext>
                  </a:extLst>
                </a:gridCol>
                <a:gridCol w="1212850">
                  <a:extLst>
                    <a:ext uri="{9D8B030D-6E8A-4147-A177-3AD203B41FA5}">
                      <a16:colId xmlns:a16="http://schemas.microsoft.com/office/drawing/2014/main" val="20005"/>
                    </a:ext>
                  </a:extLst>
                </a:gridCol>
              </a:tblGrid>
              <a:tr h="407988">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000" b="1" i="0" u="none" strike="noStrike" cap="none" normalizeH="0" baseline="0" dirty="0">
                        <a:ln>
                          <a:noFill/>
                        </a:ln>
                        <a:solidFill>
                          <a:schemeClr val="tx1"/>
                        </a:solidFill>
                        <a:effectLst/>
                        <a:latin typeface="Arial" charset="0"/>
                      </a:endParaRP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000" b="1" i="0" u="none" strike="noStrike" cap="none" normalizeH="0" baseline="0">
                          <a:ln>
                            <a:noFill/>
                          </a:ln>
                          <a:solidFill>
                            <a:schemeClr val="tx1"/>
                          </a:solidFill>
                          <a:effectLst/>
                          <a:latin typeface="Arial" charset="0"/>
                        </a:rPr>
                        <a:t>Conditions / Course of Action</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000" b="1" i="0" u="none" strike="noStrike" cap="none" normalizeH="0" baseline="0">
                          <a:ln>
                            <a:noFill/>
                          </a:ln>
                          <a:solidFill>
                            <a:schemeClr val="tx1"/>
                          </a:solidFill>
                          <a:effectLst/>
                          <a:latin typeface="Arial" charset="0"/>
                        </a:rPr>
                        <a:t>Rules</a:t>
                      </a:r>
                    </a:p>
                  </a:txBody>
                  <a:tcPr marL="92075" marR="92075" marT="46038" marB="4603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MY"/>
                    </a:p>
                  </a:txBody>
                  <a:tcPr/>
                </a:tc>
                <a:tc hMerge="1">
                  <a:txBody>
                    <a:bodyPr/>
                    <a:lstStyle/>
                    <a:p>
                      <a:endParaRPr lang="en-MY"/>
                    </a:p>
                  </a:txBody>
                  <a:tcPr/>
                </a:tc>
                <a:tc hMerge="1">
                  <a:txBody>
                    <a:bodyPr/>
                    <a:lstStyle/>
                    <a:p>
                      <a:endParaRPr lang="en-MY"/>
                    </a:p>
                  </a:txBody>
                  <a:tcPr/>
                </a:tc>
                <a:extLst>
                  <a:ext uri="{0D108BD9-81ED-4DB2-BD59-A6C34878D82A}">
                    <a16:rowId xmlns:a16="http://schemas.microsoft.com/office/drawing/2014/main" val="10000"/>
                  </a:ext>
                </a:extLst>
              </a:tr>
              <a:tr h="627063">
                <a:tc vMerge="1">
                  <a:txBody>
                    <a:bodyPr/>
                    <a:lstStyle/>
                    <a:p>
                      <a:endParaRPr lang="en-MY"/>
                    </a:p>
                  </a:txBody>
                  <a:tcPr/>
                </a:tc>
                <a:tc vMerge="1">
                  <a:txBody>
                    <a:bodyPr/>
                    <a:lstStyle/>
                    <a:p>
                      <a:endParaRPr lang="en-MY"/>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1" i="0" u="none" strike="noStrike" cap="none" normalizeH="0" baseline="0">
                          <a:ln>
                            <a:noFill/>
                          </a:ln>
                          <a:solidFill>
                            <a:schemeClr val="tx1"/>
                          </a:solidFill>
                          <a:effectLst/>
                          <a:latin typeface="Arial" charset="0"/>
                        </a:rPr>
                        <a:t>1</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1" i="0" u="none" strike="noStrike" cap="none" normalizeH="0" baseline="0">
                          <a:ln>
                            <a:noFill/>
                          </a:ln>
                          <a:solidFill>
                            <a:schemeClr val="tx1"/>
                          </a:solidFill>
                          <a:effectLst/>
                          <a:latin typeface="Arial" charset="0"/>
                        </a:rPr>
                        <a:t>2</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1" i="0" u="none" strike="noStrike" cap="none" normalizeH="0" baseline="0">
                          <a:ln>
                            <a:noFill/>
                          </a:ln>
                          <a:solidFill>
                            <a:schemeClr val="tx1"/>
                          </a:solidFill>
                          <a:effectLst/>
                          <a:latin typeface="Arial" charset="0"/>
                        </a:rPr>
                        <a:t>3</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1" i="0" u="none" strike="noStrike" cap="none" normalizeH="0" baseline="0">
                          <a:ln>
                            <a:noFill/>
                          </a:ln>
                          <a:solidFill>
                            <a:schemeClr val="tx1"/>
                          </a:solidFill>
                          <a:effectLst/>
                          <a:latin typeface="Arial" charset="0"/>
                        </a:rPr>
                        <a:t>4</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2763">
                <a:tc row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1600" b="1" i="0" u="none" strike="noStrike" cap="none" normalizeH="0" baseline="0">
                          <a:ln>
                            <a:noFill/>
                          </a:ln>
                          <a:solidFill>
                            <a:schemeClr val="tx1"/>
                          </a:solidFill>
                          <a:effectLst/>
                          <a:latin typeface="Arial" charset="0"/>
                        </a:rPr>
                        <a:t>Condition</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1600" b="1" i="0" u="none" strike="noStrike" cap="none" normalizeH="0" baseline="0">
                          <a:ln>
                            <a:noFill/>
                          </a:ln>
                          <a:solidFill>
                            <a:schemeClr val="tx1"/>
                          </a:solidFill>
                          <a:effectLst/>
                          <a:latin typeface="Arial" charset="0"/>
                        </a:rPr>
                        <a:t>Employee Type</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dirty="0">
                          <a:ln>
                            <a:noFill/>
                          </a:ln>
                          <a:solidFill>
                            <a:schemeClr val="tx1"/>
                          </a:solidFill>
                          <a:effectLst/>
                          <a:latin typeface="Arial" charset="0"/>
                        </a:rPr>
                        <a:t>Full Time</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dirty="0">
                          <a:ln>
                            <a:noFill/>
                          </a:ln>
                          <a:solidFill>
                            <a:schemeClr val="tx1"/>
                          </a:solidFill>
                          <a:effectLst/>
                          <a:latin typeface="Arial" charset="0"/>
                        </a:rPr>
                        <a:t>Part Time</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defRPr/>
                      </a:pPr>
                      <a:r>
                        <a:rPr kumimoji="0" lang="en-US" sz="2400" b="0" i="0" u="none" strike="noStrike" cap="none" normalizeH="0" baseline="0" dirty="0">
                          <a:ln>
                            <a:noFill/>
                          </a:ln>
                          <a:solidFill>
                            <a:schemeClr val="tx1"/>
                          </a:solidFill>
                          <a:effectLst/>
                          <a:latin typeface="Arial" charset="0"/>
                        </a:rPr>
                        <a:t>Part Time</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defRPr/>
                      </a:pPr>
                      <a:r>
                        <a:rPr kumimoji="0" lang="en-US" sz="2400" b="0" i="0" u="none" strike="noStrike" cap="none" normalizeH="0" baseline="0" dirty="0">
                          <a:ln>
                            <a:noFill/>
                          </a:ln>
                          <a:solidFill>
                            <a:schemeClr val="tx1"/>
                          </a:solidFill>
                          <a:effectLst/>
                          <a:latin typeface="Arial" charset="0"/>
                        </a:rPr>
                        <a:t>Part Time</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6100">
                <a:tc vMerge="1">
                  <a:txBody>
                    <a:bodyPr/>
                    <a:lstStyle/>
                    <a:p>
                      <a:endParaRPr lang="en-MY"/>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1600" b="1" i="0" u="none" strike="noStrike" cap="none" normalizeH="0" baseline="0">
                          <a:ln>
                            <a:noFill/>
                          </a:ln>
                          <a:solidFill>
                            <a:schemeClr val="tx1"/>
                          </a:solidFill>
                          <a:effectLst/>
                          <a:latin typeface="Arial" charset="0"/>
                        </a:rPr>
                        <a:t>Hours Worked</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dirty="0">
                          <a:ln>
                            <a:noFill/>
                          </a:ln>
                          <a:solidFill>
                            <a:schemeClr val="tx1"/>
                          </a:solidFill>
                          <a:effectLst/>
                          <a:latin typeface="Arial" charset="0"/>
                        </a:rPr>
                        <a:t>-</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a:ln>
                            <a:noFill/>
                          </a:ln>
                          <a:solidFill>
                            <a:schemeClr val="tx1"/>
                          </a:solidFill>
                          <a:effectLst/>
                          <a:latin typeface="Arial" charset="0"/>
                        </a:rPr>
                        <a:t>&lt; 40</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a:ln>
                            <a:noFill/>
                          </a:ln>
                          <a:solidFill>
                            <a:schemeClr val="tx1"/>
                          </a:solidFill>
                          <a:effectLst/>
                          <a:latin typeface="Arial" charset="0"/>
                        </a:rPr>
                        <a:t>40</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a:ln>
                            <a:noFill/>
                          </a:ln>
                          <a:solidFill>
                            <a:schemeClr val="tx1"/>
                          </a:solidFill>
                          <a:effectLst/>
                          <a:latin typeface="Arial" charset="0"/>
                        </a:rPr>
                        <a:t>&gt; 40</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51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800" b="1" i="0" u="none" strike="noStrike" cap="none" normalizeH="0" baseline="0">
                        <a:ln>
                          <a:noFill/>
                        </a:ln>
                        <a:solidFill>
                          <a:schemeClr val="tx1"/>
                        </a:solidFill>
                        <a:effectLst/>
                        <a:latin typeface="Arial" charset="0"/>
                      </a:endParaRP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800" b="1" i="0" u="none" strike="noStrike" cap="none" normalizeH="0" baseline="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800" b="0" i="0" u="none" strike="noStrike" cap="none" normalizeH="0" baseline="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800" b="0" i="0" u="none" strike="noStrike" cap="none" normalizeH="0" baseline="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800" b="0" i="0" u="none" strike="noStrike" cap="none" normalizeH="0" baseline="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800" b="0" i="0" u="none" strike="noStrike" cap="none" normalizeH="0" baseline="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9900">
                <a:tc rowSpan="4">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1600" b="1" i="0" u="none" strike="noStrike" cap="none" normalizeH="0" baseline="0">
                          <a:ln>
                            <a:noFill/>
                          </a:ln>
                          <a:solidFill>
                            <a:schemeClr val="tx1"/>
                          </a:solidFill>
                          <a:effectLst/>
                          <a:latin typeface="Arial" charset="0"/>
                        </a:rPr>
                        <a:t>Action</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1600" b="1" i="0" u="none" strike="noStrike" cap="none" normalizeH="0" baseline="0">
                          <a:ln>
                            <a:noFill/>
                          </a:ln>
                          <a:solidFill>
                            <a:schemeClr val="tx1"/>
                          </a:solidFill>
                          <a:effectLst/>
                          <a:latin typeface="Arial" charset="0"/>
                        </a:rPr>
                        <a:t>Pay base salary</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dirty="0">
                          <a:ln>
                            <a:noFill/>
                          </a:ln>
                          <a:solidFill>
                            <a:schemeClr val="tx1"/>
                          </a:solidFill>
                          <a:effectLst/>
                          <a:latin typeface="Arial" charset="0"/>
                        </a:rPr>
                        <a:t>X</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98488">
                <a:tc vMerge="1">
                  <a:txBody>
                    <a:bodyPr/>
                    <a:lstStyle/>
                    <a:p>
                      <a:endParaRPr lang="en-MY"/>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1600" b="1" i="0" u="none" strike="noStrike" cap="none" normalizeH="0" baseline="0">
                          <a:ln>
                            <a:noFill/>
                          </a:ln>
                          <a:solidFill>
                            <a:schemeClr val="tx1"/>
                          </a:solidFill>
                          <a:effectLst/>
                          <a:latin typeface="Arial" charset="0"/>
                        </a:rPr>
                        <a:t>Calculate Hourly Wage</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a:ln>
                            <a:noFill/>
                          </a:ln>
                          <a:solidFill>
                            <a:schemeClr val="tx1"/>
                          </a:solidFill>
                          <a:effectLst/>
                          <a:latin typeface="Arial" charset="0"/>
                        </a:rPr>
                        <a:t>X</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a:ln>
                            <a:noFill/>
                          </a:ln>
                          <a:solidFill>
                            <a:schemeClr val="tx1"/>
                          </a:solidFill>
                          <a:effectLst/>
                          <a:latin typeface="Arial" charset="0"/>
                        </a:rPr>
                        <a:t>X</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a:ln>
                            <a:noFill/>
                          </a:ln>
                          <a:solidFill>
                            <a:schemeClr val="tx1"/>
                          </a:solidFill>
                          <a:effectLst/>
                          <a:latin typeface="Arial" charset="0"/>
                        </a:rPr>
                        <a:t>X</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2763">
                <a:tc vMerge="1">
                  <a:txBody>
                    <a:bodyPr/>
                    <a:lstStyle/>
                    <a:p>
                      <a:endParaRPr lang="en-MY"/>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1600" b="1" i="0" u="none" strike="noStrike" cap="none" normalizeH="0" baseline="0">
                          <a:ln>
                            <a:noFill/>
                          </a:ln>
                          <a:solidFill>
                            <a:schemeClr val="tx1"/>
                          </a:solidFill>
                          <a:effectLst/>
                          <a:latin typeface="Arial" charset="0"/>
                        </a:rPr>
                        <a:t>Calculate Overtime</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dirty="0">
                          <a:ln>
                            <a:noFill/>
                          </a:ln>
                          <a:solidFill>
                            <a:schemeClr val="tx1"/>
                          </a:solidFill>
                          <a:effectLst/>
                          <a:latin typeface="Arial" charset="0"/>
                        </a:rPr>
                        <a:t>X</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96900">
                <a:tc vMerge="1">
                  <a:txBody>
                    <a:bodyPr/>
                    <a:lstStyle/>
                    <a:p>
                      <a:endParaRPr lang="en-MY"/>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1600" b="1" i="0" u="none" strike="noStrike" cap="none" normalizeH="0" baseline="0">
                          <a:ln>
                            <a:noFill/>
                          </a:ln>
                          <a:solidFill>
                            <a:schemeClr val="tx1"/>
                          </a:solidFill>
                          <a:effectLst/>
                          <a:latin typeface="Arial" charset="0"/>
                        </a:rPr>
                        <a:t>Produce Absence Report</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a:ln>
                            <a:noFill/>
                          </a:ln>
                          <a:solidFill>
                            <a:schemeClr val="tx1"/>
                          </a:solidFill>
                          <a:effectLst/>
                          <a:latin typeface="Arial" charset="0"/>
                        </a:rPr>
                        <a:t>X</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dirty="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261699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1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82"/>
          <p:cNvGrpSpPr>
            <a:grpSpLocks/>
          </p:cNvGrpSpPr>
          <p:nvPr/>
        </p:nvGrpSpPr>
        <p:grpSpPr bwMode="auto">
          <a:xfrm>
            <a:off x="555625" y="4229100"/>
            <a:ext cx="2019300" cy="1825625"/>
            <a:chOff x="350" y="2664"/>
            <a:chExt cx="1272" cy="1150"/>
          </a:xfrm>
        </p:grpSpPr>
        <p:sp>
          <p:nvSpPr>
            <p:cNvPr id="461827" name="Rectangle 3"/>
            <p:cNvSpPr>
              <a:spLocks noChangeArrowheads="1"/>
            </p:cNvSpPr>
            <p:nvPr/>
          </p:nvSpPr>
          <p:spPr bwMode="auto">
            <a:xfrm>
              <a:off x="372" y="2664"/>
              <a:ext cx="1250" cy="1150"/>
            </a:xfrm>
            <a:prstGeom prst="rect">
              <a:avLst/>
            </a:prstGeom>
            <a:ln>
              <a:headEnd type="none" w="sm" len="sm"/>
              <a:tailEnd type="none" w="sm" len="sm"/>
            </a:ln>
          </p:spPr>
          <p:style>
            <a:lnRef idx="2">
              <a:schemeClr val="dk1"/>
            </a:lnRef>
            <a:fillRef idx="1">
              <a:schemeClr val="lt1"/>
            </a:fillRef>
            <a:effectRef idx="0">
              <a:schemeClr val="dk1"/>
            </a:effectRef>
            <a:fontRef idx="minor">
              <a:schemeClr val="dk1"/>
            </a:fontRef>
          </p:style>
          <p:txBody>
            <a:bodyPr wrap="none" anchor="ctr"/>
            <a:lstStyle/>
            <a:p>
              <a:pPr eaLnBrk="0" fontAlgn="base" hangingPunct="0">
                <a:spcBef>
                  <a:spcPct val="0"/>
                </a:spcBef>
                <a:spcAft>
                  <a:spcPct val="0"/>
                </a:spcAft>
                <a:defRPr/>
              </a:pPr>
              <a:endParaRPr lang="en-MY" sz="1000">
                <a:solidFill>
                  <a:srgbClr val="000000"/>
                </a:solidFill>
              </a:endParaRPr>
            </a:p>
          </p:txBody>
        </p:sp>
        <p:sp>
          <p:nvSpPr>
            <p:cNvPr id="52272" name="Text Box 5"/>
            <p:cNvSpPr txBox="1">
              <a:spLocks noChangeArrowheads="1"/>
            </p:cNvSpPr>
            <p:nvPr/>
          </p:nvSpPr>
          <p:spPr bwMode="auto">
            <a:xfrm>
              <a:off x="350" y="2714"/>
              <a:ext cx="1197" cy="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nSpc>
                  <a:spcPct val="110000"/>
                </a:lnSpc>
                <a:spcBef>
                  <a:spcPct val="30000"/>
                </a:spcBef>
                <a:spcAft>
                  <a:spcPct val="20000"/>
                </a:spcAft>
                <a:buChar char="•"/>
                <a:defRPr>
                  <a:solidFill>
                    <a:srgbClr val="004D75"/>
                  </a:solidFill>
                  <a:latin typeface="Verdana" pitchFamily="34" charset="0"/>
                </a:defRPr>
              </a:lvl1pPr>
              <a:lvl2pPr marL="742950" indent="-285750">
                <a:lnSpc>
                  <a:spcPct val="90000"/>
                </a:lnSpc>
                <a:spcBef>
                  <a:spcPct val="20000"/>
                </a:spcBef>
                <a:spcAft>
                  <a:spcPct val="10000"/>
                </a:spcAft>
                <a:buChar char="–"/>
                <a:defRPr sz="1500">
                  <a:solidFill>
                    <a:srgbClr val="004D75"/>
                  </a:solidFill>
                  <a:latin typeface="Verdana" pitchFamily="34" charset="0"/>
                </a:defRPr>
              </a:lvl2pPr>
              <a:lvl3pPr marL="1143000" indent="-228600">
                <a:lnSpc>
                  <a:spcPct val="90000"/>
                </a:lnSpc>
                <a:spcBef>
                  <a:spcPct val="20000"/>
                </a:spcBef>
                <a:spcAft>
                  <a:spcPct val="20000"/>
                </a:spcAft>
                <a:buChar char="•"/>
                <a:defRPr sz="1200">
                  <a:solidFill>
                    <a:srgbClr val="004D75"/>
                  </a:solidFill>
                  <a:latin typeface="Verdana" pitchFamily="34" charset="0"/>
                </a:defRPr>
              </a:lvl3pPr>
              <a:lvl4pPr marL="1600200" indent="-228600">
                <a:lnSpc>
                  <a:spcPct val="90000"/>
                </a:lnSpc>
                <a:spcBef>
                  <a:spcPct val="20000"/>
                </a:spcBef>
                <a:spcAft>
                  <a:spcPct val="20000"/>
                </a:spcAft>
                <a:buChar char="–"/>
                <a:defRPr sz="1200">
                  <a:solidFill>
                    <a:srgbClr val="004D75"/>
                  </a:solidFill>
                  <a:latin typeface="Verdana" pitchFamily="34" charset="0"/>
                </a:defRPr>
              </a:lvl4pPr>
              <a:lvl5pPr marL="2057400" indent="-228600">
                <a:lnSpc>
                  <a:spcPct val="90000"/>
                </a:lnSpc>
                <a:spcBef>
                  <a:spcPct val="20000"/>
                </a:spcBef>
                <a:spcAft>
                  <a:spcPct val="20000"/>
                </a:spcAft>
                <a:buChar char="»"/>
                <a:defRPr sz="1200">
                  <a:solidFill>
                    <a:srgbClr val="004D75"/>
                  </a:solidFill>
                  <a:latin typeface="Verdana"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itchFamily="34" charset="0"/>
                </a:defRPr>
              </a:lvl9pPr>
            </a:lstStyle>
            <a:p>
              <a:pPr eaLnBrk="0" fontAlgn="base" hangingPunct="0">
                <a:lnSpc>
                  <a:spcPct val="100000"/>
                </a:lnSpc>
                <a:spcBef>
                  <a:spcPct val="0"/>
                </a:spcBef>
                <a:spcAft>
                  <a:spcPct val="0"/>
                </a:spcAft>
                <a:buFontTx/>
                <a:buNone/>
              </a:pPr>
              <a:r>
                <a:rPr lang="en-GB" altLang="en-US" sz="1400" b="1" u="sng" dirty="0">
                  <a:solidFill>
                    <a:srgbClr val="000000"/>
                  </a:solidFill>
                  <a:latin typeface="Times New Roman" pitchFamily="18" charset="0"/>
                  <a:cs typeface="Arial" charset="0"/>
                </a:rPr>
                <a:t>Legend</a:t>
              </a:r>
            </a:p>
            <a:p>
              <a:pPr eaLnBrk="0" fontAlgn="base" hangingPunct="0">
                <a:lnSpc>
                  <a:spcPct val="100000"/>
                </a:lnSpc>
                <a:spcBef>
                  <a:spcPct val="0"/>
                </a:spcBef>
                <a:spcAft>
                  <a:spcPct val="0"/>
                </a:spcAft>
                <a:buFontTx/>
                <a:buNone/>
              </a:pPr>
              <a:endParaRPr lang="en-GB" altLang="en-US" sz="1400" b="1" u="sng" dirty="0">
                <a:solidFill>
                  <a:srgbClr val="000000"/>
                </a:solidFill>
                <a:latin typeface="Times New Roman" pitchFamily="18" charset="0"/>
                <a:cs typeface="Arial" charset="0"/>
              </a:endParaRPr>
            </a:p>
            <a:p>
              <a:pPr eaLnBrk="0" fontAlgn="base" hangingPunct="0">
                <a:lnSpc>
                  <a:spcPct val="100000"/>
                </a:lnSpc>
                <a:spcBef>
                  <a:spcPct val="0"/>
                </a:spcBef>
                <a:spcAft>
                  <a:spcPct val="0"/>
                </a:spcAft>
                <a:buFontTx/>
                <a:buAutoNum type="arabicParenR"/>
              </a:pPr>
              <a:r>
                <a:rPr lang="en-GB" altLang="en-US" sz="1400" b="1" dirty="0">
                  <a:solidFill>
                    <a:srgbClr val="000000"/>
                  </a:solidFill>
                  <a:latin typeface="Times New Roman" pitchFamily="18" charset="0"/>
                  <a:cs typeface="Arial" charset="0"/>
                </a:rPr>
                <a:t>Full Time?</a:t>
              </a:r>
            </a:p>
            <a:p>
              <a:pPr eaLnBrk="0" fontAlgn="base" hangingPunct="0">
                <a:lnSpc>
                  <a:spcPct val="100000"/>
                </a:lnSpc>
                <a:spcBef>
                  <a:spcPct val="0"/>
                </a:spcBef>
                <a:spcAft>
                  <a:spcPct val="0"/>
                </a:spcAft>
                <a:buFontTx/>
                <a:buAutoNum type="arabicParenR"/>
              </a:pPr>
              <a:r>
                <a:rPr lang="en-GB" altLang="en-US" sz="1400" b="1" dirty="0">
                  <a:solidFill>
                    <a:srgbClr val="000000"/>
                  </a:solidFill>
                  <a:latin typeface="Times New Roman" pitchFamily="18" charset="0"/>
                  <a:cs typeface="Arial" charset="0"/>
                </a:rPr>
                <a:t>Hours Worked &lt; 40?</a:t>
              </a:r>
            </a:p>
            <a:p>
              <a:pPr eaLnBrk="0" fontAlgn="base" hangingPunct="0">
                <a:lnSpc>
                  <a:spcPct val="100000"/>
                </a:lnSpc>
                <a:spcBef>
                  <a:spcPct val="0"/>
                </a:spcBef>
                <a:spcAft>
                  <a:spcPct val="0"/>
                </a:spcAft>
                <a:buFontTx/>
                <a:buAutoNum type="arabicParenR"/>
              </a:pPr>
              <a:r>
                <a:rPr lang="en-GB" altLang="en-US" sz="1400" b="1" dirty="0">
                  <a:solidFill>
                    <a:srgbClr val="000000"/>
                  </a:solidFill>
                  <a:latin typeface="Times New Roman" pitchFamily="18" charset="0"/>
                  <a:cs typeface="Arial" charset="0"/>
                </a:rPr>
                <a:t>Hours Worked = 40?</a:t>
              </a:r>
            </a:p>
          </p:txBody>
        </p:sp>
      </p:grpSp>
      <p:sp>
        <p:nvSpPr>
          <p:cNvPr id="461831" name="Text Box 7"/>
          <p:cNvSpPr txBox="1">
            <a:spLocks noChangeArrowheads="1"/>
          </p:cNvSpPr>
          <p:nvPr/>
        </p:nvSpPr>
        <p:spPr bwMode="auto">
          <a:xfrm>
            <a:off x="762000" y="279400"/>
            <a:ext cx="7348538" cy="914400"/>
          </a:xfrm>
          <a:prstGeom prst="rect">
            <a:avLst/>
          </a:prstGeom>
          <a:noFill/>
          <a:ln w="12700" cap="sq">
            <a:solidFill>
              <a:srgbClr val="0070C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lnSpc>
                <a:spcPct val="110000"/>
              </a:lnSpc>
              <a:spcBef>
                <a:spcPct val="30000"/>
              </a:spcBef>
              <a:spcAft>
                <a:spcPct val="20000"/>
              </a:spcAft>
              <a:buChar char="•"/>
              <a:defRPr>
                <a:solidFill>
                  <a:srgbClr val="004D75"/>
                </a:solidFill>
                <a:latin typeface="Verdana" pitchFamily="34" charset="0"/>
              </a:defRPr>
            </a:lvl1pPr>
            <a:lvl2pPr marL="742950" indent="-285750">
              <a:lnSpc>
                <a:spcPct val="90000"/>
              </a:lnSpc>
              <a:spcBef>
                <a:spcPct val="20000"/>
              </a:spcBef>
              <a:spcAft>
                <a:spcPct val="10000"/>
              </a:spcAft>
              <a:buChar char="–"/>
              <a:defRPr sz="1500">
                <a:solidFill>
                  <a:srgbClr val="004D75"/>
                </a:solidFill>
                <a:latin typeface="Verdana" pitchFamily="34" charset="0"/>
              </a:defRPr>
            </a:lvl2pPr>
            <a:lvl3pPr marL="1143000" indent="-228600">
              <a:lnSpc>
                <a:spcPct val="90000"/>
              </a:lnSpc>
              <a:spcBef>
                <a:spcPct val="20000"/>
              </a:spcBef>
              <a:spcAft>
                <a:spcPct val="20000"/>
              </a:spcAft>
              <a:buChar char="•"/>
              <a:defRPr sz="1200">
                <a:solidFill>
                  <a:srgbClr val="004D75"/>
                </a:solidFill>
                <a:latin typeface="Verdana" pitchFamily="34" charset="0"/>
              </a:defRPr>
            </a:lvl3pPr>
            <a:lvl4pPr marL="1600200" indent="-228600">
              <a:lnSpc>
                <a:spcPct val="90000"/>
              </a:lnSpc>
              <a:spcBef>
                <a:spcPct val="20000"/>
              </a:spcBef>
              <a:spcAft>
                <a:spcPct val="20000"/>
              </a:spcAft>
              <a:buChar char="–"/>
              <a:defRPr sz="1200">
                <a:solidFill>
                  <a:srgbClr val="004D75"/>
                </a:solidFill>
                <a:latin typeface="Verdana" pitchFamily="34" charset="0"/>
              </a:defRPr>
            </a:lvl4pPr>
            <a:lvl5pPr marL="2057400" indent="-228600">
              <a:lnSpc>
                <a:spcPct val="90000"/>
              </a:lnSpc>
              <a:spcBef>
                <a:spcPct val="20000"/>
              </a:spcBef>
              <a:spcAft>
                <a:spcPct val="20000"/>
              </a:spcAft>
              <a:buChar char="»"/>
              <a:defRPr sz="1200">
                <a:solidFill>
                  <a:srgbClr val="004D75"/>
                </a:solidFill>
                <a:latin typeface="Verdana"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itchFamily="34" charset="0"/>
              </a:defRPr>
            </a:lvl9pPr>
          </a:lstStyle>
          <a:p>
            <a:pPr algn="ctr" eaLnBrk="0" fontAlgn="base" hangingPunct="0">
              <a:lnSpc>
                <a:spcPct val="100000"/>
              </a:lnSpc>
              <a:spcBef>
                <a:spcPct val="0"/>
              </a:spcBef>
              <a:spcAft>
                <a:spcPct val="0"/>
              </a:spcAft>
              <a:buFontTx/>
              <a:buNone/>
            </a:pPr>
            <a:r>
              <a:rPr lang="en-GB" altLang="en-US" sz="3000" b="1">
                <a:solidFill>
                  <a:srgbClr val="000000"/>
                </a:solidFill>
                <a:latin typeface="Times New Roman" pitchFamily="18" charset="0"/>
                <a:cs typeface="Arial" charset="0"/>
              </a:rPr>
              <a:t>Example - Decision Tree (Salary)</a:t>
            </a:r>
          </a:p>
          <a:p>
            <a:pPr algn="ctr" eaLnBrk="0" fontAlgn="base" hangingPunct="0">
              <a:lnSpc>
                <a:spcPct val="100000"/>
              </a:lnSpc>
              <a:spcBef>
                <a:spcPct val="0"/>
              </a:spcBef>
              <a:spcAft>
                <a:spcPct val="0"/>
              </a:spcAft>
              <a:buFontTx/>
              <a:buNone/>
            </a:pPr>
            <a:r>
              <a:rPr lang="en-GB" altLang="en-US" sz="2400" i="1">
                <a:solidFill>
                  <a:srgbClr val="000000"/>
                </a:solidFill>
                <a:latin typeface="Times New Roman" pitchFamily="18" charset="0"/>
                <a:cs typeface="Arial" charset="0"/>
              </a:rPr>
              <a:t>2 Choices per Decision Point</a:t>
            </a:r>
            <a:endParaRPr lang="en-GB" altLang="en-US" sz="2400" b="1" u="sng">
              <a:solidFill>
                <a:srgbClr val="000000"/>
              </a:solidFill>
              <a:latin typeface="Times New Roman" pitchFamily="18" charset="0"/>
              <a:cs typeface="Arial" charset="0"/>
            </a:endParaRPr>
          </a:p>
        </p:txBody>
      </p:sp>
      <p:grpSp>
        <p:nvGrpSpPr>
          <p:cNvPr id="3" name="Group 15"/>
          <p:cNvGrpSpPr>
            <a:grpSpLocks/>
          </p:cNvGrpSpPr>
          <p:nvPr/>
        </p:nvGrpSpPr>
        <p:grpSpPr bwMode="auto">
          <a:xfrm>
            <a:off x="1625600" y="1689100"/>
            <a:ext cx="546100" cy="588963"/>
            <a:chOff x="136" y="2488"/>
            <a:chExt cx="1176" cy="651"/>
          </a:xfrm>
        </p:grpSpPr>
        <p:sp>
          <p:nvSpPr>
            <p:cNvPr id="461840" name="Oval 16"/>
            <p:cNvSpPr>
              <a:spLocks noChangeArrowheads="1"/>
            </p:cNvSpPr>
            <p:nvPr/>
          </p:nvSpPr>
          <p:spPr bwMode="auto">
            <a:xfrm>
              <a:off x="136" y="2488"/>
              <a:ext cx="1176" cy="528"/>
            </a:xfrm>
            <a:prstGeom prst="ellipse">
              <a:avLst/>
            </a:prstGeom>
            <a:ln>
              <a:headEnd type="none" w="sm" len="sm"/>
              <a:tailEnd type="none" w="sm" len="sm"/>
            </a:ln>
          </p:spPr>
          <p:style>
            <a:lnRef idx="2">
              <a:schemeClr val="dk1"/>
            </a:lnRef>
            <a:fillRef idx="1">
              <a:schemeClr val="lt1"/>
            </a:fillRef>
            <a:effectRef idx="0">
              <a:schemeClr val="dk1"/>
            </a:effectRef>
            <a:fontRef idx="minor">
              <a:schemeClr val="dk1"/>
            </a:fontRef>
          </p:style>
          <p:txBody>
            <a:bodyPr wrap="none" anchor="ctr"/>
            <a:lstStyle/>
            <a:p>
              <a:pPr eaLnBrk="0" fontAlgn="base" hangingPunct="0">
                <a:spcBef>
                  <a:spcPct val="0"/>
                </a:spcBef>
                <a:spcAft>
                  <a:spcPct val="0"/>
                </a:spcAft>
                <a:defRPr/>
              </a:pPr>
              <a:endParaRPr lang="en-MY" sz="1000">
                <a:solidFill>
                  <a:srgbClr val="000000"/>
                </a:solidFill>
              </a:endParaRPr>
            </a:p>
          </p:txBody>
        </p:sp>
        <p:sp>
          <p:nvSpPr>
            <p:cNvPr id="52270" name="Text Box 17"/>
            <p:cNvSpPr txBox="1">
              <a:spLocks noChangeArrowheads="1"/>
            </p:cNvSpPr>
            <p:nvPr/>
          </p:nvSpPr>
          <p:spPr bwMode="auto">
            <a:xfrm>
              <a:off x="346" y="2556"/>
              <a:ext cx="811" cy="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30000"/>
                </a:spcBef>
                <a:spcAft>
                  <a:spcPct val="20000"/>
                </a:spcAft>
                <a:buChar char="•"/>
                <a:defRPr>
                  <a:solidFill>
                    <a:srgbClr val="004D75"/>
                  </a:solidFill>
                  <a:latin typeface="Verdana" pitchFamily="34" charset="0"/>
                </a:defRPr>
              </a:lvl1pPr>
              <a:lvl2pPr marL="742950" indent="-285750">
                <a:lnSpc>
                  <a:spcPct val="90000"/>
                </a:lnSpc>
                <a:spcBef>
                  <a:spcPct val="20000"/>
                </a:spcBef>
                <a:spcAft>
                  <a:spcPct val="10000"/>
                </a:spcAft>
                <a:buChar char="–"/>
                <a:defRPr sz="1500">
                  <a:solidFill>
                    <a:srgbClr val="004D75"/>
                  </a:solidFill>
                  <a:latin typeface="Verdana" pitchFamily="34" charset="0"/>
                </a:defRPr>
              </a:lvl2pPr>
              <a:lvl3pPr marL="1143000" indent="-228600">
                <a:lnSpc>
                  <a:spcPct val="90000"/>
                </a:lnSpc>
                <a:spcBef>
                  <a:spcPct val="20000"/>
                </a:spcBef>
                <a:spcAft>
                  <a:spcPct val="20000"/>
                </a:spcAft>
                <a:buChar char="•"/>
                <a:defRPr sz="1200">
                  <a:solidFill>
                    <a:srgbClr val="004D75"/>
                  </a:solidFill>
                  <a:latin typeface="Verdana" pitchFamily="34" charset="0"/>
                </a:defRPr>
              </a:lvl3pPr>
              <a:lvl4pPr marL="1600200" indent="-228600">
                <a:lnSpc>
                  <a:spcPct val="90000"/>
                </a:lnSpc>
                <a:spcBef>
                  <a:spcPct val="20000"/>
                </a:spcBef>
                <a:spcAft>
                  <a:spcPct val="20000"/>
                </a:spcAft>
                <a:buChar char="–"/>
                <a:defRPr sz="1200">
                  <a:solidFill>
                    <a:srgbClr val="004D75"/>
                  </a:solidFill>
                  <a:latin typeface="Verdana" pitchFamily="34" charset="0"/>
                </a:defRPr>
              </a:lvl4pPr>
              <a:lvl5pPr marL="2057400" indent="-228600">
                <a:lnSpc>
                  <a:spcPct val="90000"/>
                </a:lnSpc>
                <a:spcBef>
                  <a:spcPct val="20000"/>
                </a:spcBef>
                <a:spcAft>
                  <a:spcPct val="20000"/>
                </a:spcAft>
                <a:buChar char="»"/>
                <a:defRPr sz="1200">
                  <a:solidFill>
                    <a:srgbClr val="004D75"/>
                  </a:solidFill>
                  <a:latin typeface="Verdana"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itchFamily="34" charset="0"/>
                </a:defRPr>
              </a:lvl9pPr>
            </a:lstStyle>
            <a:p>
              <a:pPr algn="ctr" eaLnBrk="0" fontAlgn="base" hangingPunct="0">
                <a:lnSpc>
                  <a:spcPct val="100000"/>
                </a:lnSpc>
                <a:spcBef>
                  <a:spcPct val="0"/>
                </a:spcBef>
                <a:spcAft>
                  <a:spcPct val="0"/>
                </a:spcAft>
                <a:buFontTx/>
                <a:buNone/>
              </a:pPr>
              <a:r>
                <a:rPr lang="en-GB" altLang="en-US" sz="1400" b="1">
                  <a:solidFill>
                    <a:srgbClr val="000000"/>
                  </a:solidFill>
                  <a:latin typeface="Times New Roman" pitchFamily="18" charset="0"/>
                  <a:cs typeface="Arial" charset="0"/>
                </a:rPr>
                <a:t>1 </a:t>
              </a:r>
              <a:endParaRPr lang="en-GB" altLang="en-US" sz="1200" b="1">
                <a:solidFill>
                  <a:srgbClr val="000000"/>
                </a:solidFill>
                <a:latin typeface="Times New Roman" pitchFamily="18" charset="0"/>
                <a:cs typeface="Arial" charset="0"/>
              </a:endParaRPr>
            </a:p>
          </p:txBody>
        </p:sp>
      </p:grpSp>
      <p:grpSp>
        <p:nvGrpSpPr>
          <p:cNvPr id="4" name="Group 83"/>
          <p:cNvGrpSpPr>
            <a:grpSpLocks/>
          </p:cNvGrpSpPr>
          <p:nvPr/>
        </p:nvGrpSpPr>
        <p:grpSpPr bwMode="auto">
          <a:xfrm>
            <a:off x="2146300" y="1473200"/>
            <a:ext cx="5702300" cy="838200"/>
            <a:chOff x="1352" y="928"/>
            <a:chExt cx="3592" cy="528"/>
          </a:xfrm>
        </p:grpSpPr>
        <p:sp>
          <p:nvSpPr>
            <p:cNvPr id="52264" name="Line 57"/>
            <p:cNvSpPr>
              <a:spLocks noChangeShapeType="1"/>
            </p:cNvSpPr>
            <p:nvPr/>
          </p:nvSpPr>
          <p:spPr bwMode="auto">
            <a:xfrm flipH="1">
              <a:off x="1352" y="1224"/>
              <a:ext cx="2424" cy="16"/>
            </a:xfrm>
            <a:prstGeom prst="line">
              <a:avLst/>
            </a:prstGeom>
            <a:noFill/>
            <a:ln w="22225">
              <a:solidFill>
                <a:schemeClr val="tx1"/>
              </a:solidFill>
              <a:round/>
              <a:headEnd type="none" w="lg" len="med"/>
              <a:tailEnd type="none" w="lg"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1000">
                <a:solidFill>
                  <a:srgbClr val="004D75"/>
                </a:solidFill>
                <a:cs typeface="Arial" charset="0"/>
              </a:endParaRPr>
            </a:p>
          </p:txBody>
        </p:sp>
        <p:grpSp>
          <p:nvGrpSpPr>
            <p:cNvPr id="52265" name="Group 58"/>
            <p:cNvGrpSpPr>
              <a:grpSpLocks/>
            </p:cNvGrpSpPr>
            <p:nvPr/>
          </p:nvGrpSpPr>
          <p:grpSpPr bwMode="auto">
            <a:xfrm>
              <a:off x="3768" y="928"/>
              <a:ext cx="1176" cy="528"/>
              <a:chOff x="3768" y="904"/>
              <a:chExt cx="1176" cy="528"/>
            </a:xfrm>
          </p:grpSpPr>
          <p:sp>
            <p:nvSpPr>
              <p:cNvPr id="461843" name="Oval 19"/>
              <p:cNvSpPr>
                <a:spLocks noChangeArrowheads="1"/>
              </p:cNvSpPr>
              <p:nvPr/>
            </p:nvSpPr>
            <p:spPr bwMode="auto">
              <a:xfrm>
                <a:off x="3768" y="904"/>
                <a:ext cx="1176" cy="528"/>
              </a:xfrm>
              <a:prstGeom prst="ellipse">
                <a:avLst/>
              </a:prstGeom>
              <a:ln>
                <a:headEnd type="none" w="sm" len="sm"/>
                <a:tailEnd type="none" w="sm" len="sm"/>
              </a:ln>
            </p:spPr>
            <p:style>
              <a:lnRef idx="2">
                <a:schemeClr val="dk1"/>
              </a:lnRef>
              <a:fillRef idx="1">
                <a:schemeClr val="lt1"/>
              </a:fillRef>
              <a:effectRef idx="0">
                <a:schemeClr val="dk1"/>
              </a:effectRef>
              <a:fontRef idx="minor">
                <a:schemeClr val="dk1"/>
              </a:fontRef>
            </p:style>
            <p:txBody>
              <a:bodyPr wrap="none" anchor="ctr"/>
              <a:lstStyle/>
              <a:p>
                <a:pPr eaLnBrk="0" fontAlgn="base" hangingPunct="0">
                  <a:spcBef>
                    <a:spcPct val="0"/>
                  </a:spcBef>
                  <a:spcAft>
                    <a:spcPct val="0"/>
                  </a:spcAft>
                  <a:defRPr/>
                </a:pPr>
                <a:endParaRPr lang="en-MY" sz="1000">
                  <a:solidFill>
                    <a:srgbClr val="000000"/>
                  </a:solidFill>
                </a:endParaRPr>
              </a:p>
            </p:txBody>
          </p:sp>
          <p:sp>
            <p:nvSpPr>
              <p:cNvPr id="52268" name="Text Box 20"/>
              <p:cNvSpPr txBox="1">
                <a:spLocks noChangeArrowheads="1"/>
              </p:cNvSpPr>
              <p:nvPr/>
            </p:nvSpPr>
            <p:spPr bwMode="auto">
              <a:xfrm>
                <a:off x="3890" y="1052"/>
                <a:ext cx="93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30000"/>
                  </a:spcBef>
                  <a:spcAft>
                    <a:spcPct val="20000"/>
                  </a:spcAft>
                  <a:buChar char="•"/>
                  <a:defRPr>
                    <a:solidFill>
                      <a:srgbClr val="004D75"/>
                    </a:solidFill>
                    <a:latin typeface="Verdana" pitchFamily="34" charset="0"/>
                  </a:defRPr>
                </a:lvl1pPr>
                <a:lvl2pPr marL="742950" indent="-285750">
                  <a:lnSpc>
                    <a:spcPct val="90000"/>
                  </a:lnSpc>
                  <a:spcBef>
                    <a:spcPct val="20000"/>
                  </a:spcBef>
                  <a:spcAft>
                    <a:spcPct val="10000"/>
                  </a:spcAft>
                  <a:buChar char="–"/>
                  <a:defRPr sz="1500">
                    <a:solidFill>
                      <a:srgbClr val="004D75"/>
                    </a:solidFill>
                    <a:latin typeface="Verdana" pitchFamily="34" charset="0"/>
                  </a:defRPr>
                </a:lvl2pPr>
                <a:lvl3pPr marL="1143000" indent="-228600">
                  <a:lnSpc>
                    <a:spcPct val="90000"/>
                  </a:lnSpc>
                  <a:spcBef>
                    <a:spcPct val="20000"/>
                  </a:spcBef>
                  <a:spcAft>
                    <a:spcPct val="20000"/>
                  </a:spcAft>
                  <a:buChar char="•"/>
                  <a:defRPr sz="1200">
                    <a:solidFill>
                      <a:srgbClr val="004D75"/>
                    </a:solidFill>
                    <a:latin typeface="Verdana" pitchFamily="34" charset="0"/>
                  </a:defRPr>
                </a:lvl3pPr>
                <a:lvl4pPr marL="1600200" indent="-228600">
                  <a:lnSpc>
                    <a:spcPct val="90000"/>
                  </a:lnSpc>
                  <a:spcBef>
                    <a:spcPct val="20000"/>
                  </a:spcBef>
                  <a:spcAft>
                    <a:spcPct val="20000"/>
                  </a:spcAft>
                  <a:buChar char="–"/>
                  <a:defRPr sz="1200">
                    <a:solidFill>
                      <a:srgbClr val="004D75"/>
                    </a:solidFill>
                    <a:latin typeface="Verdana" pitchFamily="34" charset="0"/>
                  </a:defRPr>
                </a:lvl4pPr>
                <a:lvl5pPr marL="2057400" indent="-228600">
                  <a:lnSpc>
                    <a:spcPct val="90000"/>
                  </a:lnSpc>
                  <a:spcBef>
                    <a:spcPct val="20000"/>
                  </a:spcBef>
                  <a:spcAft>
                    <a:spcPct val="20000"/>
                  </a:spcAft>
                  <a:buChar char="»"/>
                  <a:defRPr sz="1200">
                    <a:solidFill>
                      <a:srgbClr val="004D75"/>
                    </a:solidFill>
                    <a:latin typeface="Verdana"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itchFamily="34" charset="0"/>
                  </a:defRPr>
                </a:lvl9pPr>
              </a:lstStyle>
              <a:p>
                <a:pPr algn="ctr" eaLnBrk="0" fontAlgn="base" hangingPunct="0">
                  <a:lnSpc>
                    <a:spcPct val="100000"/>
                  </a:lnSpc>
                  <a:spcBef>
                    <a:spcPct val="0"/>
                  </a:spcBef>
                  <a:spcAft>
                    <a:spcPct val="0"/>
                  </a:spcAft>
                  <a:buFontTx/>
                  <a:buNone/>
                </a:pPr>
                <a:r>
                  <a:rPr lang="en-GB" altLang="en-US" sz="1400" b="1">
                    <a:solidFill>
                      <a:srgbClr val="000000"/>
                    </a:solidFill>
                    <a:latin typeface="Times New Roman" pitchFamily="18" charset="0"/>
                    <a:cs typeface="Arial" charset="0"/>
                  </a:rPr>
                  <a:t>Pay base salary</a:t>
                </a:r>
                <a:endParaRPr lang="en-GB" altLang="en-US" sz="1200" b="1">
                  <a:solidFill>
                    <a:srgbClr val="000000"/>
                  </a:solidFill>
                  <a:latin typeface="Times New Roman" pitchFamily="18" charset="0"/>
                  <a:cs typeface="Arial" charset="0"/>
                </a:endParaRPr>
              </a:p>
            </p:txBody>
          </p:sp>
        </p:grpSp>
        <p:sp>
          <p:nvSpPr>
            <p:cNvPr id="52266" name="Text Box 45"/>
            <p:cNvSpPr txBox="1">
              <a:spLocks noChangeArrowheads="1"/>
            </p:cNvSpPr>
            <p:nvPr/>
          </p:nvSpPr>
          <p:spPr bwMode="auto">
            <a:xfrm rot="-46932">
              <a:off x="1385" y="1059"/>
              <a:ext cx="45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30000"/>
                </a:spcBef>
                <a:spcAft>
                  <a:spcPct val="20000"/>
                </a:spcAft>
                <a:buChar char="•"/>
                <a:defRPr>
                  <a:solidFill>
                    <a:srgbClr val="004D75"/>
                  </a:solidFill>
                  <a:latin typeface="Verdana" pitchFamily="34" charset="0"/>
                </a:defRPr>
              </a:lvl1pPr>
              <a:lvl2pPr marL="742950" indent="-285750">
                <a:lnSpc>
                  <a:spcPct val="90000"/>
                </a:lnSpc>
                <a:spcBef>
                  <a:spcPct val="20000"/>
                </a:spcBef>
                <a:spcAft>
                  <a:spcPct val="10000"/>
                </a:spcAft>
                <a:buChar char="–"/>
                <a:defRPr sz="1500">
                  <a:solidFill>
                    <a:srgbClr val="004D75"/>
                  </a:solidFill>
                  <a:latin typeface="Verdana" pitchFamily="34" charset="0"/>
                </a:defRPr>
              </a:lvl2pPr>
              <a:lvl3pPr marL="1143000" indent="-228600">
                <a:lnSpc>
                  <a:spcPct val="90000"/>
                </a:lnSpc>
                <a:spcBef>
                  <a:spcPct val="20000"/>
                </a:spcBef>
                <a:spcAft>
                  <a:spcPct val="20000"/>
                </a:spcAft>
                <a:buChar char="•"/>
                <a:defRPr sz="1200">
                  <a:solidFill>
                    <a:srgbClr val="004D75"/>
                  </a:solidFill>
                  <a:latin typeface="Verdana" pitchFamily="34" charset="0"/>
                </a:defRPr>
              </a:lvl3pPr>
              <a:lvl4pPr marL="1600200" indent="-228600">
                <a:lnSpc>
                  <a:spcPct val="90000"/>
                </a:lnSpc>
                <a:spcBef>
                  <a:spcPct val="20000"/>
                </a:spcBef>
                <a:spcAft>
                  <a:spcPct val="20000"/>
                </a:spcAft>
                <a:buChar char="–"/>
                <a:defRPr sz="1200">
                  <a:solidFill>
                    <a:srgbClr val="004D75"/>
                  </a:solidFill>
                  <a:latin typeface="Verdana" pitchFamily="34" charset="0"/>
                </a:defRPr>
              </a:lvl4pPr>
              <a:lvl5pPr marL="2057400" indent="-228600">
                <a:lnSpc>
                  <a:spcPct val="90000"/>
                </a:lnSpc>
                <a:spcBef>
                  <a:spcPct val="20000"/>
                </a:spcBef>
                <a:spcAft>
                  <a:spcPct val="20000"/>
                </a:spcAft>
                <a:buChar char="»"/>
                <a:defRPr sz="1200">
                  <a:solidFill>
                    <a:srgbClr val="004D75"/>
                  </a:solidFill>
                  <a:latin typeface="Verdana"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itchFamily="34" charset="0"/>
                </a:defRPr>
              </a:lvl9pPr>
            </a:lstStyle>
            <a:p>
              <a:pPr algn="ctr" eaLnBrk="0" fontAlgn="base" hangingPunct="0">
                <a:lnSpc>
                  <a:spcPct val="100000"/>
                </a:lnSpc>
                <a:spcBef>
                  <a:spcPct val="0"/>
                </a:spcBef>
                <a:spcAft>
                  <a:spcPct val="0"/>
                </a:spcAft>
                <a:buFontTx/>
                <a:buNone/>
              </a:pPr>
              <a:r>
                <a:rPr lang="en-GB" altLang="en-US" sz="1600" b="1" i="1">
                  <a:solidFill>
                    <a:srgbClr val="000000"/>
                  </a:solidFill>
                  <a:latin typeface="Times New Roman" pitchFamily="18" charset="0"/>
                  <a:cs typeface="Arial" charset="0"/>
                </a:rPr>
                <a:t>Yes</a:t>
              </a:r>
            </a:p>
          </p:txBody>
        </p:sp>
      </p:grpSp>
      <p:sp>
        <p:nvSpPr>
          <p:cNvPr id="461872" name="Text Box 48"/>
          <p:cNvSpPr txBox="1">
            <a:spLocks noChangeArrowheads="1"/>
          </p:cNvSpPr>
          <p:nvPr/>
        </p:nvSpPr>
        <p:spPr bwMode="auto">
          <a:xfrm>
            <a:off x="55563" y="6261100"/>
            <a:ext cx="54594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30000"/>
              </a:spcBef>
              <a:spcAft>
                <a:spcPct val="20000"/>
              </a:spcAft>
              <a:buChar char="•"/>
              <a:defRPr>
                <a:solidFill>
                  <a:srgbClr val="004D75"/>
                </a:solidFill>
                <a:latin typeface="Verdana" pitchFamily="34" charset="0"/>
              </a:defRPr>
            </a:lvl1pPr>
            <a:lvl2pPr marL="742950" indent="-285750">
              <a:lnSpc>
                <a:spcPct val="90000"/>
              </a:lnSpc>
              <a:spcBef>
                <a:spcPct val="20000"/>
              </a:spcBef>
              <a:spcAft>
                <a:spcPct val="10000"/>
              </a:spcAft>
              <a:buChar char="–"/>
              <a:defRPr sz="1500">
                <a:solidFill>
                  <a:srgbClr val="004D75"/>
                </a:solidFill>
                <a:latin typeface="Verdana" pitchFamily="34" charset="0"/>
              </a:defRPr>
            </a:lvl2pPr>
            <a:lvl3pPr marL="1143000" indent="-228600">
              <a:lnSpc>
                <a:spcPct val="90000"/>
              </a:lnSpc>
              <a:spcBef>
                <a:spcPct val="20000"/>
              </a:spcBef>
              <a:spcAft>
                <a:spcPct val="20000"/>
              </a:spcAft>
              <a:buChar char="•"/>
              <a:defRPr sz="1200">
                <a:solidFill>
                  <a:srgbClr val="004D75"/>
                </a:solidFill>
                <a:latin typeface="Verdana" pitchFamily="34" charset="0"/>
              </a:defRPr>
            </a:lvl3pPr>
            <a:lvl4pPr marL="1600200" indent="-228600">
              <a:lnSpc>
                <a:spcPct val="90000"/>
              </a:lnSpc>
              <a:spcBef>
                <a:spcPct val="20000"/>
              </a:spcBef>
              <a:spcAft>
                <a:spcPct val="20000"/>
              </a:spcAft>
              <a:buChar char="–"/>
              <a:defRPr sz="1200">
                <a:solidFill>
                  <a:srgbClr val="004D75"/>
                </a:solidFill>
                <a:latin typeface="Verdana" pitchFamily="34" charset="0"/>
              </a:defRPr>
            </a:lvl4pPr>
            <a:lvl5pPr marL="2057400" indent="-228600">
              <a:lnSpc>
                <a:spcPct val="90000"/>
              </a:lnSpc>
              <a:spcBef>
                <a:spcPct val="20000"/>
              </a:spcBef>
              <a:spcAft>
                <a:spcPct val="20000"/>
              </a:spcAft>
              <a:buChar char="»"/>
              <a:defRPr sz="1200">
                <a:solidFill>
                  <a:srgbClr val="004D75"/>
                </a:solidFill>
                <a:latin typeface="Verdana"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itchFamily="34" charset="0"/>
              </a:defRPr>
            </a:lvl9pPr>
          </a:lstStyle>
          <a:p>
            <a:pPr eaLnBrk="0" fontAlgn="base" hangingPunct="0">
              <a:lnSpc>
                <a:spcPct val="100000"/>
              </a:lnSpc>
              <a:spcBef>
                <a:spcPct val="0"/>
              </a:spcBef>
              <a:spcAft>
                <a:spcPct val="0"/>
              </a:spcAft>
              <a:buFont typeface="Symbol" pitchFamily="18" charset="2"/>
              <a:buNone/>
            </a:pPr>
            <a:r>
              <a:rPr lang="en-GB" altLang="en-US" sz="1300" b="1">
                <a:solidFill>
                  <a:srgbClr val="000000"/>
                </a:solidFill>
                <a:latin typeface="Times New Roman" pitchFamily="18" charset="0"/>
                <a:cs typeface="Arial" charset="0"/>
              </a:rPr>
              <a:t>See :</a:t>
            </a:r>
            <a:r>
              <a:rPr lang="en-GB" altLang="en-US" sz="1300">
                <a:solidFill>
                  <a:srgbClr val="000000"/>
                </a:solidFill>
                <a:latin typeface="Times New Roman" pitchFamily="18" charset="0"/>
                <a:cs typeface="Arial" charset="0"/>
              </a:rPr>
              <a:t> </a:t>
            </a:r>
            <a:r>
              <a:rPr lang="en-US" altLang="en-US" sz="1300">
                <a:solidFill>
                  <a:srgbClr val="000000"/>
                </a:solidFill>
                <a:latin typeface="Times New Roman" pitchFamily="18" charset="0"/>
                <a:cs typeface="Arial" charset="0"/>
              </a:rPr>
              <a:t>Hoffer, J. A., George, J. F., and Valacich, J. S. (2001). </a:t>
            </a:r>
            <a:r>
              <a:rPr lang="en-US" altLang="en-US" sz="1300" i="1">
                <a:solidFill>
                  <a:srgbClr val="000000"/>
                </a:solidFill>
                <a:latin typeface="Times New Roman" pitchFamily="18" charset="0"/>
                <a:cs typeface="Arial" charset="0"/>
              </a:rPr>
              <a:t>Modern Systems Analysis and Design</a:t>
            </a:r>
            <a:r>
              <a:rPr lang="en-US" altLang="en-US" sz="1300">
                <a:solidFill>
                  <a:srgbClr val="000000"/>
                </a:solidFill>
                <a:latin typeface="Times New Roman" pitchFamily="18" charset="0"/>
                <a:cs typeface="Arial" charset="0"/>
              </a:rPr>
              <a:t>.  3rd Edition, PP 292,  Prentice-Hall International,.  </a:t>
            </a:r>
            <a:endParaRPr lang="en-GB" altLang="en-US" sz="1300">
              <a:solidFill>
                <a:srgbClr val="000000"/>
              </a:solidFill>
              <a:latin typeface="Times New Roman" pitchFamily="18" charset="0"/>
              <a:cs typeface="Arial" charset="0"/>
            </a:endParaRPr>
          </a:p>
        </p:txBody>
      </p:sp>
      <p:grpSp>
        <p:nvGrpSpPr>
          <p:cNvPr id="6" name="Group 84"/>
          <p:cNvGrpSpPr>
            <a:grpSpLocks/>
          </p:cNvGrpSpPr>
          <p:nvPr/>
        </p:nvGrpSpPr>
        <p:grpSpPr bwMode="auto">
          <a:xfrm>
            <a:off x="1627188" y="2159000"/>
            <a:ext cx="1497012" cy="1185863"/>
            <a:chOff x="1025" y="1360"/>
            <a:chExt cx="943" cy="747"/>
          </a:xfrm>
        </p:grpSpPr>
        <p:sp>
          <p:nvSpPr>
            <p:cNvPr id="52259" name="Text Box 49"/>
            <p:cNvSpPr txBox="1">
              <a:spLocks noChangeArrowheads="1"/>
            </p:cNvSpPr>
            <p:nvPr/>
          </p:nvSpPr>
          <p:spPr bwMode="auto">
            <a:xfrm rot="-46932">
              <a:off x="1025" y="1427"/>
              <a:ext cx="45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30000"/>
                </a:spcBef>
                <a:spcAft>
                  <a:spcPct val="20000"/>
                </a:spcAft>
                <a:buChar char="•"/>
                <a:defRPr>
                  <a:solidFill>
                    <a:srgbClr val="004D75"/>
                  </a:solidFill>
                  <a:latin typeface="Verdana" pitchFamily="34" charset="0"/>
                </a:defRPr>
              </a:lvl1pPr>
              <a:lvl2pPr marL="742950" indent="-285750">
                <a:lnSpc>
                  <a:spcPct val="90000"/>
                </a:lnSpc>
                <a:spcBef>
                  <a:spcPct val="20000"/>
                </a:spcBef>
                <a:spcAft>
                  <a:spcPct val="10000"/>
                </a:spcAft>
                <a:buChar char="–"/>
                <a:defRPr sz="1500">
                  <a:solidFill>
                    <a:srgbClr val="004D75"/>
                  </a:solidFill>
                  <a:latin typeface="Verdana" pitchFamily="34" charset="0"/>
                </a:defRPr>
              </a:lvl2pPr>
              <a:lvl3pPr marL="1143000" indent="-228600">
                <a:lnSpc>
                  <a:spcPct val="90000"/>
                </a:lnSpc>
                <a:spcBef>
                  <a:spcPct val="20000"/>
                </a:spcBef>
                <a:spcAft>
                  <a:spcPct val="20000"/>
                </a:spcAft>
                <a:buChar char="•"/>
                <a:defRPr sz="1200">
                  <a:solidFill>
                    <a:srgbClr val="004D75"/>
                  </a:solidFill>
                  <a:latin typeface="Verdana" pitchFamily="34" charset="0"/>
                </a:defRPr>
              </a:lvl3pPr>
              <a:lvl4pPr marL="1600200" indent="-228600">
                <a:lnSpc>
                  <a:spcPct val="90000"/>
                </a:lnSpc>
                <a:spcBef>
                  <a:spcPct val="20000"/>
                </a:spcBef>
                <a:spcAft>
                  <a:spcPct val="20000"/>
                </a:spcAft>
                <a:buChar char="–"/>
                <a:defRPr sz="1200">
                  <a:solidFill>
                    <a:srgbClr val="004D75"/>
                  </a:solidFill>
                  <a:latin typeface="Verdana" pitchFamily="34" charset="0"/>
                </a:defRPr>
              </a:lvl4pPr>
              <a:lvl5pPr marL="2057400" indent="-228600">
                <a:lnSpc>
                  <a:spcPct val="90000"/>
                </a:lnSpc>
                <a:spcBef>
                  <a:spcPct val="20000"/>
                </a:spcBef>
                <a:spcAft>
                  <a:spcPct val="20000"/>
                </a:spcAft>
                <a:buChar char="»"/>
                <a:defRPr sz="1200">
                  <a:solidFill>
                    <a:srgbClr val="004D75"/>
                  </a:solidFill>
                  <a:latin typeface="Verdana"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itchFamily="34" charset="0"/>
                </a:defRPr>
              </a:lvl9pPr>
            </a:lstStyle>
            <a:p>
              <a:pPr algn="ctr" eaLnBrk="0" fontAlgn="base" hangingPunct="0">
                <a:lnSpc>
                  <a:spcPct val="100000"/>
                </a:lnSpc>
                <a:spcBef>
                  <a:spcPct val="0"/>
                </a:spcBef>
                <a:spcAft>
                  <a:spcPct val="0"/>
                </a:spcAft>
                <a:buFontTx/>
                <a:buNone/>
              </a:pPr>
              <a:r>
                <a:rPr lang="en-GB" altLang="en-US" sz="1600" b="1" i="1">
                  <a:solidFill>
                    <a:srgbClr val="000000"/>
                  </a:solidFill>
                  <a:latin typeface="Times New Roman" pitchFamily="18" charset="0"/>
                  <a:cs typeface="Arial" charset="0"/>
                </a:rPr>
                <a:t>No</a:t>
              </a:r>
            </a:p>
          </p:txBody>
        </p:sp>
        <p:grpSp>
          <p:nvGrpSpPr>
            <p:cNvPr id="52260" name="Group 50"/>
            <p:cNvGrpSpPr>
              <a:grpSpLocks/>
            </p:cNvGrpSpPr>
            <p:nvPr/>
          </p:nvGrpSpPr>
          <p:grpSpPr bwMode="auto">
            <a:xfrm>
              <a:off x="1624" y="1736"/>
              <a:ext cx="344" cy="371"/>
              <a:chOff x="136" y="2488"/>
              <a:chExt cx="1176" cy="651"/>
            </a:xfrm>
          </p:grpSpPr>
          <p:sp>
            <p:nvSpPr>
              <p:cNvPr id="461875" name="Oval 51"/>
              <p:cNvSpPr>
                <a:spLocks noChangeArrowheads="1"/>
              </p:cNvSpPr>
              <p:nvPr/>
            </p:nvSpPr>
            <p:spPr bwMode="auto">
              <a:xfrm>
                <a:off x="136" y="2488"/>
                <a:ext cx="1176" cy="528"/>
              </a:xfrm>
              <a:prstGeom prst="ellipse">
                <a:avLst/>
              </a:prstGeom>
              <a:ln>
                <a:headEnd type="none" w="sm" len="sm"/>
                <a:tailEnd type="none" w="sm" len="sm"/>
              </a:ln>
            </p:spPr>
            <p:style>
              <a:lnRef idx="2">
                <a:schemeClr val="dk1"/>
              </a:lnRef>
              <a:fillRef idx="1">
                <a:schemeClr val="lt1"/>
              </a:fillRef>
              <a:effectRef idx="0">
                <a:schemeClr val="dk1"/>
              </a:effectRef>
              <a:fontRef idx="minor">
                <a:schemeClr val="dk1"/>
              </a:fontRef>
            </p:style>
            <p:txBody>
              <a:bodyPr wrap="none" anchor="ctr"/>
              <a:lstStyle/>
              <a:p>
                <a:pPr eaLnBrk="0" fontAlgn="base" hangingPunct="0">
                  <a:spcBef>
                    <a:spcPct val="0"/>
                  </a:spcBef>
                  <a:spcAft>
                    <a:spcPct val="0"/>
                  </a:spcAft>
                  <a:defRPr/>
                </a:pPr>
                <a:endParaRPr lang="en-MY" sz="1000" dirty="0">
                  <a:solidFill>
                    <a:srgbClr val="000000"/>
                  </a:solidFill>
                </a:endParaRPr>
              </a:p>
            </p:txBody>
          </p:sp>
          <p:sp>
            <p:nvSpPr>
              <p:cNvPr id="52263" name="Text Box 52"/>
              <p:cNvSpPr txBox="1">
                <a:spLocks noChangeArrowheads="1"/>
              </p:cNvSpPr>
              <p:nvPr/>
            </p:nvSpPr>
            <p:spPr bwMode="auto">
              <a:xfrm>
                <a:off x="346" y="2556"/>
                <a:ext cx="811" cy="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30000"/>
                  </a:spcBef>
                  <a:spcAft>
                    <a:spcPct val="20000"/>
                  </a:spcAft>
                  <a:buChar char="•"/>
                  <a:defRPr>
                    <a:solidFill>
                      <a:srgbClr val="004D75"/>
                    </a:solidFill>
                    <a:latin typeface="Verdana" pitchFamily="34" charset="0"/>
                  </a:defRPr>
                </a:lvl1pPr>
                <a:lvl2pPr marL="742950" indent="-285750">
                  <a:lnSpc>
                    <a:spcPct val="90000"/>
                  </a:lnSpc>
                  <a:spcBef>
                    <a:spcPct val="20000"/>
                  </a:spcBef>
                  <a:spcAft>
                    <a:spcPct val="10000"/>
                  </a:spcAft>
                  <a:buChar char="–"/>
                  <a:defRPr sz="1500">
                    <a:solidFill>
                      <a:srgbClr val="004D75"/>
                    </a:solidFill>
                    <a:latin typeface="Verdana" pitchFamily="34" charset="0"/>
                  </a:defRPr>
                </a:lvl2pPr>
                <a:lvl3pPr marL="1143000" indent="-228600">
                  <a:lnSpc>
                    <a:spcPct val="90000"/>
                  </a:lnSpc>
                  <a:spcBef>
                    <a:spcPct val="20000"/>
                  </a:spcBef>
                  <a:spcAft>
                    <a:spcPct val="20000"/>
                  </a:spcAft>
                  <a:buChar char="•"/>
                  <a:defRPr sz="1200">
                    <a:solidFill>
                      <a:srgbClr val="004D75"/>
                    </a:solidFill>
                    <a:latin typeface="Verdana" pitchFamily="34" charset="0"/>
                  </a:defRPr>
                </a:lvl3pPr>
                <a:lvl4pPr marL="1600200" indent="-228600">
                  <a:lnSpc>
                    <a:spcPct val="90000"/>
                  </a:lnSpc>
                  <a:spcBef>
                    <a:spcPct val="20000"/>
                  </a:spcBef>
                  <a:spcAft>
                    <a:spcPct val="20000"/>
                  </a:spcAft>
                  <a:buChar char="–"/>
                  <a:defRPr sz="1200">
                    <a:solidFill>
                      <a:srgbClr val="004D75"/>
                    </a:solidFill>
                    <a:latin typeface="Verdana" pitchFamily="34" charset="0"/>
                  </a:defRPr>
                </a:lvl4pPr>
                <a:lvl5pPr marL="2057400" indent="-228600">
                  <a:lnSpc>
                    <a:spcPct val="90000"/>
                  </a:lnSpc>
                  <a:spcBef>
                    <a:spcPct val="20000"/>
                  </a:spcBef>
                  <a:spcAft>
                    <a:spcPct val="20000"/>
                  </a:spcAft>
                  <a:buChar char="»"/>
                  <a:defRPr sz="1200">
                    <a:solidFill>
                      <a:srgbClr val="004D75"/>
                    </a:solidFill>
                    <a:latin typeface="Verdana"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itchFamily="34" charset="0"/>
                  </a:defRPr>
                </a:lvl9pPr>
              </a:lstStyle>
              <a:p>
                <a:pPr algn="ctr" eaLnBrk="0" fontAlgn="base" hangingPunct="0">
                  <a:lnSpc>
                    <a:spcPct val="100000"/>
                  </a:lnSpc>
                  <a:spcBef>
                    <a:spcPct val="0"/>
                  </a:spcBef>
                  <a:spcAft>
                    <a:spcPct val="0"/>
                  </a:spcAft>
                  <a:buFontTx/>
                  <a:buNone/>
                </a:pPr>
                <a:r>
                  <a:rPr lang="en-GB" altLang="en-US" sz="1400" b="1">
                    <a:solidFill>
                      <a:srgbClr val="000000"/>
                    </a:solidFill>
                    <a:latin typeface="Times New Roman" pitchFamily="18" charset="0"/>
                    <a:cs typeface="Arial" charset="0"/>
                  </a:rPr>
                  <a:t>2 </a:t>
                </a:r>
                <a:endParaRPr lang="en-GB" altLang="en-US" sz="1200" b="1">
                  <a:solidFill>
                    <a:srgbClr val="000000"/>
                  </a:solidFill>
                  <a:latin typeface="Times New Roman" pitchFamily="18" charset="0"/>
                  <a:cs typeface="Arial" charset="0"/>
                </a:endParaRPr>
              </a:p>
            </p:txBody>
          </p:sp>
        </p:grpSp>
        <p:sp>
          <p:nvSpPr>
            <p:cNvPr id="52261" name="Line 73"/>
            <p:cNvSpPr>
              <a:spLocks noChangeShapeType="1"/>
            </p:cNvSpPr>
            <p:nvPr/>
          </p:nvSpPr>
          <p:spPr bwMode="auto">
            <a:xfrm flipH="1" flipV="1">
              <a:off x="1256" y="1360"/>
              <a:ext cx="416" cy="416"/>
            </a:xfrm>
            <a:prstGeom prst="line">
              <a:avLst/>
            </a:prstGeom>
            <a:noFill/>
            <a:ln w="22225">
              <a:solidFill>
                <a:schemeClr val="tx1"/>
              </a:solidFill>
              <a:round/>
              <a:headEnd type="none" w="lg" len="med"/>
              <a:tailEnd type="none" w="lg"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1000">
                <a:solidFill>
                  <a:srgbClr val="004D75"/>
                </a:solidFill>
                <a:cs typeface="Arial" charset="0"/>
              </a:endParaRPr>
            </a:p>
          </p:txBody>
        </p:sp>
      </p:grpSp>
      <p:grpSp>
        <p:nvGrpSpPr>
          <p:cNvPr id="8" name="Group 85"/>
          <p:cNvGrpSpPr>
            <a:grpSpLocks/>
          </p:cNvGrpSpPr>
          <p:nvPr/>
        </p:nvGrpSpPr>
        <p:grpSpPr bwMode="auto">
          <a:xfrm>
            <a:off x="3098800" y="2374900"/>
            <a:ext cx="4787900" cy="838200"/>
            <a:chOff x="1952" y="1496"/>
            <a:chExt cx="3016" cy="528"/>
          </a:xfrm>
        </p:grpSpPr>
        <p:sp>
          <p:nvSpPr>
            <p:cNvPr id="52253" name="Line 75"/>
            <p:cNvSpPr>
              <a:spLocks noChangeShapeType="1"/>
            </p:cNvSpPr>
            <p:nvPr/>
          </p:nvSpPr>
          <p:spPr bwMode="auto">
            <a:xfrm flipH="1">
              <a:off x="1952" y="1848"/>
              <a:ext cx="1880" cy="8"/>
            </a:xfrm>
            <a:prstGeom prst="line">
              <a:avLst/>
            </a:prstGeom>
            <a:noFill/>
            <a:ln w="22225">
              <a:solidFill>
                <a:schemeClr val="tx1"/>
              </a:solidFill>
              <a:round/>
              <a:headEnd type="none" w="lg" len="med"/>
              <a:tailEnd type="none" w="lg"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1000">
                <a:solidFill>
                  <a:srgbClr val="004D75"/>
                </a:solidFill>
                <a:cs typeface="Arial" charset="0"/>
              </a:endParaRPr>
            </a:p>
          </p:txBody>
        </p:sp>
        <p:grpSp>
          <p:nvGrpSpPr>
            <p:cNvPr id="52254" name="Group 66"/>
            <p:cNvGrpSpPr>
              <a:grpSpLocks/>
            </p:cNvGrpSpPr>
            <p:nvPr/>
          </p:nvGrpSpPr>
          <p:grpSpPr bwMode="auto">
            <a:xfrm>
              <a:off x="3792" y="1496"/>
              <a:ext cx="1176" cy="528"/>
              <a:chOff x="3792" y="1496"/>
              <a:chExt cx="1176" cy="528"/>
            </a:xfrm>
          </p:grpSpPr>
          <p:sp>
            <p:nvSpPr>
              <p:cNvPr id="461884" name="Oval 60"/>
              <p:cNvSpPr>
                <a:spLocks noChangeArrowheads="1"/>
              </p:cNvSpPr>
              <p:nvPr/>
            </p:nvSpPr>
            <p:spPr bwMode="auto">
              <a:xfrm>
                <a:off x="3792" y="1496"/>
                <a:ext cx="1176" cy="528"/>
              </a:xfrm>
              <a:prstGeom prst="ellipse">
                <a:avLst/>
              </a:prstGeom>
              <a:ln>
                <a:headEnd type="none" w="sm" len="sm"/>
                <a:tailEnd type="none" w="sm" len="sm"/>
              </a:ln>
            </p:spPr>
            <p:style>
              <a:lnRef idx="2">
                <a:schemeClr val="dk1"/>
              </a:lnRef>
              <a:fillRef idx="1">
                <a:schemeClr val="lt1"/>
              </a:fillRef>
              <a:effectRef idx="0">
                <a:schemeClr val="dk1"/>
              </a:effectRef>
              <a:fontRef idx="minor">
                <a:schemeClr val="dk1"/>
              </a:fontRef>
            </p:style>
            <p:txBody>
              <a:bodyPr wrap="none" anchor="ctr"/>
              <a:lstStyle/>
              <a:p>
                <a:pPr eaLnBrk="0" fontAlgn="base" hangingPunct="0">
                  <a:spcBef>
                    <a:spcPct val="0"/>
                  </a:spcBef>
                  <a:spcAft>
                    <a:spcPct val="0"/>
                  </a:spcAft>
                  <a:defRPr/>
                </a:pPr>
                <a:endParaRPr lang="en-MY" sz="1000">
                  <a:solidFill>
                    <a:srgbClr val="000000"/>
                  </a:solidFill>
                </a:endParaRPr>
              </a:p>
            </p:txBody>
          </p:sp>
          <p:sp>
            <p:nvSpPr>
              <p:cNvPr id="52257" name="Text Box 61"/>
              <p:cNvSpPr txBox="1">
                <a:spLocks noChangeArrowheads="1"/>
              </p:cNvSpPr>
              <p:nvPr/>
            </p:nvSpPr>
            <p:spPr bwMode="auto">
              <a:xfrm>
                <a:off x="3914" y="1572"/>
                <a:ext cx="98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30000"/>
                  </a:spcBef>
                  <a:spcAft>
                    <a:spcPct val="20000"/>
                  </a:spcAft>
                  <a:buChar char="•"/>
                  <a:defRPr>
                    <a:solidFill>
                      <a:srgbClr val="004D75"/>
                    </a:solidFill>
                    <a:latin typeface="Verdana" pitchFamily="34" charset="0"/>
                  </a:defRPr>
                </a:lvl1pPr>
                <a:lvl2pPr marL="742950" indent="-285750">
                  <a:lnSpc>
                    <a:spcPct val="90000"/>
                  </a:lnSpc>
                  <a:spcBef>
                    <a:spcPct val="20000"/>
                  </a:spcBef>
                  <a:spcAft>
                    <a:spcPct val="10000"/>
                  </a:spcAft>
                  <a:buChar char="–"/>
                  <a:defRPr sz="1500">
                    <a:solidFill>
                      <a:srgbClr val="004D75"/>
                    </a:solidFill>
                    <a:latin typeface="Verdana" pitchFamily="34" charset="0"/>
                  </a:defRPr>
                </a:lvl2pPr>
                <a:lvl3pPr marL="1143000" indent="-228600">
                  <a:lnSpc>
                    <a:spcPct val="90000"/>
                  </a:lnSpc>
                  <a:spcBef>
                    <a:spcPct val="20000"/>
                  </a:spcBef>
                  <a:spcAft>
                    <a:spcPct val="20000"/>
                  </a:spcAft>
                  <a:buChar char="•"/>
                  <a:defRPr sz="1200">
                    <a:solidFill>
                      <a:srgbClr val="004D75"/>
                    </a:solidFill>
                    <a:latin typeface="Verdana" pitchFamily="34" charset="0"/>
                  </a:defRPr>
                </a:lvl3pPr>
                <a:lvl4pPr marL="1600200" indent="-228600">
                  <a:lnSpc>
                    <a:spcPct val="90000"/>
                  </a:lnSpc>
                  <a:spcBef>
                    <a:spcPct val="20000"/>
                  </a:spcBef>
                  <a:spcAft>
                    <a:spcPct val="20000"/>
                  </a:spcAft>
                  <a:buChar char="–"/>
                  <a:defRPr sz="1200">
                    <a:solidFill>
                      <a:srgbClr val="004D75"/>
                    </a:solidFill>
                    <a:latin typeface="Verdana" pitchFamily="34" charset="0"/>
                  </a:defRPr>
                </a:lvl4pPr>
                <a:lvl5pPr marL="2057400" indent="-228600">
                  <a:lnSpc>
                    <a:spcPct val="90000"/>
                  </a:lnSpc>
                  <a:spcBef>
                    <a:spcPct val="20000"/>
                  </a:spcBef>
                  <a:spcAft>
                    <a:spcPct val="20000"/>
                  </a:spcAft>
                  <a:buChar char="»"/>
                  <a:defRPr sz="1200">
                    <a:solidFill>
                      <a:srgbClr val="004D75"/>
                    </a:solidFill>
                    <a:latin typeface="Verdana"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itchFamily="34" charset="0"/>
                  </a:defRPr>
                </a:lvl9pPr>
              </a:lstStyle>
              <a:p>
                <a:pPr algn="ctr" eaLnBrk="0" fontAlgn="base" hangingPunct="0">
                  <a:lnSpc>
                    <a:spcPct val="100000"/>
                  </a:lnSpc>
                  <a:spcBef>
                    <a:spcPct val="0"/>
                  </a:spcBef>
                  <a:spcAft>
                    <a:spcPct val="0"/>
                  </a:spcAft>
                  <a:buFontTx/>
                  <a:buNone/>
                </a:pPr>
                <a:r>
                  <a:rPr lang="en-GB" altLang="en-US" sz="1400" b="1">
                    <a:solidFill>
                      <a:srgbClr val="000000"/>
                    </a:solidFill>
                    <a:latin typeface="Times New Roman" pitchFamily="18" charset="0"/>
                    <a:cs typeface="Arial" charset="0"/>
                  </a:rPr>
                  <a:t>Pay hourly wage;</a:t>
                </a:r>
                <a:endParaRPr lang="en-GB" altLang="en-US" sz="1200" b="1">
                  <a:solidFill>
                    <a:srgbClr val="000000"/>
                  </a:solidFill>
                  <a:latin typeface="Times New Roman" pitchFamily="18" charset="0"/>
                  <a:cs typeface="Arial" charset="0"/>
                </a:endParaRPr>
              </a:p>
            </p:txBody>
          </p:sp>
          <p:sp>
            <p:nvSpPr>
              <p:cNvPr id="52258" name="Text Box 62"/>
              <p:cNvSpPr txBox="1">
                <a:spLocks noChangeArrowheads="1"/>
              </p:cNvSpPr>
              <p:nvPr/>
            </p:nvSpPr>
            <p:spPr bwMode="auto">
              <a:xfrm>
                <a:off x="3922" y="1732"/>
                <a:ext cx="93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30000"/>
                  </a:spcBef>
                  <a:spcAft>
                    <a:spcPct val="20000"/>
                  </a:spcAft>
                  <a:buChar char="•"/>
                  <a:defRPr>
                    <a:solidFill>
                      <a:srgbClr val="004D75"/>
                    </a:solidFill>
                    <a:latin typeface="Verdana" pitchFamily="34" charset="0"/>
                  </a:defRPr>
                </a:lvl1pPr>
                <a:lvl2pPr marL="742950" indent="-285750">
                  <a:lnSpc>
                    <a:spcPct val="90000"/>
                  </a:lnSpc>
                  <a:spcBef>
                    <a:spcPct val="20000"/>
                  </a:spcBef>
                  <a:spcAft>
                    <a:spcPct val="10000"/>
                  </a:spcAft>
                  <a:buChar char="–"/>
                  <a:defRPr sz="1500">
                    <a:solidFill>
                      <a:srgbClr val="004D75"/>
                    </a:solidFill>
                    <a:latin typeface="Verdana" pitchFamily="34" charset="0"/>
                  </a:defRPr>
                </a:lvl2pPr>
                <a:lvl3pPr marL="1143000" indent="-228600">
                  <a:lnSpc>
                    <a:spcPct val="90000"/>
                  </a:lnSpc>
                  <a:spcBef>
                    <a:spcPct val="20000"/>
                  </a:spcBef>
                  <a:spcAft>
                    <a:spcPct val="20000"/>
                  </a:spcAft>
                  <a:buChar char="•"/>
                  <a:defRPr sz="1200">
                    <a:solidFill>
                      <a:srgbClr val="004D75"/>
                    </a:solidFill>
                    <a:latin typeface="Verdana" pitchFamily="34" charset="0"/>
                  </a:defRPr>
                </a:lvl3pPr>
                <a:lvl4pPr marL="1600200" indent="-228600">
                  <a:lnSpc>
                    <a:spcPct val="90000"/>
                  </a:lnSpc>
                  <a:spcBef>
                    <a:spcPct val="20000"/>
                  </a:spcBef>
                  <a:spcAft>
                    <a:spcPct val="20000"/>
                  </a:spcAft>
                  <a:buChar char="–"/>
                  <a:defRPr sz="1200">
                    <a:solidFill>
                      <a:srgbClr val="004D75"/>
                    </a:solidFill>
                    <a:latin typeface="Verdana" pitchFamily="34" charset="0"/>
                  </a:defRPr>
                </a:lvl4pPr>
                <a:lvl5pPr marL="2057400" indent="-228600">
                  <a:lnSpc>
                    <a:spcPct val="90000"/>
                  </a:lnSpc>
                  <a:spcBef>
                    <a:spcPct val="20000"/>
                  </a:spcBef>
                  <a:spcAft>
                    <a:spcPct val="20000"/>
                  </a:spcAft>
                  <a:buChar char="»"/>
                  <a:defRPr sz="1200">
                    <a:solidFill>
                      <a:srgbClr val="004D75"/>
                    </a:solidFill>
                    <a:latin typeface="Verdana"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itchFamily="34" charset="0"/>
                  </a:defRPr>
                </a:lvl9pPr>
              </a:lstStyle>
              <a:p>
                <a:pPr algn="ctr" eaLnBrk="0" fontAlgn="base" hangingPunct="0">
                  <a:lnSpc>
                    <a:spcPct val="100000"/>
                  </a:lnSpc>
                  <a:spcBef>
                    <a:spcPct val="0"/>
                  </a:spcBef>
                  <a:spcAft>
                    <a:spcPct val="0"/>
                  </a:spcAft>
                  <a:buFontTx/>
                  <a:buNone/>
                </a:pPr>
                <a:r>
                  <a:rPr lang="en-GB" altLang="en-US" sz="1400" b="1">
                    <a:solidFill>
                      <a:srgbClr val="000000"/>
                    </a:solidFill>
                    <a:latin typeface="Times New Roman" pitchFamily="18" charset="0"/>
                    <a:cs typeface="Arial" charset="0"/>
                  </a:rPr>
                  <a:t>Absence report</a:t>
                </a:r>
                <a:endParaRPr lang="en-GB" altLang="en-US" sz="1200" b="1">
                  <a:solidFill>
                    <a:srgbClr val="000000"/>
                  </a:solidFill>
                  <a:latin typeface="Times New Roman" pitchFamily="18" charset="0"/>
                  <a:cs typeface="Arial" charset="0"/>
                </a:endParaRPr>
              </a:p>
            </p:txBody>
          </p:sp>
        </p:grpSp>
        <p:sp>
          <p:nvSpPr>
            <p:cNvPr id="52255" name="Text Box 76"/>
            <p:cNvSpPr txBox="1">
              <a:spLocks noChangeArrowheads="1"/>
            </p:cNvSpPr>
            <p:nvPr/>
          </p:nvSpPr>
          <p:spPr bwMode="auto">
            <a:xfrm rot="-46932">
              <a:off x="1961" y="1675"/>
              <a:ext cx="45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30000"/>
                </a:spcBef>
                <a:spcAft>
                  <a:spcPct val="20000"/>
                </a:spcAft>
                <a:buChar char="•"/>
                <a:defRPr>
                  <a:solidFill>
                    <a:srgbClr val="004D75"/>
                  </a:solidFill>
                  <a:latin typeface="Verdana" pitchFamily="34" charset="0"/>
                </a:defRPr>
              </a:lvl1pPr>
              <a:lvl2pPr marL="742950" indent="-285750">
                <a:lnSpc>
                  <a:spcPct val="90000"/>
                </a:lnSpc>
                <a:spcBef>
                  <a:spcPct val="20000"/>
                </a:spcBef>
                <a:spcAft>
                  <a:spcPct val="10000"/>
                </a:spcAft>
                <a:buChar char="–"/>
                <a:defRPr sz="1500">
                  <a:solidFill>
                    <a:srgbClr val="004D75"/>
                  </a:solidFill>
                  <a:latin typeface="Verdana" pitchFamily="34" charset="0"/>
                </a:defRPr>
              </a:lvl2pPr>
              <a:lvl3pPr marL="1143000" indent="-228600">
                <a:lnSpc>
                  <a:spcPct val="90000"/>
                </a:lnSpc>
                <a:spcBef>
                  <a:spcPct val="20000"/>
                </a:spcBef>
                <a:spcAft>
                  <a:spcPct val="20000"/>
                </a:spcAft>
                <a:buChar char="•"/>
                <a:defRPr sz="1200">
                  <a:solidFill>
                    <a:srgbClr val="004D75"/>
                  </a:solidFill>
                  <a:latin typeface="Verdana" pitchFamily="34" charset="0"/>
                </a:defRPr>
              </a:lvl3pPr>
              <a:lvl4pPr marL="1600200" indent="-228600">
                <a:lnSpc>
                  <a:spcPct val="90000"/>
                </a:lnSpc>
                <a:spcBef>
                  <a:spcPct val="20000"/>
                </a:spcBef>
                <a:spcAft>
                  <a:spcPct val="20000"/>
                </a:spcAft>
                <a:buChar char="–"/>
                <a:defRPr sz="1200">
                  <a:solidFill>
                    <a:srgbClr val="004D75"/>
                  </a:solidFill>
                  <a:latin typeface="Verdana" pitchFamily="34" charset="0"/>
                </a:defRPr>
              </a:lvl4pPr>
              <a:lvl5pPr marL="2057400" indent="-228600">
                <a:lnSpc>
                  <a:spcPct val="90000"/>
                </a:lnSpc>
                <a:spcBef>
                  <a:spcPct val="20000"/>
                </a:spcBef>
                <a:spcAft>
                  <a:spcPct val="20000"/>
                </a:spcAft>
                <a:buChar char="»"/>
                <a:defRPr sz="1200">
                  <a:solidFill>
                    <a:srgbClr val="004D75"/>
                  </a:solidFill>
                  <a:latin typeface="Verdana"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itchFamily="34" charset="0"/>
                </a:defRPr>
              </a:lvl9pPr>
            </a:lstStyle>
            <a:p>
              <a:pPr algn="ctr" eaLnBrk="0" fontAlgn="base" hangingPunct="0">
                <a:lnSpc>
                  <a:spcPct val="100000"/>
                </a:lnSpc>
                <a:spcBef>
                  <a:spcPct val="0"/>
                </a:spcBef>
                <a:spcAft>
                  <a:spcPct val="0"/>
                </a:spcAft>
                <a:buFontTx/>
                <a:buNone/>
              </a:pPr>
              <a:r>
                <a:rPr lang="en-GB" altLang="en-US" sz="1600" b="1" i="1">
                  <a:solidFill>
                    <a:srgbClr val="000000"/>
                  </a:solidFill>
                  <a:latin typeface="Times New Roman" pitchFamily="18" charset="0"/>
                  <a:cs typeface="Arial" charset="0"/>
                </a:rPr>
                <a:t>Yes</a:t>
              </a:r>
            </a:p>
          </p:txBody>
        </p:sp>
      </p:grpSp>
      <p:grpSp>
        <p:nvGrpSpPr>
          <p:cNvPr id="10" name="Group 87"/>
          <p:cNvGrpSpPr>
            <a:grpSpLocks/>
          </p:cNvGrpSpPr>
          <p:nvPr/>
        </p:nvGrpSpPr>
        <p:grpSpPr bwMode="auto">
          <a:xfrm>
            <a:off x="2643188" y="3175000"/>
            <a:ext cx="1433512" cy="982663"/>
            <a:chOff x="1665" y="2000"/>
            <a:chExt cx="903" cy="619"/>
          </a:xfrm>
        </p:grpSpPr>
        <p:grpSp>
          <p:nvGrpSpPr>
            <p:cNvPr id="52248" name="Group 53"/>
            <p:cNvGrpSpPr>
              <a:grpSpLocks/>
            </p:cNvGrpSpPr>
            <p:nvPr/>
          </p:nvGrpSpPr>
          <p:grpSpPr bwMode="auto">
            <a:xfrm>
              <a:off x="2224" y="2248"/>
              <a:ext cx="344" cy="371"/>
              <a:chOff x="136" y="2488"/>
              <a:chExt cx="1176" cy="651"/>
            </a:xfrm>
          </p:grpSpPr>
          <p:sp>
            <p:nvSpPr>
              <p:cNvPr id="461878" name="Oval 54"/>
              <p:cNvSpPr>
                <a:spLocks noChangeArrowheads="1"/>
              </p:cNvSpPr>
              <p:nvPr/>
            </p:nvSpPr>
            <p:spPr bwMode="auto">
              <a:xfrm>
                <a:off x="136" y="2488"/>
                <a:ext cx="1176" cy="528"/>
              </a:xfrm>
              <a:prstGeom prst="ellipse">
                <a:avLst/>
              </a:prstGeom>
              <a:ln>
                <a:headEnd type="none" w="sm" len="sm"/>
                <a:tailEnd type="none" w="sm" len="sm"/>
              </a:ln>
            </p:spPr>
            <p:style>
              <a:lnRef idx="2">
                <a:schemeClr val="dk1"/>
              </a:lnRef>
              <a:fillRef idx="1">
                <a:schemeClr val="lt1"/>
              </a:fillRef>
              <a:effectRef idx="0">
                <a:schemeClr val="dk1"/>
              </a:effectRef>
              <a:fontRef idx="minor">
                <a:schemeClr val="dk1"/>
              </a:fontRef>
            </p:style>
            <p:txBody>
              <a:bodyPr wrap="none" anchor="ctr"/>
              <a:lstStyle/>
              <a:p>
                <a:pPr eaLnBrk="0" fontAlgn="base" hangingPunct="0">
                  <a:spcBef>
                    <a:spcPct val="0"/>
                  </a:spcBef>
                  <a:spcAft>
                    <a:spcPct val="0"/>
                  </a:spcAft>
                  <a:defRPr/>
                </a:pPr>
                <a:endParaRPr lang="en-MY" sz="1000">
                  <a:solidFill>
                    <a:srgbClr val="000000"/>
                  </a:solidFill>
                </a:endParaRPr>
              </a:p>
            </p:txBody>
          </p:sp>
          <p:sp>
            <p:nvSpPr>
              <p:cNvPr id="52252" name="Text Box 55"/>
              <p:cNvSpPr txBox="1">
                <a:spLocks noChangeArrowheads="1"/>
              </p:cNvSpPr>
              <p:nvPr/>
            </p:nvSpPr>
            <p:spPr bwMode="auto">
              <a:xfrm>
                <a:off x="346" y="2556"/>
                <a:ext cx="811" cy="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30000"/>
                  </a:spcBef>
                  <a:spcAft>
                    <a:spcPct val="20000"/>
                  </a:spcAft>
                  <a:buChar char="•"/>
                  <a:defRPr>
                    <a:solidFill>
                      <a:srgbClr val="004D75"/>
                    </a:solidFill>
                    <a:latin typeface="Verdana" pitchFamily="34" charset="0"/>
                  </a:defRPr>
                </a:lvl1pPr>
                <a:lvl2pPr marL="742950" indent="-285750">
                  <a:lnSpc>
                    <a:spcPct val="90000"/>
                  </a:lnSpc>
                  <a:spcBef>
                    <a:spcPct val="20000"/>
                  </a:spcBef>
                  <a:spcAft>
                    <a:spcPct val="10000"/>
                  </a:spcAft>
                  <a:buChar char="–"/>
                  <a:defRPr sz="1500">
                    <a:solidFill>
                      <a:srgbClr val="004D75"/>
                    </a:solidFill>
                    <a:latin typeface="Verdana" pitchFamily="34" charset="0"/>
                  </a:defRPr>
                </a:lvl2pPr>
                <a:lvl3pPr marL="1143000" indent="-228600">
                  <a:lnSpc>
                    <a:spcPct val="90000"/>
                  </a:lnSpc>
                  <a:spcBef>
                    <a:spcPct val="20000"/>
                  </a:spcBef>
                  <a:spcAft>
                    <a:spcPct val="20000"/>
                  </a:spcAft>
                  <a:buChar char="•"/>
                  <a:defRPr sz="1200">
                    <a:solidFill>
                      <a:srgbClr val="004D75"/>
                    </a:solidFill>
                    <a:latin typeface="Verdana" pitchFamily="34" charset="0"/>
                  </a:defRPr>
                </a:lvl3pPr>
                <a:lvl4pPr marL="1600200" indent="-228600">
                  <a:lnSpc>
                    <a:spcPct val="90000"/>
                  </a:lnSpc>
                  <a:spcBef>
                    <a:spcPct val="20000"/>
                  </a:spcBef>
                  <a:spcAft>
                    <a:spcPct val="20000"/>
                  </a:spcAft>
                  <a:buChar char="–"/>
                  <a:defRPr sz="1200">
                    <a:solidFill>
                      <a:srgbClr val="004D75"/>
                    </a:solidFill>
                    <a:latin typeface="Verdana" pitchFamily="34" charset="0"/>
                  </a:defRPr>
                </a:lvl4pPr>
                <a:lvl5pPr marL="2057400" indent="-228600">
                  <a:lnSpc>
                    <a:spcPct val="90000"/>
                  </a:lnSpc>
                  <a:spcBef>
                    <a:spcPct val="20000"/>
                  </a:spcBef>
                  <a:spcAft>
                    <a:spcPct val="20000"/>
                  </a:spcAft>
                  <a:buChar char="»"/>
                  <a:defRPr sz="1200">
                    <a:solidFill>
                      <a:srgbClr val="004D75"/>
                    </a:solidFill>
                    <a:latin typeface="Verdana"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itchFamily="34" charset="0"/>
                  </a:defRPr>
                </a:lvl9pPr>
              </a:lstStyle>
              <a:p>
                <a:pPr algn="ctr" eaLnBrk="0" fontAlgn="base" hangingPunct="0">
                  <a:lnSpc>
                    <a:spcPct val="100000"/>
                  </a:lnSpc>
                  <a:spcBef>
                    <a:spcPct val="0"/>
                  </a:spcBef>
                  <a:spcAft>
                    <a:spcPct val="0"/>
                  </a:spcAft>
                  <a:buFontTx/>
                  <a:buNone/>
                </a:pPr>
                <a:r>
                  <a:rPr lang="en-GB" altLang="en-US" sz="1400" b="1">
                    <a:solidFill>
                      <a:srgbClr val="000000"/>
                    </a:solidFill>
                    <a:latin typeface="Times New Roman" pitchFamily="18" charset="0"/>
                    <a:cs typeface="Arial" charset="0"/>
                  </a:rPr>
                  <a:t>3 </a:t>
                </a:r>
                <a:endParaRPr lang="en-GB" altLang="en-US" sz="1200" b="1">
                  <a:solidFill>
                    <a:srgbClr val="000000"/>
                  </a:solidFill>
                  <a:latin typeface="Times New Roman" pitchFamily="18" charset="0"/>
                  <a:cs typeface="Arial" charset="0"/>
                </a:endParaRPr>
              </a:p>
            </p:txBody>
          </p:sp>
        </p:grpSp>
        <p:sp>
          <p:nvSpPr>
            <p:cNvPr id="52249" name="Line 74"/>
            <p:cNvSpPr>
              <a:spLocks noChangeShapeType="1"/>
            </p:cNvSpPr>
            <p:nvPr/>
          </p:nvSpPr>
          <p:spPr bwMode="auto">
            <a:xfrm flipH="1" flipV="1">
              <a:off x="1904" y="2000"/>
              <a:ext cx="336" cy="320"/>
            </a:xfrm>
            <a:prstGeom prst="line">
              <a:avLst/>
            </a:prstGeom>
            <a:noFill/>
            <a:ln w="22225">
              <a:solidFill>
                <a:schemeClr val="tx1"/>
              </a:solidFill>
              <a:round/>
              <a:headEnd type="none" w="lg" len="med"/>
              <a:tailEnd type="none" w="lg"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1000">
                <a:solidFill>
                  <a:srgbClr val="004D75"/>
                </a:solidFill>
                <a:cs typeface="Arial" charset="0"/>
              </a:endParaRPr>
            </a:p>
          </p:txBody>
        </p:sp>
        <p:sp>
          <p:nvSpPr>
            <p:cNvPr id="52250" name="Text Box 77"/>
            <p:cNvSpPr txBox="1">
              <a:spLocks noChangeArrowheads="1"/>
            </p:cNvSpPr>
            <p:nvPr/>
          </p:nvSpPr>
          <p:spPr bwMode="auto">
            <a:xfrm rot="-46932">
              <a:off x="1665" y="2027"/>
              <a:ext cx="45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30000"/>
                </a:spcBef>
                <a:spcAft>
                  <a:spcPct val="20000"/>
                </a:spcAft>
                <a:buChar char="•"/>
                <a:defRPr>
                  <a:solidFill>
                    <a:srgbClr val="004D75"/>
                  </a:solidFill>
                  <a:latin typeface="Verdana" pitchFamily="34" charset="0"/>
                </a:defRPr>
              </a:lvl1pPr>
              <a:lvl2pPr marL="742950" indent="-285750">
                <a:lnSpc>
                  <a:spcPct val="90000"/>
                </a:lnSpc>
                <a:spcBef>
                  <a:spcPct val="20000"/>
                </a:spcBef>
                <a:spcAft>
                  <a:spcPct val="10000"/>
                </a:spcAft>
                <a:buChar char="–"/>
                <a:defRPr sz="1500">
                  <a:solidFill>
                    <a:srgbClr val="004D75"/>
                  </a:solidFill>
                  <a:latin typeface="Verdana" pitchFamily="34" charset="0"/>
                </a:defRPr>
              </a:lvl2pPr>
              <a:lvl3pPr marL="1143000" indent="-228600">
                <a:lnSpc>
                  <a:spcPct val="90000"/>
                </a:lnSpc>
                <a:spcBef>
                  <a:spcPct val="20000"/>
                </a:spcBef>
                <a:spcAft>
                  <a:spcPct val="20000"/>
                </a:spcAft>
                <a:buChar char="•"/>
                <a:defRPr sz="1200">
                  <a:solidFill>
                    <a:srgbClr val="004D75"/>
                  </a:solidFill>
                  <a:latin typeface="Verdana" pitchFamily="34" charset="0"/>
                </a:defRPr>
              </a:lvl3pPr>
              <a:lvl4pPr marL="1600200" indent="-228600">
                <a:lnSpc>
                  <a:spcPct val="90000"/>
                </a:lnSpc>
                <a:spcBef>
                  <a:spcPct val="20000"/>
                </a:spcBef>
                <a:spcAft>
                  <a:spcPct val="20000"/>
                </a:spcAft>
                <a:buChar char="–"/>
                <a:defRPr sz="1200">
                  <a:solidFill>
                    <a:srgbClr val="004D75"/>
                  </a:solidFill>
                  <a:latin typeface="Verdana" pitchFamily="34" charset="0"/>
                </a:defRPr>
              </a:lvl4pPr>
              <a:lvl5pPr marL="2057400" indent="-228600">
                <a:lnSpc>
                  <a:spcPct val="90000"/>
                </a:lnSpc>
                <a:spcBef>
                  <a:spcPct val="20000"/>
                </a:spcBef>
                <a:spcAft>
                  <a:spcPct val="20000"/>
                </a:spcAft>
                <a:buChar char="»"/>
                <a:defRPr sz="1200">
                  <a:solidFill>
                    <a:srgbClr val="004D75"/>
                  </a:solidFill>
                  <a:latin typeface="Verdana"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itchFamily="34" charset="0"/>
                </a:defRPr>
              </a:lvl9pPr>
            </a:lstStyle>
            <a:p>
              <a:pPr algn="ctr" eaLnBrk="0" fontAlgn="base" hangingPunct="0">
                <a:lnSpc>
                  <a:spcPct val="100000"/>
                </a:lnSpc>
                <a:spcBef>
                  <a:spcPct val="0"/>
                </a:spcBef>
                <a:spcAft>
                  <a:spcPct val="0"/>
                </a:spcAft>
                <a:buFontTx/>
                <a:buNone/>
              </a:pPr>
              <a:r>
                <a:rPr lang="en-GB" altLang="en-US" sz="1600" b="1" i="1">
                  <a:solidFill>
                    <a:srgbClr val="000000"/>
                  </a:solidFill>
                  <a:latin typeface="Times New Roman" pitchFamily="18" charset="0"/>
                  <a:cs typeface="Arial" charset="0"/>
                </a:rPr>
                <a:t>No</a:t>
              </a:r>
            </a:p>
          </p:txBody>
        </p:sp>
      </p:grpSp>
      <p:grpSp>
        <p:nvGrpSpPr>
          <p:cNvPr id="12" name="Group 88"/>
          <p:cNvGrpSpPr>
            <a:grpSpLocks/>
          </p:cNvGrpSpPr>
          <p:nvPr/>
        </p:nvGrpSpPr>
        <p:grpSpPr bwMode="auto">
          <a:xfrm>
            <a:off x="4064000" y="3289300"/>
            <a:ext cx="3886200" cy="838200"/>
            <a:chOff x="2560" y="2072"/>
            <a:chExt cx="2448" cy="528"/>
          </a:xfrm>
        </p:grpSpPr>
        <p:grpSp>
          <p:nvGrpSpPr>
            <p:cNvPr id="52243" name="Group 67"/>
            <p:cNvGrpSpPr>
              <a:grpSpLocks/>
            </p:cNvGrpSpPr>
            <p:nvPr/>
          </p:nvGrpSpPr>
          <p:grpSpPr bwMode="auto">
            <a:xfrm>
              <a:off x="3832" y="2072"/>
              <a:ext cx="1176" cy="528"/>
              <a:chOff x="3728" y="2272"/>
              <a:chExt cx="1176" cy="528"/>
            </a:xfrm>
          </p:grpSpPr>
          <p:sp>
            <p:nvSpPr>
              <p:cNvPr id="461887" name="Oval 63"/>
              <p:cNvSpPr>
                <a:spLocks noChangeArrowheads="1"/>
              </p:cNvSpPr>
              <p:nvPr/>
            </p:nvSpPr>
            <p:spPr bwMode="auto">
              <a:xfrm>
                <a:off x="3728" y="2272"/>
                <a:ext cx="1176" cy="528"/>
              </a:xfrm>
              <a:prstGeom prst="ellipse">
                <a:avLst/>
              </a:prstGeom>
              <a:ln>
                <a:headEnd type="none" w="sm" len="sm"/>
                <a:tailEnd type="none" w="sm" len="sm"/>
              </a:ln>
            </p:spPr>
            <p:style>
              <a:lnRef idx="2">
                <a:schemeClr val="dk1"/>
              </a:lnRef>
              <a:fillRef idx="1">
                <a:schemeClr val="lt1"/>
              </a:fillRef>
              <a:effectRef idx="0">
                <a:schemeClr val="dk1"/>
              </a:effectRef>
              <a:fontRef idx="minor">
                <a:schemeClr val="dk1"/>
              </a:fontRef>
            </p:style>
            <p:txBody>
              <a:bodyPr wrap="none" anchor="ctr"/>
              <a:lstStyle/>
              <a:p>
                <a:pPr eaLnBrk="0" fontAlgn="base" hangingPunct="0">
                  <a:spcBef>
                    <a:spcPct val="0"/>
                  </a:spcBef>
                  <a:spcAft>
                    <a:spcPct val="0"/>
                  </a:spcAft>
                  <a:defRPr/>
                </a:pPr>
                <a:endParaRPr lang="en-MY" sz="1000">
                  <a:solidFill>
                    <a:srgbClr val="000000"/>
                  </a:solidFill>
                </a:endParaRPr>
              </a:p>
            </p:txBody>
          </p:sp>
          <p:sp>
            <p:nvSpPr>
              <p:cNvPr id="52247" name="Text Box 64"/>
              <p:cNvSpPr txBox="1">
                <a:spLocks noChangeArrowheads="1"/>
              </p:cNvSpPr>
              <p:nvPr/>
            </p:nvSpPr>
            <p:spPr bwMode="auto">
              <a:xfrm>
                <a:off x="3850" y="2436"/>
                <a:ext cx="98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30000"/>
                  </a:spcBef>
                  <a:spcAft>
                    <a:spcPct val="20000"/>
                  </a:spcAft>
                  <a:buChar char="•"/>
                  <a:defRPr>
                    <a:solidFill>
                      <a:srgbClr val="004D75"/>
                    </a:solidFill>
                    <a:latin typeface="Verdana" pitchFamily="34" charset="0"/>
                  </a:defRPr>
                </a:lvl1pPr>
                <a:lvl2pPr marL="742950" indent="-285750">
                  <a:lnSpc>
                    <a:spcPct val="90000"/>
                  </a:lnSpc>
                  <a:spcBef>
                    <a:spcPct val="20000"/>
                  </a:spcBef>
                  <a:spcAft>
                    <a:spcPct val="10000"/>
                  </a:spcAft>
                  <a:buChar char="–"/>
                  <a:defRPr sz="1500">
                    <a:solidFill>
                      <a:srgbClr val="004D75"/>
                    </a:solidFill>
                    <a:latin typeface="Verdana" pitchFamily="34" charset="0"/>
                  </a:defRPr>
                </a:lvl2pPr>
                <a:lvl3pPr marL="1143000" indent="-228600">
                  <a:lnSpc>
                    <a:spcPct val="90000"/>
                  </a:lnSpc>
                  <a:spcBef>
                    <a:spcPct val="20000"/>
                  </a:spcBef>
                  <a:spcAft>
                    <a:spcPct val="20000"/>
                  </a:spcAft>
                  <a:buChar char="•"/>
                  <a:defRPr sz="1200">
                    <a:solidFill>
                      <a:srgbClr val="004D75"/>
                    </a:solidFill>
                    <a:latin typeface="Verdana" pitchFamily="34" charset="0"/>
                  </a:defRPr>
                </a:lvl3pPr>
                <a:lvl4pPr marL="1600200" indent="-228600">
                  <a:lnSpc>
                    <a:spcPct val="90000"/>
                  </a:lnSpc>
                  <a:spcBef>
                    <a:spcPct val="20000"/>
                  </a:spcBef>
                  <a:spcAft>
                    <a:spcPct val="20000"/>
                  </a:spcAft>
                  <a:buChar char="–"/>
                  <a:defRPr sz="1200">
                    <a:solidFill>
                      <a:srgbClr val="004D75"/>
                    </a:solidFill>
                    <a:latin typeface="Verdana" pitchFamily="34" charset="0"/>
                  </a:defRPr>
                </a:lvl4pPr>
                <a:lvl5pPr marL="2057400" indent="-228600">
                  <a:lnSpc>
                    <a:spcPct val="90000"/>
                  </a:lnSpc>
                  <a:spcBef>
                    <a:spcPct val="20000"/>
                  </a:spcBef>
                  <a:spcAft>
                    <a:spcPct val="20000"/>
                  </a:spcAft>
                  <a:buChar char="»"/>
                  <a:defRPr sz="1200">
                    <a:solidFill>
                      <a:srgbClr val="004D75"/>
                    </a:solidFill>
                    <a:latin typeface="Verdana"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itchFamily="34" charset="0"/>
                  </a:defRPr>
                </a:lvl9pPr>
              </a:lstStyle>
              <a:p>
                <a:pPr algn="ctr" eaLnBrk="0" fontAlgn="base" hangingPunct="0">
                  <a:lnSpc>
                    <a:spcPct val="100000"/>
                  </a:lnSpc>
                  <a:spcBef>
                    <a:spcPct val="0"/>
                  </a:spcBef>
                  <a:spcAft>
                    <a:spcPct val="0"/>
                  </a:spcAft>
                  <a:buFontTx/>
                  <a:buNone/>
                </a:pPr>
                <a:r>
                  <a:rPr lang="en-GB" altLang="en-US" sz="1400" b="1">
                    <a:solidFill>
                      <a:srgbClr val="000000"/>
                    </a:solidFill>
                    <a:latin typeface="Times New Roman" pitchFamily="18" charset="0"/>
                    <a:cs typeface="Arial" charset="0"/>
                  </a:rPr>
                  <a:t>Pay hourly wage</a:t>
                </a:r>
                <a:endParaRPr lang="en-GB" altLang="en-US" sz="1200" b="1">
                  <a:solidFill>
                    <a:srgbClr val="000000"/>
                  </a:solidFill>
                  <a:latin typeface="Times New Roman" pitchFamily="18" charset="0"/>
                  <a:cs typeface="Arial" charset="0"/>
                </a:endParaRPr>
              </a:p>
            </p:txBody>
          </p:sp>
        </p:grpSp>
        <p:sp>
          <p:nvSpPr>
            <p:cNvPr id="52244" name="Line 78"/>
            <p:cNvSpPr>
              <a:spLocks noChangeShapeType="1"/>
            </p:cNvSpPr>
            <p:nvPr/>
          </p:nvSpPr>
          <p:spPr bwMode="auto">
            <a:xfrm flipH="1">
              <a:off x="2560" y="2408"/>
              <a:ext cx="1296" cy="8"/>
            </a:xfrm>
            <a:prstGeom prst="line">
              <a:avLst/>
            </a:prstGeom>
            <a:noFill/>
            <a:ln w="22225">
              <a:solidFill>
                <a:schemeClr val="tx1"/>
              </a:solidFill>
              <a:round/>
              <a:headEnd type="none" w="lg" len="med"/>
              <a:tailEnd type="none" w="lg"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1000">
                <a:solidFill>
                  <a:srgbClr val="004D75"/>
                </a:solidFill>
                <a:cs typeface="Arial" charset="0"/>
              </a:endParaRPr>
            </a:p>
          </p:txBody>
        </p:sp>
        <p:sp>
          <p:nvSpPr>
            <p:cNvPr id="52245" name="Text Box 79"/>
            <p:cNvSpPr txBox="1">
              <a:spLocks noChangeArrowheads="1"/>
            </p:cNvSpPr>
            <p:nvPr/>
          </p:nvSpPr>
          <p:spPr bwMode="auto">
            <a:xfrm rot="-46932">
              <a:off x="2585" y="2227"/>
              <a:ext cx="45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30000"/>
                </a:spcBef>
                <a:spcAft>
                  <a:spcPct val="20000"/>
                </a:spcAft>
                <a:buChar char="•"/>
                <a:defRPr>
                  <a:solidFill>
                    <a:srgbClr val="004D75"/>
                  </a:solidFill>
                  <a:latin typeface="Verdana" pitchFamily="34" charset="0"/>
                </a:defRPr>
              </a:lvl1pPr>
              <a:lvl2pPr marL="742950" indent="-285750">
                <a:lnSpc>
                  <a:spcPct val="90000"/>
                </a:lnSpc>
                <a:spcBef>
                  <a:spcPct val="20000"/>
                </a:spcBef>
                <a:spcAft>
                  <a:spcPct val="10000"/>
                </a:spcAft>
                <a:buChar char="–"/>
                <a:defRPr sz="1500">
                  <a:solidFill>
                    <a:srgbClr val="004D75"/>
                  </a:solidFill>
                  <a:latin typeface="Verdana" pitchFamily="34" charset="0"/>
                </a:defRPr>
              </a:lvl2pPr>
              <a:lvl3pPr marL="1143000" indent="-228600">
                <a:lnSpc>
                  <a:spcPct val="90000"/>
                </a:lnSpc>
                <a:spcBef>
                  <a:spcPct val="20000"/>
                </a:spcBef>
                <a:spcAft>
                  <a:spcPct val="20000"/>
                </a:spcAft>
                <a:buChar char="•"/>
                <a:defRPr sz="1200">
                  <a:solidFill>
                    <a:srgbClr val="004D75"/>
                  </a:solidFill>
                  <a:latin typeface="Verdana" pitchFamily="34" charset="0"/>
                </a:defRPr>
              </a:lvl3pPr>
              <a:lvl4pPr marL="1600200" indent="-228600">
                <a:lnSpc>
                  <a:spcPct val="90000"/>
                </a:lnSpc>
                <a:spcBef>
                  <a:spcPct val="20000"/>
                </a:spcBef>
                <a:spcAft>
                  <a:spcPct val="20000"/>
                </a:spcAft>
                <a:buChar char="–"/>
                <a:defRPr sz="1200">
                  <a:solidFill>
                    <a:srgbClr val="004D75"/>
                  </a:solidFill>
                  <a:latin typeface="Verdana" pitchFamily="34" charset="0"/>
                </a:defRPr>
              </a:lvl4pPr>
              <a:lvl5pPr marL="2057400" indent="-228600">
                <a:lnSpc>
                  <a:spcPct val="90000"/>
                </a:lnSpc>
                <a:spcBef>
                  <a:spcPct val="20000"/>
                </a:spcBef>
                <a:spcAft>
                  <a:spcPct val="20000"/>
                </a:spcAft>
                <a:buChar char="»"/>
                <a:defRPr sz="1200">
                  <a:solidFill>
                    <a:srgbClr val="004D75"/>
                  </a:solidFill>
                  <a:latin typeface="Verdana"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itchFamily="34" charset="0"/>
                </a:defRPr>
              </a:lvl9pPr>
            </a:lstStyle>
            <a:p>
              <a:pPr algn="ctr" eaLnBrk="0" fontAlgn="base" hangingPunct="0">
                <a:lnSpc>
                  <a:spcPct val="100000"/>
                </a:lnSpc>
                <a:spcBef>
                  <a:spcPct val="0"/>
                </a:spcBef>
                <a:spcAft>
                  <a:spcPct val="0"/>
                </a:spcAft>
                <a:buFontTx/>
                <a:buNone/>
              </a:pPr>
              <a:r>
                <a:rPr lang="en-GB" altLang="en-US" sz="1600" b="1" i="1">
                  <a:solidFill>
                    <a:srgbClr val="000000"/>
                  </a:solidFill>
                  <a:latin typeface="Times New Roman" pitchFamily="18" charset="0"/>
                  <a:cs typeface="Arial" charset="0"/>
                </a:rPr>
                <a:t>Yes</a:t>
              </a:r>
            </a:p>
          </p:txBody>
        </p:sp>
      </p:grpSp>
      <p:grpSp>
        <p:nvGrpSpPr>
          <p:cNvPr id="14" name="Group 89"/>
          <p:cNvGrpSpPr>
            <a:grpSpLocks/>
          </p:cNvGrpSpPr>
          <p:nvPr/>
        </p:nvGrpSpPr>
        <p:grpSpPr bwMode="auto">
          <a:xfrm>
            <a:off x="3845893" y="3916169"/>
            <a:ext cx="4231308" cy="1341635"/>
            <a:chOff x="2445" y="2711"/>
            <a:chExt cx="2664" cy="729"/>
          </a:xfrm>
        </p:grpSpPr>
        <p:grpSp>
          <p:nvGrpSpPr>
            <p:cNvPr id="52237" name="Group 72"/>
            <p:cNvGrpSpPr>
              <a:grpSpLocks/>
            </p:cNvGrpSpPr>
            <p:nvPr/>
          </p:nvGrpSpPr>
          <p:grpSpPr bwMode="auto">
            <a:xfrm>
              <a:off x="3904" y="2912"/>
              <a:ext cx="1205" cy="528"/>
              <a:chOff x="3848" y="3272"/>
              <a:chExt cx="1205" cy="528"/>
            </a:xfrm>
          </p:grpSpPr>
          <p:sp>
            <p:nvSpPr>
              <p:cNvPr id="461893" name="Oval 69"/>
              <p:cNvSpPr>
                <a:spLocks noChangeArrowheads="1"/>
              </p:cNvSpPr>
              <p:nvPr/>
            </p:nvSpPr>
            <p:spPr bwMode="auto">
              <a:xfrm>
                <a:off x="3848" y="3272"/>
                <a:ext cx="1176" cy="528"/>
              </a:xfrm>
              <a:prstGeom prst="ellipse">
                <a:avLst/>
              </a:prstGeom>
              <a:ln>
                <a:headEnd type="none" w="sm" len="sm"/>
                <a:tailEnd type="none" w="sm" len="sm"/>
              </a:ln>
            </p:spPr>
            <p:style>
              <a:lnRef idx="2">
                <a:schemeClr val="dk1"/>
              </a:lnRef>
              <a:fillRef idx="1">
                <a:schemeClr val="lt1"/>
              </a:fillRef>
              <a:effectRef idx="0">
                <a:schemeClr val="dk1"/>
              </a:effectRef>
              <a:fontRef idx="minor">
                <a:schemeClr val="dk1"/>
              </a:fontRef>
            </p:style>
            <p:txBody>
              <a:bodyPr wrap="none" anchor="ctr"/>
              <a:lstStyle/>
              <a:p>
                <a:pPr eaLnBrk="0" fontAlgn="base" hangingPunct="0">
                  <a:spcBef>
                    <a:spcPct val="0"/>
                  </a:spcBef>
                  <a:spcAft>
                    <a:spcPct val="0"/>
                  </a:spcAft>
                  <a:defRPr/>
                </a:pPr>
                <a:endParaRPr lang="en-MY" sz="1000">
                  <a:solidFill>
                    <a:srgbClr val="000000"/>
                  </a:solidFill>
                </a:endParaRPr>
              </a:p>
            </p:txBody>
          </p:sp>
          <p:sp>
            <p:nvSpPr>
              <p:cNvPr id="52241" name="Text Box 70"/>
              <p:cNvSpPr txBox="1">
                <a:spLocks noChangeArrowheads="1"/>
              </p:cNvSpPr>
              <p:nvPr/>
            </p:nvSpPr>
            <p:spPr bwMode="auto">
              <a:xfrm>
                <a:off x="3970" y="3348"/>
                <a:ext cx="98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30000"/>
                  </a:spcBef>
                  <a:spcAft>
                    <a:spcPct val="20000"/>
                  </a:spcAft>
                  <a:buChar char="•"/>
                  <a:defRPr>
                    <a:solidFill>
                      <a:srgbClr val="004D75"/>
                    </a:solidFill>
                    <a:latin typeface="Verdana" pitchFamily="34" charset="0"/>
                  </a:defRPr>
                </a:lvl1pPr>
                <a:lvl2pPr marL="742950" indent="-285750">
                  <a:lnSpc>
                    <a:spcPct val="90000"/>
                  </a:lnSpc>
                  <a:spcBef>
                    <a:spcPct val="20000"/>
                  </a:spcBef>
                  <a:spcAft>
                    <a:spcPct val="10000"/>
                  </a:spcAft>
                  <a:buChar char="–"/>
                  <a:defRPr sz="1500">
                    <a:solidFill>
                      <a:srgbClr val="004D75"/>
                    </a:solidFill>
                    <a:latin typeface="Verdana" pitchFamily="34" charset="0"/>
                  </a:defRPr>
                </a:lvl2pPr>
                <a:lvl3pPr marL="1143000" indent="-228600">
                  <a:lnSpc>
                    <a:spcPct val="90000"/>
                  </a:lnSpc>
                  <a:spcBef>
                    <a:spcPct val="20000"/>
                  </a:spcBef>
                  <a:spcAft>
                    <a:spcPct val="20000"/>
                  </a:spcAft>
                  <a:buChar char="•"/>
                  <a:defRPr sz="1200">
                    <a:solidFill>
                      <a:srgbClr val="004D75"/>
                    </a:solidFill>
                    <a:latin typeface="Verdana" pitchFamily="34" charset="0"/>
                  </a:defRPr>
                </a:lvl3pPr>
                <a:lvl4pPr marL="1600200" indent="-228600">
                  <a:lnSpc>
                    <a:spcPct val="90000"/>
                  </a:lnSpc>
                  <a:spcBef>
                    <a:spcPct val="20000"/>
                  </a:spcBef>
                  <a:spcAft>
                    <a:spcPct val="20000"/>
                  </a:spcAft>
                  <a:buChar char="–"/>
                  <a:defRPr sz="1200">
                    <a:solidFill>
                      <a:srgbClr val="004D75"/>
                    </a:solidFill>
                    <a:latin typeface="Verdana" pitchFamily="34" charset="0"/>
                  </a:defRPr>
                </a:lvl4pPr>
                <a:lvl5pPr marL="2057400" indent="-228600">
                  <a:lnSpc>
                    <a:spcPct val="90000"/>
                  </a:lnSpc>
                  <a:spcBef>
                    <a:spcPct val="20000"/>
                  </a:spcBef>
                  <a:spcAft>
                    <a:spcPct val="20000"/>
                  </a:spcAft>
                  <a:buChar char="»"/>
                  <a:defRPr sz="1200">
                    <a:solidFill>
                      <a:srgbClr val="004D75"/>
                    </a:solidFill>
                    <a:latin typeface="Verdana"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itchFamily="34" charset="0"/>
                  </a:defRPr>
                </a:lvl9pPr>
              </a:lstStyle>
              <a:p>
                <a:pPr algn="ctr" eaLnBrk="0" fontAlgn="base" hangingPunct="0">
                  <a:lnSpc>
                    <a:spcPct val="100000"/>
                  </a:lnSpc>
                  <a:spcBef>
                    <a:spcPct val="0"/>
                  </a:spcBef>
                  <a:spcAft>
                    <a:spcPct val="0"/>
                  </a:spcAft>
                  <a:buFontTx/>
                  <a:buNone/>
                </a:pPr>
                <a:r>
                  <a:rPr lang="en-GB" altLang="en-US" sz="1400" b="1">
                    <a:solidFill>
                      <a:srgbClr val="000000"/>
                    </a:solidFill>
                    <a:latin typeface="Times New Roman" pitchFamily="18" charset="0"/>
                    <a:cs typeface="Arial" charset="0"/>
                  </a:rPr>
                  <a:t>Pay hourly wage;</a:t>
                </a:r>
                <a:endParaRPr lang="en-GB" altLang="en-US" sz="1200" b="1">
                  <a:solidFill>
                    <a:srgbClr val="000000"/>
                  </a:solidFill>
                  <a:latin typeface="Times New Roman" pitchFamily="18" charset="0"/>
                  <a:cs typeface="Arial" charset="0"/>
                </a:endParaRPr>
              </a:p>
            </p:txBody>
          </p:sp>
          <p:sp>
            <p:nvSpPr>
              <p:cNvPr id="52242" name="Text Box 71"/>
              <p:cNvSpPr txBox="1">
                <a:spLocks noChangeArrowheads="1"/>
              </p:cNvSpPr>
              <p:nvPr/>
            </p:nvSpPr>
            <p:spPr bwMode="auto">
              <a:xfrm>
                <a:off x="3962" y="3508"/>
                <a:ext cx="109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30000"/>
                  </a:spcBef>
                  <a:spcAft>
                    <a:spcPct val="20000"/>
                  </a:spcAft>
                  <a:buChar char="•"/>
                  <a:defRPr>
                    <a:solidFill>
                      <a:srgbClr val="004D75"/>
                    </a:solidFill>
                    <a:latin typeface="Verdana" pitchFamily="34" charset="0"/>
                  </a:defRPr>
                </a:lvl1pPr>
                <a:lvl2pPr marL="742950" indent="-285750">
                  <a:lnSpc>
                    <a:spcPct val="90000"/>
                  </a:lnSpc>
                  <a:spcBef>
                    <a:spcPct val="20000"/>
                  </a:spcBef>
                  <a:spcAft>
                    <a:spcPct val="10000"/>
                  </a:spcAft>
                  <a:buChar char="–"/>
                  <a:defRPr sz="1500">
                    <a:solidFill>
                      <a:srgbClr val="004D75"/>
                    </a:solidFill>
                    <a:latin typeface="Verdana" pitchFamily="34" charset="0"/>
                  </a:defRPr>
                </a:lvl2pPr>
                <a:lvl3pPr marL="1143000" indent="-228600">
                  <a:lnSpc>
                    <a:spcPct val="90000"/>
                  </a:lnSpc>
                  <a:spcBef>
                    <a:spcPct val="20000"/>
                  </a:spcBef>
                  <a:spcAft>
                    <a:spcPct val="20000"/>
                  </a:spcAft>
                  <a:buChar char="•"/>
                  <a:defRPr sz="1200">
                    <a:solidFill>
                      <a:srgbClr val="004D75"/>
                    </a:solidFill>
                    <a:latin typeface="Verdana" pitchFamily="34" charset="0"/>
                  </a:defRPr>
                </a:lvl3pPr>
                <a:lvl4pPr marL="1600200" indent="-228600">
                  <a:lnSpc>
                    <a:spcPct val="90000"/>
                  </a:lnSpc>
                  <a:spcBef>
                    <a:spcPct val="20000"/>
                  </a:spcBef>
                  <a:spcAft>
                    <a:spcPct val="20000"/>
                  </a:spcAft>
                  <a:buChar char="–"/>
                  <a:defRPr sz="1200">
                    <a:solidFill>
                      <a:srgbClr val="004D75"/>
                    </a:solidFill>
                    <a:latin typeface="Verdana" pitchFamily="34" charset="0"/>
                  </a:defRPr>
                </a:lvl4pPr>
                <a:lvl5pPr marL="2057400" indent="-228600">
                  <a:lnSpc>
                    <a:spcPct val="90000"/>
                  </a:lnSpc>
                  <a:spcBef>
                    <a:spcPct val="20000"/>
                  </a:spcBef>
                  <a:spcAft>
                    <a:spcPct val="20000"/>
                  </a:spcAft>
                  <a:buChar char="»"/>
                  <a:defRPr sz="1200">
                    <a:solidFill>
                      <a:srgbClr val="004D75"/>
                    </a:solidFill>
                    <a:latin typeface="Verdana"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itchFamily="34" charset="0"/>
                  </a:defRPr>
                </a:lvl9pPr>
              </a:lstStyle>
              <a:p>
                <a:pPr algn="ctr" eaLnBrk="0" fontAlgn="base" hangingPunct="0">
                  <a:lnSpc>
                    <a:spcPct val="100000"/>
                  </a:lnSpc>
                  <a:spcBef>
                    <a:spcPct val="0"/>
                  </a:spcBef>
                  <a:spcAft>
                    <a:spcPct val="0"/>
                  </a:spcAft>
                  <a:buFontTx/>
                  <a:buNone/>
                </a:pPr>
                <a:r>
                  <a:rPr lang="en-GB" altLang="en-US" sz="1400" b="1">
                    <a:solidFill>
                      <a:srgbClr val="000000"/>
                    </a:solidFill>
                    <a:latin typeface="Times New Roman" pitchFamily="18" charset="0"/>
                    <a:cs typeface="Arial" charset="0"/>
                  </a:rPr>
                  <a:t>Pay overtime wage</a:t>
                </a:r>
                <a:endParaRPr lang="en-GB" altLang="en-US" sz="1200" b="1">
                  <a:solidFill>
                    <a:srgbClr val="000000"/>
                  </a:solidFill>
                  <a:latin typeface="Times New Roman" pitchFamily="18" charset="0"/>
                  <a:cs typeface="Arial" charset="0"/>
                </a:endParaRPr>
              </a:p>
            </p:txBody>
          </p:sp>
        </p:grpSp>
        <p:sp>
          <p:nvSpPr>
            <p:cNvPr id="52238" name="Line 80"/>
            <p:cNvSpPr>
              <a:spLocks noChangeShapeType="1"/>
            </p:cNvSpPr>
            <p:nvPr/>
          </p:nvSpPr>
          <p:spPr bwMode="auto">
            <a:xfrm flipH="1" flipV="1">
              <a:off x="2545" y="2711"/>
              <a:ext cx="1351" cy="457"/>
            </a:xfrm>
            <a:prstGeom prst="line">
              <a:avLst/>
            </a:prstGeom>
            <a:noFill/>
            <a:ln w="22225">
              <a:solidFill>
                <a:schemeClr val="tx1"/>
              </a:solidFill>
              <a:round/>
              <a:headEnd type="none" w="lg" len="med"/>
              <a:tailEnd type="none" w="lg"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1000">
                <a:solidFill>
                  <a:srgbClr val="004D75"/>
                </a:solidFill>
                <a:cs typeface="Arial" charset="0"/>
              </a:endParaRPr>
            </a:p>
          </p:txBody>
        </p:sp>
        <p:sp>
          <p:nvSpPr>
            <p:cNvPr id="52239" name="Text Box 81"/>
            <p:cNvSpPr txBox="1">
              <a:spLocks noChangeArrowheads="1"/>
            </p:cNvSpPr>
            <p:nvPr/>
          </p:nvSpPr>
          <p:spPr bwMode="auto">
            <a:xfrm rot="21553068">
              <a:off x="2445" y="2770"/>
              <a:ext cx="45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30000"/>
                </a:spcBef>
                <a:spcAft>
                  <a:spcPct val="20000"/>
                </a:spcAft>
                <a:buChar char="•"/>
                <a:defRPr>
                  <a:solidFill>
                    <a:srgbClr val="004D75"/>
                  </a:solidFill>
                  <a:latin typeface="Verdana" pitchFamily="34" charset="0"/>
                </a:defRPr>
              </a:lvl1pPr>
              <a:lvl2pPr marL="742950" indent="-285750">
                <a:lnSpc>
                  <a:spcPct val="90000"/>
                </a:lnSpc>
                <a:spcBef>
                  <a:spcPct val="20000"/>
                </a:spcBef>
                <a:spcAft>
                  <a:spcPct val="10000"/>
                </a:spcAft>
                <a:buChar char="–"/>
                <a:defRPr sz="1500">
                  <a:solidFill>
                    <a:srgbClr val="004D75"/>
                  </a:solidFill>
                  <a:latin typeface="Verdana" pitchFamily="34" charset="0"/>
                </a:defRPr>
              </a:lvl2pPr>
              <a:lvl3pPr marL="1143000" indent="-228600">
                <a:lnSpc>
                  <a:spcPct val="90000"/>
                </a:lnSpc>
                <a:spcBef>
                  <a:spcPct val="20000"/>
                </a:spcBef>
                <a:spcAft>
                  <a:spcPct val="20000"/>
                </a:spcAft>
                <a:buChar char="•"/>
                <a:defRPr sz="1200">
                  <a:solidFill>
                    <a:srgbClr val="004D75"/>
                  </a:solidFill>
                  <a:latin typeface="Verdana" pitchFamily="34" charset="0"/>
                </a:defRPr>
              </a:lvl3pPr>
              <a:lvl4pPr marL="1600200" indent="-228600">
                <a:lnSpc>
                  <a:spcPct val="90000"/>
                </a:lnSpc>
                <a:spcBef>
                  <a:spcPct val="20000"/>
                </a:spcBef>
                <a:spcAft>
                  <a:spcPct val="20000"/>
                </a:spcAft>
                <a:buChar char="–"/>
                <a:defRPr sz="1200">
                  <a:solidFill>
                    <a:srgbClr val="004D75"/>
                  </a:solidFill>
                  <a:latin typeface="Verdana" pitchFamily="34" charset="0"/>
                </a:defRPr>
              </a:lvl4pPr>
              <a:lvl5pPr marL="2057400" indent="-228600">
                <a:lnSpc>
                  <a:spcPct val="90000"/>
                </a:lnSpc>
                <a:spcBef>
                  <a:spcPct val="20000"/>
                </a:spcBef>
                <a:spcAft>
                  <a:spcPct val="20000"/>
                </a:spcAft>
                <a:buChar char="»"/>
                <a:defRPr sz="1200">
                  <a:solidFill>
                    <a:srgbClr val="004D75"/>
                  </a:solidFill>
                  <a:latin typeface="Verdana"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itchFamily="34" charset="0"/>
                </a:defRPr>
              </a:lvl9pPr>
            </a:lstStyle>
            <a:p>
              <a:pPr algn="ctr" eaLnBrk="0" fontAlgn="base" hangingPunct="0">
                <a:lnSpc>
                  <a:spcPct val="100000"/>
                </a:lnSpc>
                <a:spcBef>
                  <a:spcPct val="0"/>
                </a:spcBef>
                <a:spcAft>
                  <a:spcPct val="0"/>
                </a:spcAft>
                <a:buFontTx/>
                <a:buNone/>
              </a:pPr>
              <a:r>
                <a:rPr lang="en-GB" altLang="en-US" sz="1600" b="1" i="1" dirty="0">
                  <a:solidFill>
                    <a:srgbClr val="000000"/>
                  </a:solidFill>
                  <a:latin typeface="Times New Roman" pitchFamily="18" charset="0"/>
                  <a:cs typeface="Arial" charset="0"/>
                </a:rPr>
                <a:t>No</a:t>
              </a:r>
            </a:p>
          </p:txBody>
        </p:sp>
      </p:grpSp>
      <p:sp>
        <p:nvSpPr>
          <p:cNvPr id="5" name="TextBox 4"/>
          <p:cNvSpPr txBox="1"/>
          <p:nvPr/>
        </p:nvSpPr>
        <p:spPr>
          <a:xfrm>
            <a:off x="5410200" y="5410200"/>
            <a:ext cx="3629025" cy="1384300"/>
          </a:xfrm>
          <a:prstGeom prst="rect">
            <a:avLst/>
          </a:prstGeom>
          <a:solidFill>
            <a:schemeClr val="accent6">
              <a:lumMod val="20000"/>
              <a:lumOff val="80000"/>
            </a:schemeClr>
          </a:solidFill>
          <a:ln>
            <a:solidFill>
              <a:srgbClr val="0070C0"/>
            </a:solidFill>
          </a:ln>
        </p:spPr>
        <p:txBody>
          <a:bodyPr>
            <a:spAutoFit/>
          </a:bodyPr>
          <a:lstStyle/>
          <a:p>
            <a:pPr marL="285750" indent="-285750" eaLnBrk="0" fontAlgn="base" hangingPunct="0">
              <a:spcBef>
                <a:spcPct val="0"/>
              </a:spcBef>
              <a:spcAft>
                <a:spcPct val="0"/>
              </a:spcAft>
              <a:buClr>
                <a:srgbClr val="000000"/>
              </a:buClr>
              <a:buSzPct val="80000"/>
              <a:buFont typeface="Wingdings" panose="05000000000000000000" pitchFamily="2" charset="2"/>
              <a:buChar char="v"/>
              <a:defRPr/>
            </a:pPr>
            <a:r>
              <a:rPr lang="en-US" altLang="en-US" sz="1400" dirty="0">
                <a:solidFill>
                  <a:srgbClr val="0070C0"/>
                </a:solidFill>
                <a:cs typeface="Arial" charset="0"/>
              </a:rPr>
              <a:t>Note the two main components:</a:t>
            </a:r>
            <a:endParaRPr lang="en-GB" altLang="en-US" sz="1400" dirty="0">
              <a:solidFill>
                <a:srgbClr val="0070C0"/>
              </a:solidFill>
              <a:cs typeface="Arial" charset="0"/>
            </a:endParaRPr>
          </a:p>
          <a:p>
            <a:pPr lvl="1" eaLnBrk="0" fontAlgn="base" hangingPunct="0">
              <a:spcBef>
                <a:spcPct val="0"/>
              </a:spcBef>
              <a:spcAft>
                <a:spcPct val="0"/>
              </a:spcAft>
              <a:buClr>
                <a:srgbClr val="000000"/>
              </a:buClr>
              <a:buSzPct val="80000"/>
              <a:buFont typeface="Wingdings" pitchFamily="2" charset="2"/>
              <a:buChar char="Ø"/>
              <a:defRPr/>
            </a:pPr>
            <a:r>
              <a:rPr lang="en-US" altLang="en-US" sz="1400" b="1" dirty="0">
                <a:solidFill>
                  <a:srgbClr val="0070C0"/>
                </a:solidFill>
                <a:cs typeface="Arial" charset="0"/>
              </a:rPr>
              <a:t>Decision points</a:t>
            </a:r>
            <a:r>
              <a:rPr lang="en-US" altLang="en-US" sz="1400" dirty="0">
                <a:solidFill>
                  <a:srgbClr val="0070C0"/>
                </a:solidFill>
                <a:cs typeface="Arial" charset="0"/>
              </a:rPr>
              <a:t> represented by </a:t>
            </a:r>
            <a:r>
              <a:rPr lang="en-US" altLang="en-US" sz="1400" u="sng" dirty="0">
                <a:solidFill>
                  <a:srgbClr val="0070C0"/>
                </a:solidFill>
                <a:cs typeface="Arial" charset="0"/>
              </a:rPr>
              <a:t>arcs/nodes</a:t>
            </a:r>
          </a:p>
          <a:p>
            <a:pPr lvl="1" eaLnBrk="0" fontAlgn="base" hangingPunct="0">
              <a:spcBef>
                <a:spcPct val="0"/>
              </a:spcBef>
              <a:spcAft>
                <a:spcPct val="0"/>
              </a:spcAft>
              <a:buClr>
                <a:srgbClr val="000000"/>
              </a:buClr>
              <a:buSzPct val="80000"/>
              <a:buFont typeface="Wingdings" pitchFamily="2" charset="2"/>
              <a:buChar char="Ø"/>
              <a:defRPr/>
            </a:pPr>
            <a:r>
              <a:rPr lang="en-GB" altLang="en-US" sz="1400" b="1" dirty="0">
                <a:solidFill>
                  <a:srgbClr val="0070C0"/>
                </a:solidFill>
                <a:cs typeface="Arial" charset="0"/>
              </a:rPr>
              <a:t>Actions</a:t>
            </a:r>
            <a:r>
              <a:rPr lang="en-US" altLang="en-US" sz="1400" b="1" dirty="0">
                <a:solidFill>
                  <a:srgbClr val="0070C0"/>
                </a:solidFill>
                <a:cs typeface="Arial" charset="0"/>
              </a:rPr>
              <a:t> </a:t>
            </a:r>
            <a:r>
              <a:rPr lang="en-US" altLang="en-US" sz="1400" dirty="0">
                <a:solidFill>
                  <a:srgbClr val="0070C0"/>
                </a:solidFill>
                <a:cs typeface="Arial" charset="0"/>
              </a:rPr>
              <a:t>represented by </a:t>
            </a:r>
            <a:r>
              <a:rPr lang="en-US" altLang="en-US" sz="1400" u="sng" dirty="0">
                <a:solidFill>
                  <a:srgbClr val="0070C0"/>
                </a:solidFill>
                <a:cs typeface="Arial" charset="0"/>
              </a:rPr>
              <a:t>ovals</a:t>
            </a:r>
          </a:p>
          <a:p>
            <a:pPr marL="285750" indent="-285750" eaLnBrk="0" fontAlgn="base" hangingPunct="0">
              <a:spcBef>
                <a:spcPct val="0"/>
              </a:spcBef>
              <a:spcAft>
                <a:spcPct val="0"/>
              </a:spcAft>
              <a:buClr>
                <a:srgbClr val="000000"/>
              </a:buClr>
              <a:buSzPct val="80000"/>
              <a:buFont typeface="Wingdings" panose="05000000000000000000" pitchFamily="2" charset="2"/>
              <a:buChar char="v"/>
              <a:defRPr/>
            </a:pPr>
            <a:r>
              <a:rPr lang="en-US" altLang="en-US" sz="1400" dirty="0">
                <a:solidFill>
                  <a:srgbClr val="0070C0"/>
                </a:solidFill>
                <a:cs typeface="Arial" charset="0"/>
              </a:rPr>
              <a:t>Each node corresponds to a numbered choice on a legend</a:t>
            </a:r>
          </a:p>
        </p:txBody>
      </p:sp>
    </p:spTree>
    <p:extLst>
      <p:ext uri="{BB962C8B-B14F-4D97-AF65-F5344CB8AC3E}">
        <p14:creationId xmlns:p14="http://schemas.microsoft.com/office/powerpoint/2010/main" val="30407752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61831"/>
                                        </p:tgtEl>
                                        <p:attrNameLst>
                                          <p:attrName>style.visibility</p:attrName>
                                        </p:attrNameLst>
                                      </p:cBhvr>
                                      <p:to>
                                        <p:strVal val="visible"/>
                                      </p:to>
                                    </p:set>
                                    <p:animEffect transition="in" filter="dissolve">
                                      <p:cBhvr>
                                        <p:cTn id="7" dur="500"/>
                                        <p:tgtEl>
                                          <p:spTgt spid="4618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0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10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up)">
                                      <p:cBhvr>
                                        <p:cTn id="27" dur="500"/>
                                        <p:tgtEl>
                                          <p:spTgt spid="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1000"/>
                                        <p:tgtEl>
                                          <p:spTgt spid="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up)">
                                      <p:cBhvr>
                                        <p:cTn id="37" dur="1000"/>
                                        <p:tgtEl>
                                          <p:spTgt spid="1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left)">
                                      <p:cBhvr>
                                        <p:cTn id="42" dur="1000"/>
                                        <p:tgtEl>
                                          <p:spTgt spid="1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up)">
                                      <p:cBhvr>
                                        <p:cTn id="47" dur="1000"/>
                                        <p:tgtEl>
                                          <p:spTgt spid="1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61872"/>
                                        </p:tgtEl>
                                        <p:attrNameLst>
                                          <p:attrName>style.visibility</p:attrName>
                                        </p:attrNameLst>
                                      </p:cBhvr>
                                      <p:to>
                                        <p:strVal val="visible"/>
                                      </p:to>
                                    </p:set>
                                    <p:animEffect transition="in" filter="fade">
                                      <p:cBhvr>
                                        <p:cTn id="52" dur="2000"/>
                                        <p:tgtEl>
                                          <p:spTgt spid="46187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5"/>
                                        </p:tgtEl>
                                        <p:attrNameLst>
                                          <p:attrName>style.visibility</p:attrName>
                                        </p:attrNameLst>
                                      </p:cBhvr>
                                      <p:to>
                                        <p:strVal val="visible"/>
                                      </p:to>
                                    </p:set>
                                    <p:anim calcmode="lin" valueType="num">
                                      <p:cBhvr additive="base">
                                        <p:cTn id="57" dur="500" fill="hold"/>
                                        <p:tgtEl>
                                          <p:spTgt spid="5"/>
                                        </p:tgtEl>
                                        <p:attrNameLst>
                                          <p:attrName>ppt_x</p:attrName>
                                        </p:attrNameLst>
                                      </p:cBhvr>
                                      <p:tavLst>
                                        <p:tav tm="0">
                                          <p:val>
                                            <p:strVal val="#ppt_x"/>
                                          </p:val>
                                        </p:tav>
                                        <p:tav tm="100000">
                                          <p:val>
                                            <p:strVal val="#ppt_x"/>
                                          </p:val>
                                        </p:tav>
                                      </p:tavLst>
                                    </p:anim>
                                    <p:anim calcmode="lin" valueType="num">
                                      <p:cBhvr additive="base">
                                        <p:cTn id="5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831" grpId="0" animBg="1"/>
      <p:bldP spid="461872" grpId="0"/>
      <p:bldP spid="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D57E2D48-D20F-4789-866E-6A85D44814BC}"/>
              </a:ext>
            </a:extLst>
          </p:cNvPr>
          <p:cNvSpPr>
            <a:spLocks noGrp="1"/>
          </p:cNvSpPr>
          <p:nvPr>
            <p:ph type="title"/>
          </p:nvPr>
        </p:nvSpPr>
        <p:spPr>
          <a:xfrm>
            <a:off x="993775" y="542925"/>
            <a:ext cx="7156450" cy="904875"/>
          </a:xfrm>
        </p:spPr>
        <p:txBody>
          <a:bodyPr/>
          <a:lstStyle/>
          <a:p>
            <a:r>
              <a:rPr lang="en-US" altLang="en-US"/>
              <a:t>Decision Table or Decision Tree?</a:t>
            </a:r>
            <a:br>
              <a:rPr lang="en-US" altLang="en-US"/>
            </a:br>
            <a:endParaRPr lang="en-US" altLang="en-US"/>
          </a:p>
        </p:txBody>
      </p:sp>
      <p:sp>
        <p:nvSpPr>
          <p:cNvPr id="45059" name="Content Placeholder 2">
            <a:extLst>
              <a:ext uri="{FF2B5EF4-FFF2-40B4-BE49-F238E27FC236}">
                <a16:creationId xmlns:a16="http://schemas.microsoft.com/office/drawing/2014/main" id="{80F2BF93-722B-4846-8A37-9B06A06F36A5}"/>
              </a:ext>
            </a:extLst>
          </p:cNvPr>
          <p:cNvSpPr>
            <a:spLocks noGrp="1"/>
          </p:cNvSpPr>
          <p:nvPr>
            <p:ph idx="1"/>
          </p:nvPr>
        </p:nvSpPr>
        <p:spPr>
          <a:xfrm>
            <a:off x="533400" y="1600200"/>
            <a:ext cx="7812088" cy="4208463"/>
          </a:xfrm>
        </p:spPr>
        <p:txBody>
          <a:bodyPr/>
          <a:lstStyle/>
          <a:p>
            <a:pPr>
              <a:spcBef>
                <a:spcPct val="0"/>
              </a:spcBef>
            </a:pPr>
            <a:r>
              <a:rPr lang="en-US" altLang="en-US" sz="2800"/>
              <a:t>Whether to use a decision table or a decision tree often is a matter of personal preference.</a:t>
            </a:r>
          </a:p>
          <a:p>
            <a:pPr>
              <a:spcBef>
                <a:spcPct val="0"/>
              </a:spcBef>
            </a:pPr>
            <a:endParaRPr lang="en-US" altLang="en-US" sz="2800"/>
          </a:p>
          <a:p>
            <a:pPr>
              <a:spcBef>
                <a:spcPct val="0"/>
              </a:spcBef>
            </a:pPr>
            <a:r>
              <a:rPr lang="en-US" altLang="en-US" sz="2800"/>
              <a:t>A decision table might be a better way to handle complex combinations of conditions. </a:t>
            </a:r>
          </a:p>
          <a:p>
            <a:pPr>
              <a:spcBef>
                <a:spcPct val="0"/>
              </a:spcBef>
            </a:pPr>
            <a:endParaRPr lang="en-US" altLang="en-US" sz="2800"/>
          </a:p>
          <a:p>
            <a:pPr>
              <a:spcBef>
                <a:spcPct val="0"/>
              </a:spcBef>
            </a:pPr>
            <a:r>
              <a:rPr lang="en-US" altLang="en-US" sz="2800"/>
              <a:t>On the other hand, a decision tree is an effective way to describe a relatively simple process.</a:t>
            </a:r>
          </a:p>
        </p:txBody>
      </p:sp>
      <p:sp>
        <p:nvSpPr>
          <p:cNvPr id="45060" name="Slide Number Placeholder 3">
            <a:extLst>
              <a:ext uri="{FF2B5EF4-FFF2-40B4-BE49-F238E27FC236}">
                <a16:creationId xmlns:a16="http://schemas.microsoft.com/office/drawing/2014/main" id="{2E56203F-6A2A-44C6-B0C4-6A299B23A08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9D650B9-E2C5-439E-A9DD-686F9A9815AC}" type="slidenum">
              <a:rPr lang="en-US" altLang="en-US" sz="1200">
                <a:solidFill>
                  <a:srgbClr val="898989"/>
                </a:solidFill>
              </a:rPr>
              <a:pPr>
                <a:spcBef>
                  <a:spcPct val="0"/>
                </a:spcBef>
                <a:buFontTx/>
                <a:buNone/>
              </a:pPr>
              <a:t>48</a:t>
            </a:fld>
            <a:endParaRPr lang="en-US" altLang="en-US" sz="1200">
              <a:solidFill>
                <a:srgbClr val="898989"/>
              </a:solidFill>
            </a:endParaRPr>
          </a:p>
        </p:txBody>
      </p:sp>
    </p:spTree>
    <p:extLst>
      <p:ext uri="{BB962C8B-B14F-4D97-AF65-F5344CB8AC3E}">
        <p14:creationId xmlns:p14="http://schemas.microsoft.com/office/powerpoint/2010/main" val="18846366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Slide Number Placeholder 5">
            <a:extLst>
              <a:ext uri="{FF2B5EF4-FFF2-40B4-BE49-F238E27FC236}">
                <a16:creationId xmlns:a16="http://schemas.microsoft.com/office/drawing/2014/main" id="{85FA783B-0DFA-449F-AF34-7F451F6E218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1FA74DA-0A3A-4C72-80F2-B000B0F949C5}" type="slidenum">
              <a:rPr lang="en-US" altLang="en-US" sz="1200">
                <a:latin typeface="Arial" panose="020B0604020202020204" pitchFamily="34" charset="0"/>
              </a:rPr>
              <a:pPr>
                <a:spcBef>
                  <a:spcPct val="0"/>
                </a:spcBef>
                <a:buFontTx/>
                <a:buNone/>
              </a:pPr>
              <a:t>49</a:t>
            </a:fld>
            <a:endParaRPr lang="en-US" altLang="en-US" sz="1200">
              <a:latin typeface="Arial" panose="020B0604020202020204" pitchFamily="34" charset="0"/>
            </a:endParaRPr>
          </a:p>
        </p:txBody>
      </p:sp>
      <p:sp>
        <p:nvSpPr>
          <p:cNvPr id="53251" name="Rectangle 2">
            <a:extLst>
              <a:ext uri="{FF2B5EF4-FFF2-40B4-BE49-F238E27FC236}">
                <a16:creationId xmlns:a16="http://schemas.microsoft.com/office/drawing/2014/main" id="{797652B2-0DD4-406C-BE2E-464A07305E47}"/>
              </a:ext>
            </a:extLst>
          </p:cNvPr>
          <p:cNvSpPr>
            <a:spLocks noGrp="1"/>
          </p:cNvSpPr>
          <p:nvPr>
            <p:ph type="title"/>
          </p:nvPr>
        </p:nvSpPr>
        <p:spPr/>
        <p:txBody>
          <a:bodyPr/>
          <a:lstStyle/>
          <a:p>
            <a:pPr eaLnBrk="1" hangingPunct="1"/>
            <a:r>
              <a:rPr lang="en-GB" altLang="en-US"/>
              <a:t>Summary</a:t>
            </a:r>
          </a:p>
        </p:txBody>
      </p:sp>
      <p:sp>
        <p:nvSpPr>
          <p:cNvPr id="28678" name="Rectangle 3">
            <a:extLst>
              <a:ext uri="{FF2B5EF4-FFF2-40B4-BE49-F238E27FC236}">
                <a16:creationId xmlns:a16="http://schemas.microsoft.com/office/drawing/2014/main" id="{E4D9AB1B-B094-4032-A733-C07F1C8F47C4}"/>
              </a:ext>
            </a:extLst>
          </p:cNvPr>
          <p:cNvSpPr>
            <a:spLocks noGrp="1" noChangeArrowheads="1"/>
          </p:cNvSpPr>
          <p:nvPr>
            <p:ph type="body" idx="1"/>
          </p:nvPr>
        </p:nvSpPr>
        <p:spPr>
          <a:xfrm>
            <a:off x="457200" y="1600200"/>
            <a:ext cx="8229600" cy="4446588"/>
          </a:xfrm>
        </p:spPr>
        <p:txBody>
          <a:bodyPr>
            <a:normAutofit fontScale="85000" lnSpcReduction="10000"/>
          </a:bodyPr>
          <a:lstStyle/>
          <a:p>
            <a:pPr>
              <a:defRPr/>
            </a:pPr>
            <a:r>
              <a:rPr lang="en-US" dirty="0"/>
              <a:t>Each functional primitive process is documented using structured English, decision tables, and decision trees. </a:t>
            </a:r>
          </a:p>
          <a:p>
            <a:pPr>
              <a:defRPr/>
            </a:pPr>
            <a:r>
              <a:rPr lang="en-US" dirty="0"/>
              <a:t>Structured English uses a subset of standard English that defines each process with combinations of the basic building blocks of sequence, selection, and iteration.</a:t>
            </a:r>
          </a:p>
          <a:p>
            <a:pPr>
              <a:defRPr/>
            </a:pPr>
            <a:r>
              <a:rPr lang="en-US" dirty="0"/>
              <a:t>You also can document the logic by using decision tables or decision trees.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9201" y="1524000"/>
            <a:ext cx="6629394" cy="381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787457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000" b="0" i="0" u="none" strike="noStrike" cap="none" normalizeH="0" baseline="0" smtClean="0">
            <a:ln>
              <a:noFill/>
            </a:ln>
            <a:solidFill>
              <a:srgbClr val="004D75"/>
            </a:solidFill>
            <a:effectLst/>
            <a:latin typeface="Verdana" pitchFamily="34"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000" b="0" i="0" u="none" strike="noStrike" cap="none" normalizeH="0" baseline="0" smtClean="0">
            <a:ln>
              <a:noFill/>
            </a:ln>
            <a:solidFill>
              <a:srgbClr val="004D75"/>
            </a:solidFill>
            <a:effectLst/>
            <a:latin typeface="Verdana" pitchFamily="34" charset="0"/>
            <a:cs typeface="Arial"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1918</TotalTime>
  <Words>4734</Words>
  <Application>Microsoft Office PowerPoint</Application>
  <PresentationFormat>On-screen Show (4:3)</PresentationFormat>
  <Paragraphs>925</Paragraphs>
  <Slides>51</Slides>
  <Notes>29</Notes>
  <HiddenSlides>1</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51</vt:i4>
      </vt:variant>
    </vt:vector>
  </HeadingPairs>
  <TitlesOfParts>
    <vt:vector size="63" baseType="lpstr">
      <vt:lpstr>Arial</vt:lpstr>
      <vt:lpstr>Calibri</vt:lpstr>
      <vt:lpstr>Garamond</vt:lpstr>
      <vt:lpstr>Helvetica</vt:lpstr>
      <vt:lpstr>Monotype Sorts</vt:lpstr>
      <vt:lpstr>Symbol</vt:lpstr>
      <vt:lpstr>Times</vt:lpstr>
      <vt:lpstr>Times New Roman</vt:lpstr>
      <vt:lpstr>Verdana</vt:lpstr>
      <vt:lpstr>Wingdings</vt:lpstr>
      <vt:lpstr>Office Theme</vt:lpstr>
      <vt:lpstr>blank</vt:lpstr>
      <vt:lpstr>Systems Analysis and Design   Chapter 6. Logic Modeling</vt:lpstr>
      <vt:lpstr>Overview</vt:lpstr>
      <vt:lpstr>Specifying Processing Logic</vt:lpstr>
      <vt:lpstr>PowerPoint Presentation</vt:lpstr>
      <vt:lpstr>Logic Modelling</vt:lpstr>
      <vt:lpstr>Logic Modelling</vt:lpstr>
      <vt:lpstr>1. STRUCTURED ENGLISH</vt:lpstr>
      <vt:lpstr>Logical Constructs in Structured English</vt:lpstr>
      <vt:lpstr>Sequence Constructs</vt:lpstr>
      <vt:lpstr>Selection Constructs</vt:lpstr>
      <vt:lpstr>IF-THEN-ELSE</vt:lpstr>
      <vt:lpstr>Iteration Constructs</vt:lpstr>
      <vt:lpstr>DO-WHILE</vt:lpstr>
      <vt:lpstr>REPEAT-UNTIL</vt:lpstr>
      <vt:lpstr>Structured English - Example</vt:lpstr>
      <vt:lpstr>Pros and Cons of SE</vt:lpstr>
      <vt:lpstr>2. DECISION TABLE</vt:lpstr>
      <vt:lpstr>Decision Tables</vt:lpstr>
      <vt:lpstr>PowerPoint Presentation</vt:lpstr>
      <vt:lpstr>Useful Videos</vt:lpstr>
      <vt:lpstr>Decision Table - Conditions</vt:lpstr>
      <vt:lpstr>Steps to create a Decision Table</vt:lpstr>
      <vt:lpstr>Decision Table – THREE CONDITIONS Example</vt:lpstr>
      <vt:lpstr>Simplifying the Decision Table</vt:lpstr>
      <vt:lpstr>Simplifying the Decision Table - Three Conditions Example</vt:lpstr>
      <vt:lpstr>PowerPoint Presentation</vt:lpstr>
      <vt:lpstr>PowerPoint Presentation</vt:lpstr>
      <vt:lpstr>Example: Decision Table</vt:lpstr>
      <vt:lpstr>Example: Decision Table (Simplified)</vt:lpstr>
      <vt:lpstr>PowerPoint Presentation</vt:lpstr>
      <vt:lpstr>Multiple Outcomes </vt:lpstr>
      <vt:lpstr>Sales Promotion Policy (initial version) - Example </vt:lpstr>
      <vt:lpstr>Sales Promotion Policy (initial version) - Example (Explanation)</vt:lpstr>
      <vt:lpstr>Steps to create a Decision Table</vt:lpstr>
      <vt:lpstr>Decision Table – Three Conditions Example</vt:lpstr>
      <vt:lpstr>Simplifying the Decision Table</vt:lpstr>
      <vt:lpstr>Simplifying the Decision Table - Three Conditions Example</vt:lpstr>
      <vt:lpstr>3. DECISION TREE</vt:lpstr>
      <vt:lpstr>Logic Modelling using Decision Trees</vt:lpstr>
      <vt:lpstr>Decision Trees</vt:lpstr>
      <vt:lpstr>PowerPoint Presentation</vt:lpstr>
      <vt:lpstr>Decision Trees - Sales Promotion Policy Example</vt:lpstr>
      <vt:lpstr>Decision Tables and Decision Trees </vt:lpstr>
      <vt:lpstr>Compare the different Logic Modelling techniques</vt:lpstr>
      <vt:lpstr>Example - SE Version (Salary)</vt:lpstr>
      <vt:lpstr>Example - Decision Table (Salary)</vt:lpstr>
      <vt:lpstr>Example - Decision Table Variation (Salary)</vt:lpstr>
      <vt:lpstr>PowerPoint Presentation</vt:lpstr>
      <vt:lpstr>Decision Table or Decision Tree? </vt:lpstr>
      <vt:lpstr>Summary</vt:lpstr>
      <vt:lpstr>PowerPoint Presentation</vt:lpstr>
    </vt:vector>
  </TitlesOfParts>
  <Company>University of Massachusetts Dartmouth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 and Design 5th Edition</dc:title>
  <dc:creator>Windows User</dc:creator>
  <cp:lastModifiedBy>Lim Wen-I</cp:lastModifiedBy>
  <cp:revision>73</cp:revision>
  <dcterms:created xsi:type="dcterms:W3CDTF">2011-06-16T14:45:20Z</dcterms:created>
  <dcterms:modified xsi:type="dcterms:W3CDTF">2025-10-29T16:16:57Z</dcterms:modified>
</cp:coreProperties>
</file>