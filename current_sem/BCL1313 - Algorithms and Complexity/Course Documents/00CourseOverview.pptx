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78" r:id="rId5"/>
    <p:sldId id="283" r:id="rId6"/>
    <p:sldId id="282" r:id="rId7"/>
    <p:sldId id="280" r:id="rId8"/>
    <p:sldId id="281" r:id="rId9"/>
    <p:sldId id="284" r:id="rId10"/>
  </p:sldIdLst>
  <p:sldSz cx="18288000" cy="10287000"/>
  <p:notesSz cx="6858000" cy="9144000"/>
  <p:embeddedFontLst>
    <p:embeddedFont>
      <p:font typeface="Calibri" panose="020F0502020204030204" pitchFamily="34" charset="0"/>
      <p:regular r:id="rId11"/>
      <p:bold r:id="rId12"/>
      <p:italic r:id="rId13"/>
      <p:boldItalic r:id="rId14"/>
    </p:embeddedFont>
    <p:embeddedFont>
      <p:font typeface="DM Sans" panose="020B0604020202020204" charset="0"/>
      <p:regular r:id="rId15"/>
      <p:bold r:id="rId16"/>
      <p:italic r:id="rId17"/>
      <p:boldItalic r:id="rId18"/>
    </p:embeddedFont>
    <p:embeddedFont>
      <p:font typeface="DM Sans Bold" panose="020B0604020202020204" charset="0"/>
      <p:regular r:id="rId19"/>
    </p:embeddedFont>
    <p:embeddedFont>
      <p:font typeface="Oswald Bold" pitchFamily="2" charset="0"/>
      <p:regular r:id="rId20"/>
      <p:bold r:id="rId21"/>
    </p:embeddedFont>
    <p:embeddedFont>
      <p:font typeface="Source Sans Pro Bold" panose="020B0703030403020204" pitchFamily="34" charset="0"/>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4" d="100"/>
          <a:sy n="34" d="100"/>
        </p:scale>
        <p:origin x="696" y="-10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2960">
                <a:alpha val="100000"/>
              </a:srgbClr>
            </a:gs>
            <a:gs pos="100000">
              <a:srgbClr val="2A5C9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2169397" y="-295925"/>
            <a:ext cx="4485004" cy="11013275"/>
            <a:chOff x="0" y="0"/>
            <a:chExt cx="406400" cy="997947"/>
          </a:xfrm>
        </p:grpSpPr>
        <p:sp>
          <p:nvSpPr>
            <p:cNvPr id="3" name="Freeform 3"/>
            <p:cNvSpPr/>
            <p:nvPr/>
          </p:nvSpPr>
          <p:spPr>
            <a:xfrm>
              <a:off x="0" y="0"/>
              <a:ext cx="406400" cy="997947"/>
            </a:xfrm>
            <a:custGeom>
              <a:avLst/>
              <a:gdLst/>
              <a:ahLst/>
              <a:cxnLst/>
              <a:rect l="l" t="t" r="r" b="b"/>
              <a:pathLst>
                <a:path w="406400" h="997947">
                  <a:moveTo>
                    <a:pt x="0" y="0"/>
                  </a:moveTo>
                  <a:lnTo>
                    <a:pt x="203200" y="0"/>
                  </a:lnTo>
                  <a:lnTo>
                    <a:pt x="406400" y="498973"/>
                  </a:lnTo>
                  <a:lnTo>
                    <a:pt x="203200" y="997947"/>
                  </a:lnTo>
                  <a:lnTo>
                    <a:pt x="0" y="997947"/>
                  </a:lnTo>
                  <a:lnTo>
                    <a:pt x="203200" y="498973"/>
                  </a:lnTo>
                  <a:lnTo>
                    <a:pt x="0" y="0"/>
                  </a:lnTo>
                  <a:close/>
                </a:path>
              </a:pathLst>
            </a:custGeom>
            <a:solidFill>
              <a:srgbClr val="FBA834"/>
            </a:solidFill>
          </p:spPr>
        </p:sp>
        <p:sp>
          <p:nvSpPr>
            <p:cNvPr id="4" name="TextBox 4"/>
            <p:cNvSpPr txBox="1"/>
            <p:nvPr/>
          </p:nvSpPr>
          <p:spPr>
            <a:xfrm>
              <a:off x="177800" y="-57150"/>
              <a:ext cx="152400" cy="105509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023733" y="-102870"/>
            <a:ext cx="8129246" cy="10618054"/>
            <a:chOff x="0" y="0"/>
            <a:chExt cx="812800" cy="1061643"/>
          </a:xfrm>
        </p:grpSpPr>
        <p:sp>
          <p:nvSpPr>
            <p:cNvPr id="6" name="Freeform 6"/>
            <p:cNvSpPr/>
            <p:nvPr/>
          </p:nvSpPr>
          <p:spPr>
            <a:xfrm>
              <a:off x="0" y="0"/>
              <a:ext cx="812800" cy="1061643"/>
            </a:xfrm>
            <a:custGeom>
              <a:avLst/>
              <a:gdLst/>
              <a:ahLst/>
              <a:cxnLst/>
              <a:rect l="l" t="t" r="r" b="b"/>
              <a:pathLst>
                <a:path w="812800" h="1061643">
                  <a:moveTo>
                    <a:pt x="812800" y="530821"/>
                  </a:moveTo>
                  <a:lnTo>
                    <a:pt x="609600" y="1061643"/>
                  </a:lnTo>
                  <a:lnTo>
                    <a:pt x="203200" y="1061643"/>
                  </a:lnTo>
                  <a:lnTo>
                    <a:pt x="0" y="530821"/>
                  </a:lnTo>
                  <a:lnTo>
                    <a:pt x="203200" y="0"/>
                  </a:lnTo>
                  <a:lnTo>
                    <a:pt x="609600" y="0"/>
                  </a:lnTo>
                  <a:lnTo>
                    <a:pt x="812800" y="530821"/>
                  </a:lnTo>
                  <a:close/>
                </a:path>
              </a:pathLst>
            </a:custGeom>
            <a:blipFill>
              <a:blip r:embed="rId2"/>
              <a:stretch>
                <a:fillRect l="-92987" r="-18463"/>
              </a:stretch>
            </a:blipFill>
          </p:spPr>
        </p:sp>
      </p:grpSp>
      <p:sp>
        <p:nvSpPr>
          <p:cNvPr id="8" name="AutoShape 8"/>
          <p:cNvSpPr/>
          <p:nvPr/>
        </p:nvSpPr>
        <p:spPr>
          <a:xfrm>
            <a:off x="6654401" y="5189755"/>
            <a:ext cx="11633599" cy="4971"/>
          </a:xfrm>
          <a:prstGeom prst="line">
            <a:avLst/>
          </a:prstGeom>
          <a:ln w="19050" cap="flat">
            <a:solidFill>
              <a:srgbClr val="FFFFFF"/>
            </a:solidFill>
            <a:prstDash val="solid"/>
            <a:headEnd type="none" w="sm" len="sm"/>
            <a:tailEnd type="none" w="sm" len="sm"/>
          </a:ln>
        </p:spPr>
      </p:sp>
      <p:sp>
        <p:nvSpPr>
          <p:cNvPr id="10" name="TextBox 10"/>
          <p:cNvSpPr txBox="1"/>
          <p:nvPr/>
        </p:nvSpPr>
        <p:spPr>
          <a:xfrm>
            <a:off x="6917898" y="6021548"/>
            <a:ext cx="9431405" cy="707566"/>
          </a:xfrm>
          <a:prstGeom prst="rect">
            <a:avLst/>
          </a:prstGeom>
        </p:spPr>
        <p:txBody>
          <a:bodyPr lIns="0" tIns="0" rIns="0" bIns="0" rtlCol="0" anchor="t">
            <a:spAutoFit/>
          </a:bodyPr>
          <a:lstStyle/>
          <a:p>
            <a:pPr algn="ctr">
              <a:lnSpc>
                <a:spcPts val="5949"/>
              </a:lnSpc>
            </a:pPr>
            <a:r>
              <a:rPr lang="en-US" sz="4800" b="1" dirty="0">
                <a:solidFill>
                  <a:schemeClr val="bg1"/>
                </a:solidFill>
                <a:latin typeface="Arial" panose="020B0604020202020204" pitchFamily="34" charset="0"/>
                <a:ea typeface="Poppins"/>
                <a:cs typeface="Arial" panose="020B0604020202020204" pitchFamily="34" charset="0"/>
                <a:sym typeface="Poppins"/>
              </a:rPr>
              <a:t>Course Overview</a:t>
            </a:r>
          </a:p>
        </p:txBody>
      </p:sp>
      <p:grpSp>
        <p:nvGrpSpPr>
          <p:cNvPr id="15" name="Group 14">
            <a:extLst>
              <a:ext uri="{FF2B5EF4-FFF2-40B4-BE49-F238E27FC236}">
                <a16:creationId xmlns:a16="http://schemas.microsoft.com/office/drawing/2014/main" id="{83D92B32-41BA-4D83-AA47-2E8931801BFA}"/>
              </a:ext>
            </a:extLst>
          </p:cNvPr>
          <p:cNvGrpSpPr/>
          <p:nvPr/>
        </p:nvGrpSpPr>
        <p:grpSpPr>
          <a:xfrm>
            <a:off x="5521581" y="2171700"/>
            <a:ext cx="12224039" cy="2392323"/>
            <a:chOff x="5860264" y="3906252"/>
            <a:chExt cx="12224039" cy="2392323"/>
          </a:xfrm>
        </p:grpSpPr>
        <p:sp>
          <p:nvSpPr>
            <p:cNvPr id="12" name="TextBox 18">
              <a:extLst>
                <a:ext uri="{FF2B5EF4-FFF2-40B4-BE49-F238E27FC236}">
                  <a16:creationId xmlns:a16="http://schemas.microsoft.com/office/drawing/2014/main" id="{450CF0AA-1B69-4E9B-A6D4-D1F98C1C7512}"/>
                </a:ext>
              </a:extLst>
            </p:cNvPr>
            <p:cNvSpPr txBox="1"/>
            <p:nvPr/>
          </p:nvSpPr>
          <p:spPr>
            <a:xfrm>
              <a:off x="5860264" y="3906252"/>
              <a:ext cx="11240833" cy="1404744"/>
            </a:xfrm>
            <a:prstGeom prst="rect">
              <a:avLst/>
            </a:prstGeom>
          </p:spPr>
          <p:txBody>
            <a:bodyPr lIns="0" tIns="0" rIns="0" bIns="0" rtlCol="0" anchor="t">
              <a:spAutoFit/>
            </a:bodyPr>
            <a:lstStyle/>
            <a:p>
              <a:pPr algn="ctr">
                <a:lnSpc>
                  <a:spcPts val="11706"/>
                </a:lnSpc>
              </a:pPr>
              <a:r>
                <a:rPr lang="en-US" sz="8361" b="1" dirty="0">
                  <a:solidFill>
                    <a:schemeClr val="bg1"/>
                  </a:solidFill>
                  <a:effectLst>
                    <a:outerShdw blurRad="38100" dist="38100" dir="2700000" algn="tl">
                      <a:srgbClr val="000000">
                        <a:alpha val="43137"/>
                      </a:srgbClr>
                    </a:outerShdw>
                  </a:effectLst>
                  <a:latin typeface="Source Sans Pro Bold"/>
                  <a:ea typeface="Source Sans Pro Bold"/>
                  <a:cs typeface="Source Sans Pro Bold"/>
                  <a:sym typeface="Source Sans Pro Bold"/>
                </a:rPr>
                <a:t>DATA STRUCTURE</a:t>
              </a:r>
            </a:p>
          </p:txBody>
        </p:sp>
        <p:sp>
          <p:nvSpPr>
            <p:cNvPr id="13" name="TextBox 19">
              <a:extLst>
                <a:ext uri="{FF2B5EF4-FFF2-40B4-BE49-F238E27FC236}">
                  <a16:creationId xmlns:a16="http://schemas.microsoft.com/office/drawing/2014/main" id="{29D8B314-5694-48C6-86A7-3BE8CCB3F6DC}"/>
                </a:ext>
              </a:extLst>
            </p:cNvPr>
            <p:cNvSpPr txBox="1"/>
            <p:nvPr/>
          </p:nvSpPr>
          <p:spPr>
            <a:xfrm>
              <a:off x="9144000" y="4893831"/>
              <a:ext cx="8940303" cy="1404744"/>
            </a:xfrm>
            <a:prstGeom prst="rect">
              <a:avLst/>
            </a:prstGeom>
          </p:spPr>
          <p:txBody>
            <a:bodyPr lIns="0" tIns="0" rIns="0" bIns="0" rtlCol="0" anchor="t">
              <a:spAutoFit/>
            </a:bodyPr>
            <a:lstStyle/>
            <a:p>
              <a:pPr algn="ctr">
                <a:lnSpc>
                  <a:spcPts val="11706"/>
                </a:lnSpc>
              </a:pPr>
              <a:r>
                <a:rPr lang="en-US" sz="8361" b="1" dirty="0">
                  <a:solidFill>
                    <a:schemeClr val="bg1"/>
                  </a:solidFill>
                  <a:effectLst>
                    <a:outerShdw blurRad="38100" dist="38100" dir="2700000" algn="tl">
                      <a:srgbClr val="000000">
                        <a:alpha val="43137"/>
                      </a:srgbClr>
                    </a:outerShdw>
                  </a:effectLst>
                  <a:latin typeface="Source Sans Pro Bold"/>
                  <a:ea typeface="Source Sans Pro Bold"/>
                  <a:cs typeface="Source Sans Pro Bold"/>
                  <a:sym typeface="Source Sans Pro Bold"/>
                </a:rPr>
                <a:t>ALGORITHM</a:t>
              </a:r>
            </a:p>
          </p:txBody>
        </p:sp>
        <p:sp>
          <p:nvSpPr>
            <p:cNvPr id="14" name="TextBox 20">
              <a:extLst>
                <a:ext uri="{FF2B5EF4-FFF2-40B4-BE49-F238E27FC236}">
                  <a16:creationId xmlns:a16="http://schemas.microsoft.com/office/drawing/2014/main" id="{53A8D24D-E6BC-4BB7-9257-936578BDC216}"/>
                </a:ext>
              </a:extLst>
            </p:cNvPr>
            <p:cNvSpPr txBox="1"/>
            <p:nvPr/>
          </p:nvSpPr>
          <p:spPr>
            <a:xfrm>
              <a:off x="9144000" y="4981077"/>
              <a:ext cx="1896402" cy="1008418"/>
            </a:xfrm>
            <a:prstGeom prst="rect">
              <a:avLst/>
            </a:prstGeom>
          </p:spPr>
          <p:txBody>
            <a:bodyPr lIns="0" tIns="0" rIns="0" bIns="0" rtlCol="0" anchor="t">
              <a:spAutoFit/>
            </a:bodyPr>
            <a:lstStyle/>
            <a:p>
              <a:pPr algn="l">
                <a:lnSpc>
                  <a:spcPts val="8400"/>
                </a:lnSpc>
              </a:pPr>
              <a:r>
                <a:rPr lang="en-US" sz="6000" b="1" dirty="0">
                  <a:solidFill>
                    <a:srgbClr val="FFC000"/>
                  </a:solidFill>
                  <a:effectLst>
                    <a:outerShdw blurRad="38100" dist="38100" dir="2700000" algn="tl">
                      <a:srgbClr val="000000">
                        <a:alpha val="43137"/>
                      </a:srgbClr>
                    </a:outerShdw>
                  </a:effectLst>
                  <a:latin typeface="Source Sans Pro Bold"/>
                  <a:ea typeface="Source Sans Pro Bold"/>
                  <a:cs typeface="Source Sans Pro Bold"/>
                  <a:sym typeface="Source Sans Pro Bold"/>
                </a:rPr>
                <a:t>AND</a:t>
              </a:r>
            </a:p>
          </p:txBody>
        </p:sp>
      </p:grpSp>
      <p:sp>
        <p:nvSpPr>
          <p:cNvPr id="16" name="Freeform 6">
            <a:extLst>
              <a:ext uri="{FF2B5EF4-FFF2-40B4-BE49-F238E27FC236}">
                <a16:creationId xmlns:a16="http://schemas.microsoft.com/office/drawing/2014/main" id="{080786AB-8B67-4181-BED2-6EFA3354A8F2}"/>
              </a:ext>
            </a:extLst>
          </p:cNvPr>
          <p:cNvSpPr/>
          <p:nvPr/>
        </p:nvSpPr>
        <p:spPr>
          <a:xfrm>
            <a:off x="16111266" y="142373"/>
            <a:ext cx="2015875" cy="892042"/>
          </a:xfrm>
          <a:custGeom>
            <a:avLst/>
            <a:gdLst/>
            <a:ahLst/>
            <a:cxnLst/>
            <a:rect l="l" t="t" r="r" b="b"/>
            <a:pathLst>
              <a:path w="2015875" h="892042">
                <a:moveTo>
                  <a:pt x="0" y="0"/>
                </a:moveTo>
                <a:lnTo>
                  <a:pt x="2015875" y="0"/>
                </a:lnTo>
                <a:lnTo>
                  <a:pt x="2015875" y="892042"/>
                </a:lnTo>
                <a:lnTo>
                  <a:pt x="0" y="892042"/>
                </a:lnTo>
                <a:lnTo>
                  <a:pt x="0" y="0"/>
                </a:lnTo>
                <a:close/>
              </a:path>
            </a:pathLst>
          </a:custGeom>
          <a:blipFill>
            <a:blip r:embed="rId3"/>
            <a:stretch>
              <a:fillRect/>
            </a:stretch>
          </a:blipFill>
        </p:spPr>
        <p:txBody>
          <a:bodyPr/>
          <a:lstStyle/>
          <a:p>
            <a:endParaRPr lang="en-MY"/>
          </a:p>
        </p:txBody>
      </p:sp>
      <p:sp>
        <p:nvSpPr>
          <p:cNvPr id="17" name="TextBox 20">
            <a:extLst>
              <a:ext uri="{FF2B5EF4-FFF2-40B4-BE49-F238E27FC236}">
                <a16:creationId xmlns:a16="http://schemas.microsoft.com/office/drawing/2014/main" id="{AD6CA934-1FF6-4AD5-9822-E2CE2774ED0A}"/>
              </a:ext>
            </a:extLst>
          </p:cNvPr>
          <p:cNvSpPr txBox="1"/>
          <p:nvPr/>
        </p:nvSpPr>
        <p:spPr>
          <a:xfrm>
            <a:off x="6904735" y="1576881"/>
            <a:ext cx="3202448" cy="1008418"/>
          </a:xfrm>
          <a:prstGeom prst="rect">
            <a:avLst/>
          </a:prstGeom>
        </p:spPr>
        <p:txBody>
          <a:bodyPr wrap="square" lIns="0" tIns="0" rIns="0" bIns="0" rtlCol="0" anchor="t">
            <a:spAutoFit/>
          </a:bodyPr>
          <a:lstStyle/>
          <a:p>
            <a:pPr algn="l">
              <a:lnSpc>
                <a:spcPts val="8400"/>
              </a:lnSpc>
            </a:pPr>
            <a:r>
              <a:rPr lang="en-US" sz="6000" b="1" dirty="0">
                <a:solidFill>
                  <a:srgbClr val="FFC000"/>
                </a:solidFill>
                <a:effectLst>
                  <a:outerShdw blurRad="38100" dist="38100" dir="2700000" algn="tl">
                    <a:srgbClr val="000000">
                      <a:alpha val="43137"/>
                    </a:srgbClr>
                  </a:outerShdw>
                </a:effectLst>
                <a:latin typeface="Source Sans Pro Bold"/>
                <a:ea typeface="Source Sans Pro Bold"/>
                <a:cs typeface="Source Sans Pro Bold"/>
                <a:sym typeface="Source Sans Pro Bold"/>
              </a:rPr>
              <a:t>TNS3303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1977" y="1077790"/>
            <a:ext cx="8648700" cy="8341371"/>
            <a:chOff x="0" y="0"/>
            <a:chExt cx="4349007" cy="4194466"/>
          </a:xfrm>
        </p:grpSpPr>
        <p:sp>
          <p:nvSpPr>
            <p:cNvPr id="3" name="Freeform 3"/>
            <p:cNvSpPr/>
            <p:nvPr/>
          </p:nvSpPr>
          <p:spPr>
            <a:xfrm>
              <a:off x="12144" y="0"/>
              <a:ext cx="4324720" cy="4194466"/>
            </a:xfrm>
            <a:custGeom>
              <a:avLst/>
              <a:gdLst/>
              <a:ahLst/>
              <a:cxnLst/>
              <a:rect l="l" t="t" r="r" b="b"/>
              <a:pathLst>
                <a:path w="4324720" h="4194466">
                  <a:moveTo>
                    <a:pt x="3178866" y="0"/>
                  </a:moveTo>
                  <a:lnTo>
                    <a:pt x="1145853" y="0"/>
                  </a:lnTo>
                  <a:cubicBezTo>
                    <a:pt x="1102391" y="0"/>
                    <a:pt x="1062551" y="24221"/>
                    <a:pt x="1042547" y="62807"/>
                  </a:cubicBezTo>
                  <a:lnTo>
                    <a:pt x="20416" y="2034426"/>
                  </a:lnTo>
                  <a:cubicBezTo>
                    <a:pt x="0" y="2073809"/>
                    <a:pt x="0" y="2120658"/>
                    <a:pt x="20416" y="2160040"/>
                  </a:cubicBezTo>
                  <a:lnTo>
                    <a:pt x="1042547" y="4131660"/>
                  </a:lnTo>
                  <a:cubicBezTo>
                    <a:pt x="1062551" y="4170245"/>
                    <a:pt x="1102391" y="4194466"/>
                    <a:pt x="1145853" y="4194466"/>
                  </a:cubicBezTo>
                  <a:lnTo>
                    <a:pt x="3178866" y="4194466"/>
                  </a:lnTo>
                  <a:cubicBezTo>
                    <a:pt x="3222329" y="4194466"/>
                    <a:pt x="3262169" y="4170245"/>
                    <a:pt x="3282172" y="4131660"/>
                  </a:cubicBezTo>
                  <a:lnTo>
                    <a:pt x="4304303" y="2160040"/>
                  </a:lnTo>
                  <a:cubicBezTo>
                    <a:pt x="4324720" y="2120658"/>
                    <a:pt x="4324720" y="2073809"/>
                    <a:pt x="4304303" y="2034426"/>
                  </a:cubicBezTo>
                  <a:lnTo>
                    <a:pt x="3282172" y="62807"/>
                  </a:lnTo>
                  <a:cubicBezTo>
                    <a:pt x="3262168" y="24221"/>
                    <a:pt x="3222328" y="0"/>
                    <a:pt x="3178866" y="0"/>
                  </a:cubicBezTo>
                  <a:close/>
                </a:path>
              </a:pathLst>
            </a:custGeom>
            <a:solidFill>
              <a:srgbClr val="FCA71C"/>
            </a:solidFill>
            <a:ln w="12700" cap="sq">
              <a:solidFill>
                <a:srgbClr val="000000"/>
              </a:solidFill>
              <a:prstDash val="solid"/>
              <a:miter/>
            </a:ln>
          </p:spPr>
        </p:sp>
      </p:grpSp>
      <p:grpSp>
        <p:nvGrpSpPr>
          <p:cNvPr id="4" name="Group 4"/>
          <p:cNvGrpSpPr/>
          <p:nvPr/>
        </p:nvGrpSpPr>
        <p:grpSpPr>
          <a:xfrm>
            <a:off x="-2880616" y="0"/>
            <a:ext cx="11253091" cy="10385180"/>
            <a:chOff x="0" y="0"/>
            <a:chExt cx="4280285" cy="3950162"/>
          </a:xfrm>
        </p:grpSpPr>
        <p:sp>
          <p:nvSpPr>
            <p:cNvPr id="5" name="Freeform 5"/>
            <p:cNvSpPr/>
            <p:nvPr/>
          </p:nvSpPr>
          <p:spPr>
            <a:xfrm flipH="1">
              <a:off x="9743" y="0"/>
              <a:ext cx="4260799" cy="3950162"/>
            </a:xfrm>
            <a:custGeom>
              <a:avLst/>
              <a:gdLst/>
              <a:ahLst/>
              <a:cxnLst/>
              <a:rect l="l" t="t" r="r" b="b"/>
              <a:pathLst>
                <a:path w="4260799" h="3950162">
                  <a:moveTo>
                    <a:pt x="1114701" y="0"/>
                  </a:moveTo>
                  <a:lnTo>
                    <a:pt x="3146099" y="0"/>
                  </a:lnTo>
                  <a:cubicBezTo>
                    <a:pt x="3179601" y="0"/>
                    <a:pt x="3210412" y="18350"/>
                    <a:pt x="3226372" y="47807"/>
                  </a:cubicBezTo>
                  <a:lnTo>
                    <a:pt x="4244641" y="1927274"/>
                  </a:lnTo>
                  <a:cubicBezTo>
                    <a:pt x="4260799" y="1957098"/>
                    <a:pt x="4260799" y="1993064"/>
                    <a:pt x="4244641" y="2022888"/>
                  </a:cubicBezTo>
                  <a:lnTo>
                    <a:pt x="3226372" y="3902356"/>
                  </a:lnTo>
                  <a:cubicBezTo>
                    <a:pt x="3210412" y="3931812"/>
                    <a:pt x="3179601" y="3950162"/>
                    <a:pt x="3146099" y="3950162"/>
                  </a:cubicBezTo>
                  <a:lnTo>
                    <a:pt x="1114700" y="3950162"/>
                  </a:lnTo>
                  <a:cubicBezTo>
                    <a:pt x="1081198" y="3950162"/>
                    <a:pt x="1050387" y="3931812"/>
                    <a:pt x="1034427" y="3902356"/>
                  </a:cubicBezTo>
                  <a:lnTo>
                    <a:pt x="16158" y="2022888"/>
                  </a:lnTo>
                  <a:cubicBezTo>
                    <a:pt x="0" y="1993064"/>
                    <a:pt x="0" y="1957098"/>
                    <a:pt x="16158" y="1927274"/>
                  </a:cubicBezTo>
                  <a:lnTo>
                    <a:pt x="1034428" y="47807"/>
                  </a:lnTo>
                  <a:cubicBezTo>
                    <a:pt x="1050387" y="18350"/>
                    <a:pt x="1081198" y="0"/>
                    <a:pt x="1114701" y="0"/>
                  </a:cubicBezTo>
                  <a:close/>
                </a:path>
              </a:pathLst>
            </a:custGeom>
            <a:gradFill rotWithShape="1">
              <a:gsLst>
                <a:gs pos="0">
                  <a:srgbClr val="002960">
                    <a:alpha val="100000"/>
                  </a:srgbClr>
                </a:gs>
                <a:gs pos="100000">
                  <a:srgbClr val="2A5C9F">
                    <a:alpha val="100000"/>
                  </a:srgbClr>
                </a:gs>
              </a:gsLst>
              <a:lin ang="0"/>
            </a:gradFill>
            <a:ln w="12700" cap="sq">
              <a:solidFill>
                <a:srgbClr val="000000"/>
              </a:solidFill>
              <a:prstDash val="solid"/>
              <a:miter/>
            </a:ln>
          </p:spPr>
        </p:sp>
      </p:grpSp>
      <p:grpSp>
        <p:nvGrpSpPr>
          <p:cNvPr id="6" name="Group 6"/>
          <p:cNvGrpSpPr/>
          <p:nvPr/>
        </p:nvGrpSpPr>
        <p:grpSpPr>
          <a:xfrm>
            <a:off x="9144000" y="1512155"/>
            <a:ext cx="1985653" cy="198565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0255"/>
            </a:solidFill>
            <a:ln w="95250" cap="sq">
              <a:solidFill>
                <a:srgbClr val="FCA71C"/>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4150945"/>
            <a:ext cx="1985653" cy="198565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A71C"/>
            </a:solidFill>
            <a:ln w="95250" cap="sq">
              <a:solidFill>
                <a:srgbClr val="3C0255"/>
              </a:solidFill>
              <a:prstDash val="solid"/>
              <a:miter/>
            </a:ln>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9144000" y="6789192"/>
            <a:ext cx="1985653" cy="198565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0255"/>
            </a:solidFill>
            <a:ln w="95250" cap="sq">
              <a:solidFill>
                <a:srgbClr val="FCA71C"/>
              </a:solidFill>
              <a:prstDash val="solid"/>
              <a:miter/>
            </a:ln>
          </p:spPr>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8" name="TextBox 18"/>
          <p:cNvSpPr txBox="1"/>
          <p:nvPr/>
        </p:nvSpPr>
        <p:spPr>
          <a:xfrm>
            <a:off x="1189804" y="4456031"/>
            <a:ext cx="7539897" cy="1282402"/>
          </a:xfrm>
          <a:prstGeom prst="rect">
            <a:avLst/>
          </a:prstGeom>
        </p:spPr>
        <p:txBody>
          <a:bodyPr lIns="0" tIns="0" rIns="0" bIns="0" rtlCol="0" anchor="t">
            <a:spAutoFit/>
          </a:bodyPr>
          <a:lstStyle/>
          <a:p>
            <a:pPr algn="l">
              <a:lnSpc>
                <a:spcPts val="10919"/>
              </a:lnSpc>
            </a:pPr>
            <a:r>
              <a:rPr lang="en-US" sz="7800" b="1" dirty="0">
                <a:solidFill>
                  <a:srgbClr val="FFFFFF"/>
                </a:solidFill>
                <a:latin typeface="Oswald Bold"/>
                <a:ea typeface="Oswald Bold"/>
                <a:cs typeface="Oswald Bold"/>
                <a:sym typeface="Oswald Bold"/>
              </a:rPr>
              <a:t>KEYPOINTS</a:t>
            </a:r>
          </a:p>
        </p:txBody>
      </p:sp>
      <p:sp>
        <p:nvSpPr>
          <p:cNvPr id="22" name="Freeform 22"/>
          <p:cNvSpPr/>
          <p:nvPr/>
        </p:nvSpPr>
        <p:spPr>
          <a:xfrm>
            <a:off x="5486400" y="3932505"/>
            <a:ext cx="1042131" cy="1042131"/>
          </a:xfrm>
          <a:custGeom>
            <a:avLst/>
            <a:gdLst/>
            <a:ahLst/>
            <a:cxnLst/>
            <a:rect l="l" t="t" r="r" b="b"/>
            <a:pathLst>
              <a:path w="1042131" h="1042131">
                <a:moveTo>
                  <a:pt x="0" y="0"/>
                </a:moveTo>
                <a:lnTo>
                  <a:pt x="1042131" y="0"/>
                </a:lnTo>
                <a:lnTo>
                  <a:pt x="1042131" y="1042131"/>
                </a:lnTo>
                <a:lnTo>
                  <a:pt x="0" y="1042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TextBox 6">
            <a:extLst>
              <a:ext uri="{FF2B5EF4-FFF2-40B4-BE49-F238E27FC236}">
                <a16:creationId xmlns:a16="http://schemas.microsoft.com/office/drawing/2014/main" id="{C3A01767-B844-474C-9331-7559F344BADD}"/>
              </a:ext>
            </a:extLst>
          </p:cNvPr>
          <p:cNvSpPr txBox="1"/>
          <p:nvPr/>
        </p:nvSpPr>
        <p:spPr>
          <a:xfrm>
            <a:off x="11477988" y="800100"/>
            <a:ext cx="7191016" cy="749179"/>
          </a:xfrm>
          <a:prstGeom prst="rect">
            <a:avLst/>
          </a:prstGeom>
        </p:spPr>
        <p:txBody>
          <a:bodyPr lIns="0" tIns="0" rIns="0" bIns="0" rtlCol="0" anchor="t">
            <a:spAutoFit/>
          </a:bodyPr>
          <a:lstStyle/>
          <a:p>
            <a:pPr marL="0" lvl="0" indent="0">
              <a:lnSpc>
                <a:spcPts val="6075"/>
              </a:lnSpc>
              <a:spcBef>
                <a:spcPct val="0"/>
              </a:spcBef>
            </a:pPr>
            <a:r>
              <a:rPr lang="en-US" sz="4800" b="1" dirty="0">
                <a:solidFill>
                  <a:srgbClr val="000000"/>
                </a:solidFill>
                <a:latin typeface="+mj-lt"/>
              </a:rPr>
              <a:t>COURSE OVERVIEW</a:t>
            </a:r>
          </a:p>
        </p:txBody>
      </p:sp>
      <p:sp>
        <p:nvSpPr>
          <p:cNvPr id="25" name="TextBox 7">
            <a:extLst>
              <a:ext uri="{FF2B5EF4-FFF2-40B4-BE49-F238E27FC236}">
                <a16:creationId xmlns:a16="http://schemas.microsoft.com/office/drawing/2014/main" id="{793414F8-45C7-4673-976A-9162BC442F8B}"/>
              </a:ext>
            </a:extLst>
          </p:cNvPr>
          <p:cNvSpPr txBox="1"/>
          <p:nvPr/>
        </p:nvSpPr>
        <p:spPr>
          <a:xfrm>
            <a:off x="11315808" y="1704413"/>
            <a:ext cx="8087383" cy="2103140"/>
          </a:xfrm>
          <a:prstGeom prst="rect">
            <a:avLst/>
          </a:prstGeom>
        </p:spPr>
        <p:txBody>
          <a:bodyPr lIns="0" tIns="0" rIns="0" bIns="0" rtlCol="0" anchor="t">
            <a:spAutoFit/>
          </a:bodyPr>
          <a:lstStyle/>
          <a:p>
            <a:pPr marL="646845" lvl="1" indent="-323423">
              <a:lnSpc>
                <a:spcPts val="4134"/>
              </a:lnSpc>
              <a:buFont typeface="Arial"/>
              <a:buChar char="•"/>
            </a:pPr>
            <a:r>
              <a:rPr lang="en-US" sz="3600" dirty="0">
                <a:solidFill>
                  <a:srgbClr val="000000"/>
                </a:solidFill>
                <a:latin typeface="+mj-lt"/>
              </a:rPr>
              <a:t>Synopsis</a:t>
            </a:r>
          </a:p>
          <a:p>
            <a:pPr marL="646845" lvl="1" indent="-323423">
              <a:lnSpc>
                <a:spcPts val="4134"/>
              </a:lnSpc>
              <a:spcBef>
                <a:spcPct val="0"/>
              </a:spcBef>
              <a:buFont typeface="Arial"/>
              <a:buChar char="•"/>
            </a:pPr>
            <a:r>
              <a:rPr lang="en-US" sz="3600" dirty="0">
                <a:solidFill>
                  <a:srgbClr val="000000"/>
                </a:solidFill>
                <a:latin typeface="+mj-lt"/>
              </a:rPr>
              <a:t>Course Learning Outcomes</a:t>
            </a:r>
          </a:p>
          <a:p>
            <a:pPr marL="646845" lvl="1" indent="-323423">
              <a:lnSpc>
                <a:spcPts val="4134"/>
              </a:lnSpc>
              <a:spcBef>
                <a:spcPct val="0"/>
              </a:spcBef>
              <a:buFont typeface="Arial"/>
              <a:buChar char="•"/>
            </a:pPr>
            <a:r>
              <a:rPr lang="en-US" sz="3600" dirty="0">
                <a:solidFill>
                  <a:srgbClr val="000000"/>
                </a:solidFill>
                <a:latin typeface="+mj-lt"/>
              </a:rPr>
              <a:t>Course Objectives</a:t>
            </a:r>
          </a:p>
          <a:p>
            <a:pPr marL="646845" lvl="1" indent="-323423">
              <a:lnSpc>
                <a:spcPts val="4134"/>
              </a:lnSpc>
              <a:spcBef>
                <a:spcPct val="0"/>
              </a:spcBef>
              <a:buFont typeface="Arial"/>
              <a:buChar char="•"/>
            </a:pPr>
            <a:r>
              <a:rPr lang="en-US" sz="3600" dirty="0">
                <a:solidFill>
                  <a:srgbClr val="000000"/>
                </a:solidFill>
                <a:latin typeface="+mj-lt"/>
              </a:rPr>
              <a:t>Topics</a:t>
            </a:r>
          </a:p>
        </p:txBody>
      </p:sp>
      <p:sp>
        <p:nvSpPr>
          <p:cNvPr id="26" name="TextBox 8">
            <a:extLst>
              <a:ext uri="{FF2B5EF4-FFF2-40B4-BE49-F238E27FC236}">
                <a16:creationId xmlns:a16="http://schemas.microsoft.com/office/drawing/2014/main" id="{C5400A70-4D0C-4473-A7B5-209317AEBAB8}"/>
              </a:ext>
            </a:extLst>
          </p:cNvPr>
          <p:cNvSpPr txBox="1"/>
          <p:nvPr/>
        </p:nvSpPr>
        <p:spPr>
          <a:xfrm>
            <a:off x="11512494" y="4229100"/>
            <a:ext cx="5918418" cy="749179"/>
          </a:xfrm>
          <a:prstGeom prst="rect">
            <a:avLst/>
          </a:prstGeom>
        </p:spPr>
        <p:txBody>
          <a:bodyPr lIns="0" tIns="0" rIns="0" bIns="0" rtlCol="0" anchor="t">
            <a:spAutoFit/>
          </a:bodyPr>
          <a:lstStyle/>
          <a:p>
            <a:pPr marL="0" lvl="0" indent="0">
              <a:lnSpc>
                <a:spcPts val="6075"/>
              </a:lnSpc>
              <a:spcBef>
                <a:spcPct val="0"/>
              </a:spcBef>
            </a:pPr>
            <a:r>
              <a:rPr lang="en-US" sz="4800" b="1" dirty="0">
                <a:solidFill>
                  <a:srgbClr val="000000"/>
                </a:solidFill>
                <a:latin typeface="+mj-lt"/>
              </a:rPr>
              <a:t>COURSE STRUCTURE</a:t>
            </a:r>
          </a:p>
        </p:txBody>
      </p:sp>
      <p:sp>
        <p:nvSpPr>
          <p:cNvPr id="27" name="TextBox 9">
            <a:extLst>
              <a:ext uri="{FF2B5EF4-FFF2-40B4-BE49-F238E27FC236}">
                <a16:creationId xmlns:a16="http://schemas.microsoft.com/office/drawing/2014/main" id="{7F00A49D-92DA-4864-81BD-2F7B72A57BEF}"/>
              </a:ext>
            </a:extLst>
          </p:cNvPr>
          <p:cNvSpPr txBox="1"/>
          <p:nvPr/>
        </p:nvSpPr>
        <p:spPr>
          <a:xfrm>
            <a:off x="11279025" y="5079858"/>
            <a:ext cx="8087383" cy="1051570"/>
          </a:xfrm>
          <a:prstGeom prst="rect">
            <a:avLst/>
          </a:prstGeom>
        </p:spPr>
        <p:txBody>
          <a:bodyPr lIns="0" tIns="0" rIns="0" bIns="0" rtlCol="0" anchor="t">
            <a:spAutoFit/>
          </a:bodyPr>
          <a:lstStyle/>
          <a:p>
            <a:pPr marL="646845" lvl="1" indent="-323423">
              <a:lnSpc>
                <a:spcPts val="4134"/>
              </a:lnSpc>
              <a:buFont typeface="Arial"/>
              <a:buChar char="•"/>
            </a:pPr>
            <a:r>
              <a:rPr lang="en-US" sz="3600" dirty="0">
                <a:solidFill>
                  <a:srgbClr val="000000"/>
                </a:solidFill>
                <a:latin typeface="+mj-lt"/>
              </a:rPr>
              <a:t>Assessments</a:t>
            </a:r>
          </a:p>
          <a:p>
            <a:pPr marL="323422" lvl="1">
              <a:lnSpc>
                <a:spcPts val="4134"/>
              </a:lnSpc>
            </a:pPr>
            <a:endParaRPr lang="en-US" sz="3600" dirty="0">
              <a:solidFill>
                <a:srgbClr val="000000"/>
              </a:solidFill>
              <a:latin typeface="+mj-lt"/>
            </a:endParaRPr>
          </a:p>
        </p:txBody>
      </p:sp>
      <p:sp>
        <p:nvSpPr>
          <p:cNvPr id="28" name="TextBox 10">
            <a:extLst>
              <a:ext uri="{FF2B5EF4-FFF2-40B4-BE49-F238E27FC236}">
                <a16:creationId xmlns:a16="http://schemas.microsoft.com/office/drawing/2014/main" id="{63943F62-7CE4-41D2-BA08-A612AE112CFA}"/>
              </a:ext>
            </a:extLst>
          </p:cNvPr>
          <p:cNvSpPr txBox="1"/>
          <p:nvPr/>
        </p:nvSpPr>
        <p:spPr>
          <a:xfrm>
            <a:off x="11477988" y="6937870"/>
            <a:ext cx="5918418" cy="749179"/>
          </a:xfrm>
          <a:prstGeom prst="rect">
            <a:avLst/>
          </a:prstGeom>
        </p:spPr>
        <p:txBody>
          <a:bodyPr lIns="0" tIns="0" rIns="0" bIns="0" rtlCol="0" anchor="t">
            <a:spAutoFit/>
          </a:bodyPr>
          <a:lstStyle/>
          <a:p>
            <a:pPr marL="0" lvl="0" indent="0">
              <a:lnSpc>
                <a:spcPts val="6075"/>
              </a:lnSpc>
              <a:spcBef>
                <a:spcPct val="0"/>
              </a:spcBef>
            </a:pPr>
            <a:r>
              <a:rPr lang="en-US" sz="4800" b="1" dirty="0">
                <a:solidFill>
                  <a:srgbClr val="000000"/>
                </a:solidFill>
                <a:latin typeface="+mj-lt"/>
              </a:rPr>
              <a:t>COURSE MATERIALS</a:t>
            </a:r>
          </a:p>
        </p:txBody>
      </p:sp>
      <p:sp>
        <p:nvSpPr>
          <p:cNvPr id="29" name="TextBox 11">
            <a:extLst>
              <a:ext uri="{FF2B5EF4-FFF2-40B4-BE49-F238E27FC236}">
                <a16:creationId xmlns:a16="http://schemas.microsoft.com/office/drawing/2014/main" id="{960C57D0-CC3C-48BE-ABB5-DC8657A2C741}"/>
              </a:ext>
            </a:extLst>
          </p:cNvPr>
          <p:cNvSpPr txBox="1"/>
          <p:nvPr/>
        </p:nvSpPr>
        <p:spPr>
          <a:xfrm>
            <a:off x="11203464" y="7738434"/>
            <a:ext cx="8087383" cy="1051570"/>
          </a:xfrm>
          <a:prstGeom prst="rect">
            <a:avLst/>
          </a:prstGeom>
        </p:spPr>
        <p:txBody>
          <a:bodyPr lIns="0" tIns="0" rIns="0" bIns="0" rtlCol="0" anchor="t">
            <a:spAutoFit/>
          </a:bodyPr>
          <a:lstStyle/>
          <a:p>
            <a:pPr marL="646845" lvl="1" indent="-323423">
              <a:lnSpc>
                <a:spcPts val="4134"/>
              </a:lnSpc>
              <a:buFont typeface="Arial"/>
              <a:buChar char="•"/>
            </a:pPr>
            <a:r>
              <a:rPr lang="en-US" sz="3600" dirty="0">
                <a:solidFill>
                  <a:srgbClr val="000000"/>
                </a:solidFill>
                <a:latin typeface="+mj-lt"/>
              </a:rPr>
              <a:t>Slides</a:t>
            </a:r>
          </a:p>
          <a:p>
            <a:pPr marL="646845" lvl="1" indent="-323423">
              <a:lnSpc>
                <a:spcPts val="4134"/>
              </a:lnSpc>
              <a:buFont typeface="Arial"/>
              <a:buChar char="•"/>
            </a:pPr>
            <a:r>
              <a:rPr lang="en-US" sz="3600" dirty="0">
                <a:solidFill>
                  <a:srgbClr val="000000"/>
                </a:solidFill>
                <a:latin typeface="+mj-lt"/>
              </a:rPr>
              <a:t>Tutorials</a:t>
            </a:r>
          </a:p>
        </p:txBody>
      </p:sp>
      <p:pic>
        <p:nvPicPr>
          <p:cNvPr id="31" name="Picture 30">
            <a:extLst>
              <a:ext uri="{FF2B5EF4-FFF2-40B4-BE49-F238E27FC236}">
                <a16:creationId xmlns:a16="http://schemas.microsoft.com/office/drawing/2014/main" id="{46CFF848-D81B-4A10-957B-66FB302C885A}"/>
              </a:ext>
            </a:extLst>
          </p:cNvPr>
          <p:cNvPicPr>
            <a:picLocks noChangeAspect="1"/>
          </p:cNvPicPr>
          <p:nvPr/>
        </p:nvPicPr>
        <p:blipFill>
          <a:blip r:embed="rId4"/>
          <a:stretch>
            <a:fillRect/>
          </a:stretch>
        </p:blipFill>
        <p:spPr>
          <a:xfrm>
            <a:off x="9285211" y="6918362"/>
            <a:ext cx="1703869" cy="170642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3" name="Picture 32">
            <a:extLst>
              <a:ext uri="{FF2B5EF4-FFF2-40B4-BE49-F238E27FC236}">
                <a16:creationId xmlns:a16="http://schemas.microsoft.com/office/drawing/2014/main" id="{E3848F71-A050-45C5-90DB-5BD2693EC335}"/>
              </a:ext>
            </a:extLst>
          </p:cNvPr>
          <p:cNvPicPr>
            <a:picLocks noChangeAspect="1"/>
          </p:cNvPicPr>
          <p:nvPr/>
        </p:nvPicPr>
        <p:blipFill>
          <a:blip r:embed="rId5"/>
          <a:stretch>
            <a:fillRect/>
          </a:stretch>
        </p:blipFill>
        <p:spPr>
          <a:xfrm>
            <a:off x="9249269" y="4229100"/>
            <a:ext cx="1791464" cy="1814421"/>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5" name="Picture 34">
            <a:extLst>
              <a:ext uri="{FF2B5EF4-FFF2-40B4-BE49-F238E27FC236}">
                <a16:creationId xmlns:a16="http://schemas.microsoft.com/office/drawing/2014/main" id="{5FC6F497-0BEC-48B8-B68C-5FCA199DB4D6}"/>
              </a:ext>
            </a:extLst>
          </p:cNvPr>
          <p:cNvPicPr>
            <a:picLocks noChangeAspect="1"/>
          </p:cNvPicPr>
          <p:nvPr/>
        </p:nvPicPr>
        <p:blipFill>
          <a:blip r:embed="rId6"/>
          <a:stretch>
            <a:fillRect/>
          </a:stretch>
        </p:blipFill>
        <p:spPr>
          <a:xfrm>
            <a:off x="9249269" y="1605232"/>
            <a:ext cx="1739811" cy="1786383"/>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960"/>
        </a:solidFill>
        <a:effectLst/>
      </p:bgPr>
    </p:bg>
    <p:spTree>
      <p:nvGrpSpPr>
        <p:cNvPr id="1" name=""/>
        <p:cNvGrpSpPr/>
        <p:nvPr/>
      </p:nvGrpSpPr>
      <p:grpSpPr>
        <a:xfrm>
          <a:off x="0" y="0"/>
          <a:ext cx="0" cy="0"/>
          <a:chOff x="0" y="0"/>
          <a:chExt cx="0" cy="0"/>
        </a:xfrm>
      </p:grpSpPr>
      <p:sp>
        <p:nvSpPr>
          <p:cNvPr id="2" name="Freeform 2"/>
          <p:cNvSpPr/>
          <p:nvPr/>
        </p:nvSpPr>
        <p:spPr>
          <a:xfrm>
            <a:off x="-316493" y="2592499"/>
            <a:ext cx="4014450" cy="8300554"/>
          </a:xfrm>
          <a:custGeom>
            <a:avLst/>
            <a:gdLst/>
            <a:ahLst/>
            <a:cxnLst/>
            <a:rect l="l" t="t" r="r" b="b"/>
            <a:pathLst>
              <a:path w="4014450" h="8300554">
                <a:moveTo>
                  <a:pt x="0" y="0"/>
                </a:moveTo>
                <a:lnTo>
                  <a:pt x="4014450" y="0"/>
                </a:lnTo>
                <a:lnTo>
                  <a:pt x="4014450" y="8300554"/>
                </a:lnTo>
                <a:lnTo>
                  <a:pt x="0" y="8300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5252075" y="-686844"/>
            <a:ext cx="4014450" cy="8300554"/>
          </a:xfrm>
          <a:custGeom>
            <a:avLst/>
            <a:gdLst/>
            <a:ahLst/>
            <a:cxnLst/>
            <a:rect l="l" t="t" r="r" b="b"/>
            <a:pathLst>
              <a:path w="4014450" h="8300554">
                <a:moveTo>
                  <a:pt x="4014450" y="8300554"/>
                </a:moveTo>
                <a:lnTo>
                  <a:pt x="0" y="8300554"/>
                </a:lnTo>
                <a:lnTo>
                  <a:pt x="0" y="0"/>
                </a:lnTo>
                <a:lnTo>
                  <a:pt x="4014450" y="0"/>
                </a:lnTo>
                <a:lnTo>
                  <a:pt x="4014450" y="830055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18">
            <a:extLst>
              <a:ext uri="{FF2B5EF4-FFF2-40B4-BE49-F238E27FC236}">
                <a16:creationId xmlns:a16="http://schemas.microsoft.com/office/drawing/2014/main" id="{2CDB6EBE-A2EE-4FF5-8B0A-A592127A50E8}"/>
              </a:ext>
            </a:extLst>
          </p:cNvPr>
          <p:cNvSpPr txBox="1"/>
          <p:nvPr/>
        </p:nvSpPr>
        <p:spPr>
          <a:xfrm>
            <a:off x="762000" y="637851"/>
            <a:ext cx="7696200" cy="1282402"/>
          </a:xfrm>
          <a:prstGeom prst="rect">
            <a:avLst/>
          </a:prstGeom>
        </p:spPr>
        <p:txBody>
          <a:bodyPr wrap="square" lIns="0" tIns="0" rIns="0" bIns="0" rtlCol="0" anchor="t">
            <a:spAutoFit/>
          </a:bodyPr>
          <a:lstStyle/>
          <a:p>
            <a:pPr algn="l">
              <a:lnSpc>
                <a:spcPts val="10919"/>
              </a:lnSpc>
            </a:pPr>
            <a:r>
              <a:rPr lang="en-US" sz="7800" b="1" dirty="0">
                <a:solidFill>
                  <a:srgbClr val="FFFFFF"/>
                </a:solidFill>
                <a:latin typeface="Oswald Bold"/>
                <a:ea typeface="Oswald Bold"/>
                <a:cs typeface="Oswald Bold"/>
                <a:sym typeface="Oswald Bold"/>
              </a:rPr>
              <a:t>COURSE OVERVIEW</a:t>
            </a:r>
          </a:p>
        </p:txBody>
      </p:sp>
      <p:sp>
        <p:nvSpPr>
          <p:cNvPr id="7" name="TextBox 10">
            <a:extLst>
              <a:ext uri="{FF2B5EF4-FFF2-40B4-BE49-F238E27FC236}">
                <a16:creationId xmlns:a16="http://schemas.microsoft.com/office/drawing/2014/main" id="{6CB4B606-D207-4152-8A38-18A574694B19}"/>
              </a:ext>
            </a:extLst>
          </p:cNvPr>
          <p:cNvSpPr txBox="1"/>
          <p:nvPr/>
        </p:nvSpPr>
        <p:spPr>
          <a:xfrm>
            <a:off x="3048000" y="2781300"/>
            <a:ext cx="13030200" cy="5303503"/>
          </a:xfrm>
          <a:prstGeom prst="rect">
            <a:avLst/>
          </a:prstGeom>
        </p:spPr>
        <p:txBody>
          <a:bodyPr wrap="square" lIns="0" tIns="0" rIns="0" bIns="0" rtlCol="0" anchor="t">
            <a:spAutoFit/>
          </a:bodyPr>
          <a:lstStyle/>
          <a:p>
            <a:pPr marL="410211" lvl="1" algn="just">
              <a:lnSpc>
                <a:spcPts val="5244"/>
              </a:lnSpc>
            </a:pPr>
            <a:r>
              <a:rPr lang="en-US" sz="3800" b="1" dirty="0">
                <a:solidFill>
                  <a:srgbClr val="FFC000"/>
                </a:solidFill>
                <a:latin typeface="+mj-lt"/>
              </a:rPr>
              <a:t>Synopsis:</a:t>
            </a:r>
          </a:p>
          <a:p>
            <a:pPr marL="820421" lvl="1" indent="-410210" algn="just">
              <a:lnSpc>
                <a:spcPts val="5244"/>
              </a:lnSpc>
              <a:buFont typeface="Arial"/>
              <a:buChar char="•"/>
            </a:pPr>
            <a:endParaRPr lang="en-US" sz="4000" b="0" i="0" dirty="0">
              <a:solidFill>
                <a:schemeClr val="bg1"/>
              </a:solidFill>
              <a:effectLst/>
              <a:latin typeface="+mj-lt"/>
            </a:endParaRPr>
          </a:p>
          <a:p>
            <a:pPr marL="410211" lvl="1" algn="just">
              <a:lnSpc>
                <a:spcPts val="5244"/>
              </a:lnSpc>
            </a:pPr>
            <a:r>
              <a:rPr lang="en-US" sz="4000" b="0" i="0" dirty="0">
                <a:solidFill>
                  <a:schemeClr val="bg1"/>
                </a:solidFill>
                <a:effectLst/>
                <a:latin typeface="+mj-lt"/>
              </a:rPr>
              <a:t>This subject introduces students to common issues of </a:t>
            </a:r>
            <a:r>
              <a:rPr lang="en-US" sz="4000" b="1" i="0" dirty="0">
                <a:solidFill>
                  <a:srgbClr val="FFC000"/>
                </a:solidFill>
                <a:effectLst/>
                <a:latin typeface="+mj-lt"/>
              </a:rPr>
              <a:t>data structures </a:t>
            </a:r>
            <a:r>
              <a:rPr lang="en-US" sz="4000" b="0" i="0" dirty="0">
                <a:solidFill>
                  <a:schemeClr val="bg1"/>
                </a:solidFill>
                <a:effectLst/>
                <a:latin typeface="+mj-lt"/>
              </a:rPr>
              <a:t>and shows </a:t>
            </a:r>
            <a:r>
              <a:rPr lang="en-US" sz="4000" b="1" i="0" dirty="0">
                <a:solidFill>
                  <a:srgbClr val="FFC000"/>
                </a:solidFill>
                <a:effectLst/>
                <a:latin typeface="+mj-lt"/>
              </a:rPr>
              <a:t>how to use data structures </a:t>
            </a:r>
            <a:r>
              <a:rPr lang="en-US" sz="4000" b="0" i="0" dirty="0">
                <a:solidFill>
                  <a:schemeClr val="bg1"/>
                </a:solidFill>
                <a:effectLst/>
                <a:latin typeface="+mj-lt"/>
              </a:rPr>
              <a:t>as tools to design computer programs that will cope with the complexity of actual applications. The course emphasizes </a:t>
            </a:r>
            <a:r>
              <a:rPr lang="en-US" sz="4000" b="1" i="0" dirty="0">
                <a:solidFill>
                  <a:srgbClr val="FFC000"/>
                </a:solidFill>
                <a:effectLst/>
                <a:latin typeface="+mj-lt"/>
              </a:rPr>
              <a:t>abstract data types </a:t>
            </a:r>
            <a:r>
              <a:rPr lang="en-US" sz="4000" b="0" i="0" dirty="0">
                <a:solidFill>
                  <a:schemeClr val="bg1"/>
                </a:solidFill>
                <a:effectLst/>
                <a:latin typeface="+mj-lt"/>
              </a:rPr>
              <a:t>and the </a:t>
            </a:r>
            <a:r>
              <a:rPr lang="en-US" sz="4000" b="1" i="0" dirty="0">
                <a:solidFill>
                  <a:srgbClr val="FFC000"/>
                </a:solidFill>
                <a:effectLst/>
                <a:latin typeface="+mj-lt"/>
              </a:rPr>
              <a:t>efficiency analysis of their implementations</a:t>
            </a:r>
            <a:r>
              <a:rPr lang="en-US" sz="4000" b="0" i="0" dirty="0">
                <a:solidFill>
                  <a:schemeClr val="bg1"/>
                </a:solidFill>
                <a:effectLst/>
                <a:latin typeface="+mj-lt"/>
              </a:rPr>
              <a:t>. </a:t>
            </a:r>
            <a:endParaRPr lang="en-US" sz="3800" dirty="0">
              <a:solidFill>
                <a:schemeClr val="bg1"/>
              </a:solidFill>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960"/>
        </a:solidFill>
        <a:effectLst/>
      </p:bgPr>
    </p:bg>
    <p:spTree>
      <p:nvGrpSpPr>
        <p:cNvPr id="1" name=""/>
        <p:cNvGrpSpPr/>
        <p:nvPr/>
      </p:nvGrpSpPr>
      <p:grpSpPr>
        <a:xfrm>
          <a:off x="0" y="0"/>
          <a:ext cx="0" cy="0"/>
          <a:chOff x="0" y="0"/>
          <a:chExt cx="0" cy="0"/>
        </a:xfrm>
      </p:grpSpPr>
      <p:sp>
        <p:nvSpPr>
          <p:cNvPr id="2" name="Freeform 2"/>
          <p:cNvSpPr/>
          <p:nvPr/>
        </p:nvSpPr>
        <p:spPr>
          <a:xfrm>
            <a:off x="-316493" y="2592499"/>
            <a:ext cx="4014450" cy="8300554"/>
          </a:xfrm>
          <a:custGeom>
            <a:avLst/>
            <a:gdLst/>
            <a:ahLst/>
            <a:cxnLst/>
            <a:rect l="l" t="t" r="r" b="b"/>
            <a:pathLst>
              <a:path w="4014450" h="8300554">
                <a:moveTo>
                  <a:pt x="0" y="0"/>
                </a:moveTo>
                <a:lnTo>
                  <a:pt x="4014450" y="0"/>
                </a:lnTo>
                <a:lnTo>
                  <a:pt x="4014450" y="8300554"/>
                </a:lnTo>
                <a:lnTo>
                  <a:pt x="0" y="8300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5252075" y="-686844"/>
            <a:ext cx="4014450" cy="8300554"/>
          </a:xfrm>
          <a:custGeom>
            <a:avLst/>
            <a:gdLst/>
            <a:ahLst/>
            <a:cxnLst/>
            <a:rect l="l" t="t" r="r" b="b"/>
            <a:pathLst>
              <a:path w="4014450" h="8300554">
                <a:moveTo>
                  <a:pt x="4014450" y="8300554"/>
                </a:moveTo>
                <a:lnTo>
                  <a:pt x="0" y="8300554"/>
                </a:lnTo>
                <a:lnTo>
                  <a:pt x="0" y="0"/>
                </a:lnTo>
                <a:lnTo>
                  <a:pt x="4014450" y="0"/>
                </a:lnTo>
                <a:lnTo>
                  <a:pt x="4014450" y="830055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18">
            <a:extLst>
              <a:ext uri="{FF2B5EF4-FFF2-40B4-BE49-F238E27FC236}">
                <a16:creationId xmlns:a16="http://schemas.microsoft.com/office/drawing/2014/main" id="{2CDB6EBE-A2EE-4FF5-8B0A-A592127A50E8}"/>
              </a:ext>
            </a:extLst>
          </p:cNvPr>
          <p:cNvSpPr txBox="1"/>
          <p:nvPr/>
        </p:nvSpPr>
        <p:spPr>
          <a:xfrm>
            <a:off x="762000" y="637851"/>
            <a:ext cx="7696200" cy="1282402"/>
          </a:xfrm>
          <a:prstGeom prst="rect">
            <a:avLst/>
          </a:prstGeom>
        </p:spPr>
        <p:txBody>
          <a:bodyPr wrap="square" lIns="0" tIns="0" rIns="0" bIns="0" rtlCol="0" anchor="t">
            <a:spAutoFit/>
          </a:bodyPr>
          <a:lstStyle/>
          <a:p>
            <a:pPr algn="l">
              <a:lnSpc>
                <a:spcPts val="10919"/>
              </a:lnSpc>
            </a:pPr>
            <a:r>
              <a:rPr lang="en-US" sz="7800" b="1" dirty="0">
                <a:solidFill>
                  <a:srgbClr val="FFFFFF"/>
                </a:solidFill>
                <a:latin typeface="Oswald Bold"/>
                <a:ea typeface="Oswald Bold"/>
                <a:cs typeface="Oswald Bold"/>
                <a:sym typeface="Oswald Bold"/>
              </a:rPr>
              <a:t>COURSE OVERVIEW</a:t>
            </a:r>
          </a:p>
        </p:txBody>
      </p:sp>
      <p:sp>
        <p:nvSpPr>
          <p:cNvPr id="7" name="TextBox 10">
            <a:extLst>
              <a:ext uri="{FF2B5EF4-FFF2-40B4-BE49-F238E27FC236}">
                <a16:creationId xmlns:a16="http://schemas.microsoft.com/office/drawing/2014/main" id="{6CB4B606-D207-4152-8A38-18A574694B19}"/>
              </a:ext>
            </a:extLst>
          </p:cNvPr>
          <p:cNvSpPr txBox="1"/>
          <p:nvPr/>
        </p:nvSpPr>
        <p:spPr>
          <a:xfrm>
            <a:off x="3048000" y="2781300"/>
            <a:ext cx="13639800" cy="3969805"/>
          </a:xfrm>
          <a:prstGeom prst="rect">
            <a:avLst/>
          </a:prstGeom>
        </p:spPr>
        <p:txBody>
          <a:bodyPr wrap="square" lIns="0" tIns="0" rIns="0" bIns="0" rtlCol="0" anchor="t">
            <a:spAutoFit/>
          </a:bodyPr>
          <a:lstStyle/>
          <a:p>
            <a:pPr marL="410211" lvl="1">
              <a:lnSpc>
                <a:spcPts val="5244"/>
              </a:lnSpc>
            </a:pPr>
            <a:r>
              <a:rPr lang="en-US" sz="3800" b="1" dirty="0">
                <a:solidFill>
                  <a:srgbClr val="FFC000"/>
                </a:solidFill>
                <a:latin typeface="+mj-lt"/>
              </a:rPr>
              <a:t>Course Learning Outcomes (CLOs):</a:t>
            </a:r>
          </a:p>
          <a:p>
            <a:pPr marL="820421" lvl="1" indent="-410210">
              <a:lnSpc>
                <a:spcPts val="5244"/>
              </a:lnSpc>
              <a:buFont typeface="Arial"/>
              <a:buChar char="•"/>
            </a:pPr>
            <a:endParaRPr lang="en-US" sz="4000" i="0" dirty="0">
              <a:solidFill>
                <a:schemeClr val="bg1"/>
              </a:solidFill>
              <a:effectLst/>
              <a:latin typeface="+mj-lt"/>
            </a:endParaRPr>
          </a:p>
          <a:p>
            <a:pPr marL="1610361" lvl="2" indent="-742950">
              <a:lnSpc>
                <a:spcPts val="5244"/>
              </a:lnSpc>
              <a:buFont typeface="+mj-lt"/>
              <a:buAutoNum type="arabicPeriod"/>
            </a:pPr>
            <a:r>
              <a:rPr lang="en-US" sz="4000" i="0" dirty="0">
                <a:solidFill>
                  <a:schemeClr val="bg1"/>
                </a:solidFill>
                <a:effectLst/>
                <a:latin typeface="Calibri" panose="020F0502020204030204" pitchFamily="34" charset="0"/>
              </a:rPr>
              <a:t>Describe the concepts of Data Structure and Algorithm. </a:t>
            </a:r>
          </a:p>
          <a:p>
            <a:pPr marL="1610361" lvl="2" indent="-742950">
              <a:lnSpc>
                <a:spcPts val="5244"/>
              </a:lnSpc>
              <a:buFont typeface="+mj-lt"/>
              <a:buAutoNum type="arabicPeriod"/>
            </a:pPr>
            <a:r>
              <a:rPr lang="en-US" sz="4000" i="0" dirty="0">
                <a:solidFill>
                  <a:schemeClr val="bg1"/>
                </a:solidFill>
                <a:effectLst/>
                <a:latin typeface="Calibri" panose="020F0502020204030204" pitchFamily="34" charset="0"/>
              </a:rPr>
              <a:t>Use various data structures and algorithm appropriate to solve given problems. </a:t>
            </a:r>
          </a:p>
          <a:p>
            <a:pPr marL="1610361" lvl="2" indent="-742950">
              <a:lnSpc>
                <a:spcPts val="5244"/>
              </a:lnSpc>
              <a:buFont typeface="+mj-lt"/>
              <a:buAutoNum type="arabicPeriod"/>
            </a:pPr>
            <a:r>
              <a:rPr lang="en-US" sz="4000" i="0" dirty="0">
                <a:solidFill>
                  <a:schemeClr val="bg1"/>
                </a:solidFill>
                <a:effectLst/>
                <a:latin typeface="Calibri" panose="020F0502020204030204" pitchFamily="34" charset="0"/>
              </a:rPr>
              <a:t>Write algorithm using various approaches and techniques. </a:t>
            </a:r>
            <a:endParaRPr lang="en-US" sz="3800" dirty="0">
              <a:solidFill>
                <a:schemeClr val="bg1"/>
              </a:solidFill>
              <a:latin typeface="+mj-lt"/>
            </a:endParaRPr>
          </a:p>
        </p:txBody>
      </p:sp>
    </p:spTree>
    <p:extLst>
      <p:ext uri="{BB962C8B-B14F-4D97-AF65-F5344CB8AC3E}">
        <p14:creationId xmlns:p14="http://schemas.microsoft.com/office/powerpoint/2010/main" val="4266830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960"/>
        </a:solidFill>
        <a:effectLst/>
      </p:bgPr>
    </p:bg>
    <p:spTree>
      <p:nvGrpSpPr>
        <p:cNvPr id="1" name=""/>
        <p:cNvGrpSpPr/>
        <p:nvPr/>
      </p:nvGrpSpPr>
      <p:grpSpPr>
        <a:xfrm>
          <a:off x="0" y="0"/>
          <a:ext cx="0" cy="0"/>
          <a:chOff x="0" y="0"/>
          <a:chExt cx="0" cy="0"/>
        </a:xfrm>
      </p:grpSpPr>
      <p:sp>
        <p:nvSpPr>
          <p:cNvPr id="2" name="Freeform 2"/>
          <p:cNvSpPr/>
          <p:nvPr/>
        </p:nvSpPr>
        <p:spPr>
          <a:xfrm>
            <a:off x="-316493" y="2592499"/>
            <a:ext cx="4014450" cy="8300554"/>
          </a:xfrm>
          <a:custGeom>
            <a:avLst/>
            <a:gdLst/>
            <a:ahLst/>
            <a:cxnLst/>
            <a:rect l="l" t="t" r="r" b="b"/>
            <a:pathLst>
              <a:path w="4014450" h="8300554">
                <a:moveTo>
                  <a:pt x="0" y="0"/>
                </a:moveTo>
                <a:lnTo>
                  <a:pt x="4014450" y="0"/>
                </a:lnTo>
                <a:lnTo>
                  <a:pt x="4014450" y="8300554"/>
                </a:lnTo>
                <a:lnTo>
                  <a:pt x="0" y="8300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5252075" y="-686844"/>
            <a:ext cx="4014450" cy="8300554"/>
          </a:xfrm>
          <a:custGeom>
            <a:avLst/>
            <a:gdLst/>
            <a:ahLst/>
            <a:cxnLst/>
            <a:rect l="l" t="t" r="r" b="b"/>
            <a:pathLst>
              <a:path w="4014450" h="8300554">
                <a:moveTo>
                  <a:pt x="4014450" y="8300554"/>
                </a:moveTo>
                <a:lnTo>
                  <a:pt x="0" y="8300554"/>
                </a:lnTo>
                <a:lnTo>
                  <a:pt x="0" y="0"/>
                </a:lnTo>
                <a:lnTo>
                  <a:pt x="4014450" y="0"/>
                </a:lnTo>
                <a:lnTo>
                  <a:pt x="4014450" y="830055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18">
            <a:extLst>
              <a:ext uri="{FF2B5EF4-FFF2-40B4-BE49-F238E27FC236}">
                <a16:creationId xmlns:a16="http://schemas.microsoft.com/office/drawing/2014/main" id="{2CDB6EBE-A2EE-4FF5-8B0A-A592127A50E8}"/>
              </a:ext>
            </a:extLst>
          </p:cNvPr>
          <p:cNvSpPr txBox="1"/>
          <p:nvPr/>
        </p:nvSpPr>
        <p:spPr>
          <a:xfrm>
            <a:off x="762000" y="637851"/>
            <a:ext cx="7696200" cy="1282402"/>
          </a:xfrm>
          <a:prstGeom prst="rect">
            <a:avLst/>
          </a:prstGeom>
        </p:spPr>
        <p:txBody>
          <a:bodyPr wrap="square" lIns="0" tIns="0" rIns="0" bIns="0" rtlCol="0" anchor="t">
            <a:spAutoFit/>
          </a:bodyPr>
          <a:lstStyle/>
          <a:p>
            <a:pPr algn="l">
              <a:lnSpc>
                <a:spcPts val="10919"/>
              </a:lnSpc>
            </a:pPr>
            <a:r>
              <a:rPr lang="en-US" sz="7800" b="1" dirty="0">
                <a:solidFill>
                  <a:srgbClr val="FFFFFF"/>
                </a:solidFill>
                <a:latin typeface="Oswald Bold"/>
                <a:ea typeface="Oswald Bold"/>
                <a:cs typeface="Oswald Bold"/>
                <a:sym typeface="Oswald Bold"/>
              </a:rPr>
              <a:t>COURSE OVERVIEW</a:t>
            </a:r>
          </a:p>
        </p:txBody>
      </p:sp>
      <p:sp>
        <p:nvSpPr>
          <p:cNvPr id="7" name="TextBox 10">
            <a:extLst>
              <a:ext uri="{FF2B5EF4-FFF2-40B4-BE49-F238E27FC236}">
                <a16:creationId xmlns:a16="http://schemas.microsoft.com/office/drawing/2014/main" id="{6CB4B606-D207-4152-8A38-18A574694B19}"/>
              </a:ext>
            </a:extLst>
          </p:cNvPr>
          <p:cNvSpPr txBox="1"/>
          <p:nvPr/>
        </p:nvSpPr>
        <p:spPr>
          <a:xfrm>
            <a:off x="3048000" y="2781300"/>
            <a:ext cx="13639800" cy="5970352"/>
          </a:xfrm>
          <a:prstGeom prst="rect">
            <a:avLst/>
          </a:prstGeom>
        </p:spPr>
        <p:txBody>
          <a:bodyPr wrap="square" lIns="0" tIns="0" rIns="0" bIns="0" rtlCol="0" anchor="t">
            <a:spAutoFit/>
          </a:bodyPr>
          <a:lstStyle/>
          <a:p>
            <a:pPr marL="410211" lvl="1">
              <a:lnSpc>
                <a:spcPts val="5244"/>
              </a:lnSpc>
            </a:pPr>
            <a:r>
              <a:rPr lang="en-US" sz="3800" b="1" dirty="0">
                <a:solidFill>
                  <a:srgbClr val="FFC000"/>
                </a:solidFill>
                <a:latin typeface="+mj-lt"/>
              </a:rPr>
              <a:t>Course Objectives:</a:t>
            </a:r>
          </a:p>
          <a:p>
            <a:pPr marL="410211" lvl="1">
              <a:lnSpc>
                <a:spcPts val="5244"/>
              </a:lnSpc>
            </a:pPr>
            <a:endParaRPr lang="en-US" sz="3800" b="1" dirty="0">
              <a:solidFill>
                <a:srgbClr val="FFC000"/>
              </a:solidFill>
              <a:latin typeface="+mj-lt"/>
            </a:endParaRPr>
          </a:p>
          <a:p>
            <a:pPr marL="410211" lvl="1">
              <a:lnSpc>
                <a:spcPts val="5244"/>
              </a:lnSpc>
            </a:pPr>
            <a:r>
              <a:rPr lang="en-US" sz="4000" dirty="0">
                <a:solidFill>
                  <a:schemeClr val="bg1"/>
                </a:solidFill>
              </a:rPr>
              <a:t>The primary objective of this course is to provide students with a solid foundation in data structures and algorithms. By the end of the course, students will be able to design, analyze, and implement efficient algorithms to solve complex computational problems. The course also aims to develop critical thinking and problem-solving skills through the application of algorithmic concepts in real-world scenarios.</a:t>
            </a:r>
          </a:p>
        </p:txBody>
      </p:sp>
    </p:spTree>
    <p:extLst>
      <p:ext uri="{BB962C8B-B14F-4D97-AF65-F5344CB8AC3E}">
        <p14:creationId xmlns:p14="http://schemas.microsoft.com/office/powerpoint/2010/main" val="335457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960"/>
        </a:solidFill>
        <a:effectLst/>
      </p:bgPr>
    </p:bg>
    <p:spTree>
      <p:nvGrpSpPr>
        <p:cNvPr id="1" name=""/>
        <p:cNvGrpSpPr/>
        <p:nvPr/>
      </p:nvGrpSpPr>
      <p:grpSpPr>
        <a:xfrm>
          <a:off x="0" y="0"/>
          <a:ext cx="0" cy="0"/>
          <a:chOff x="0" y="0"/>
          <a:chExt cx="0" cy="0"/>
        </a:xfrm>
      </p:grpSpPr>
      <p:sp>
        <p:nvSpPr>
          <p:cNvPr id="2" name="Freeform 2"/>
          <p:cNvSpPr/>
          <p:nvPr/>
        </p:nvSpPr>
        <p:spPr>
          <a:xfrm>
            <a:off x="-316493" y="2592499"/>
            <a:ext cx="4014450" cy="8300554"/>
          </a:xfrm>
          <a:custGeom>
            <a:avLst/>
            <a:gdLst/>
            <a:ahLst/>
            <a:cxnLst/>
            <a:rect l="l" t="t" r="r" b="b"/>
            <a:pathLst>
              <a:path w="4014450" h="8300554">
                <a:moveTo>
                  <a:pt x="0" y="0"/>
                </a:moveTo>
                <a:lnTo>
                  <a:pt x="4014450" y="0"/>
                </a:lnTo>
                <a:lnTo>
                  <a:pt x="4014450" y="8300554"/>
                </a:lnTo>
                <a:lnTo>
                  <a:pt x="0" y="8300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5252075" y="-686844"/>
            <a:ext cx="4014450" cy="8300554"/>
          </a:xfrm>
          <a:custGeom>
            <a:avLst/>
            <a:gdLst/>
            <a:ahLst/>
            <a:cxnLst/>
            <a:rect l="l" t="t" r="r" b="b"/>
            <a:pathLst>
              <a:path w="4014450" h="8300554">
                <a:moveTo>
                  <a:pt x="4014450" y="8300554"/>
                </a:moveTo>
                <a:lnTo>
                  <a:pt x="0" y="8300554"/>
                </a:lnTo>
                <a:lnTo>
                  <a:pt x="0" y="0"/>
                </a:lnTo>
                <a:lnTo>
                  <a:pt x="4014450" y="0"/>
                </a:lnTo>
                <a:lnTo>
                  <a:pt x="4014450" y="830055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18">
            <a:extLst>
              <a:ext uri="{FF2B5EF4-FFF2-40B4-BE49-F238E27FC236}">
                <a16:creationId xmlns:a16="http://schemas.microsoft.com/office/drawing/2014/main" id="{2CDB6EBE-A2EE-4FF5-8B0A-A592127A50E8}"/>
              </a:ext>
            </a:extLst>
          </p:cNvPr>
          <p:cNvSpPr txBox="1"/>
          <p:nvPr/>
        </p:nvSpPr>
        <p:spPr>
          <a:xfrm>
            <a:off x="762000" y="637851"/>
            <a:ext cx="7696200" cy="1282402"/>
          </a:xfrm>
          <a:prstGeom prst="rect">
            <a:avLst/>
          </a:prstGeom>
        </p:spPr>
        <p:txBody>
          <a:bodyPr wrap="square" lIns="0" tIns="0" rIns="0" bIns="0" rtlCol="0" anchor="t">
            <a:spAutoFit/>
          </a:bodyPr>
          <a:lstStyle/>
          <a:p>
            <a:pPr algn="l">
              <a:lnSpc>
                <a:spcPts val="10919"/>
              </a:lnSpc>
            </a:pPr>
            <a:r>
              <a:rPr lang="en-US" sz="7800" b="1" dirty="0">
                <a:solidFill>
                  <a:srgbClr val="FFFFFF"/>
                </a:solidFill>
                <a:latin typeface="Oswald Bold"/>
                <a:ea typeface="Oswald Bold"/>
                <a:cs typeface="Oswald Bold"/>
                <a:sym typeface="Oswald Bold"/>
              </a:rPr>
              <a:t>COURSE OVERVIEW</a:t>
            </a:r>
          </a:p>
        </p:txBody>
      </p:sp>
      <p:sp>
        <p:nvSpPr>
          <p:cNvPr id="7" name="TextBox 10">
            <a:extLst>
              <a:ext uri="{FF2B5EF4-FFF2-40B4-BE49-F238E27FC236}">
                <a16:creationId xmlns:a16="http://schemas.microsoft.com/office/drawing/2014/main" id="{6CB4B606-D207-4152-8A38-18A574694B19}"/>
              </a:ext>
            </a:extLst>
          </p:cNvPr>
          <p:cNvSpPr txBox="1"/>
          <p:nvPr/>
        </p:nvSpPr>
        <p:spPr>
          <a:xfrm>
            <a:off x="3048000" y="2781300"/>
            <a:ext cx="13639800" cy="3302955"/>
          </a:xfrm>
          <a:prstGeom prst="rect">
            <a:avLst/>
          </a:prstGeom>
        </p:spPr>
        <p:txBody>
          <a:bodyPr wrap="square" lIns="0" tIns="0" rIns="0" bIns="0" rtlCol="0" anchor="t">
            <a:spAutoFit/>
          </a:bodyPr>
          <a:lstStyle/>
          <a:p>
            <a:pPr marL="410211" lvl="1">
              <a:lnSpc>
                <a:spcPts val="5244"/>
              </a:lnSpc>
            </a:pPr>
            <a:r>
              <a:rPr lang="en-US" sz="3800" b="1" dirty="0">
                <a:solidFill>
                  <a:srgbClr val="FFC000"/>
                </a:solidFill>
                <a:latin typeface="+mj-lt"/>
              </a:rPr>
              <a:t>Course Contents:</a:t>
            </a:r>
          </a:p>
          <a:p>
            <a:pPr marL="410211" lvl="1">
              <a:lnSpc>
                <a:spcPts val="5244"/>
              </a:lnSpc>
            </a:pPr>
            <a:endParaRPr lang="en-US" sz="3800" b="1" dirty="0">
              <a:solidFill>
                <a:schemeClr val="bg1"/>
              </a:solidFill>
              <a:latin typeface="+mj-lt"/>
            </a:endParaRPr>
          </a:p>
          <a:p>
            <a:pPr marL="820421" lvl="1" indent="-410210">
              <a:lnSpc>
                <a:spcPts val="5244"/>
              </a:lnSpc>
              <a:buFont typeface="Arial"/>
              <a:buChar char="•"/>
            </a:pPr>
            <a:r>
              <a:rPr lang="en-US" sz="4000" b="0" i="0" dirty="0">
                <a:solidFill>
                  <a:schemeClr val="bg1"/>
                </a:solidFill>
                <a:effectLst/>
                <a:latin typeface="Calibri" panose="020F0502020204030204" pitchFamily="34" charset="0"/>
              </a:rPr>
              <a:t>Topics covered include the fundamentals of algorithm analysis, recursion, stacks, queues, lists, trees, graphs, sorting and searching algorithms, and indexing. </a:t>
            </a:r>
            <a:endParaRPr lang="en-US" sz="4000" i="0" dirty="0">
              <a:solidFill>
                <a:schemeClr val="bg1"/>
              </a:solidFill>
              <a:effectLst/>
              <a:latin typeface="+mj-lt"/>
            </a:endParaRPr>
          </a:p>
        </p:txBody>
      </p:sp>
    </p:spTree>
    <p:extLst>
      <p:ext uri="{BB962C8B-B14F-4D97-AF65-F5344CB8AC3E}">
        <p14:creationId xmlns:p14="http://schemas.microsoft.com/office/powerpoint/2010/main" val="3204549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960"/>
        </a:solidFill>
        <a:effectLst/>
      </p:bgPr>
    </p:bg>
    <p:spTree>
      <p:nvGrpSpPr>
        <p:cNvPr id="1" name=""/>
        <p:cNvGrpSpPr/>
        <p:nvPr/>
      </p:nvGrpSpPr>
      <p:grpSpPr>
        <a:xfrm>
          <a:off x="0" y="0"/>
          <a:ext cx="0" cy="0"/>
          <a:chOff x="0" y="0"/>
          <a:chExt cx="0" cy="0"/>
        </a:xfrm>
      </p:grpSpPr>
      <p:sp>
        <p:nvSpPr>
          <p:cNvPr id="2" name="Freeform 2"/>
          <p:cNvSpPr/>
          <p:nvPr/>
        </p:nvSpPr>
        <p:spPr>
          <a:xfrm>
            <a:off x="-316493" y="2592499"/>
            <a:ext cx="4014450" cy="8300554"/>
          </a:xfrm>
          <a:custGeom>
            <a:avLst/>
            <a:gdLst/>
            <a:ahLst/>
            <a:cxnLst/>
            <a:rect l="l" t="t" r="r" b="b"/>
            <a:pathLst>
              <a:path w="4014450" h="8300554">
                <a:moveTo>
                  <a:pt x="0" y="0"/>
                </a:moveTo>
                <a:lnTo>
                  <a:pt x="4014450" y="0"/>
                </a:lnTo>
                <a:lnTo>
                  <a:pt x="4014450" y="8300554"/>
                </a:lnTo>
                <a:lnTo>
                  <a:pt x="0" y="8300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5252075" y="-686844"/>
            <a:ext cx="4014450" cy="8300554"/>
          </a:xfrm>
          <a:custGeom>
            <a:avLst/>
            <a:gdLst/>
            <a:ahLst/>
            <a:cxnLst/>
            <a:rect l="l" t="t" r="r" b="b"/>
            <a:pathLst>
              <a:path w="4014450" h="8300554">
                <a:moveTo>
                  <a:pt x="4014450" y="8300554"/>
                </a:moveTo>
                <a:lnTo>
                  <a:pt x="0" y="8300554"/>
                </a:lnTo>
                <a:lnTo>
                  <a:pt x="0" y="0"/>
                </a:lnTo>
                <a:lnTo>
                  <a:pt x="4014450" y="0"/>
                </a:lnTo>
                <a:lnTo>
                  <a:pt x="4014450" y="830055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18">
            <a:extLst>
              <a:ext uri="{FF2B5EF4-FFF2-40B4-BE49-F238E27FC236}">
                <a16:creationId xmlns:a16="http://schemas.microsoft.com/office/drawing/2014/main" id="{2CDB6EBE-A2EE-4FF5-8B0A-A592127A50E8}"/>
              </a:ext>
            </a:extLst>
          </p:cNvPr>
          <p:cNvSpPr txBox="1"/>
          <p:nvPr/>
        </p:nvSpPr>
        <p:spPr>
          <a:xfrm>
            <a:off x="762000" y="637851"/>
            <a:ext cx="8839200" cy="1282402"/>
          </a:xfrm>
          <a:prstGeom prst="rect">
            <a:avLst/>
          </a:prstGeom>
        </p:spPr>
        <p:txBody>
          <a:bodyPr wrap="square" lIns="0" tIns="0" rIns="0" bIns="0" rtlCol="0" anchor="t">
            <a:spAutoFit/>
          </a:bodyPr>
          <a:lstStyle/>
          <a:p>
            <a:pPr algn="l">
              <a:lnSpc>
                <a:spcPts val="10919"/>
              </a:lnSpc>
            </a:pPr>
            <a:r>
              <a:rPr lang="en-US" sz="7800" b="1" dirty="0">
                <a:solidFill>
                  <a:srgbClr val="FFFFFF"/>
                </a:solidFill>
                <a:latin typeface="Oswald Bold"/>
                <a:ea typeface="Oswald Bold"/>
                <a:cs typeface="Oswald Bold"/>
                <a:sym typeface="Oswald Bold"/>
              </a:rPr>
              <a:t>COURSE STRUCTURE</a:t>
            </a:r>
          </a:p>
        </p:txBody>
      </p:sp>
      <p:sp>
        <p:nvSpPr>
          <p:cNvPr id="7" name="TextBox 10">
            <a:extLst>
              <a:ext uri="{FF2B5EF4-FFF2-40B4-BE49-F238E27FC236}">
                <a16:creationId xmlns:a16="http://schemas.microsoft.com/office/drawing/2014/main" id="{6CB4B606-D207-4152-8A38-18A574694B19}"/>
              </a:ext>
            </a:extLst>
          </p:cNvPr>
          <p:cNvSpPr txBox="1"/>
          <p:nvPr/>
        </p:nvSpPr>
        <p:spPr>
          <a:xfrm>
            <a:off x="3048000" y="2781300"/>
            <a:ext cx="13639800" cy="3963008"/>
          </a:xfrm>
          <a:prstGeom prst="rect">
            <a:avLst/>
          </a:prstGeom>
        </p:spPr>
        <p:txBody>
          <a:bodyPr wrap="square" lIns="0" tIns="0" rIns="0" bIns="0" rtlCol="0" anchor="t">
            <a:spAutoFit/>
          </a:bodyPr>
          <a:lstStyle/>
          <a:p>
            <a:pPr marL="410211" lvl="1">
              <a:lnSpc>
                <a:spcPts val="5244"/>
              </a:lnSpc>
            </a:pPr>
            <a:r>
              <a:rPr lang="en-US" sz="3800" b="1" dirty="0">
                <a:solidFill>
                  <a:srgbClr val="FFC000"/>
                </a:solidFill>
                <a:latin typeface="DM Sans Bold"/>
              </a:rPr>
              <a:t>Assessments:</a:t>
            </a:r>
          </a:p>
          <a:p>
            <a:pPr marL="820421" lvl="1" indent="-410210">
              <a:lnSpc>
                <a:spcPts val="5244"/>
              </a:lnSpc>
              <a:buFont typeface="Arial"/>
              <a:buChar char="•"/>
            </a:pPr>
            <a:endParaRPr lang="en-US" sz="3800" dirty="0">
              <a:solidFill>
                <a:schemeClr val="bg1"/>
              </a:solidFill>
              <a:latin typeface="DM Sans Bold"/>
            </a:endParaRPr>
          </a:p>
          <a:p>
            <a:pPr marL="1640841" lvl="2" indent="-546947">
              <a:lnSpc>
                <a:spcPts val="5244"/>
              </a:lnSpc>
              <a:buFont typeface="Arial"/>
              <a:buChar char="⚬"/>
            </a:pPr>
            <a:r>
              <a:rPr lang="en-US" sz="3800" dirty="0">
                <a:solidFill>
                  <a:schemeClr val="bg1"/>
                </a:solidFill>
                <a:latin typeface="DM Sans"/>
              </a:rPr>
              <a:t>60% - Test 1, Test 2, Assignment</a:t>
            </a:r>
          </a:p>
          <a:p>
            <a:pPr marL="1640841" lvl="2" indent="-546947">
              <a:lnSpc>
                <a:spcPts val="5244"/>
              </a:lnSpc>
              <a:buFont typeface="Arial"/>
              <a:buChar char="⚬"/>
            </a:pPr>
            <a:r>
              <a:rPr lang="en-US" sz="3800" dirty="0">
                <a:solidFill>
                  <a:schemeClr val="bg1"/>
                </a:solidFill>
                <a:latin typeface="DM Sans"/>
              </a:rPr>
              <a:t>40% - Final Exam</a:t>
            </a:r>
          </a:p>
          <a:p>
            <a:pPr>
              <a:lnSpc>
                <a:spcPts val="5244"/>
              </a:lnSpc>
            </a:pPr>
            <a:endParaRPr lang="en-US" sz="3800" dirty="0">
              <a:solidFill>
                <a:schemeClr val="bg1"/>
              </a:solidFill>
              <a:latin typeface="DM Sans"/>
            </a:endParaRPr>
          </a:p>
          <a:p>
            <a:pPr>
              <a:lnSpc>
                <a:spcPts val="5244"/>
              </a:lnSpc>
            </a:pPr>
            <a:endParaRPr lang="en-US" sz="3800" dirty="0">
              <a:solidFill>
                <a:schemeClr val="bg1"/>
              </a:solidFill>
              <a:latin typeface="DM Sans"/>
            </a:endParaRPr>
          </a:p>
        </p:txBody>
      </p:sp>
    </p:spTree>
    <p:extLst>
      <p:ext uri="{BB962C8B-B14F-4D97-AF65-F5344CB8AC3E}">
        <p14:creationId xmlns:p14="http://schemas.microsoft.com/office/powerpoint/2010/main" val="3402989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960"/>
        </a:solidFill>
        <a:effectLst/>
      </p:bgPr>
    </p:bg>
    <p:spTree>
      <p:nvGrpSpPr>
        <p:cNvPr id="1" name=""/>
        <p:cNvGrpSpPr/>
        <p:nvPr/>
      </p:nvGrpSpPr>
      <p:grpSpPr>
        <a:xfrm>
          <a:off x="0" y="0"/>
          <a:ext cx="0" cy="0"/>
          <a:chOff x="0" y="0"/>
          <a:chExt cx="0" cy="0"/>
        </a:xfrm>
      </p:grpSpPr>
      <p:sp>
        <p:nvSpPr>
          <p:cNvPr id="2" name="Freeform 2"/>
          <p:cNvSpPr/>
          <p:nvPr/>
        </p:nvSpPr>
        <p:spPr>
          <a:xfrm>
            <a:off x="-316493" y="2592499"/>
            <a:ext cx="4014450" cy="8300554"/>
          </a:xfrm>
          <a:custGeom>
            <a:avLst/>
            <a:gdLst/>
            <a:ahLst/>
            <a:cxnLst/>
            <a:rect l="l" t="t" r="r" b="b"/>
            <a:pathLst>
              <a:path w="4014450" h="8300554">
                <a:moveTo>
                  <a:pt x="0" y="0"/>
                </a:moveTo>
                <a:lnTo>
                  <a:pt x="4014450" y="0"/>
                </a:lnTo>
                <a:lnTo>
                  <a:pt x="4014450" y="8300554"/>
                </a:lnTo>
                <a:lnTo>
                  <a:pt x="0" y="8300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5252075" y="-686844"/>
            <a:ext cx="4014450" cy="8300554"/>
          </a:xfrm>
          <a:custGeom>
            <a:avLst/>
            <a:gdLst/>
            <a:ahLst/>
            <a:cxnLst/>
            <a:rect l="l" t="t" r="r" b="b"/>
            <a:pathLst>
              <a:path w="4014450" h="8300554">
                <a:moveTo>
                  <a:pt x="4014450" y="8300554"/>
                </a:moveTo>
                <a:lnTo>
                  <a:pt x="0" y="8300554"/>
                </a:lnTo>
                <a:lnTo>
                  <a:pt x="0" y="0"/>
                </a:lnTo>
                <a:lnTo>
                  <a:pt x="4014450" y="0"/>
                </a:lnTo>
                <a:lnTo>
                  <a:pt x="4014450" y="830055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18">
            <a:extLst>
              <a:ext uri="{FF2B5EF4-FFF2-40B4-BE49-F238E27FC236}">
                <a16:creationId xmlns:a16="http://schemas.microsoft.com/office/drawing/2014/main" id="{2CDB6EBE-A2EE-4FF5-8B0A-A592127A50E8}"/>
              </a:ext>
            </a:extLst>
          </p:cNvPr>
          <p:cNvSpPr txBox="1"/>
          <p:nvPr/>
        </p:nvSpPr>
        <p:spPr>
          <a:xfrm>
            <a:off x="762000" y="637851"/>
            <a:ext cx="8839200" cy="1282402"/>
          </a:xfrm>
          <a:prstGeom prst="rect">
            <a:avLst/>
          </a:prstGeom>
        </p:spPr>
        <p:txBody>
          <a:bodyPr wrap="square" lIns="0" tIns="0" rIns="0" bIns="0" rtlCol="0" anchor="t">
            <a:spAutoFit/>
          </a:bodyPr>
          <a:lstStyle/>
          <a:p>
            <a:pPr algn="l">
              <a:lnSpc>
                <a:spcPts val="10919"/>
              </a:lnSpc>
            </a:pPr>
            <a:r>
              <a:rPr lang="en-US" sz="7800" b="1" dirty="0">
                <a:solidFill>
                  <a:srgbClr val="FFFFFF"/>
                </a:solidFill>
                <a:latin typeface="Oswald Bold"/>
                <a:ea typeface="Oswald Bold"/>
                <a:cs typeface="Oswald Bold"/>
                <a:sym typeface="Oswald Bold"/>
              </a:rPr>
              <a:t>COURSE MATERIALS</a:t>
            </a:r>
          </a:p>
        </p:txBody>
      </p:sp>
      <p:sp>
        <p:nvSpPr>
          <p:cNvPr id="7" name="TextBox 10">
            <a:extLst>
              <a:ext uri="{FF2B5EF4-FFF2-40B4-BE49-F238E27FC236}">
                <a16:creationId xmlns:a16="http://schemas.microsoft.com/office/drawing/2014/main" id="{6CB4B606-D207-4152-8A38-18A574694B19}"/>
              </a:ext>
            </a:extLst>
          </p:cNvPr>
          <p:cNvSpPr txBox="1"/>
          <p:nvPr/>
        </p:nvSpPr>
        <p:spPr>
          <a:xfrm>
            <a:off x="3048000" y="2781300"/>
            <a:ext cx="13639800" cy="5963556"/>
          </a:xfrm>
          <a:prstGeom prst="rect">
            <a:avLst/>
          </a:prstGeom>
        </p:spPr>
        <p:txBody>
          <a:bodyPr wrap="square" lIns="0" tIns="0" rIns="0" bIns="0" rtlCol="0" anchor="t">
            <a:spAutoFit/>
          </a:bodyPr>
          <a:lstStyle/>
          <a:p>
            <a:pPr marL="410211" lvl="1">
              <a:lnSpc>
                <a:spcPts val="5244"/>
              </a:lnSpc>
            </a:pPr>
            <a:r>
              <a:rPr lang="en-US" sz="3800" b="1" dirty="0">
                <a:solidFill>
                  <a:srgbClr val="FFC000"/>
                </a:solidFill>
                <a:latin typeface="DM Sans Bold"/>
              </a:rPr>
              <a:t>Learning Resources:</a:t>
            </a:r>
          </a:p>
          <a:p>
            <a:pPr marL="820421" lvl="1" indent="-410210">
              <a:lnSpc>
                <a:spcPts val="5244"/>
              </a:lnSpc>
              <a:buFont typeface="Arial"/>
              <a:buChar char="•"/>
            </a:pPr>
            <a:endParaRPr lang="en-US" sz="3800" dirty="0">
              <a:solidFill>
                <a:schemeClr val="bg1"/>
              </a:solidFill>
              <a:latin typeface="DM Sans Bold"/>
            </a:endParaRPr>
          </a:p>
          <a:p>
            <a:pPr marL="820421" lvl="1" indent="-410210">
              <a:lnSpc>
                <a:spcPts val="5244"/>
              </a:lnSpc>
              <a:buFont typeface="Arial"/>
              <a:buChar char="•"/>
            </a:pPr>
            <a:r>
              <a:rPr lang="en-US" sz="3800" dirty="0">
                <a:solidFill>
                  <a:schemeClr val="bg1"/>
                </a:solidFill>
                <a:latin typeface="DM Sans Bold"/>
              </a:rPr>
              <a:t>Course contents in Blackboard:</a:t>
            </a:r>
          </a:p>
          <a:p>
            <a:pPr marL="1640841" lvl="2" indent="-546947">
              <a:lnSpc>
                <a:spcPts val="5244"/>
              </a:lnSpc>
              <a:buFont typeface="Arial"/>
              <a:buChar char="⚬"/>
            </a:pPr>
            <a:r>
              <a:rPr lang="en-US" sz="3800" dirty="0">
                <a:solidFill>
                  <a:schemeClr val="bg1"/>
                </a:solidFill>
                <a:latin typeface="DM Sans"/>
              </a:rPr>
              <a:t>Slide Notes</a:t>
            </a:r>
          </a:p>
          <a:p>
            <a:pPr marL="1640841" lvl="2" indent="-546947">
              <a:lnSpc>
                <a:spcPts val="5244"/>
              </a:lnSpc>
              <a:buFont typeface="Arial"/>
              <a:buChar char="⚬"/>
            </a:pPr>
            <a:r>
              <a:rPr lang="en-US" sz="3800" dirty="0">
                <a:solidFill>
                  <a:schemeClr val="bg1"/>
                </a:solidFill>
                <a:latin typeface="DM Sans"/>
              </a:rPr>
              <a:t>Tutorials</a:t>
            </a:r>
          </a:p>
          <a:p>
            <a:pPr marL="1640841" lvl="2" indent="-546947">
              <a:lnSpc>
                <a:spcPts val="5244"/>
              </a:lnSpc>
              <a:buFont typeface="Arial"/>
              <a:buChar char="⚬"/>
            </a:pPr>
            <a:r>
              <a:rPr lang="en-US" sz="3800" dirty="0">
                <a:solidFill>
                  <a:schemeClr val="bg1"/>
                </a:solidFill>
                <a:latin typeface="DM Sans"/>
              </a:rPr>
              <a:t>Lab Practices</a:t>
            </a:r>
          </a:p>
          <a:p>
            <a:pPr marL="1640841" lvl="2" indent="-546947">
              <a:lnSpc>
                <a:spcPts val="5244"/>
              </a:lnSpc>
              <a:buFont typeface="Arial"/>
              <a:buChar char="⚬"/>
            </a:pPr>
            <a:r>
              <a:rPr lang="en-US" sz="3800" dirty="0">
                <a:solidFill>
                  <a:schemeClr val="bg1"/>
                </a:solidFill>
                <a:latin typeface="DM Sans"/>
              </a:rPr>
              <a:t>Submission Links</a:t>
            </a:r>
          </a:p>
          <a:p>
            <a:pPr>
              <a:lnSpc>
                <a:spcPts val="5244"/>
              </a:lnSpc>
            </a:pPr>
            <a:endParaRPr lang="en-US" sz="3800" dirty="0">
              <a:solidFill>
                <a:schemeClr val="bg1"/>
              </a:solidFill>
              <a:latin typeface="DM Sans"/>
            </a:endParaRPr>
          </a:p>
          <a:p>
            <a:pPr>
              <a:lnSpc>
                <a:spcPts val="5244"/>
              </a:lnSpc>
            </a:pPr>
            <a:endParaRPr lang="en-US" sz="3800" dirty="0">
              <a:solidFill>
                <a:schemeClr val="bg1"/>
              </a:solidFill>
              <a:latin typeface="DM Sans"/>
            </a:endParaRPr>
          </a:p>
        </p:txBody>
      </p:sp>
    </p:spTree>
    <p:extLst>
      <p:ext uri="{BB962C8B-B14F-4D97-AF65-F5344CB8AC3E}">
        <p14:creationId xmlns:p14="http://schemas.microsoft.com/office/powerpoint/2010/main" val="2165670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960"/>
        </a:solidFill>
        <a:effectLst/>
      </p:bgPr>
    </p:bg>
    <p:spTree>
      <p:nvGrpSpPr>
        <p:cNvPr id="1" name=""/>
        <p:cNvGrpSpPr/>
        <p:nvPr/>
      </p:nvGrpSpPr>
      <p:grpSpPr>
        <a:xfrm>
          <a:off x="0" y="0"/>
          <a:ext cx="0" cy="0"/>
          <a:chOff x="0" y="0"/>
          <a:chExt cx="0" cy="0"/>
        </a:xfrm>
      </p:grpSpPr>
      <p:sp>
        <p:nvSpPr>
          <p:cNvPr id="2" name="Freeform 2"/>
          <p:cNvSpPr/>
          <p:nvPr/>
        </p:nvSpPr>
        <p:spPr>
          <a:xfrm>
            <a:off x="-316493" y="2592499"/>
            <a:ext cx="4014450" cy="8300554"/>
          </a:xfrm>
          <a:custGeom>
            <a:avLst/>
            <a:gdLst/>
            <a:ahLst/>
            <a:cxnLst/>
            <a:rect l="l" t="t" r="r" b="b"/>
            <a:pathLst>
              <a:path w="4014450" h="8300554">
                <a:moveTo>
                  <a:pt x="0" y="0"/>
                </a:moveTo>
                <a:lnTo>
                  <a:pt x="4014450" y="0"/>
                </a:lnTo>
                <a:lnTo>
                  <a:pt x="4014450" y="8300554"/>
                </a:lnTo>
                <a:lnTo>
                  <a:pt x="0" y="8300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5252075" y="-686844"/>
            <a:ext cx="4014450" cy="8300554"/>
          </a:xfrm>
          <a:custGeom>
            <a:avLst/>
            <a:gdLst/>
            <a:ahLst/>
            <a:cxnLst/>
            <a:rect l="l" t="t" r="r" b="b"/>
            <a:pathLst>
              <a:path w="4014450" h="8300554">
                <a:moveTo>
                  <a:pt x="4014450" y="8300554"/>
                </a:moveTo>
                <a:lnTo>
                  <a:pt x="0" y="8300554"/>
                </a:lnTo>
                <a:lnTo>
                  <a:pt x="0" y="0"/>
                </a:lnTo>
                <a:lnTo>
                  <a:pt x="4014450" y="0"/>
                </a:lnTo>
                <a:lnTo>
                  <a:pt x="4014450" y="830055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18">
            <a:extLst>
              <a:ext uri="{FF2B5EF4-FFF2-40B4-BE49-F238E27FC236}">
                <a16:creationId xmlns:a16="http://schemas.microsoft.com/office/drawing/2014/main" id="{2CDB6EBE-A2EE-4FF5-8B0A-A592127A50E8}"/>
              </a:ext>
            </a:extLst>
          </p:cNvPr>
          <p:cNvSpPr txBox="1"/>
          <p:nvPr/>
        </p:nvSpPr>
        <p:spPr>
          <a:xfrm>
            <a:off x="762000" y="637851"/>
            <a:ext cx="8839200" cy="1282402"/>
          </a:xfrm>
          <a:prstGeom prst="rect">
            <a:avLst/>
          </a:prstGeom>
        </p:spPr>
        <p:txBody>
          <a:bodyPr wrap="square" lIns="0" tIns="0" rIns="0" bIns="0" rtlCol="0" anchor="t">
            <a:spAutoFit/>
          </a:bodyPr>
          <a:lstStyle/>
          <a:p>
            <a:pPr algn="l">
              <a:lnSpc>
                <a:spcPts val="10919"/>
              </a:lnSpc>
            </a:pPr>
            <a:r>
              <a:rPr lang="en-US" sz="7800" b="1" dirty="0">
                <a:solidFill>
                  <a:srgbClr val="FFFFFF"/>
                </a:solidFill>
                <a:latin typeface="Oswald Bold"/>
                <a:ea typeface="Oswald Bold"/>
                <a:cs typeface="Oswald Bold"/>
                <a:sym typeface="Oswald Bold"/>
              </a:rPr>
              <a:t>COURSE MATERIALS</a:t>
            </a:r>
          </a:p>
        </p:txBody>
      </p:sp>
      <p:sp>
        <p:nvSpPr>
          <p:cNvPr id="7" name="TextBox 10">
            <a:extLst>
              <a:ext uri="{FF2B5EF4-FFF2-40B4-BE49-F238E27FC236}">
                <a16:creationId xmlns:a16="http://schemas.microsoft.com/office/drawing/2014/main" id="{6CB4B606-D207-4152-8A38-18A574694B19}"/>
              </a:ext>
            </a:extLst>
          </p:cNvPr>
          <p:cNvSpPr txBox="1"/>
          <p:nvPr/>
        </p:nvSpPr>
        <p:spPr>
          <a:xfrm>
            <a:off x="3048000" y="2781300"/>
            <a:ext cx="13639800" cy="3963008"/>
          </a:xfrm>
          <a:prstGeom prst="rect">
            <a:avLst/>
          </a:prstGeom>
        </p:spPr>
        <p:txBody>
          <a:bodyPr wrap="square" lIns="0" tIns="0" rIns="0" bIns="0" rtlCol="0" anchor="t">
            <a:spAutoFit/>
          </a:bodyPr>
          <a:lstStyle/>
          <a:p>
            <a:pPr marL="410211" lvl="1">
              <a:lnSpc>
                <a:spcPts val="5244"/>
              </a:lnSpc>
            </a:pPr>
            <a:r>
              <a:rPr lang="en-US" sz="3800" b="1" dirty="0">
                <a:solidFill>
                  <a:srgbClr val="FFC000"/>
                </a:solidFill>
                <a:latin typeface="DM Sans Bold"/>
              </a:rPr>
              <a:t>Other Resources:</a:t>
            </a:r>
          </a:p>
          <a:p>
            <a:pPr marL="820421" lvl="1" indent="-410210">
              <a:lnSpc>
                <a:spcPts val="5244"/>
              </a:lnSpc>
              <a:buFont typeface="Arial"/>
              <a:buChar char="•"/>
            </a:pPr>
            <a:endParaRPr lang="en-US" sz="3800" dirty="0">
              <a:solidFill>
                <a:schemeClr val="bg1"/>
              </a:solidFill>
              <a:latin typeface="DM Sans Bold"/>
            </a:endParaRPr>
          </a:p>
          <a:p>
            <a:pPr marL="820421" lvl="1" indent="-410210">
              <a:lnSpc>
                <a:spcPts val="5244"/>
              </a:lnSpc>
              <a:buFont typeface="Arial"/>
              <a:buChar char="•"/>
            </a:pPr>
            <a:r>
              <a:rPr lang="en-US" sz="3800" dirty="0">
                <a:solidFill>
                  <a:schemeClr val="bg1"/>
                </a:solidFill>
                <a:latin typeface="DM Sans Bold"/>
              </a:rPr>
              <a:t>Textbook</a:t>
            </a:r>
          </a:p>
          <a:p>
            <a:pPr marL="820421" lvl="1" indent="-410210">
              <a:lnSpc>
                <a:spcPts val="5244"/>
              </a:lnSpc>
              <a:buFont typeface="Arial"/>
              <a:buChar char="•"/>
            </a:pPr>
            <a:r>
              <a:rPr lang="en-US" sz="3800" dirty="0">
                <a:solidFill>
                  <a:schemeClr val="bg1"/>
                </a:solidFill>
                <a:latin typeface="DM Sans Bold"/>
              </a:rPr>
              <a:t>Online Platforms</a:t>
            </a:r>
          </a:p>
          <a:p>
            <a:pPr marL="820421" lvl="1" indent="-410210">
              <a:lnSpc>
                <a:spcPts val="5244"/>
              </a:lnSpc>
              <a:buFont typeface="Arial"/>
              <a:buChar char="•"/>
            </a:pPr>
            <a:r>
              <a:rPr lang="en-US" sz="3800" dirty="0">
                <a:solidFill>
                  <a:schemeClr val="bg1"/>
                </a:solidFill>
                <a:latin typeface="DM Sans Bold"/>
              </a:rPr>
              <a:t>IDE – labs</a:t>
            </a:r>
            <a:endParaRPr lang="en-US" sz="3800" dirty="0">
              <a:solidFill>
                <a:schemeClr val="bg1"/>
              </a:solidFill>
              <a:latin typeface="DM Sans"/>
            </a:endParaRPr>
          </a:p>
          <a:p>
            <a:pPr>
              <a:lnSpc>
                <a:spcPts val="5244"/>
              </a:lnSpc>
            </a:pPr>
            <a:endParaRPr lang="en-US" sz="3800" dirty="0">
              <a:solidFill>
                <a:schemeClr val="bg1"/>
              </a:solidFill>
              <a:latin typeface="DM Sans"/>
            </a:endParaRPr>
          </a:p>
        </p:txBody>
      </p:sp>
    </p:spTree>
    <p:extLst>
      <p:ext uri="{BB962C8B-B14F-4D97-AF65-F5344CB8AC3E}">
        <p14:creationId xmlns:p14="http://schemas.microsoft.com/office/powerpoint/2010/main" val="9977492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265</Words>
  <Application>Microsoft Office PowerPoint</Application>
  <PresentationFormat>Custom</PresentationFormat>
  <Paragraphs>53</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Source Sans Pro Bold</vt:lpstr>
      <vt:lpstr>DM Sans Bold</vt:lpstr>
      <vt:lpstr>Oswald Bold</vt:lpstr>
      <vt:lpstr>Calibri</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Green Simple  Professional Business Project Presentation</dc:title>
  <dc:creator>Nurul Azlia binti Mat Saat</dc:creator>
  <cp:lastModifiedBy>Nurul Azlia Binti Mat Saat</cp:lastModifiedBy>
  <cp:revision>9</cp:revision>
  <dcterms:created xsi:type="dcterms:W3CDTF">2006-08-16T00:00:00Z</dcterms:created>
  <dcterms:modified xsi:type="dcterms:W3CDTF">2024-09-25T01:59:27Z</dcterms:modified>
  <dc:identifier>DAGRruGskVM</dc:identifier>
</cp:coreProperties>
</file>